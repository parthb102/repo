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ANSHU — TALKING POINTS (private; not on the page). Working-draft magnitudes, pre-Finance alignment. Use magnitudes only if pressed. Bracketed lines are backup detail, not lines to say.
0. OPENING
- No decision needed today. Two decisions — accounting treatment and funding mechanism — are needed before the resourcing asks so they are stated on the right basis. Everything else is to give you the shape of what is coming.
1. ORDER OF MAGNITUDE (if asked)
- Only Servicing has a fully drafted investment case so far. Its one-time build is in the tens of millions — at the low end — and its recurring run cost is about seventy percent of that each year once everything is live. Engineering, Sales and Risk &amp; Compliance carry placeholder investment rows only.
- If the other three land anywhere near Servicing's shape, the program is in the tens of millions on both one-time and run — that is a projection, not a sized number. Not single digits.
- Servicing: annual value a multiple of the investment at steady state; it pays back within the first year at full run rate — and full run rate is a year to sixteen months from programme start, so the early P&amp;L shows cost first.
- The servicing figure firmed up this week as we replaced a rough placeholder with a bottom-up build (team size by duration). Treat it as provisional and more likely to move up than down: it sits below the earlier top-down view, assumes delivery at the fast end of the external range, and awaits delivery plans validated by the delivery organisation and the internal rate card.
  [Backup, do not volunteer: one-time mid-teens of millions; the retired placeholder method produced several times that (over a hundred million); the S1 top-down view sat in the low twenties; run cost ~70% of one-time per year.]
2. DEDICATED RESOURCING
- Every servicing initiative that carries a build assumes a standing delivery pod of around eight people, a smaller scale-up team, and two to three people in run thereafter — around 15–20 people in run across the seven build pods on the five initiatives with a build (the non-people cost flow-through has none). Engineering needs harness pods by domain plus champion/coaching capacity. Sales needs build teams around vendor and partner platforms plus change management. The cases treat all of this as net-new, incremental resourcing.
  [Backup: delivery labour priced at $200k per person-year, run team at $180k — benchmark rates pending the internal rate card.]
3. WHERE SAVINGS LAND DIFFERENTLY FROM EXPECTATIONS
- Servicing: roughly three-fifths of front-office labour cost — about three-quarters of agent headcount — is outsourced, so most captured savings come through vendor contract renegotiation rather than in-house exits; vendor contracts and rate cards are still pending. The non-people costs that move with headcount (facilities, software, depreciation) are a separate pool. Back office is sized on disputes only, under half of the headline back-office baseline. About a fifth of front-office contacts cannot be attributed to a driver, so we have assumed no contact-avoidance benefit there — they still take self-serve, voice and co-pilot benefit on default rates, the lowest-confidence dollars in the stack.
- Engineering: the Code Assist benefit already reported is gross of ongoing tool cost — its business case has a line for continued third-party tool spend but it is unpopulated, so the licence/token bill is not netted anywhere today. We are netting it in the next version so the number is conservative. [Pre-brief Jamie before saying this aloud.] Loop-engineering value is engineering capacity; it becomes savings only through a capture mechanism (exit vs redeploy) that Finance has not yet agreed. The Code Assist guiding principles already require 60–90 days of sustained adoption data before any reduction is counted — that discipline carries into the new case.
- Sales: revenue acceleration from faster underwriting and pricing is timing unless Finance agrees an incremental share; seller time saved on lead management is an enabler rather than bankable. Transaction-margin differences by business unit and region are wired into the margin base, as you asked — though the net-revenue baseline it multiplies is still pending.
- Risk &amp; Compliance: value is split across operating cost, third-party spend and transaction loss — a different taxonomy from the cost-out cases; benefits already counted under Helix need de-duplicating.
4. RUN COSTS ARE THE LEAST-EVIDENCED PIECE
- Usage lines are planning assumptions held under a cap; platform, vendor-support and infrastructure run lines are round planning numbers with a one-line rationale each; the one-time platform, hardware and connector lines have no documented basis yet. Success raises the bill — consumption grows with adoption. AI unit economics are benchmark-based until PayPal consumption data arrives.
5. ACCOUNTING TREATMENT (Jamie / Tom)
- The servicing case treats every dollar of one-time spend as cash/expensed. If build labour in the application-development stage is capitalized under the internal-use software policy, a meaningful share of one-time spend moves from OpEx to CapEx — better early P&amp;L, same cash. The business-case models built on the standard template carry a capitalization switch per milestone, so the answer can be flipped once policy is confirmed.
6. FUNDING MECHANISM (our view)
- If run costs sit with the business units and grow with adoption, the natural response is to cap usage just as value ramps. A central pool for build with a clear hand-over of run at steady state is one pattern to consider — Jamie's call.
7. FINANCE ENGAGEMENT AND RECONCILIATIONS
- Finance partners are in each workstream. Our baselines and Finance's are being reconciled; the differences are scope definitions, not errors.
  [Backup: servicing's traceable cost base vs the P&amp;L view vs the FP&amp;A reference; contact and FTE denominators differ between the workplan and the model; Engineering and Sales headcount, net-revenue and seller baselines are pending data requests.]
8. CLOSE — WHAT COMES NEXT
- Sized packs with figures once sponsors and Jamie are aligned (Servicing, Engineering and Sales at this week's gate; Risk &amp; Compliance the following week). Resourcing asks — number of people per initiative — at the next gate in mid-September for the first three, a week later for Risk &amp; Compliance. The two decisions above are needed before that gate.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11274552" cy="201168"/>
          </a:xfrm>
          <a:prstGeom prst="rect">
            <a:avLst/>
          </a:prstGeom>
          <a:noFill/>
          <a:ln/>
        </p:spPr>
        <p:txBody>
          <a:bodyPr wrap="square" lIns="0" tIns="0" rIns="0" bIns="0" rtlCol="0" anchor="ctr"/>
          <a:lstStyle/>
          <a:p>
            <a:pPr indent="0" marL="0">
              <a:buNone/>
            </a:pPr>
            <a:r>
              <a:rPr lang="en-US" sz="900" spc="150" kern="0" dirty="0">
                <a:solidFill>
                  <a:srgbClr val="3D5A80"/>
                </a:solidFill>
                <a:latin typeface="Calibri" pitchFamily="34" charset="0"/>
                <a:ea typeface="Calibri" pitchFamily="34" charset="-122"/>
                <a:cs typeface="Calibri" pitchFamily="34" charset="-120"/>
              </a:rPr>
              <a:t>AI PROGRAM  ·  INVESTMENT REQUIREMENTS  ·  EMERGING THEMES</a:t>
            </a:r>
            <a:endParaRPr lang="en-US" sz="900" dirty="0"/>
          </a:p>
        </p:txBody>
      </p:sp>
      <p:sp>
        <p:nvSpPr>
          <p:cNvPr id="3" name="Text 1"/>
          <p:cNvSpPr txBox="1"/>
          <p:nvPr/>
        </p:nvSpPr>
        <p:spPr>
          <a:xfrm>
            <a:off x="457200" y="384048"/>
            <a:ext cx="11274552" cy="54864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Delivering the AI program needs dedicated teams and incremental funding in the tens of millions — and some of the savings will arrive through different routes than expected.</a:t>
            </a:r>
            <a:endParaRPr lang="en-US" sz="1700" dirty="0"/>
          </a:p>
        </p:txBody>
      </p:sp>
      <p:sp>
        <p:nvSpPr>
          <p:cNvPr id="4" name="Text 2"/>
          <p:cNvSpPr txBox="1"/>
          <p:nvPr/>
        </p:nvSpPr>
        <p:spPr>
          <a:xfrm>
            <a:off x="457200" y="941832"/>
            <a:ext cx="11274552" cy="201168"/>
          </a:xfrm>
          <a:prstGeom prst="rect">
            <a:avLst/>
          </a:prstGeom>
          <a:noFill/>
          <a:ln/>
        </p:spPr>
        <p:txBody>
          <a:bodyPr wrap="square" lIns="0" tIns="0" rIns="0" bIns="0" rtlCol="0" anchor="ctr"/>
          <a:lstStyle/>
          <a:p>
            <a:pPr indent="0" marL="0">
              <a:buNone/>
            </a:pPr>
            <a:r>
              <a:rPr lang="en-US" sz="1000" dirty="0">
                <a:solidFill>
                  <a:srgbClr val="5B6B7C"/>
                </a:solidFill>
                <a:latin typeface="Calibri" pitchFamily="34" charset="0"/>
                <a:ea typeface="Calibri" pitchFamily="34" charset="-122"/>
                <a:cs typeface="Calibri" pitchFamily="34" charset="-120"/>
              </a:rPr>
              <a:t>Cross-workstream view for discussion  ·  investment cases in build with Finance</a:t>
            </a:r>
            <a:endParaRPr lang="en-US" sz="1000" dirty="0"/>
          </a:p>
        </p:txBody>
      </p:sp>
      <p:sp>
        <p:nvSpPr>
          <p:cNvPr id="5" name="Shape 3"/>
          <p:cNvSpPr/>
          <p:nvPr/>
        </p:nvSpPr>
        <p:spPr>
          <a:xfrm>
            <a:off x="457200" y="1225296"/>
            <a:ext cx="5760720" cy="3686454"/>
          </a:xfrm>
          <a:prstGeom prst="rect">
            <a:avLst/>
          </a:prstGeom>
          <a:solidFill>
            <a:srgbClr val="FFFFFF"/>
          </a:solidFill>
          <a:ln w="9525">
            <a:solidFill>
              <a:srgbClr val="D3D9E1"/>
            </a:solidFill>
            <a:prstDash val="solid"/>
          </a:ln>
        </p:spPr>
      </p:sp>
      <p:sp>
        <p:nvSpPr>
          <p:cNvPr id="6" name="Shape 4"/>
          <p:cNvSpPr/>
          <p:nvPr/>
        </p:nvSpPr>
        <p:spPr>
          <a:xfrm>
            <a:off x="640080" y="1380744"/>
            <a:ext cx="274320" cy="274320"/>
          </a:xfrm>
          <a:prstGeom prst="ellipse">
            <a:avLst/>
          </a:prstGeom>
          <a:solidFill>
            <a:srgbClr val="1B2A4A"/>
          </a:solidFill>
          <a:ln w="12700">
            <a:solidFill>
              <a:srgbClr val="1B2A4A"/>
            </a:solidFill>
            <a:prstDash val="solid"/>
          </a:ln>
        </p:spPr>
      </p:sp>
      <p:pic>
        <p:nvPicPr>
          <p:cNvPr id="7" name="Image 0" descr="preencoded.png">    </p:cNvPr>
          <p:cNvPicPr>
            <a:picLocks noChangeAspect="1"/>
          </p:cNvPicPr>
          <p:nvPr/>
        </p:nvPicPr>
        <p:blipFill>
          <a:blip r:embed="rId1"/>
          <a:stretch>
            <a:fillRect/>
          </a:stretch>
        </p:blipFill>
        <p:spPr>
          <a:xfrm>
            <a:off x="699516" y="1440180"/>
            <a:ext cx="155448" cy="155448"/>
          </a:xfrm>
          <a:prstGeom prst="rect">
            <a:avLst/>
          </a:prstGeom>
        </p:spPr>
      </p:pic>
      <p:sp>
        <p:nvSpPr>
          <p:cNvPr id="8" name="Text 5"/>
          <p:cNvSpPr txBox="1"/>
          <p:nvPr/>
        </p:nvSpPr>
        <p:spPr>
          <a:xfrm>
            <a:off x="1005840" y="1353312"/>
            <a:ext cx="5029200" cy="329184"/>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What we are seeing across workstreams</a:t>
            </a:r>
            <a:endParaRPr lang="en-US" sz="1300" dirty="0"/>
          </a:p>
        </p:txBody>
      </p:sp>
      <p:sp>
        <p:nvSpPr>
          <p:cNvPr id="9" name="Text 6"/>
          <p:cNvSpPr txBox="1"/>
          <p:nvPr/>
        </p:nvSpPr>
        <p:spPr>
          <a:xfrm>
            <a:off x="640080" y="1810512"/>
            <a:ext cx="5394960" cy="501396"/>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Dedicated resourcing is required.  </a:t>
            </a:r>
            <a:pPr indent="0" marL="0">
              <a:buNone/>
            </a:pPr>
            <a:r>
              <a:rPr lang="en-US" sz="1000" dirty="0">
                <a:solidFill>
                  <a:srgbClr val="1F2933"/>
                </a:solidFill>
                <a:latin typeface="Calibri" pitchFamily="34" charset="0"/>
                <a:ea typeface="Calibri" pitchFamily="34" charset="-122"/>
                <a:cs typeface="Calibri" pitchFamily="34" charset="-120"/>
              </a:rPr>
              <a:t>None of this can be absorbed by existing teams. Each initiative needs a standing team to build it and a small team to run it. The ask is people as much as money.</a:t>
            </a:r>
            <a:endParaRPr lang="en-US" sz="1000" dirty="0"/>
          </a:p>
        </p:txBody>
      </p:sp>
      <p:sp>
        <p:nvSpPr>
          <p:cNvPr id="10" name="Text 7"/>
          <p:cNvSpPr txBox="1"/>
          <p:nvPr/>
        </p:nvSpPr>
        <p:spPr>
          <a:xfrm>
            <a:off x="640080" y="2478761"/>
            <a:ext cx="5394960" cy="501396"/>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Incremental funding is needed — tens of millions, not single digits.  </a:t>
            </a:r>
            <a:pPr indent="0" marL="0">
              <a:buNone/>
            </a:pPr>
            <a:r>
              <a:rPr lang="en-US" sz="1000" dirty="0">
                <a:solidFill>
                  <a:srgbClr val="1F2933"/>
                </a:solidFill>
                <a:latin typeface="Calibri" pitchFamily="34" charset="0"/>
                <a:ea typeface="Calibri" pitchFamily="34" charset="-122"/>
                <a:cs typeface="Calibri" pitchFamily="34" charset="-120"/>
              </a:rPr>
              <a:t>Run costs recur and scale with usage, so the annual bill rises as adoption succeeds; build spend comes on top.</a:t>
            </a:r>
            <a:endParaRPr lang="en-US" sz="1000" dirty="0"/>
          </a:p>
        </p:txBody>
      </p:sp>
      <p:sp>
        <p:nvSpPr>
          <p:cNvPr id="11" name="Text 8"/>
          <p:cNvSpPr txBox="1"/>
          <p:nvPr/>
        </p:nvSpPr>
        <p:spPr>
          <a:xfrm>
            <a:off x="640080" y="3147009"/>
            <a:ext cx="5394960" cy="656336"/>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Spend is front-loaded; value ramps behind it.  </a:t>
            </a:r>
            <a:pPr indent="0" marL="0">
              <a:buNone/>
            </a:pPr>
            <a:r>
              <a:rPr lang="en-US" sz="1000" dirty="0">
                <a:solidFill>
                  <a:srgbClr val="1F2933"/>
                </a:solidFill>
                <a:latin typeface="Calibri" pitchFamily="34" charset="0"/>
                <a:ea typeface="Calibri" pitchFamily="34" charset="-122"/>
                <a:cs typeface="Calibri" pitchFamily="34" charset="-120"/>
              </a:rPr>
              <a:t>Build spend lands ahead of benefits, so early periods show cost before savings even for cases with strong steady-state economics. Ramp profiles are being set per initiative with Finance.</a:t>
            </a:r>
            <a:endParaRPr lang="en-US" sz="1000" dirty="0"/>
          </a:p>
        </p:txBody>
      </p:sp>
      <p:sp>
        <p:nvSpPr>
          <p:cNvPr id="12" name="Text 9"/>
          <p:cNvSpPr txBox="1"/>
          <p:nvPr/>
        </p:nvSpPr>
        <p:spPr>
          <a:xfrm>
            <a:off x="640080" y="3970198"/>
            <a:ext cx="5394960" cy="811276"/>
          </a:xfrm>
          <a:prstGeom prst="rect">
            <a:avLst/>
          </a:prstGeom>
          <a:noFill/>
          <a:ln/>
        </p:spPr>
        <p:txBody>
          <a:bodyPr wrap="square" lIns="0" tIns="0" rIns="0" bIns="0" rtlCol="0" anchor="t"/>
          <a:lstStyle/>
          <a:p>
            <a:pPr indent="0" marL="0">
              <a:buNone/>
            </a:pPr>
            <a:r>
              <a:rPr lang="en-US" sz="1000" b="1" dirty="0">
                <a:solidFill>
                  <a:srgbClr val="1B2A4A"/>
                </a:solidFill>
                <a:latin typeface="Calibri" pitchFamily="34" charset="0"/>
                <a:ea typeface="Calibri" pitchFamily="34" charset="-122"/>
                <a:cs typeface="Calibri" pitchFamily="34" charset="-120"/>
              </a:rPr>
              <a:t>Some savings will not come from the areas expected.  </a:t>
            </a:r>
            <a:pPr indent="0" marL="0">
              <a:buNone/>
            </a:pPr>
            <a:r>
              <a:rPr lang="en-US" sz="1000" dirty="0">
                <a:solidFill>
                  <a:srgbClr val="1F2933"/>
                </a:solidFill>
                <a:latin typeface="Calibri" pitchFamily="34" charset="0"/>
                <a:ea typeface="Calibri" pitchFamily="34" charset="-122"/>
                <a:cs typeface="Calibri" pitchFamily="34" charset="-120"/>
              </a:rPr>
              <a:t>Servicing: much of the cost base is outsourced, so savings come through vendor contracts, not in-house headcount. Engineering and Sales: value arrives largely as capacity and acceleration, which count as savings only once Finance agrees how it is captured.</a:t>
            </a:r>
            <a:endParaRPr lang="en-US" sz="1000" dirty="0"/>
          </a:p>
        </p:txBody>
      </p:sp>
      <p:sp>
        <p:nvSpPr>
          <p:cNvPr id="13" name="Shape 10"/>
          <p:cNvSpPr/>
          <p:nvPr/>
        </p:nvSpPr>
        <p:spPr>
          <a:xfrm>
            <a:off x="6419088" y="1225296"/>
            <a:ext cx="5312664" cy="1521866"/>
          </a:xfrm>
          <a:prstGeom prst="rect">
            <a:avLst/>
          </a:prstGeom>
          <a:solidFill>
            <a:srgbClr val="EEF1F5"/>
          </a:solidFill>
          <a:ln w="12700">
            <a:solidFill>
              <a:srgbClr val="EEF1F5"/>
            </a:solidFill>
            <a:prstDash val="solid"/>
          </a:ln>
        </p:spPr>
      </p:sp>
      <p:sp>
        <p:nvSpPr>
          <p:cNvPr id="14" name="Shape 11"/>
          <p:cNvSpPr/>
          <p:nvPr/>
        </p:nvSpPr>
        <p:spPr>
          <a:xfrm>
            <a:off x="6583680" y="1362456"/>
            <a:ext cx="274320" cy="274320"/>
          </a:xfrm>
          <a:prstGeom prst="ellipse">
            <a:avLst/>
          </a:prstGeom>
          <a:solidFill>
            <a:srgbClr val="1B2A4A"/>
          </a:solidFill>
          <a:ln w="12700">
            <a:solidFill>
              <a:srgbClr val="1B2A4A"/>
            </a:solidFill>
            <a:prstDash val="solid"/>
          </a:ln>
        </p:spPr>
      </p:sp>
      <p:pic>
        <p:nvPicPr>
          <p:cNvPr id="15" name="Image 1" descr="preencoded.png">    </p:cNvPr>
          <p:cNvPicPr>
            <a:picLocks noChangeAspect="1"/>
          </p:cNvPicPr>
          <p:nvPr/>
        </p:nvPicPr>
        <p:blipFill>
          <a:blip r:embed="rId2"/>
          <a:stretch>
            <a:fillRect/>
          </a:stretch>
        </p:blipFill>
        <p:spPr>
          <a:xfrm>
            <a:off x="6643116" y="1421892"/>
            <a:ext cx="155448" cy="155448"/>
          </a:xfrm>
          <a:prstGeom prst="rect">
            <a:avLst/>
          </a:prstGeom>
        </p:spPr>
      </p:pic>
      <p:sp>
        <p:nvSpPr>
          <p:cNvPr id="16" name="Text 12"/>
          <p:cNvSpPr txBox="1"/>
          <p:nvPr/>
        </p:nvSpPr>
        <p:spPr>
          <a:xfrm>
            <a:off x="6949440" y="1335024"/>
            <a:ext cx="4617720" cy="329184"/>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What the investment looks like</a:t>
            </a:r>
            <a:endParaRPr lang="en-US" sz="1300" dirty="0"/>
          </a:p>
        </p:txBody>
      </p:sp>
      <p:sp>
        <p:nvSpPr>
          <p:cNvPr id="17" name="Text 13"/>
          <p:cNvSpPr txBox="1"/>
          <p:nvPr/>
        </p:nvSpPr>
        <p:spPr>
          <a:xfrm>
            <a:off x="6583680" y="1737360"/>
            <a:ext cx="4983480" cy="284785"/>
          </a:xfrm>
          <a:prstGeom prst="rect">
            <a:avLst/>
          </a:prstGeom>
          <a:noFill/>
          <a:ln/>
        </p:spPr>
        <p:txBody>
          <a:bodyPr wrap="square" lIns="0" tIns="0" rIns="0" bIns="0" rtlCol="0" anchor="t"/>
          <a:lstStyle/>
          <a:p>
            <a:pPr indent="0" marL="0">
              <a:buNone/>
            </a:pPr>
            <a:r>
              <a:rPr lang="en-US" sz="860" b="1" dirty="0">
                <a:solidFill>
                  <a:srgbClr val="1B2A4A"/>
                </a:solidFill>
                <a:latin typeface="Calibri" pitchFamily="34" charset="0"/>
                <a:ea typeface="Calibri" pitchFamily="34" charset="-122"/>
                <a:cs typeface="Calibri" pitchFamily="34" charset="-120"/>
              </a:rPr>
              <a:t>Build</a:t>
            </a:r>
            <a:pPr indent="0" marL="0">
              <a:buNone/>
            </a:pPr>
            <a:r>
              <a:rPr lang="en-US" sz="860" i="1" dirty="0">
                <a:solidFill>
                  <a:srgbClr val="5B6B7C"/>
                </a:solidFill>
                <a:latin typeface="Calibri" pitchFamily="34" charset="0"/>
                <a:ea typeface="Calibri" pitchFamily="34" charset="-122"/>
                <a:cs typeface="Calibri" pitchFamily="34" charset="-120"/>
              </a:rPr>
              <a:t> (one-time): </a:t>
            </a:r>
            <a:pPr indent="0" marL="0">
              <a:buNone/>
            </a:pPr>
            <a:r>
              <a:rPr lang="en-US" sz="860" dirty="0">
                <a:solidFill>
                  <a:srgbClr val="1F2933"/>
                </a:solidFill>
                <a:latin typeface="Calibri" pitchFamily="34" charset="0"/>
                <a:ea typeface="Calibri" pitchFamily="34" charset="-122"/>
                <a:cs typeface="Calibri" pitchFamily="34" charset="-120"/>
              </a:rPr>
              <a:t>a dedicated delivery team per initiative; platform, integration and data set-up; vendor builds where buying beats building.</a:t>
            </a:r>
            <a:endParaRPr lang="en-US" sz="860" dirty="0"/>
          </a:p>
        </p:txBody>
      </p:sp>
      <p:sp>
        <p:nvSpPr>
          <p:cNvPr id="18" name="Text 14"/>
          <p:cNvSpPr txBox="1"/>
          <p:nvPr/>
        </p:nvSpPr>
        <p:spPr>
          <a:xfrm>
            <a:off x="6583680" y="2086153"/>
            <a:ext cx="4983480" cy="284785"/>
          </a:xfrm>
          <a:prstGeom prst="rect">
            <a:avLst/>
          </a:prstGeom>
          <a:noFill/>
          <a:ln/>
        </p:spPr>
        <p:txBody>
          <a:bodyPr wrap="square" lIns="0" tIns="0" rIns="0" bIns="0" rtlCol="0" anchor="t"/>
          <a:lstStyle/>
          <a:p>
            <a:pPr indent="0" marL="0">
              <a:buNone/>
            </a:pPr>
            <a:r>
              <a:rPr lang="en-US" sz="860" b="1" dirty="0">
                <a:solidFill>
                  <a:srgbClr val="1B2A4A"/>
                </a:solidFill>
                <a:latin typeface="Calibri" pitchFamily="34" charset="0"/>
                <a:ea typeface="Calibri" pitchFamily="34" charset="-122"/>
                <a:cs typeface="Calibri" pitchFamily="34" charset="-120"/>
              </a:rPr>
              <a:t>Run</a:t>
            </a:r>
            <a:pPr indent="0" marL="0">
              <a:buNone/>
            </a:pPr>
            <a:r>
              <a:rPr lang="en-US" sz="860" i="1" dirty="0">
                <a:solidFill>
                  <a:srgbClr val="5B6B7C"/>
                </a:solidFill>
                <a:latin typeface="Calibri" pitchFamily="34" charset="0"/>
                <a:ea typeface="Calibri" pitchFamily="34" charset="-122"/>
                <a:cs typeface="Calibri" pitchFamily="34" charset="-120"/>
              </a:rPr>
              <a:t> (recurring): </a:t>
            </a:r>
            <a:pPr indent="0" marL="0">
              <a:buNone/>
            </a:pPr>
            <a:r>
              <a:rPr lang="en-US" sz="860" dirty="0">
                <a:solidFill>
                  <a:srgbClr val="1F2933"/>
                </a:solidFill>
                <a:latin typeface="Calibri" pitchFamily="34" charset="0"/>
                <a:ea typeface="Calibri" pitchFamily="34" charset="-122"/>
                <a:cs typeface="Calibri" pitchFamily="34" charset="-120"/>
              </a:rPr>
              <a:t>model usage that grows with adoption; subscriptions and vendor support; a small standing team with monitoring and controls.</a:t>
            </a:r>
            <a:endParaRPr lang="en-US" sz="860" dirty="0"/>
          </a:p>
        </p:txBody>
      </p:sp>
      <p:sp>
        <p:nvSpPr>
          <p:cNvPr id="19" name="Text 15"/>
          <p:cNvSpPr txBox="1"/>
          <p:nvPr/>
        </p:nvSpPr>
        <p:spPr>
          <a:xfrm>
            <a:off x="6583680" y="2434946"/>
            <a:ext cx="4983480" cy="284785"/>
          </a:xfrm>
          <a:prstGeom prst="rect">
            <a:avLst/>
          </a:prstGeom>
          <a:noFill/>
          <a:ln/>
        </p:spPr>
        <p:txBody>
          <a:bodyPr wrap="square" lIns="0" tIns="0" rIns="0" bIns="0" rtlCol="0" anchor="t"/>
          <a:lstStyle/>
          <a:p>
            <a:pPr indent="0" marL="0">
              <a:buNone/>
            </a:pPr>
            <a:r>
              <a:rPr lang="en-US" sz="860" b="1" dirty="0">
                <a:solidFill>
                  <a:srgbClr val="1B2A4A"/>
                </a:solidFill>
                <a:latin typeface="Calibri" pitchFamily="34" charset="0"/>
                <a:ea typeface="Calibri" pitchFamily="34" charset="-122"/>
                <a:cs typeface="Calibri" pitchFamily="34" charset="-120"/>
              </a:rPr>
              <a:t>Enable</a:t>
            </a:r>
            <a:pPr indent="0" marL="0">
              <a:buNone/>
            </a:pPr>
            <a:r>
              <a:rPr lang="en-US" sz="860" i="1" dirty="0">
                <a:solidFill>
                  <a:srgbClr val="5B6B7C"/>
                </a:solidFill>
                <a:latin typeface="Calibri" pitchFamily="34" charset="0"/>
                <a:ea typeface="Calibri" pitchFamily="34" charset="-122"/>
                <a:cs typeface="Calibri" pitchFamily="34" charset="-120"/>
              </a:rPr>
              <a:t> (people): </a:t>
            </a:r>
            <a:pPr indent="0" marL="0">
              <a:buNone/>
            </a:pPr>
            <a:r>
              <a:rPr lang="en-US" sz="860" dirty="0">
                <a:solidFill>
                  <a:srgbClr val="1F2933"/>
                </a:solidFill>
                <a:latin typeface="Calibri" pitchFamily="34" charset="0"/>
                <a:ea typeface="Calibri" pitchFamily="34" charset="-122"/>
                <a:cs typeface="Calibri" pitchFamily="34" charset="-120"/>
              </a:rPr>
              <a:t>training and change in the business; adoption champions in engineering; tracking of benefits and of service, quality and loss guardrails.</a:t>
            </a:r>
            <a:endParaRPr lang="en-US" sz="860" dirty="0"/>
          </a:p>
        </p:txBody>
      </p:sp>
      <p:sp>
        <p:nvSpPr>
          <p:cNvPr id="20" name="Shape 16"/>
          <p:cNvSpPr/>
          <p:nvPr/>
        </p:nvSpPr>
        <p:spPr>
          <a:xfrm>
            <a:off x="6419088" y="2884322"/>
            <a:ext cx="5312664" cy="2027428"/>
          </a:xfrm>
          <a:prstGeom prst="rect">
            <a:avLst/>
          </a:prstGeom>
          <a:solidFill>
            <a:srgbClr val="FBF3E6"/>
          </a:solidFill>
          <a:ln w="12700">
            <a:solidFill>
              <a:srgbClr val="FBF3E6"/>
            </a:solidFill>
            <a:prstDash val="solid"/>
          </a:ln>
        </p:spPr>
      </p:sp>
      <p:sp>
        <p:nvSpPr>
          <p:cNvPr id="21" name="Shape 17"/>
          <p:cNvSpPr/>
          <p:nvPr/>
        </p:nvSpPr>
        <p:spPr>
          <a:xfrm>
            <a:off x="6583680" y="3003194"/>
            <a:ext cx="274320" cy="274320"/>
          </a:xfrm>
          <a:prstGeom prst="ellipse">
            <a:avLst/>
          </a:prstGeom>
          <a:solidFill>
            <a:srgbClr val="B8741A"/>
          </a:solidFill>
          <a:ln w="12700">
            <a:solidFill>
              <a:srgbClr val="B8741A"/>
            </a:solidFill>
            <a:prstDash val="solid"/>
          </a:ln>
        </p:spPr>
      </p:sp>
      <p:pic>
        <p:nvPicPr>
          <p:cNvPr id="22" name="Image 2" descr="preencoded.png">    </p:cNvPr>
          <p:cNvPicPr>
            <a:picLocks noChangeAspect="1"/>
          </p:cNvPicPr>
          <p:nvPr/>
        </p:nvPicPr>
        <p:blipFill>
          <a:blip r:embed="rId3"/>
          <a:stretch>
            <a:fillRect/>
          </a:stretch>
        </p:blipFill>
        <p:spPr>
          <a:xfrm>
            <a:off x="6643116" y="3062630"/>
            <a:ext cx="155448" cy="155448"/>
          </a:xfrm>
          <a:prstGeom prst="rect">
            <a:avLst/>
          </a:prstGeom>
        </p:spPr>
      </p:pic>
      <p:sp>
        <p:nvSpPr>
          <p:cNvPr id="23" name="Text 18"/>
          <p:cNvSpPr txBox="1"/>
          <p:nvPr/>
        </p:nvSpPr>
        <p:spPr>
          <a:xfrm>
            <a:off x="6949440" y="2975762"/>
            <a:ext cx="4617720" cy="329184"/>
          </a:xfrm>
          <a:prstGeom prst="rect">
            <a:avLst/>
          </a:prstGeom>
          <a:noFill/>
          <a:ln/>
        </p:spPr>
        <p:txBody>
          <a:bodyPr wrap="square" lIns="0" tIns="0" rIns="0" bIns="0" rtlCol="0" anchor="ctr"/>
          <a:lstStyle/>
          <a:p>
            <a:pPr indent="0" marL="0">
              <a:buNone/>
            </a:pPr>
            <a:r>
              <a:rPr lang="en-US" sz="1300" b="1" dirty="0">
                <a:solidFill>
                  <a:srgbClr val="B8741A"/>
                </a:solidFill>
                <a:latin typeface="Cambria" pitchFamily="34" charset="0"/>
                <a:ea typeface="Cambria" pitchFamily="34" charset="-122"/>
                <a:cs typeface="Cambria" pitchFamily="34" charset="-120"/>
              </a:rPr>
              <a:t>Dependencies and decisions in flight</a:t>
            </a:r>
            <a:endParaRPr lang="en-US" sz="1300" dirty="0"/>
          </a:p>
        </p:txBody>
      </p:sp>
      <p:sp>
        <p:nvSpPr>
          <p:cNvPr id="24" name="Text 19"/>
          <p:cNvSpPr txBox="1"/>
          <p:nvPr/>
        </p:nvSpPr>
        <p:spPr>
          <a:xfrm>
            <a:off x="6583680" y="3359810"/>
            <a:ext cx="4983480" cy="418033"/>
          </a:xfrm>
          <a:prstGeom prst="rect">
            <a:avLst/>
          </a:prstGeom>
          <a:noFill/>
          <a:ln/>
        </p:spPr>
        <p:txBody>
          <a:bodyPr wrap="square" lIns="0" tIns="0" rIns="0" bIns="0" rtlCol="0" anchor="t"/>
          <a:lstStyle/>
          <a:p>
            <a:pPr indent="0" marL="0">
              <a:buNone/>
            </a:pPr>
            <a:r>
              <a:rPr lang="en-US" sz="860" b="1" dirty="0">
                <a:solidFill>
                  <a:srgbClr val="B8741A"/>
                </a:solidFill>
                <a:latin typeface="Calibri" pitchFamily="34" charset="0"/>
                <a:ea typeface="Calibri" pitchFamily="34" charset="-122"/>
                <a:cs typeface="Calibri" pitchFamily="34" charset="-120"/>
              </a:rPr>
              <a:t>Accounting treatment.  </a:t>
            </a:r>
            <a:pPr indent="0" marL="0">
              <a:buNone/>
            </a:pPr>
            <a:r>
              <a:rPr lang="en-US" sz="860" dirty="0">
                <a:solidFill>
                  <a:srgbClr val="1F2933"/>
                </a:solidFill>
                <a:latin typeface="Calibri" pitchFamily="34" charset="0"/>
                <a:ea typeface="Calibri" pitchFamily="34" charset="-122"/>
                <a:cs typeface="Calibri" pitchFamily="34" charset="-120"/>
              </a:rPr>
              <a:t>Jamie and Tom are working the capitalization question (build labour and platforms as CapEx vs expensed). It changes P&amp;L phasing, not the underlying economics.</a:t>
            </a:r>
            <a:endParaRPr lang="en-US" sz="860" dirty="0"/>
          </a:p>
        </p:txBody>
      </p:sp>
      <p:sp>
        <p:nvSpPr>
          <p:cNvPr id="25" name="Text 20"/>
          <p:cNvSpPr txBox="1"/>
          <p:nvPr/>
        </p:nvSpPr>
        <p:spPr>
          <a:xfrm>
            <a:off x="6583680" y="3832708"/>
            <a:ext cx="4983480" cy="418033"/>
          </a:xfrm>
          <a:prstGeom prst="rect">
            <a:avLst/>
          </a:prstGeom>
          <a:noFill/>
          <a:ln/>
        </p:spPr>
        <p:txBody>
          <a:bodyPr wrap="square" lIns="0" tIns="0" rIns="0" bIns="0" rtlCol="0" anchor="t"/>
          <a:lstStyle/>
          <a:p>
            <a:pPr indent="0" marL="0">
              <a:buNone/>
            </a:pPr>
            <a:r>
              <a:rPr lang="en-US" sz="860" b="1" dirty="0">
                <a:solidFill>
                  <a:srgbClr val="B8741A"/>
                </a:solidFill>
                <a:latin typeface="Calibri" pitchFamily="34" charset="0"/>
                <a:ea typeface="Calibri" pitchFamily="34" charset="-122"/>
                <a:cs typeface="Calibri" pitchFamily="34" charset="-120"/>
              </a:rPr>
              <a:t>Funding mechanism.  </a:t>
            </a:r>
            <a:pPr indent="0" marL="0">
              <a:buNone/>
            </a:pPr>
            <a:r>
              <a:rPr lang="en-US" sz="860" dirty="0">
                <a:solidFill>
                  <a:srgbClr val="1F2933"/>
                </a:solidFill>
                <a:latin typeface="Calibri" pitchFamily="34" charset="0"/>
                <a:ea typeface="Calibri" pitchFamily="34" charset="-122"/>
                <a:cs typeface="Calibri" pitchFamily="34" charset="-120"/>
              </a:rPr>
              <a:t>Central transformation pool vs business-unit budgets is still open; it decides who carries the build cost and who carries the run cost as it grows.</a:t>
            </a:r>
            <a:endParaRPr lang="en-US" sz="860" dirty="0"/>
          </a:p>
        </p:txBody>
      </p:sp>
      <p:sp>
        <p:nvSpPr>
          <p:cNvPr id="26" name="Text 21"/>
          <p:cNvSpPr txBox="1"/>
          <p:nvPr/>
        </p:nvSpPr>
        <p:spPr>
          <a:xfrm>
            <a:off x="6583680" y="4305605"/>
            <a:ext cx="4983480" cy="551282"/>
          </a:xfrm>
          <a:prstGeom prst="rect">
            <a:avLst/>
          </a:prstGeom>
          <a:noFill/>
          <a:ln/>
        </p:spPr>
        <p:txBody>
          <a:bodyPr wrap="square" lIns="0" tIns="0" rIns="0" bIns="0" rtlCol="0" anchor="t"/>
          <a:lstStyle/>
          <a:p>
            <a:pPr indent="0" marL="0">
              <a:buNone/>
            </a:pPr>
            <a:r>
              <a:rPr lang="en-US" sz="860" b="1" dirty="0">
                <a:solidFill>
                  <a:srgbClr val="B8741A"/>
                </a:solidFill>
                <a:latin typeface="Calibri" pitchFamily="34" charset="0"/>
                <a:ea typeface="Calibri" pitchFamily="34" charset="-122"/>
                <a:cs typeface="Calibri" pitchFamily="34" charset="-120"/>
              </a:rPr>
              <a:t>Finance engagement.  </a:t>
            </a:r>
            <a:pPr indent="0" marL="0">
              <a:buNone/>
            </a:pPr>
            <a:r>
              <a:rPr lang="en-US" sz="860" dirty="0">
                <a:solidFill>
                  <a:srgbClr val="1F2933"/>
                </a:solidFill>
                <a:latin typeface="Calibri" pitchFamily="34" charset="0"/>
                <a:ea typeface="Calibri" pitchFamily="34" charset="-122"/>
                <a:cs typeface="Calibri" pitchFamily="34" charset="-120"/>
              </a:rPr>
              <a:t>Finance is embedded in every case, validating baselines, vendor rates and the approval package. Run-cost inputs (usage, vendor, platform rates) are planning assumptions until usage data and rates land — the inputs most likely to move.</a:t>
            </a:r>
            <a:endParaRPr lang="en-US" sz="86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5039766"/>
          <a:ext cx="11274552" cy="914400"/>
        </p:xfrm>
        <a:graphic>
          <a:graphicData uri="http://schemas.openxmlformats.org/drawingml/2006/table">
            <a:tbl>
              <a:tblPr/>
              <a:tblGrid>
                <a:gridCol w="1005840"/>
                <a:gridCol w="2567178"/>
                <a:gridCol w="2567178"/>
                <a:gridCol w="2567178"/>
                <a:gridCol w="2567178"/>
              </a:tblGrid>
              <a:tr h="237744">
                <a:tc>
                  <a:txBody>
                    <a:bodyPr/>
                    <a:lstStyle/>
                    <a:p>
                      <a:pPr indent="0" marL="0">
                        <a:buNone/>
                      </a:pPr>
                      <a:r>
                        <a:rPr lang="en-US" sz="900" b="1" dirty="0">
                          <a:solidFill>
                            <a:srgbClr val="3D5A80"/>
                          </a:solidFill>
                          <a:latin typeface="Cambria" pitchFamily="34" charset="0"/>
                          <a:ea typeface="Cambria" pitchFamily="34" charset="-122"/>
                          <a:cs typeface="Cambria" pitchFamily="34" charset="-120"/>
                        </a:rPr>
                        <a:t>Workstream snapshot</a:t>
                      </a:r>
                      <a:endParaRPr lang="en-US" sz="900" dirty="0">
                        <a:latin typeface="Cambria" charset="0"/>
                        <a:ea typeface="Cambria" charset="0"/>
                        <a:cs typeface="Cambria"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EEF1F5"/>
                    </a:solidFill>
                  </a:tcPr>
                </a:tc>
                <a:tc>
                  <a:txBody>
                    <a:bodyPr/>
                    <a:lstStyle/>
                    <a:p>
                      <a:pPr indent="0" marL="0">
                        <a:buNone/>
                      </a:pPr>
                      <a:r>
                        <a:rPr lang="en-US" sz="950" b="1" dirty="0">
                          <a:solidFill>
                            <a:srgbClr val="FFFFFF"/>
                          </a:solidFill>
                          <a:latin typeface="Cambria" pitchFamily="34" charset="0"/>
                          <a:ea typeface="Cambria" pitchFamily="34" charset="-122"/>
                          <a:cs typeface="Cambria" pitchFamily="34" charset="-120"/>
                        </a:rPr>
                        <a:t>Servicing</a:t>
                      </a:r>
                      <a:endParaRPr lang="en-US" sz="950" dirty="0">
                        <a:latin typeface="Cambria" charset="0"/>
                        <a:ea typeface="Cambria" charset="0"/>
                        <a:cs typeface="Cambria"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1B2A4A"/>
                    </a:solidFill>
                  </a:tcPr>
                </a:tc>
                <a:tc>
                  <a:txBody>
                    <a:bodyPr/>
                    <a:lstStyle/>
                    <a:p>
                      <a:pPr indent="0" marL="0">
                        <a:buNone/>
                      </a:pPr>
                      <a:r>
                        <a:rPr lang="en-US" sz="950" b="1" dirty="0">
                          <a:solidFill>
                            <a:srgbClr val="FFFFFF"/>
                          </a:solidFill>
                          <a:latin typeface="Cambria" pitchFamily="34" charset="0"/>
                          <a:ea typeface="Cambria" pitchFamily="34" charset="-122"/>
                          <a:cs typeface="Cambria" pitchFamily="34" charset="-120"/>
                        </a:rPr>
                        <a:t>Engineering (SDLC)</a:t>
                      </a:r>
                      <a:endParaRPr lang="en-US" sz="950" dirty="0">
                        <a:latin typeface="Cambria" charset="0"/>
                        <a:ea typeface="Cambria" charset="0"/>
                        <a:cs typeface="Cambria"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1B2A4A"/>
                    </a:solidFill>
                  </a:tcPr>
                </a:tc>
                <a:tc>
                  <a:txBody>
                    <a:bodyPr/>
                    <a:lstStyle/>
                    <a:p>
                      <a:pPr indent="0" marL="0">
                        <a:buNone/>
                      </a:pPr>
                      <a:r>
                        <a:rPr lang="en-US" sz="950" b="1" dirty="0">
                          <a:solidFill>
                            <a:srgbClr val="FFFFFF"/>
                          </a:solidFill>
                          <a:latin typeface="Cambria" pitchFamily="34" charset="0"/>
                          <a:ea typeface="Cambria" pitchFamily="34" charset="-122"/>
                          <a:cs typeface="Cambria" pitchFamily="34" charset="-120"/>
                        </a:rPr>
                        <a:t>Sales</a:t>
                      </a:r>
                      <a:endParaRPr lang="en-US" sz="950" dirty="0">
                        <a:latin typeface="Cambria" charset="0"/>
                        <a:ea typeface="Cambria" charset="0"/>
                        <a:cs typeface="Cambria"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1B2A4A"/>
                    </a:solidFill>
                  </a:tcPr>
                </a:tc>
                <a:tc>
                  <a:txBody>
                    <a:bodyPr/>
                    <a:lstStyle/>
                    <a:p>
                      <a:pPr indent="0" marL="0">
                        <a:buNone/>
                      </a:pPr>
                      <a:r>
                        <a:rPr lang="en-US" sz="950" b="1" dirty="0">
                          <a:solidFill>
                            <a:srgbClr val="FFFFFF"/>
                          </a:solidFill>
                          <a:latin typeface="Cambria" pitchFamily="34" charset="0"/>
                          <a:ea typeface="Cambria" pitchFamily="34" charset="-122"/>
                          <a:cs typeface="Cambria" pitchFamily="34" charset="-120"/>
                        </a:rPr>
                        <a:t>Risk &amp; Compliance</a:t>
                      </a:r>
                      <a:endParaRPr lang="en-US" sz="950" dirty="0">
                        <a:latin typeface="Cambria" charset="0"/>
                        <a:ea typeface="Cambria" charset="0"/>
                        <a:cs typeface="Cambria"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1B2A4A"/>
                    </a:solidFill>
                  </a:tcPr>
                </a:tc>
              </a:tr>
              <a:tr h="426720">
                <a:tc>
                  <a:txBody>
                    <a:bodyPr/>
                    <a:lstStyle/>
                    <a:p>
                      <a:pPr indent="0" marL="0">
                        <a:buNone/>
                      </a:pPr>
                      <a:r>
                        <a:rPr lang="en-US" sz="800" b="1" dirty="0">
                          <a:solidFill>
                            <a:srgbClr val="3D5A80"/>
                          </a:solidFill>
                          <a:latin typeface="Calibri" pitchFamily="34" charset="0"/>
                          <a:ea typeface="Calibri" pitchFamily="34" charset="-122"/>
                          <a:cs typeface="Calibri" pitchFamily="34" charset="-120"/>
                        </a:rPr>
                        <a:t>Scope</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EEF1F5"/>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Six — contact avoidance, self-serve, AI-assisted agents, workforce management, back-office automation, non-people cost flow-through</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Two — AI-driven development (agentic loop engineering), product-lifecycle redesign</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Two — underwriting and pricing for the front book, small-business long tail via partners</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Portfolio being consolidated — existing Helix program plus fraud, financial-crime, compliance, credit and collections</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r>
              <a:tr h="426720">
                <a:tc>
                  <a:txBody>
                    <a:bodyPr/>
                    <a:lstStyle/>
                    <a:p>
                      <a:pPr indent="0" marL="0">
                        <a:buNone/>
                      </a:pPr>
                      <a:r>
                        <a:rPr lang="en-US" sz="800" b="1" dirty="0">
                          <a:solidFill>
                            <a:srgbClr val="3D5A80"/>
                          </a:solidFill>
                          <a:latin typeface="Calibri" pitchFamily="34" charset="0"/>
                          <a:ea typeface="Calibri" pitchFamily="34" charset="-122"/>
                          <a:cs typeface="Calibri" pitchFamily="34" charset="-120"/>
                        </a:rPr>
                        <a:t>Where value lands</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EEF1F5"/>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Front- and back-office servicing cost, including outsourced vendor and non-people cost pools</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Engineering and product capacity</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Revenue quality and seller capacity</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Operating cost, third-party spend and transaction loss</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r>
              <a:tr h="302768">
                <a:tc>
                  <a:txBody>
                    <a:bodyPr/>
                    <a:lstStyle/>
                    <a:p>
                      <a:pPr indent="0" marL="0">
                        <a:buNone/>
                      </a:pPr>
                      <a:r>
                        <a:rPr lang="en-US" sz="800" b="1" dirty="0">
                          <a:solidFill>
                            <a:srgbClr val="3D5A80"/>
                          </a:solidFill>
                          <a:latin typeface="Calibri" pitchFamily="34" charset="0"/>
                          <a:ea typeface="Calibri" pitchFamily="34" charset="-122"/>
                          <a:cs typeface="Calibri" pitchFamily="34" charset="-120"/>
                        </a:rPr>
                        <a:t>Case readiness</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EEF1F5"/>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First full case drafted; Finance validating baselines and rates; decision gate this week</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Structured; baselines landing; gate alongside</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Drivers set; baselines and vendor quotes landing; gate alongside</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Portfolio being refreshed; gate the following week</a:t>
                      </a:r>
                      <a:endParaRPr lang="en-US" sz="800" dirty="0">
                        <a:latin typeface="Calibri" charset="0"/>
                        <a:ea typeface="Calibri" charset="0"/>
                        <a:cs typeface="Calibri" charset="0"/>
                      </a:endParaRPr>
                    </a:p>
                  </a:txBody>
                  <a:tcPr marL="54864" marR="54864" marT="32004" marB="32004" anchor="t">
                    <a:lnL w="6350" cap="flat" cmpd="sng" algn="ctr">
                      <a:solidFill>
                        <a:srgbClr val="D3D9E1"/>
                      </a:solidFill>
                      <a:prstDash val="solid"/>
                      <a:round/>
                      <a:headEnd type="none" w="med" len="med"/>
                      <a:tailEnd type="none" w="med" len="med"/>
                    </a:lnL>
                    <a:lnR w="6350" cap="flat" cmpd="sng" algn="ctr">
                      <a:solidFill>
                        <a:srgbClr val="D3D9E1"/>
                      </a:solidFill>
                      <a:prstDash val="solid"/>
                      <a:round/>
                      <a:headEnd type="none" w="med" len="med"/>
                      <a:tailEnd type="none" w="med" len="med"/>
                    </a:lnR>
                    <a:lnT w="6350" cap="flat" cmpd="sng" algn="ctr">
                      <a:solidFill>
                        <a:srgbClr val="D3D9E1"/>
                      </a:solidFill>
                      <a:prstDash val="solid"/>
                      <a:round/>
                      <a:headEnd type="none" w="med" len="med"/>
                      <a:tailEnd type="none" w="med" len="med"/>
                    </a:lnT>
                    <a:lnB w="6350" cap="flat" cmpd="sng" algn="ctr">
                      <a:solidFill>
                        <a:srgbClr val="D3D9E1"/>
                      </a:solidFill>
                      <a:prstDash val="solid"/>
                      <a:round/>
                      <a:headEnd type="none" w="med" len="med"/>
                      <a:tailEnd type="none" w="med" len="med"/>
                    </a:lnB>
                    <a:solidFill>
                      <a:srgbClr val="FFFFFF"/>
                    </a:solidFill>
                  </a:tcPr>
                </a:tc>
              </a:tr>
            </a:tbl>
          </a:graphicData>
        </a:graphic>
      </p:graphicFrame>
      <p:sp>
        <p:nvSpPr>
          <p:cNvPr id="28" name="Text 22"/>
          <p:cNvSpPr txBox="1"/>
          <p:nvPr/>
        </p:nvSpPr>
        <p:spPr>
          <a:xfrm>
            <a:off x="457200" y="6506870"/>
            <a:ext cx="11274552" cy="219456"/>
          </a:xfrm>
          <a:prstGeom prst="rect">
            <a:avLst/>
          </a:prstGeom>
          <a:noFill/>
          <a:ln/>
        </p:spPr>
        <p:txBody>
          <a:bodyPr wrap="square" lIns="0" tIns="0" rIns="0" bIns="0" rtlCol="0" anchor="ctr"/>
          <a:lstStyle/>
          <a:p>
            <a:pPr indent="0" marL="0">
              <a:buNone/>
            </a:pPr>
            <a:r>
              <a:rPr lang="en-US" sz="800" i="1" dirty="0">
                <a:solidFill>
                  <a:srgbClr val="5B6B7C"/>
                </a:solidFill>
                <a:latin typeface="Calibri" pitchFamily="34" charset="0"/>
                <a:ea typeface="Calibri" pitchFamily="34" charset="-122"/>
                <a:cs typeface="Calibri" pitchFamily="34" charset="-120"/>
              </a:rPr>
              <a:t>Draft for discussion — themes only. Investment cases are being built per initiative with Finance; figures follow once sponsors, Finance and Jamie are aligned.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2026-09-03T11:22:19Z</dcterms:created>
  <dcterms:modified xsi:type="dcterms:W3CDTF">2026-09-03T11:22:19Z</dcterms:modified>
</cp:coreProperties>
</file>