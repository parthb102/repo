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One-page executive summary of the July 2026 TAM 2.0 Board update, prepared for the Technology Committee. Reads as a 3x2 grid: the problem (fragmented estate, capex locked in KTLO), why now (customer expectations, perception gap, synergy commitments), what we did (one rubric — strategic fit, commercial performance, capability coverage, technical foundations — with SME recommendation, functional input, and leadership validation), the plan (&gt;80% estate reduction in two phases), the return ($200M+ committed opex unlock; enter/win/retain), and what's next (sequencing, cost to achieve, execution-ready plan back to Technology Committee &amp; Board).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From-to view of the TAM 2.0 target state, drawn from the consolidation-impact pages of the July 2026 Board update. Left: platform counts by capability, today versus target. Right: what the consolidation unlocks — build once and deploy everywhere, one consistent customer experience, and capital refocused from KTLO to strategic development.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 </a:t>
            </a:r>
            <a:pPr algn="l"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|  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0" y="402336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Technology Committee  ·  July 2026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5" name="Text 3"/>
          <p:cNvSpPr/>
          <p:nvPr/>
        </p:nvSpPr>
        <p:spPr>
          <a:xfrm>
            <a:off x="722376" y="1078992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FRAGMENTATION IS TAXING GROWTH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22376" y="14173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22376" y="17647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overlapping platforms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350008" y="14173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50+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350008" y="17647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 portals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22376" y="21122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22376" y="2459736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integration points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50008" y="21122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~45%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350008" y="2459736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 tech capex in KTLO¹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22376" y="2816352"/>
            <a:ext cx="3155594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880360"/>
            <a:ext cx="31555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 spend </a:t>
            </a:r>
            <a:pPr indent="0" marL="0">
              <a:buNone/>
            </a:pPr>
            <a:r>
              <a:rPr lang="en-US" sz="9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~10% of revenue</a:t>
            </a:r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can’t self-fund the shift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98594" y="914400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4518050" y="1078992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WAITING GETS MORE EXPENSIVE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18050" y="1426464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19" name="Image 0" descr="icons_hi/icon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8518" y="1506931"/>
            <a:ext cx="204826" cy="20482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4993538" y="1353312"/>
            <a:ext cx="26801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experience expected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rivals activate in hours, not weeks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18050" y="2029968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2" name="Image 1" descr="icons_hi/icon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518" y="2110435"/>
            <a:ext cx="204826" cy="20482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993538" y="1956816"/>
            <a:ext cx="26801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Perception gap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limits GP’s inclusion in RFPs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4518050" y="2633472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5" name="Image 2" descr="icons_hi/icon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8518" y="2713939"/>
            <a:ext cx="204826" cy="20482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993538" y="2560320"/>
            <a:ext cx="26801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Synergy targets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assume a simplified estate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094269" y="914400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28" name="Text 23"/>
          <p:cNvSpPr/>
          <p:nvPr/>
        </p:nvSpPr>
        <p:spPr>
          <a:xfrm>
            <a:off x="8313725" y="1078992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RUBRIC, EVERY PLATFORM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8313725" y="1426464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0" name="Text 25"/>
          <p:cNvSpPr/>
          <p:nvPr/>
        </p:nvSpPr>
        <p:spPr>
          <a:xfrm>
            <a:off x="8386877" y="142646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Strategic fit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950501" y="1426464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27"/>
          <p:cNvSpPr/>
          <p:nvPr/>
        </p:nvSpPr>
        <p:spPr>
          <a:xfrm>
            <a:off x="10023653" y="142646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Commercial performance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8313725" y="2084832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4" name="Text 29"/>
          <p:cNvSpPr/>
          <p:nvPr/>
        </p:nvSpPr>
        <p:spPr>
          <a:xfrm>
            <a:off x="8386877" y="208483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Capability coverage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9950501" y="2084832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6" name="Text 31"/>
          <p:cNvSpPr/>
          <p:nvPr/>
        </p:nvSpPr>
        <p:spPr>
          <a:xfrm>
            <a:off x="10023653" y="208483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Technical foundations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8313725" y="2816352"/>
            <a:ext cx="3155594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8313725" y="2880360"/>
            <a:ext cx="31555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SMEs recommend, functions shape, leads validate</a:t>
            </a:r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Product, Eng., Architecture, Data &amp; Business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502920" y="3456432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40" name="Text 35"/>
          <p:cNvSpPr/>
          <p:nvPr/>
        </p:nvSpPr>
        <p:spPr>
          <a:xfrm>
            <a:off x="722376" y="3621024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SIMPLIFY, THEN CONSOLIDATE</a:t>
            </a:r>
            <a:endParaRPr lang="en-US" sz="1050" dirty="0"/>
          </a:p>
        </p:txBody>
      </p:sp>
      <p:sp>
        <p:nvSpPr>
          <p:cNvPr id="41" name="Text 36"/>
          <p:cNvSpPr/>
          <p:nvPr/>
        </p:nvSpPr>
        <p:spPr>
          <a:xfrm>
            <a:off x="722376" y="39136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&gt;80%</a:t>
            </a:r>
            <a:endParaRPr lang="en-US" sz="3200" dirty="0"/>
          </a:p>
        </p:txBody>
      </p:sp>
      <p:sp>
        <p:nvSpPr>
          <p:cNvPr id="42" name="Text 37"/>
          <p:cNvSpPr/>
          <p:nvPr/>
        </p:nvSpPr>
        <p:spPr>
          <a:xfrm>
            <a:off x="2139696" y="3931920"/>
            <a:ext cx="17382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smaller platform estate,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target state</a:t>
            </a:r>
            <a:endParaRPr 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722376" y="4462272"/>
            <a:ext cx="3155594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44" name="Text 39"/>
          <p:cNvSpPr/>
          <p:nvPr/>
        </p:nvSpPr>
        <p:spPr>
          <a:xfrm>
            <a:off x="859536" y="4462272"/>
            <a:ext cx="291785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Y1–2  ·  ~$250M</a:t>
            </a:r>
            <a:endParaRPr lang="en-US" sz="9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Simplify the customer experience</a:t>
            </a:r>
            <a:endParaRPr lang="en-US" sz="900" dirty="0"/>
          </a:p>
        </p:txBody>
      </p:sp>
      <p:sp>
        <p:nvSpPr>
          <p:cNvPr id="45" name="Text 40"/>
          <p:cNvSpPr/>
          <p:nvPr/>
        </p:nvSpPr>
        <p:spPr>
          <a:xfrm rot="5400000">
            <a:off x="2163013" y="500176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❯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722376" y="5157216"/>
            <a:ext cx="3155594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47" name="Text 42"/>
          <p:cNvSpPr/>
          <p:nvPr/>
        </p:nvSpPr>
        <p:spPr>
          <a:xfrm>
            <a:off x="859536" y="5157216"/>
            <a:ext cx="291785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Y3–5  ·  ~$250M</a:t>
            </a:r>
            <a:endParaRPr lang="en-US" sz="9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Consolidate the back-ends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4298594" y="3456432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49" name="Text 44"/>
          <p:cNvSpPr/>
          <p:nvPr/>
        </p:nvSpPr>
        <p:spPr>
          <a:xfrm>
            <a:off x="4518050" y="3621024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SIMPLIFICATION FUNDS GROWTH</a:t>
            </a:r>
            <a:endParaRPr lang="en-US" sz="1050" dirty="0"/>
          </a:p>
        </p:txBody>
      </p:sp>
      <p:sp>
        <p:nvSpPr>
          <p:cNvPr id="50" name="Text 45"/>
          <p:cNvSpPr/>
          <p:nvPr/>
        </p:nvSpPr>
        <p:spPr>
          <a:xfrm>
            <a:off x="4518050" y="391363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$200M+</a:t>
            </a:r>
            <a:endParaRPr lang="en-US" sz="3200" dirty="0"/>
          </a:p>
        </p:txBody>
      </p:sp>
      <p:sp>
        <p:nvSpPr>
          <p:cNvPr id="51" name="Text 46"/>
          <p:cNvSpPr/>
          <p:nvPr/>
        </p:nvSpPr>
        <p:spPr>
          <a:xfrm>
            <a:off x="4518050" y="4416552"/>
            <a:ext cx="31555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opex unlock over 5 years — committed</a:t>
            </a:r>
            <a:endParaRPr lang="en-US" sz="950" dirty="0"/>
          </a:p>
        </p:txBody>
      </p:sp>
      <p:sp>
        <p:nvSpPr>
          <p:cNvPr id="52" name="Shape 47"/>
          <p:cNvSpPr/>
          <p:nvPr/>
        </p:nvSpPr>
        <p:spPr>
          <a:xfrm>
            <a:off x="4518050" y="4809744"/>
            <a:ext cx="274320" cy="27432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3" name="Image 3" descr="icons_hi/icon1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401" y="4870094"/>
            <a:ext cx="153619" cy="153619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4902098" y="4764024"/>
            <a:ext cx="27715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Enter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new markets at lower cost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4518050" y="5138928"/>
            <a:ext cx="274320" cy="27432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6" name="Image 4" descr="icons_hi/icon5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401" y="5199278"/>
            <a:ext cx="153619" cy="153619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4902098" y="5093208"/>
            <a:ext cx="27715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Win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more of today’s demand</a:t>
            </a:r>
            <a:endParaRPr lang="en-US" sz="1050" dirty="0"/>
          </a:p>
        </p:txBody>
      </p:sp>
      <p:sp>
        <p:nvSpPr>
          <p:cNvPr id="58" name="Shape 51"/>
          <p:cNvSpPr/>
          <p:nvPr/>
        </p:nvSpPr>
        <p:spPr>
          <a:xfrm>
            <a:off x="4518050" y="5468112"/>
            <a:ext cx="274320" cy="27432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9" name="Image 5" descr="icons_hi/icon9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8401" y="5528462"/>
            <a:ext cx="153619" cy="153619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4902098" y="5422392"/>
            <a:ext cx="27715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Retain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every merchant sold</a:t>
            </a:r>
            <a:endParaRPr lang="en-US" sz="1050" dirty="0"/>
          </a:p>
        </p:txBody>
      </p:sp>
      <p:sp>
        <p:nvSpPr>
          <p:cNvPr id="61" name="Shape 53"/>
          <p:cNvSpPr/>
          <p:nvPr/>
        </p:nvSpPr>
        <p:spPr>
          <a:xfrm>
            <a:off x="8094269" y="3456432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62" name="Text 54"/>
          <p:cNvSpPr/>
          <p:nvPr/>
        </p:nvSpPr>
        <p:spPr>
          <a:xfrm>
            <a:off x="8313725" y="3621024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NEXT: AN EXECUTION-READY PLAN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3725" y="3968496"/>
            <a:ext cx="310896" cy="310896"/>
          </a:xfrm>
          <a:prstGeom prst="ellipse">
            <a:avLst/>
          </a:prstGeom>
          <a:solidFill>
            <a:srgbClr val="262AFF"/>
          </a:solidFill>
          <a:ln/>
        </p:spPr>
      </p:sp>
      <p:sp>
        <p:nvSpPr>
          <p:cNvPr id="64" name="Text 56"/>
          <p:cNvSpPr/>
          <p:nvPr/>
        </p:nvSpPr>
        <p:spPr>
          <a:xfrm>
            <a:off x="8313725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5" name="Text 57"/>
          <p:cNvSpPr/>
          <p:nvPr/>
        </p:nvSpPr>
        <p:spPr>
          <a:xfrm>
            <a:off x="8752637" y="3886200"/>
            <a:ext cx="27166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Sequence the platforms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prioritized by value delivered</a:t>
            </a:r>
            <a:endParaRPr lang="en-US" sz="1100" dirty="0"/>
          </a:p>
        </p:txBody>
      </p:sp>
      <p:sp>
        <p:nvSpPr>
          <p:cNvPr id="66" name="Shape 58"/>
          <p:cNvSpPr/>
          <p:nvPr/>
        </p:nvSpPr>
        <p:spPr>
          <a:xfrm>
            <a:off x="8313725" y="4553712"/>
            <a:ext cx="310896" cy="310896"/>
          </a:xfrm>
          <a:prstGeom prst="ellipse">
            <a:avLst/>
          </a:prstGeom>
          <a:solidFill>
            <a:srgbClr val="262AFF"/>
          </a:solidFill>
          <a:ln/>
        </p:spPr>
      </p:sp>
      <p:sp>
        <p:nvSpPr>
          <p:cNvPr id="67" name="Text 59"/>
          <p:cNvSpPr/>
          <p:nvPr/>
        </p:nvSpPr>
        <p:spPr>
          <a:xfrm>
            <a:off x="8313725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68" name="Text 60"/>
          <p:cNvSpPr/>
          <p:nvPr/>
        </p:nvSpPr>
        <p:spPr>
          <a:xfrm>
            <a:off x="8752637" y="4471416"/>
            <a:ext cx="27166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Harden the financials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 to ~$500M²; ~$200–250M in Y1–2</a:t>
            </a:r>
            <a:endParaRPr lang="en-US" sz="1100" dirty="0"/>
          </a:p>
        </p:txBody>
      </p:sp>
      <p:sp>
        <p:nvSpPr>
          <p:cNvPr id="69" name="Shape 61"/>
          <p:cNvSpPr/>
          <p:nvPr/>
        </p:nvSpPr>
        <p:spPr>
          <a:xfrm>
            <a:off x="8313725" y="5138928"/>
            <a:ext cx="310896" cy="310896"/>
          </a:xfrm>
          <a:prstGeom prst="ellipse">
            <a:avLst/>
          </a:prstGeom>
          <a:solidFill>
            <a:srgbClr val="262AFF"/>
          </a:solidFill>
          <a:ln/>
        </p:spPr>
      </p:sp>
      <p:sp>
        <p:nvSpPr>
          <p:cNvPr id="70" name="Text 62"/>
          <p:cNvSpPr/>
          <p:nvPr/>
        </p:nvSpPr>
        <p:spPr>
          <a:xfrm>
            <a:off x="8313725" y="5138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71" name="Text 63"/>
          <p:cNvSpPr/>
          <p:nvPr/>
        </p:nvSpPr>
        <p:spPr>
          <a:xfrm>
            <a:off x="8752637" y="5056632"/>
            <a:ext cx="27166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with the full plan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Technology Committee &amp; Board</a:t>
            </a:r>
            <a:endParaRPr lang="en-US" sz="1100" dirty="0"/>
          </a:p>
        </p:txBody>
      </p:sp>
      <p:sp>
        <p:nvSpPr>
          <p:cNvPr id="72" name="Shape 64"/>
          <p:cNvSpPr/>
          <p:nvPr/>
        </p:nvSpPr>
        <p:spPr>
          <a:xfrm>
            <a:off x="502920" y="5925312"/>
            <a:ext cx="11185855" cy="457200"/>
          </a:xfrm>
          <a:prstGeom prst="roundRect">
            <a:avLst>
              <a:gd name="adj" fmla="val 12000"/>
            </a:avLst>
          </a:prstGeom>
          <a:solidFill>
            <a:srgbClr val="262AFF"/>
          </a:solidFill>
          <a:ln/>
        </p:spPr>
      </p:sp>
      <p:sp>
        <p:nvSpPr>
          <p:cNvPr id="73" name="Text 65"/>
          <p:cNvSpPr/>
          <p:nvPr/>
        </p:nvSpPr>
        <p:spPr>
          <a:xfrm>
            <a:off x="502920" y="5925312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converts scale from a source of complexity into our decisive competitive advantage</a:t>
            </a:r>
            <a:endParaRPr lang="en-US" sz="1450" dirty="0"/>
          </a:p>
        </p:txBody>
      </p:sp>
      <p:sp>
        <p:nvSpPr>
          <p:cNvPr id="74" name="Text 66"/>
          <p:cNvSpPr/>
          <p:nvPr/>
        </p:nvSpPr>
        <p:spPr>
          <a:xfrm>
            <a:off x="960120" y="649224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Share of total technology capex    2. Technology capital only; excludes merchant incentives, impairments, and revenue effects</a:t>
            </a:r>
            <a:endParaRPr lang="en-US" sz="750" dirty="0"/>
          </a:p>
        </p:txBody>
      </p:sp>
      <p:pic>
        <p:nvPicPr>
          <p:cNvPr id="75" name="Image 6" descr="unpacked/ppt/media/image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6419088"/>
            <a:ext cx="227026" cy="310896"/>
          </a:xfrm>
          <a:prstGeom prst="rect">
            <a:avLst/>
          </a:prstGeom>
        </p:spPr>
      </p:pic>
      <p:sp>
        <p:nvSpPr>
          <p:cNvPr id="76" name="Text 67"/>
          <p:cNvSpPr/>
          <p:nvPr/>
        </p:nvSpPr>
        <p:spPr>
          <a:xfrm>
            <a:off x="8229600" y="64739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2025 Global Payments Inc. All rights reserved.</a:t>
            </a:r>
            <a:endParaRPr lang="en-US" sz="800" dirty="0"/>
          </a:p>
        </p:txBody>
      </p:sp>
      <p:sp>
        <p:nvSpPr>
          <p:cNvPr id="77" name="Text 68"/>
          <p:cNvSpPr/>
          <p:nvPr/>
        </p:nvSpPr>
        <p:spPr>
          <a:xfrm>
            <a:off x="1138428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 </a:t>
            </a:r>
            <a:pPr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|  From → to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target state reduces structural complexity, freeing capacity to focus where it matters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044952" y="11704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TODAY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306824" y="11704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TARGET STATE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20190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7" name="Image 0" descr="icons_hi/icon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131" y="1604681"/>
            <a:ext cx="215067" cy="2150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481328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Sales &amp; servicing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044952" y="148132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30+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995928" y="1481328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535424" y="148132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577840" y="1481328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Three CRMs — consistent, informed support across all segments &amp; geos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02920" y="1979676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2055114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15" name="Image 1" descr="icons_hi/icon1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1" y="2139605"/>
            <a:ext cx="215067" cy="21506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24712" y="2016252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Boarding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3044952" y="201625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40+</a:t>
            </a:r>
            <a:endParaRPr lang="en-US" sz="2400" dirty="0"/>
          </a:p>
        </p:txBody>
      </p:sp>
      <p:sp>
        <p:nvSpPr>
          <p:cNvPr id="18" name="Text 14"/>
          <p:cNvSpPr/>
          <p:nvPr/>
        </p:nvSpPr>
        <p:spPr>
          <a:xfrm>
            <a:off x="3995928" y="2016252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4535424" y="201625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6"/>
          <p:cNvSpPr/>
          <p:nvPr/>
        </p:nvSpPr>
        <p:spPr>
          <a:xfrm>
            <a:off x="5577840" y="2016252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digital boarding experience — live in days, not weeks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2514600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2590038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3" name="Image 2" descr="icons_hi/icon5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31" y="2674529"/>
            <a:ext cx="215067" cy="215067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124712" y="2551176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Global API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3044952" y="255117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2400" dirty="0"/>
          </a:p>
        </p:txBody>
      </p:sp>
      <p:sp>
        <p:nvSpPr>
          <p:cNvPr id="26" name="Text 21"/>
          <p:cNvSpPr/>
          <p:nvPr/>
        </p:nvSpPr>
        <p:spPr>
          <a:xfrm>
            <a:off x="3995928" y="2551176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4535424" y="255117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28" name="Text 23"/>
          <p:cNvSpPr/>
          <p:nvPr/>
        </p:nvSpPr>
        <p:spPr>
          <a:xfrm>
            <a:off x="5577840" y="2551176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Customers integrate once to access full GP capabilities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502920" y="3049524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48640" y="3124962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31" name="Image 3" descr="icons_hi/icon9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31" y="3209453"/>
            <a:ext cx="215067" cy="215067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124712" y="3086100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apps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3044952" y="3086100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</a:t>
            </a:r>
            <a:endParaRPr lang="en-US" sz="2400" dirty="0"/>
          </a:p>
        </p:txBody>
      </p:sp>
      <p:sp>
        <p:nvSpPr>
          <p:cNvPr id="34" name="Text 28"/>
          <p:cNvSpPr/>
          <p:nvPr/>
        </p:nvSpPr>
        <p:spPr>
          <a:xfrm>
            <a:off x="3995928" y="3086100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35424" y="3086100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36" name="Text 30"/>
          <p:cNvSpPr/>
          <p:nvPr/>
        </p:nvSpPr>
        <p:spPr>
          <a:xfrm>
            <a:off x="5577840" y="3086100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Apps 2.0 — one app across channels &amp; geographies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502920" y="3584448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548640" y="3659886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39" name="Image 4" descr="icons_hi/icon10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3744377"/>
            <a:ext cx="215067" cy="215067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1124712" y="3621024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processing</a:t>
            </a:r>
            <a:endParaRPr lang="en-US" sz="1250" dirty="0"/>
          </a:p>
        </p:txBody>
      </p:sp>
      <p:sp>
        <p:nvSpPr>
          <p:cNvPr id="41" name="Text 34"/>
          <p:cNvSpPr/>
          <p:nvPr/>
        </p:nvSpPr>
        <p:spPr>
          <a:xfrm>
            <a:off x="3044952" y="3621024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80+</a:t>
            </a:r>
            <a:endParaRPr lang="en-US" sz="2400" dirty="0"/>
          </a:p>
        </p:txBody>
      </p:sp>
      <p:sp>
        <p:nvSpPr>
          <p:cNvPr id="42" name="Text 35"/>
          <p:cNvSpPr/>
          <p:nvPr/>
        </p:nvSpPr>
        <p:spPr>
          <a:xfrm>
            <a:off x="3995928" y="3621024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43" name="Text 36"/>
          <p:cNvSpPr/>
          <p:nvPr/>
        </p:nvSpPr>
        <p:spPr>
          <a:xfrm>
            <a:off x="4535424" y="3621024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~5</a:t>
            </a:r>
            <a:endParaRPr lang="en-US" sz="2400" dirty="0"/>
          </a:p>
        </p:txBody>
      </p:sp>
      <p:sp>
        <p:nvSpPr>
          <p:cNvPr id="44" name="Text 37"/>
          <p:cNvSpPr/>
          <p:nvPr/>
        </p:nvSpPr>
        <p:spPr>
          <a:xfrm>
            <a:off x="5577840" y="3621024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regional rails; ~5 gateways → 1 in 5–10 yrs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502920" y="4119372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48640" y="4194810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47" name="Image 5" descr="icons_hi/icon10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131" y="4279301"/>
            <a:ext cx="215067" cy="215067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1124712" y="4155948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Value-added services</a:t>
            </a:r>
            <a:endParaRPr lang="en-US" sz="1250" dirty="0"/>
          </a:p>
        </p:txBody>
      </p:sp>
      <p:sp>
        <p:nvSpPr>
          <p:cNvPr id="49" name="Text 41"/>
          <p:cNvSpPr/>
          <p:nvPr/>
        </p:nvSpPr>
        <p:spPr>
          <a:xfrm>
            <a:off x="3044952" y="415594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15+</a:t>
            </a:r>
            <a:endParaRPr lang="en-US" sz="2400" dirty="0"/>
          </a:p>
        </p:txBody>
      </p:sp>
      <p:sp>
        <p:nvSpPr>
          <p:cNvPr id="50" name="Text 42"/>
          <p:cNvSpPr/>
          <p:nvPr/>
        </p:nvSpPr>
        <p:spPr>
          <a:xfrm>
            <a:off x="3995928" y="4155948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51" name="Text 43"/>
          <p:cNvSpPr/>
          <p:nvPr/>
        </p:nvSpPr>
        <p:spPr>
          <a:xfrm>
            <a:off x="4535424" y="415594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</a:t>
            </a:r>
            <a:endParaRPr lang="en-US" sz="2400" dirty="0"/>
          </a:p>
        </p:txBody>
      </p:sp>
      <p:sp>
        <p:nvSpPr>
          <p:cNvPr id="52" name="Text 44"/>
          <p:cNvSpPr/>
          <p:nvPr/>
        </p:nvSpPr>
        <p:spPr>
          <a:xfrm>
            <a:off x="5577840" y="4155948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orchestration layer for optimization — higher attach</a:t>
            </a:r>
            <a:endParaRPr lang="en-US" sz="1000" dirty="0"/>
          </a:p>
        </p:txBody>
      </p:sp>
      <p:sp>
        <p:nvSpPr>
          <p:cNvPr id="53" name="Shape 45"/>
          <p:cNvSpPr/>
          <p:nvPr/>
        </p:nvSpPr>
        <p:spPr>
          <a:xfrm>
            <a:off x="502920" y="4654296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54" name="Shape 46"/>
          <p:cNvSpPr/>
          <p:nvPr/>
        </p:nvSpPr>
        <p:spPr>
          <a:xfrm>
            <a:off x="548640" y="4729734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5" name="Image 6" descr="icons_hi/icon10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131" y="4814225"/>
            <a:ext cx="215067" cy="215067"/>
          </a:xfrm>
          <a:prstGeom prst="rect">
            <a:avLst/>
          </a:prstGeom>
        </p:spPr>
      </p:pic>
      <p:sp>
        <p:nvSpPr>
          <p:cNvPr id="56" name="Text 47"/>
          <p:cNvSpPr/>
          <p:nvPr/>
        </p:nvSpPr>
        <p:spPr>
          <a:xfrm>
            <a:off x="1124712" y="4690872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Single-out</a:t>
            </a:r>
            <a:endParaRPr lang="en-US" sz="1250" dirty="0"/>
          </a:p>
        </p:txBody>
      </p:sp>
      <p:sp>
        <p:nvSpPr>
          <p:cNvPr id="57" name="Text 48"/>
          <p:cNvSpPr/>
          <p:nvPr/>
        </p:nvSpPr>
        <p:spPr>
          <a:xfrm>
            <a:off x="3044952" y="469087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100+</a:t>
            </a:r>
            <a:endParaRPr lang="en-US" sz="2400" dirty="0"/>
          </a:p>
        </p:txBody>
      </p:sp>
      <p:sp>
        <p:nvSpPr>
          <p:cNvPr id="58" name="Text 49"/>
          <p:cNvSpPr/>
          <p:nvPr/>
        </p:nvSpPr>
        <p:spPr>
          <a:xfrm>
            <a:off x="3995928" y="4690872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59" name="Text 50"/>
          <p:cNvSpPr/>
          <p:nvPr/>
        </p:nvSpPr>
        <p:spPr>
          <a:xfrm>
            <a:off x="4535424" y="469087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~5</a:t>
            </a:r>
            <a:endParaRPr lang="en-US" sz="2400" dirty="0"/>
          </a:p>
        </p:txBody>
      </p:sp>
      <p:sp>
        <p:nvSpPr>
          <p:cNvPr id="60" name="Text 51"/>
          <p:cNvSpPr/>
          <p:nvPr/>
        </p:nvSpPr>
        <p:spPr>
          <a:xfrm>
            <a:off x="5577840" y="4690872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portal, one disputes platform, one PFaaS solution</a:t>
            </a:r>
            <a:endParaRPr lang="en-US" sz="1000" dirty="0"/>
          </a:p>
        </p:txBody>
      </p:sp>
      <p:sp>
        <p:nvSpPr>
          <p:cNvPr id="61" name="Shape 52"/>
          <p:cNvSpPr/>
          <p:nvPr/>
        </p:nvSpPr>
        <p:spPr>
          <a:xfrm>
            <a:off x="502920" y="5189220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62" name="Shape 53"/>
          <p:cNvSpPr/>
          <p:nvPr/>
        </p:nvSpPr>
        <p:spPr>
          <a:xfrm>
            <a:off x="548640" y="5264658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63" name="Image 7" descr="icons_hi/icon9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131" y="5349149"/>
            <a:ext cx="215067" cy="215067"/>
          </a:xfrm>
          <a:prstGeom prst="rect">
            <a:avLst/>
          </a:prstGeom>
        </p:spPr>
      </p:pic>
      <p:sp>
        <p:nvSpPr>
          <p:cNvPr id="64" name="Text 54"/>
          <p:cNvSpPr/>
          <p:nvPr/>
        </p:nvSpPr>
        <p:spPr>
          <a:xfrm>
            <a:off x="1124712" y="5225796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centers</a:t>
            </a:r>
            <a:endParaRPr lang="en-US" sz="1250" dirty="0"/>
          </a:p>
        </p:txBody>
      </p:sp>
      <p:sp>
        <p:nvSpPr>
          <p:cNvPr id="65" name="Text 55"/>
          <p:cNvSpPr/>
          <p:nvPr/>
        </p:nvSpPr>
        <p:spPr>
          <a:xfrm>
            <a:off x="3044952" y="522579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35</a:t>
            </a:r>
            <a:endParaRPr lang="en-US" sz="2400" dirty="0"/>
          </a:p>
        </p:txBody>
      </p:sp>
      <p:sp>
        <p:nvSpPr>
          <p:cNvPr id="66" name="Text 56"/>
          <p:cNvSpPr/>
          <p:nvPr/>
        </p:nvSpPr>
        <p:spPr>
          <a:xfrm>
            <a:off x="3995928" y="5225796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67" name="Text 57"/>
          <p:cNvSpPr/>
          <p:nvPr/>
        </p:nvSpPr>
        <p:spPr>
          <a:xfrm>
            <a:off x="4535424" y="522579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</a:t>
            </a:r>
            <a:endParaRPr lang="en-US" sz="2400" dirty="0"/>
          </a:p>
        </p:txBody>
      </p:sp>
      <p:sp>
        <p:nvSpPr>
          <p:cNvPr id="68" name="Text 58"/>
          <p:cNvSpPr/>
          <p:nvPr/>
        </p:nvSpPr>
        <p:spPr>
          <a:xfrm>
            <a:off x="5577840" y="5225796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Standardized, secure global infrastructure footprint</a:t>
            </a:r>
            <a:endParaRPr lang="en-US" sz="1000" dirty="0"/>
          </a:p>
        </p:txBody>
      </p:sp>
      <p:sp>
        <p:nvSpPr>
          <p:cNvPr id="69" name="Text 59"/>
          <p:cNvSpPr/>
          <p:nvPr/>
        </p:nvSpPr>
        <p:spPr>
          <a:xfrm>
            <a:off x="8778240" y="1143000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IT UNLOCKS</a:t>
            </a:r>
            <a:endParaRPr lang="en-US" sz="1050" dirty="0"/>
          </a:p>
        </p:txBody>
      </p:sp>
      <p:sp>
        <p:nvSpPr>
          <p:cNvPr id="70" name="Shape 60"/>
          <p:cNvSpPr/>
          <p:nvPr/>
        </p:nvSpPr>
        <p:spPr>
          <a:xfrm>
            <a:off x="8732520" y="1444752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1" name="Text 61"/>
          <p:cNvSpPr/>
          <p:nvPr/>
        </p:nvSpPr>
        <p:spPr>
          <a:xfrm>
            <a:off x="8961120" y="1609344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 once</a:t>
            </a:r>
            <a:endParaRPr lang="en-US" sz="2600" dirty="0"/>
          </a:p>
        </p:txBody>
      </p:sp>
      <p:sp>
        <p:nvSpPr>
          <p:cNvPr id="72" name="Text 62"/>
          <p:cNvSpPr/>
          <p:nvPr/>
        </p:nvSpPr>
        <p:spPr>
          <a:xfrm>
            <a:off x="8961120" y="2286000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same platforms across all geographies — faster speed to market</a:t>
            </a:r>
            <a:endParaRPr lang="en-US" sz="1050" dirty="0"/>
          </a:p>
        </p:txBody>
      </p:sp>
      <p:sp>
        <p:nvSpPr>
          <p:cNvPr id="73" name="Shape 63"/>
          <p:cNvSpPr/>
          <p:nvPr/>
        </p:nvSpPr>
        <p:spPr>
          <a:xfrm>
            <a:off x="8732520" y="2926080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4" name="Text 64"/>
          <p:cNvSpPr/>
          <p:nvPr/>
        </p:nvSpPr>
        <p:spPr>
          <a:xfrm>
            <a:off x="8961120" y="3090672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experience</a:t>
            </a:r>
            <a:endParaRPr lang="en-US" sz="2400" dirty="0"/>
          </a:p>
        </p:txBody>
      </p:sp>
      <p:sp>
        <p:nvSpPr>
          <p:cNvPr id="75" name="Text 65"/>
          <p:cNvSpPr/>
          <p:nvPr/>
        </p:nvSpPr>
        <p:spPr>
          <a:xfrm>
            <a:off x="8961120" y="376732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signup, consistent support, one place to manage the business</a:t>
            </a:r>
            <a:endParaRPr lang="en-US" sz="1050" dirty="0"/>
          </a:p>
        </p:txBody>
      </p:sp>
      <p:sp>
        <p:nvSpPr>
          <p:cNvPr id="76" name="Shape 66"/>
          <p:cNvSpPr/>
          <p:nvPr/>
        </p:nvSpPr>
        <p:spPr>
          <a:xfrm>
            <a:off x="8732520" y="4407408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7" name="Text 67"/>
          <p:cNvSpPr/>
          <p:nvPr/>
        </p:nvSpPr>
        <p:spPr>
          <a:xfrm>
            <a:off x="8961120" y="45720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KTLO → growth</a:t>
            </a:r>
            <a:endParaRPr lang="en-US" sz="2200" dirty="0"/>
          </a:p>
        </p:txBody>
      </p:sp>
      <p:sp>
        <p:nvSpPr>
          <p:cNvPr id="78" name="Text 68"/>
          <p:cNvSpPr/>
          <p:nvPr/>
        </p:nvSpPr>
        <p:spPr>
          <a:xfrm>
            <a:off x="8961120" y="524865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resources refocused from KTLO to strategic development</a:t>
            </a:r>
            <a:endParaRPr lang="en-US" sz="1050" dirty="0"/>
          </a:p>
        </p:txBody>
      </p:sp>
      <p:sp>
        <p:nvSpPr>
          <p:cNvPr id="79" name="Shape 69"/>
          <p:cNvSpPr/>
          <p:nvPr/>
        </p:nvSpPr>
        <p:spPr>
          <a:xfrm>
            <a:off x="502920" y="5925312"/>
            <a:ext cx="11185855" cy="457200"/>
          </a:xfrm>
          <a:prstGeom prst="roundRect">
            <a:avLst>
              <a:gd name="adj" fmla="val 12000"/>
            </a:avLst>
          </a:prstGeom>
          <a:solidFill>
            <a:srgbClr val="262AFF"/>
          </a:solidFill>
          <a:ln/>
        </p:spPr>
      </p:sp>
      <p:sp>
        <p:nvSpPr>
          <p:cNvPr id="80" name="Text 70"/>
          <p:cNvSpPr/>
          <p:nvPr/>
        </p:nvSpPr>
        <p:spPr>
          <a:xfrm>
            <a:off x="502920" y="5925312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Platform consolidation centralizes investment and simplifies our cost structure</a:t>
            </a:r>
            <a:endParaRPr lang="en-US" sz="1450" dirty="0"/>
          </a:p>
        </p:txBody>
      </p:sp>
      <p:pic>
        <p:nvPicPr>
          <p:cNvPr id="81" name="Image 8" descr="unpacked/ppt/media/image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" y="6419088"/>
            <a:ext cx="227026" cy="310896"/>
          </a:xfrm>
          <a:prstGeom prst="rect">
            <a:avLst/>
          </a:prstGeom>
        </p:spPr>
      </p:pic>
      <p:sp>
        <p:nvSpPr>
          <p:cNvPr id="82" name="Text 71"/>
          <p:cNvSpPr/>
          <p:nvPr/>
        </p:nvSpPr>
        <p:spPr>
          <a:xfrm>
            <a:off x="8229600" y="64739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2025 Global Payments Inc. All rights reserved.</a:t>
            </a:r>
            <a:endParaRPr lang="en-US" sz="800" dirty="0"/>
          </a:p>
        </p:txBody>
      </p:sp>
      <p:sp>
        <p:nvSpPr>
          <p:cNvPr id="83" name="Text 72"/>
          <p:cNvSpPr/>
          <p:nvPr/>
        </p:nvSpPr>
        <p:spPr>
          <a:xfrm>
            <a:off x="1138428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2026-07-17T23:46:34Z</dcterms:created>
  <dcterms:modified xsi:type="dcterms:W3CDTF">2026-07-17T23:46:34Z</dcterms:modified>
</cp:coreProperties>
</file>