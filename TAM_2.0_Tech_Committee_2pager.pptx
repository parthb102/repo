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executive summary of the July 2026 TAM 2.0 Board update, prepared for the Technology Committee. Reads as a 3x2 grid: the problem (fragmented estate, capex locked in KTLO), why now (customer expectations, perception gap, synergy commitments), what we did (one rubric — strategic fit, commercial performance, capability coverage, technical foundations — with SME recommendation, functional input, and leadership validation), the plan (&gt;80% estate reduction in two phases), the return ($200M+ committed opex unlock; enter/win/retain), and what's next (sequencing, cost to achieve, execution-ready plan back to Technology Committee &amp; Board).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From-to view of the TAM 2.0 target state, drawn from the consolidation-impact pages of the July 2026 Board update. Left: platform counts by capability, today versus target. Right: what the consolidation unlocks — a fragmented estate becoming one seamless experience, scale converted into competitive advantage, and resources refocused from KTLO to strategic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0" y="40233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Committee  ·  July 2026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FRAGMENTATION IS TAXING GROWTH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22376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2376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overlapping platforms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50008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50008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portals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2376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integration points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50008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50008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2376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~45% of tech capex locked in KTLO¹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can’t self-fund the shift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8594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4518050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WAITING GETS MORE EXPENSIVE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18050" y="1426464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9" name="Image 0" descr="icons_hi/icon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8518" y="1506931"/>
            <a:ext cx="204826" cy="20482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993538" y="1353312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 expected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rivals activate in hours, not weeks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18050" y="2029968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2" name="Image 1" descr="icons_hi/icon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518" y="2110435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993538" y="1956816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Perception gap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limits GP’s inclusion in RFPs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18050" y="2633472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5" name="Image 2" descr="icons_hi/icon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518" y="2713939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93538" y="2560320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Synergy targets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assume a simplified estate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94269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28" name="Text 23"/>
          <p:cNvSpPr/>
          <p:nvPr/>
        </p:nvSpPr>
        <p:spPr>
          <a:xfrm>
            <a:off x="8313725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RUBRIC, EVERY PLATFORM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313725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0" name="Text 25"/>
          <p:cNvSpPr/>
          <p:nvPr/>
        </p:nvSpPr>
        <p:spPr>
          <a:xfrm>
            <a:off x="8386877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fit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950501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27"/>
          <p:cNvSpPr/>
          <p:nvPr/>
        </p:nvSpPr>
        <p:spPr>
          <a:xfrm>
            <a:off x="10023653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Commercial performance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313725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4" name="Text 29"/>
          <p:cNvSpPr/>
          <p:nvPr/>
        </p:nvSpPr>
        <p:spPr>
          <a:xfrm>
            <a:off x="8386877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Capability coverage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9950501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6" name="Text 31"/>
          <p:cNvSpPr/>
          <p:nvPr/>
        </p:nvSpPr>
        <p:spPr>
          <a:xfrm>
            <a:off x="10023653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Technical foundations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313725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13725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SMEs recommend, functions shape, leads validate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Product, Eng., Architecture, Data &amp; Business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502920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0" name="Text 35"/>
          <p:cNvSpPr/>
          <p:nvPr/>
        </p:nvSpPr>
        <p:spPr>
          <a:xfrm>
            <a:off x="722376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SIMPLIFY, THEN CONSOLIDATE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722376" y="39136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3200" dirty="0"/>
          </a:p>
        </p:txBody>
      </p:sp>
      <p:sp>
        <p:nvSpPr>
          <p:cNvPr id="42" name="Text 37"/>
          <p:cNvSpPr/>
          <p:nvPr/>
        </p:nvSpPr>
        <p:spPr>
          <a:xfrm>
            <a:off x="2139696" y="3931920"/>
            <a:ext cx="1738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target state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722376" y="4462272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4" name="Text 39"/>
          <p:cNvSpPr/>
          <p:nvPr/>
        </p:nvSpPr>
        <p:spPr>
          <a:xfrm>
            <a:off x="859536" y="4462272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Y1–2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 the customer experience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 rot="5400000">
            <a:off x="2163013" y="50017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❯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22376" y="5157216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7" name="Text 42"/>
          <p:cNvSpPr/>
          <p:nvPr/>
        </p:nvSpPr>
        <p:spPr>
          <a:xfrm>
            <a:off x="859536" y="5157216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Y3–5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Consolidate the back-ends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4298594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9" name="Text 44"/>
          <p:cNvSpPr/>
          <p:nvPr/>
        </p:nvSpPr>
        <p:spPr>
          <a:xfrm>
            <a:off x="4518050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SIMPLIFICATION FUNDS GROWTH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4518050" y="39136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51" name="Text 46"/>
          <p:cNvSpPr/>
          <p:nvPr/>
        </p:nvSpPr>
        <p:spPr>
          <a:xfrm>
            <a:off x="4518050" y="4416552"/>
            <a:ext cx="31555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opex unlock over 5 years — committed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4518050" y="4809744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3" name="Image 3" descr="icons_hi/icon1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401" y="4870094"/>
            <a:ext cx="153619" cy="153619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4902098" y="4764024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new markets at lower cost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4518050" y="5138928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6" name="Image 4" descr="icons_hi/icon5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401" y="5199278"/>
            <a:ext cx="153619" cy="153619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4902098" y="5093208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more of today’s demand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4518050" y="5468112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9" name="Image 5" descr="icons_hi/icon9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8401" y="5528462"/>
            <a:ext cx="153619" cy="153619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4902098" y="5422392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Retain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every merchant sold</a:t>
            </a:r>
            <a:endParaRPr lang="en-US" sz="1050" dirty="0"/>
          </a:p>
        </p:txBody>
      </p:sp>
      <p:sp>
        <p:nvSpPr>
          <p:cNvPr id="61" name="Shape 53"/>
          <p:cNvSpPr/>
          <p:nvPr/>
        </p:nvSpPr>
        <p:spPr>
          <a:xfrm>
            <a:off x="8094269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62" name="Text 54"/>
          <p:cNvSpPr/>
          <p:nvPr/>
        </p:nvSpPr>
        <p:spPr>
          <a:xfrm>
            <a:off x="8313725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NEXT: AN EXECUTION-READY PLAN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3725" y="3968496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4" name="Text 56"/>
          <p:cNvSpPr/>
          <p:nvPr/>
        </p:nvSpPr>
        <p:spPr>
          <a:xfrm>
            <a:off x="8313725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57"/>
          <p:cNvSpPr/>
          <p:nvPr/>
        </p:nvSpPr>
        <p:spPr>
          <a:xfrm>
            <a:off x="8752637" y="3886200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Sequence the platforms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prioritized by value delivered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8313725" y="4553712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7" name="Text 59"/>
          <p:cNvSpPr/>
          <p:nvPr/>
        </p:nvSpPr>
        <p:spPr>
          <a:xfrm>
            <a:off x="831372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0"/>
          <p:cNvSpPr/>
          <p:nvPr/>
        </p:nvSpPr>
        <p:spPr>
          <a:xfrm>
            <a:off x="8752637" y="4471416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Harden the financials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~$500M²; ~$200–250M in Y1–2</a:t>
            </a:r>
            <a:endParaRPr lang="en-US" sz="1100" dirty="0"/>
          </a:p>
        </p:txBody>
      </p:sp>
      <p:sp>
        <p:nvSpPr>
          <p:cNvPr id="69" name="Shape 61"/>
          <p:cNvSpPr/>
          <p:nvPr/>
        </p:nvSpPr>
        <p:spPr>
          <a:xfrm>
            <a:off x="8313725" y="5138928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70" name="Text 62"/>
          <p:cNvSpPr/>
          <p:nvPr/>
        </p:nvSpPr>
        <p:spPr>
          <a:xfrm>
            <a:off x="8313725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8752637" y="5056632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with the full plan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Technology Committee &amp; Board</a:t>
            </a:r>
            <a:endParaRPr lang="en-US" sz="1100" dirty="0"/>
          </a:p>
        </p:txBody>
      </p:sp>
      <p:sp>
        <p:nvSpPr>
          <p:cNvPr id="72" name="Shape 64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73" name="Text 65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converts scale from a source of complexity into our decisive competitive advantage</a:t>
            </a:r>
            <a:endParaRPr lang="en-US" sz="1450" dirty="0"/>
          </a:p>
        </p:txBody>
      </p:sp>
      <p:sp>
        <p:nvSpPr>
          <p:cNvPr id="74" name="Text 66"/>
          <p:cNvSpPr/>
          <p:nvPr/>
        </p:nvSpPr>
        <p:spPr>
          <a:xfrm>
            <a:off x="960120" y="64922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Share of total technology capex    2. Technology capital only; excludes merchant incentives, impairments, and revenue effects</a:t>
            </a:r>
            <a:endParaRPr lang="en-US" sz="750" dirty="0"/>
          </a:p>
        </p:txBody>
      </p:sp>
      <p:pic>
        <p:nvPicPr>
          <p:cNvPr id="75" name="Image 6" descr="unpacked/ppt/media/image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76" name="Text 67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77" name="Text 68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From → 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target state reduces structural complexity, freeing capacity to focus where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044952" y="1170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306824" y="1170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2019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7" name="Image 0" descr="icons_hi/icon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160468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48132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Sales &amp; servicing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44952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995928" y="148132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35424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577840" y="148132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CRMs — consistent, informed support across all segments &amp; geos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97967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205511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5" name="Image 1" descr="icons_hi/icon1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2139605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4712" y="201625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Boarding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044952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3995928" y="201625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35424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5577840" y="201625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digital boarding experience — live in days, not weeks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251460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259003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3" name="Image 2" descr="icons_hi/icon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2674529"/>
            <a:ext cx="215067" cy="21506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255117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 API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3044952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3995928" y="255117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4535424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5577840" y="255117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integrate once to access full GP capabilities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02920" y="3049524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3124962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1" name="Image 3" descr="icons_hi/icon9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209453"/>
            <a:ext cx="215067" cy="215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24712" y="3086100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3044952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34" name="Text 28"/>
          <p:cNvSpPr/>
          <p:nvPr/>
        </p:nvSpPr>
        <p:spPr>
          <a:xfrm>
            <a:off x="3995928" y="3086100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35424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36" name="Text 30"/>
          <p:cNvSpPr/>
          <p:nvPr/>
        </p:nvSpPr>
        <p:spPr>
          <a:xfrm>
            <a:off x="5577840" y="3086100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 2.0 — one app across channels &amp; geographies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3584448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48640" y="3659886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9" name="Image 4" descr="icons_hi/icon1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744377"/>
            <a:ext cx="215067" cy="215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124712" y="3621024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processing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3044952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80+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3995928" y="3621024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4535424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44" name="Text 37"/>
          <p:cNvSpPr/>
          <p:nvPr/>
        </p:nvSpPr>
        <p:spPr>
          <a:xfrm>
            <a:off x="5577840" y="3621024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regional rails; ~5 gateways → 1 in 5–10 yrs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502920" y="4119372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8640" y="419481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7" name="Image 5" descr="icons_hi/icon10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4279301"/>
            <a:ext cx="215067" cy="215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24712" y="415594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Value-added services</a:t>
            </a:r>
            <a:endParaRPr lang="en-US" sz="1250" dirty="0"/>
          </a:p>
        </p:txBody>
      </p:sp>
      <p:sp>
        <p:nvSpPr>
          <p:cNvPr id="49" name="Text 41"/>
          <p:cNvSpPr/>
          <p:nvPr/>
        </p:nvSpPr>
        <p:spPr>
          <a:xfrm>
            <a:off x="3044952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15+</a:t>
            </a:r>
            <a:endParaRPr lang="en-US" sz="2400" dirty="0"/>
          </a:p>
        </p:txBody>
      </p:sp>
      <p:sp>
        <p:nvSpPr>
          <p:cNvPr id="50" name="Text 42"/>
          <p:cNvSpPr/>
          <p:nvPr/>
        </p:nvSpPr>
        <p:spPr>
          <a:xfrm>
            <a:off x="3995928" y="415594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4535424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52" name="Text 44"/>
          <p:cNvSpPr/>
          <p:nvPr/>
        </p:nvSpPr>
        <p:spPr>
          <a:xfrm>
            <a:off x="5577840" y="415594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orchestration layer for optimization — higher attach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502920" y="465429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48640" y="472973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5" name="Image 6" descr="icons_hi/icon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814225"/>
            <a:ext cx="215067" cy="215067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124712" y="469087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Single-out</a:t>
            </a:r>
            <a:endParaRPr lang="en-US" sz="1250" dirty="0"/>
          </a:p>
        </p:txBody>
      </p:sp>
      <p:sp>
        <p:nvSpPr>
          <p:cNvPr id="57" name="Text 48"/>
          <p:cNvSpPr/>
          <p:nvPr/>
        </p:nvSpPr>
        <p:spPr>
          <a:xfrm>
            <a:off x="3044952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100+</a:t>
            </a:r>
            <a:endParaRPr lang="en-US" sz="2400" dirty="0"/>
          </a:p>
        </p:txBody>
      </p:sp>
      <p:sp>
        <p:nvSpPr>
          <p:cNvPr id="58" name="Text 49"/>
          <p:cNvSpPr/>
          <p:nvPr/>
        </p:nvSpPr>
        <p:spPr>
          <a:xfrm>
            <a:off x="3995928" y="469087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0"/>
          <p:cNvSpPr/>
          <p:nvPr/>
        </p:nvSpPr>
        <p:spPr>
          <a:xfrm>
            <a:off x="4535424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60" name="Text 51"/>
          <p:cNvSpPr/>
          <p:nvPr/>
        </p:nvSpPr>
        <p:spPr>
          <a:xfrm>
            <a:off x="5577840" y="469087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portal, one disputes platform, one PFaaS solution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502920" y="518922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548640" y="526465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63" name="Image 7" descr="icons_hi/icon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131" y="5349149"/>
            <a:ext cx="215067" cy="215067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124712" y="522579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1250" dirty="0"/>
          </a:p>
        </p:txBody>
      </p:sp>
      <p:sp>
        <p:nvSpPr>
          <p:cNvPr id="65" name="Text 55"/>
          <p:cNvSpPr/>
          <p:nvPr/>
        </p:nvSpPr>
        <p:spPr>
          <a:xfrm>
            <a:off x="3044952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400" dirty="0"/>
          </a:p>
        </p:txBody>
      </p:sp>
      <p:sp>
        <p:nvSpPr>
          <p:cNvPr id="66" name="Text 56"/>
          <p:cNvSpPr/>
          <p:nvPr/>
        </p:nvSpPr>
        <p:spPr>
          <a:xfrm>
            <a:off x="3995928" y="522579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4535424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2400" dirty="0"/>
          </a:p>
        </p:txBody>
      </p:sp>
      <p:sp>
        <p:nvSpPr>
          <p:cNvPr id="68" name="Text 58"/>
          <p:cNvSpPr/>
          <p:nvPr/>
        </p:nvSpPr>
        <p:spPr>
          <a:xfrm>
            <a:off x="5577840" y="522579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Standardized, secure global infrastructure footprint</a:t>
            </a:r>
            <a:endParaRPr lang="en-US" sz="1000" dirty="0"/>
          </a:p>
        </p:txBody>
      </p:sp>
      <p:sp>
        <p:nvSpPr>
          <p:cNvPr id="69" name="Text 59"/>
          <p:cNvSpPr/>
          <p:nvPr/>
        </p:nvSpPr>
        <p:spPr>
          <a:xfrm>
            <a:off x="8778240" y="1143000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70" name="Shape 60"/>
          <p:cNvSpPr/>
          <p:nvPr/>
        </p:nvSpPr>
        <p:spPr>
          <a:xfrm>
            <a:off x="8732520" y="1444752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1" name="Text 61"/>
          <p:cNvSpPr/>
          <p:nvPr/>
        </p:nvSpPr>
        <p:spPr>
          <a:xfrm>
            <a:off x="8961120" y="1609344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Fragmented → seamless</a:t>
            </a:r>
            <a:endParaRPr lang="en-US" sz="2000" dirty="0"/>
          </a:p>
        </p:txBody>
      </p:sp>
      <p:sp>
        <p:nvSpPr>
          <p:cNvPr id="72" name="Text 62"/>
          <p:cNvSpPr/>
          <p:nvPr/>
        </p:nvSpPr>
        <p:spPr>
          <a:xfrm>
            <a:off x="8961120" y="2286000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seamless experience across channels and the payments journey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8732520" y="2926080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4" name="Text 64"/>
          <p:cNvSpPr/>
          <p:nvPr/>
        </p:nvSpPr>
        <p:spPr>
          <a:xfrm>
            <a:off x="8961120" y="3090672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Complexity → advantage</a:t>
            </a:r>
            <a:endParaRPr lang="en-US" sz="2000" dirty="0"/>
          </a:p>
        </p:txBody>
      </p:sp>
      <p:sp>
        <p:nvSpPr>
          <p:cNvPr id="75" name="Text 65"/>
          <p:cNvSpPr/>
          <p:nvPr/>
        </p:nvSpPr>
        <p:spPr>
          <a:xfrm>
            <a:off x="8961120" y="376732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scale converted into our decisive competitive advantage</a:t>
            </a:r>
            <a:endParaRPr lang="en-US" sz="1050" dirty="0"/>
          </a:p>
        </p:txBody>
      </p:sp>
      <p:sp>
        <p:nvSpPr>
          <p:cNvPr id="76" name="Shape 66"/>
          <p:cNvSpPr/>
          <p:nvPr/>
        </p:nvSpPr>
        <p:spPr>
          <a:xfrm>
            <a:off x="8732520" y="4407408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7" name="Text 67"/>
          <p:cNvSpPr/>
          <p:nvPr/>
        </p:nvSpPr>
        <p:spPr>
          <a:xfrm>
            <a:off x="896112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KTLO → growth</a:t>
            </a:r>
            <a:endParaRPr lang="en-US" sz="2000" dirty="0"/>
          </a:p>
        </p:txBody>
      </p:sp>
      <p:sp>
        <p:nvSpPr>
          <p:cNvPr id="78" name="Text 68"/>
          <p:cNvSpPr/>
          <p:nvPr/>
        </p:nvSpPr>
        <p:spPr>
          <a:xfrm>
            <a:off x="8961120" y="524865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resources refocused from KTLO to strategic development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80" name="Text 70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 consolidation centralizes investment and simplifies our cost structure</a:t>
            </a:r>
            <a:endParaRPr lang="en-US" sz="1450" dirty="0"/>
          </a:p>
        </p:txBody>
      </p:sp>
      <p:pic>
        <p:nvPicPr>
          <p:cNvPr id="81" name="Image 8" descr="unpacked/ppt/media/image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82" name="Text 71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83" name="Text 72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2026-07-18T01:13:16Z</dcterms:created>
  <dcterms:modified xsi:type="dcterms:W3CDTF">2026-07-18T01:13:16Z</dcterms:modified>
</cp:coreProperties>
</file>