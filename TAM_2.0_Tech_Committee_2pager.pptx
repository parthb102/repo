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as a 3x2 grid: the problem (fragmented estate, capex locked in KTLO), why now (customer expectations, perception gap, synergy commitments), what we did (one rubric — strategic fit, commercial performance, capability coverage, technical foundations — with SME recommendation, functional input, and leadership validation), the plan (&gt;80% estate reduction in two phases), the return ($200M+ committed opex unlock; enter/win/retain), and what's next (sequencing, cost to achieve, execution-ready plan back to Technology Committee &amp; 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build once and deploy everywhere, one consistent customer experience, and capital refocused from KTLO to strategic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22376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50008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50008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50008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50008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tech capex in KTLO¹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</a:t>
            </a:r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of revenue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can’t self-fund the shift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8594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18050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18050" y="142646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8518" y="1506931"/>
            <a:ext cx="204826" cy="20482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993538" y="1353312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 expected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rivals activate in hours, not weeks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18050" y="2029968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518" y="2110435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993538" y="1956816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Perception gap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18050" y="26334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18" y="271393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93538" y="2560320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Synergy targets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assume a simplified estate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94269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28" name="Text 23"/>
          <p:cNvSpPr/>
          <p:nvPr/>
        </p:nvSpPr>
        <p:spPr>
          <a:xfrm>
            <a:off x="8313725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RUBRIC, EVERY PLATFORM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8313725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0" name="Text 25"/>
          <p:cNvSpPr/>
          <p:nvPr/>
        </p:nvSpPr>
        <p:spPr>
          <a:xfrm>
            <a:off x="8386877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Strategic fit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950501" y="1426464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27"/>
          <p:cNvSpPr/>
          <p:nvPr/>
        </p:nvSpPr>
        <p:spPr>
          <a:xfrm>
            <a:off x="10023653" y="1426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Commercial performance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8313725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4" name="Text 29"/>
          <p:cNvSpPr/>
          <p:nvPr/>
        </p:nvSpPr>
        <p:spPr>
          <a:xfrm>
            <a:off x="8386877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Capability coverage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9950501" y="2084832"/>
            <a:ext cx="151790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6" name="Text 31"/>
          <p:cNvSpPr/>
          <p:nvPr/>
        </p:nvSpPr>
        <p:spPr>
          <a:xfrm>
            <a:off x="10023653" y="20848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Technical foundations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313725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13725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SMEs recommend, functions shape, leads validate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Product, Eng., Architecture, Data &amp; Business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502920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0" name="Text 35"/>
          <p:cNvSpPr/>
          <p:nvPr/>
        </p:nvSpPr>
        <p:spPr>
          <a:xfrm>
            <a:off x="722376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SIMPLIFY, THEN CONSOLIDATE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722376" y="39136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3200" dirty="0"/>
          </a:p>
        </p:txBody>
      </p:sp>
      <p:sp>
        <p:nvSpPr>
          <p:cNvPr id="42" name="Text 37"/>
          <p:cNvSpPr/>
          <p:nvPr/>
        </p:nvSpPr>
        <p:spPr>
          <a:xfrm>
            <a:off x="2139696" y="3931920"/>
            <a:ext cx="1738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722376" y="4462272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4" name="Text 39"/>
          <p:cNvSpPr/>
          <p:nvPr/>
        </p:nvSpPr>
        <p:spPr>
          <a:xfrm>
            <a:off x="859536" y="4462272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 rot="5400000">
            <a:off x="2163013" y="50017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22376" y="5157216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7" name="Text 42"/>
          <p:cNvSpPr/>
          <p:nvPr/>
        </p:nvSpPr>
        <p:spPr>
          <a:xfrm>
            <a:off x="859536" y="5157216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4298594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9" name="Text 44"/>
          <p:cNvSpPr/>
          <p:nvPr/>
        </p:nvSpPr>
        <p:spPr>
          <a:xfrm>
            <a:off x="4518050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GROWTH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4518050" y="39136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51" name="Text 46"/>
          <p:cNvSpPr/>
          <p:nvPr/>
        </p:nvSpPr>
        <p:spPr>
          <a:xfrm>
            <a:off x="4518050" y="4416552"/>
            <a:ext cx="31555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 — committed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4518050" y="4809744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401" y="4870094"/>
            <a:ext cx="153619" cy="153619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4902098" y="4764024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at lower cost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4518050" y="5138928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01" y="5199278"/>
            <a:ext cx="153619" cy="153619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4902098" y="5093208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today’s demand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4518050" y="5468112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8401" y="5528462"/>
            <a:ext cx="153619" cy="15361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4902098" y="5422392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050" dirty="0"/>
          </a:p>
        </p:txBody>
      </p:sp>
      <p:sp>
        <p:nvSpPr>
          <p:cNvPr id="61" name="Shape 53"/>
          <p:cNvSpPr/>
          <p:nvPr/>
        </p:nvSpPr>
        <p:spPr>
          <a:xfrm>
            <a:off x="8094269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62" name="Text 54"/>
          <p:cNvSpPr/>
          <p:nvPr/>
        </p:nvSpPr>
        <p:spPr>
          <a:xfrm>
            <a:off x="8313725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NEXT: AN EXECUTION-READY PLAN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3725" y="3968496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4" name="Text 56"/>
          <p:cNvSpPr/>
          <p:nvPr/>
        </p:nvSpPr>
        <p:spPr>
          <a:xfrm>
            <a:off x="8313725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8752637" y="3886200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Sequence the platforms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prioritized by value delivered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8313725" y="4553712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7" name="Text 59"/>
          <p:cNvSpPr/>
          <p:nvPr/>
        </p:nvSpPr>
        <p:spPr>
          <a:xfrm>
            <a:off x="831372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0"/>
          <p:cNvSpPr/>
          <p:nvPr/>
        </p:nvSpPr>
        <p:spPr>
          <a:xfrm>
            <a:off x="8752637" y="4471416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Harden the financials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~$500M²; ~$200–250M in Y1–2</a:t>
            </a:r>
            <a:endParaRPr lang="en-US" sz="1100" dirty="0"/>
          </a:p>
        </p:txBody>
      </p:sp>
      <p:sp>
        <p:nvSpPr>
          <p:cNvPr id="69" name="Shape 61"/>
          <p:cNvSpPr/>
          <p:nvPr/>
        </p:nvSpPr>
        <p:spPr>
          <a:xfrm>
            <a:off x="8313725" y="5138928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70" name="Text 62"/>
          <p:cNvSpPr/>
          <p:nvPr/>
        </p:nvSpPr>
        <p:spPr>
          <a:xfrm>
            <a:off x="8313725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8752637" y="5056632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with the full plan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Technology Committee &amp; Board</a:t>
            </a:r>
            <a:endParaRPr lang="en-US" sz="1100" dirty="0"/>
          </a:p>
        </p:txBody>
      </p:sp>
      <p:sp>
        <p:nvSpPr>
          <p:cNvPr id="72" name="Shape 64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73" name="Text 65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74" name="Text 66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75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77" name="Text 68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once</a:t>
            </a:r>
            <a:endParaRPr lang="en-US" sz="26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deploy to every market &amp; segment — faster speed to market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</a:t>
            </a:r>
            <a:endParaRPr lang="en-US" sz="24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consistent boarding, billing &amp; support across segments &amp; geos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KTLO → growth</a:t>
            </a:r>
            <a:endParaRPr lang="en-US" sz="22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refocused from maintenance to strategic development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2026-07-17T23:45:30Z</dcterms:created>
  <dcterms:modified xsi:type="dcterms:W3CDTF">2026-07-17T23:45:30Z</dcterms:modified>
</cp:coreProperties>
</file>