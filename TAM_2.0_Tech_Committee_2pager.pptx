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executive summary of the July 2026 TAM 2.0 Board update, prepared for the Technology Committee. Reads in four blocks: the problem (fragmented estate, capex locked in KTLO), why now (customer expectations, perception gap, synergy commitments), the plan (&gt;80% estate reduction in two phases, ~$500M front-loaded), and the return ($200M+ committed opex unlock, tech spend from ~10% to ~8% of revenue, growth via enter/win/retain).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From-to view of the TAM 2.0 target state, drawn from the consolidation-impact pages of the July 2026 Board update. Left: platform counts by capability, today versus target. Right: what the consolidation unlocks — &gt;80% smaller estate, tech spend moving from ~10% to ~8% of revenue, and the committed $200M+ opex unlock.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 2.0  </a:t>
            </a:r>
            <a:pPr algn="l" indent="0" marL="0">
              <a:buNone/>
            </a:pPr>
            <a:r>
              <a:rPr lang="en-US" sz="30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|  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0" y="40233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9C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Committee  ·  July 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478628" cy="2331720"/>
          </a:xfrm>
          <a:prstGeom prst="roundRect">
            <a:avLst>
              <a:gd name="adj" fmla="val 3137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9110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overlapping platforms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0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19110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portals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2660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 points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~45%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2660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tech capex in KTLO¹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07792"/>
            <a:ext cx="4929988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62656"/>
            <a:ext cx="4929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 spend </a:t>
            </a:r>
            <a:pPr indent="0" marL="0">
              <a:buNone/>
            </a:pPr>
            <a:r>
              <a:rPr lang="en-US" sz="11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~10% of revenue</a:t>
            </a:r>
            <a:pPr indent="0" marL="0">
              <a:buNone/>
            </a:pPr>
            <a:r>
              <a:rPr lang="en-US" sz="11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limited capacity to self-fund the shift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0148" y="914400"/>
            <a:ext cx="5478628" cy="2331720"/>
          </a:xfrm>
          <a:prstGeom prst="roundRect">
            <a:avLst>
              <a:gd name="adj" fmla="val 3137"/>
            </a:avLst>
          </a:prstGeom>
          <a:solidFill>
            <a:srgbClr val="F4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NOW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84468" y="1481328"/>
            <a:ext cx="420624" cy="420624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19" name="Image 0" descr="icons_hi/icon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7005" y="1573865"/>
            <a:ext cx="235549" cy="23554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51396" y="1435608"/>
            <a:ext cx="43356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expect one experience</a:t>
            </a:r>
            <a:pPr indent="0" marL="0">
              <a:buNone/>
            </a:pPr>
            <a:r>
              <a:rPr lang="en-US" sz="12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digital-first rivals activate merchants in hours, not weeks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84468" y="2066544"/>
            <a:ext cx="420624" cy="420624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22" name="Image 1" descr="icons_hi/icon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005" y="2159081"/>
            <a:ext cx="235549" cy="23554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51396" y="2020824"/>
            <a:ext cx="43356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Innovation perception gap</a:t>
            </a:r>
            <a:pPr indent="0" marL="0">
              <a:buNone/>
            </a:pPr>
            <a:r>
              <a:rPr lang="en-US" sz="12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limits GP’s inclusion in RFPs today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84468" y="2651760"/>
            <a:ext cx="420624" cy="420624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25" name="Image 2" descr="icons_hi/icon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05" y="2744297"/>
            <a:ext cx="235549" cy="23554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51396" y="2606040"/>
            <a:ext cx="43356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Post-merger synergy targets</a:t>
            </a:r>
            <a:pPr indent="0" marL="0">
              <a:buNone/>
            </a:pPr>
            <a:r>
              <a:rPr lang="en-US" sz="12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predicated on a simplified estate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02920" y="3456432"/>
            <a:ext cx="5478628" cy="2331720"/>
          </a:xfrm>
          <a:prstGeom prst="roundRect">
            <a:avLst>
              <a:gd name="adj" fmla="val 3137"/>
            </a:avLst>
          </a:prstGeom>
          <a:solidFill>
            <a:srgbClr val="E9E9FC"/>
          </a:solidFill>
          <a:ln/>
        </p:spPr>
      </p:sp>
      <p:sp>
        <p:nvSpPr>
          <p:cNvPr id="28" name="Text 23"/>
          <p:cNvSpPr/>
          <p:nvPr/>
        </p:nvSpPr>
        <p:spPr>
          <a:xfrm>
            <a:off x="77724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PLAN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777240" y="40050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&gt;80%</a:t>
            </a:r>
            <a:endParaRPr lang="en-US" sz="4400" dirty="0"/>
          </a:p>
        </p:txBody>
      </p:sp>
      <p:sp>
        <p:nvSpPr>
          <p:cNvPr id="30" name="Text 25"/>
          <p:cNvSpPr/>
          <p:nvPr/>
        </p:nvSpPr>
        <p:spPr>
          <a:xfrm>
            <a:off x="777240" y="4690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smaller platform estate,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target state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017520" y="3931920"/>
            <a:ext cx="268970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3182112" y="3931920"/>
            <a:ext cx="24153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Y1–2  ·  ~$250M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Simplify the customer experience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 rot="5400000">
            <a:off x="4270934" y="45628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A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❯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3017520" y="4791456"/>
            <a:ext cx="268970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35" name="Text 30"/>
          <p:cNvSpPr/>
          <p:nvPr/>
        </p:nvSpPr>
        <p:spPr>
          <a:xfrm>
            <a:off x="3182112" y="4791456"/>
            <a:ext cx="24153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Y3–5  ·  ~$250M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Consolidate the back-ends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77240" y="5486400"/>
            <a:ext cx="4929988" cy="0"/>
          </a:xfrm>
          <a:prstGeom prst="line">
            <a:avLst/>
          </a:prstGeom>
          <a:noFill/>
          <a:ln w="9525">
            <a:solidFill>
              <a:srgbClr val="CFCFF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77240" y="5541264"/>
            <a:ext cx="492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~$500M tech capital over 5–6 yrs²  ·  builds on GP25 &amp; Helix: </a:t>
            </a:r>
            <a:pPr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60+ platforms retired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210148" y="3456432"/>
            <a:ext cx="5478628" cy="2331720"/>
          </a:xfrm>
          <a:prstGeom prst="roundRect">
            <a:avLst>
              <a:gd name="adj" fmla="val 3137"/>
            </a:avLst>
          </a:prstGeom>
          <a:solidFill>
            <a:srgbClr val="E9E9FC"/>
          </a:solidFill>
          <a:ln/>
        </p:spPr>
      </p:sp>
      <p:sp>
        <p:nvSpPr>
          <p:cNvPr id="39" name="Text 34"/>
          <p:cNvSpPr/>
          <p:nvPr/>
        </p:nvSpPr>
        <p:spPr>
          <a:xfrm>
            <a:off x="6484468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RETURN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484468" y="4005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$200M+</a:t>
            </a:r>
            <a:endParaRPr lang="en-US" sz="4000" dirty="0"/>
          </a:p>
        </p:txBody>
      </p:sp>
      <p:sp>
        <p:nvSpPr>
          <p:cNvPr id="41" name="Text 36"/>
          <p:cNvSpPr/>
          <p:nvPr/>
        </p:nvSpPr>
        <p:spPr>
          <a:xfrm>
            <a:off x="6484468" y="4663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opex unlock over 5 years,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already committed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8953348" y="3986784"/>
            <a:ext cx="365760" cy="365760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43" name="Image 3" descr="icons_hi/icon1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3815" y="4067251"/>
            <a:ext cx="204826" cy="204826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428836" y="3931920"/>
            <a:ext cx="2003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</a:t>
            </a:r>
            <a:pPr indent="0" marL="0">
              <a:buNone/>
            </a:pPr>
            <a:r>
              <a:rPr lang="en-US" sz="11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new markets &amp; segments at lower cost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8953348" y="4462272"/>
            <a:ext cx="365760" cy="365760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46" name="Image 4" descr="icons_hi/icon5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3815" y="4542739"/>
            <a:ext cx="204826" cy="20482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428836" y="4407408"/>
            <a:ext cx="2003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</a:t>
            </a:r>
            <a:pPr indent="0" marL="0">
              <a:buNone/>
            </a:pPr>
            <a:r>
              <a:rPr lang="en-US" sz="11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more of the demand GP competes for</a:t>
            </a:r>
            <a:endParaRPr lang="en-US" sz="1150" dirty="0"/>
          </a:p>
        </p:txBody>
      </p:sp>
      <p:sp>
        <p:nvSpPr>
          <p:cNvPr id="48" name="Shape 41"/>
          <p:cNvSpPr/>
          <p:nvPr/>
        </p:nvSpPr>
        <p:spPr>
          <a:xfrm>
            <a:off x="8953348" y="4937760"/>
            <a:ext cx="365760" cy="365760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49" name="Image 5" descr="icons_hi/icon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3815" y="5018227"/>
            <a:ext cx="204826" cy="204826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9428836" y="4882896"/>
            <a:ext cx="2003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Retain</a:t>
            </a:r>
            <a:pPr indent="0" marL="0">
              <a:buNone/>
            </a:pPr>
            <a:r>
              <a:rPr lang="en-US" sz="11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every merchant sold</a:t>
            </a:r>
            <a:endParaRPr lang="en-US" sz="1150" dirty="0"/>
          </a:p>
        </p:txBody>
      </p:sp>
      <p:sp>
        <p:nvSpPr>
          <p:cNvPr id="51" name="Shape 43"/>
          <p:cNvSpPr/>
          <p:nvPr/>
        </p:nvSpPr>
        <p:spPr>
          <a:xfrm>
            <a:off x="6484468" y="5449824"/>
            <a:ext cx="4929988" cy="0"/>
          </a:xfrm>
          <a:prstGeom prst="line">
            <a:avLst/>
          </a:prstGeom>
          <a:noFill/>
          <a:ln w="9525">
            <a:solidFill>
              <a:srgbClr val="CFCFF5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484468" y="5486400"/>
            <a:ext cx="492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 spend  </a:t>
            </a:r>
            <a:pPr indent="0" marL="0">
              <a:buNone/>
            </a:pPr>
            <a:r>
              <a:rPr lang="en-US" sz="13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~10% → ~8%</a:t>
            </a:r>
            <a:pPr indent="0" marL="0">
              <a:buNone/>
            </a:pPr>
            <a:r>
              <a:rPr lang="en-US" sz="10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of revenue, with KTLO capacity shifted to growth</a:t>
            </a:r>
            <a:endParaRPr lang="en-US" sz="1050" dirty="0"/>
          </a:p>
        </p:txBody>
      </p:sp>
      <p:sp>
        <p:nvSpPr>
          <p:cNvPr id="53" name="Shape 45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262AFF"/>
          </a:solidFill>
          <a:ln/>
        </p:spPr>
      </p:sp>
      <p:sp>
        <p:nvSpPr>
          <p:cNvPr id="54" name="Text 46"/>
          <p:cNvSpPr/>
          <p:nvPr/>
        </p:nvSpPr>
        <p:spPr>
          <a:xfrm>
            <a:off x="502920" y="592531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 2.0 converts scale from a source of complexity into our decisive competitive advantage</a:t>
            </a:r>
            <a:endParaRPr lang="en-US" sz="1450" dirty="0"/>
          </a:p>
        </p:txBody>
      </p:sp>
      <p:sp>
        <p:nvSpPr>
          <p:cNvPr id="55" name="Text 47"/>
          <p:cNvSpPr/>
          <p:nvPr/>
        </p:nvSpPr>
        <p:spPr>
          <a:xfrm>
            <a:off x="960120" y="64922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C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Share of total technology capex    2. Technology capital only; excludes merchant incentives, impairments, and revenue effects</a:t>
            </a:r>
            <a:endParaRPr lang="en-US" sz="750" dirty="0"/>
          </a:p>
        </p:txBody>
      </p:sp>
      <p:pic>
        <p:nvPicPr>
          <p:cNvPr id="56" name="Image 6" descr="unpacked/ppt/media/image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19088"/>
            <a:ext cx="227026" cy="310896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8229600" y="64739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C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2025 Global Payments Inc. All rights reserved.</a:t>
            </a:r>
            <a:endParaRPr lang="en-US" sz="800" dirty="0"/>
          </a:p>
        </p:txBody>
      </p:sp>
      <p:sp>
        <p:nvSpPr>
          <p:cNvPr id="58" name="Text 49"/>
          <p:cNvSpPr/>
          <p:nvPr/>
        </p:nvSpPr>
        <p:spPr>
          <a:xfrm>
            <a:off x="1138428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C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 2.0  </a:t>
            </a:r>
            <a:pPr indent="0" marL="0">
              <a:buNone/>
            </a:pPr>
            <a:r>
              <a:rPr lang="en-US" sz="30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|  From → 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target state reduces structural complexity, freeing capacity to focus where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044952" y="11704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06824" y="1170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20190"/>
            <a:ext cx="384048" cy="384048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7" name="Image 0" descr="icons_hi/icon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131" y="1604681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1481328"/>
            <a:ext cx="18745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&amp; servicing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044952" y="1481328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995928" y="1481328"/>
            <a:ext cx="5029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35424" y="1481328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577840" y="1481328"/>
            <a:ext cx="290779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CRMs — consistent, informed support across all segments &amp; geos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1979676"/>
            <a:ext cx="800100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055114"/>
            <a:ext cx="384048" cy="384048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15" name="Image 1" descr="icons_hi/icon1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31" y="2139605"/>
            <a:ext cx="215067" cy="2150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24712" y="2016252"/>
            <a:ext cx="18745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Boarding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044952" y="2016252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40+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3995928" y="2016252"/>
            <a:ext cx="5029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35424" y="2016252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577840" y="2016252"/>
            <a:ext cx="290779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digital boarding experience — live in days, not weeks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02920" y="2514600"/>
            <a:ext cx="800100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2590038"/>
            <a:ext cx="384048" cy="384048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23" name="Image 2" descr="icons_hi/icon5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1" y="2674529"/>
            <a:ext cx="215067" cy="21506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24712" y="2551176"/>
            <a:ext cx="18745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API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3044952" y="2551176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3995928" y="2551176"/>
            <a:ext cx="5029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4535424" y="2551176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5577840" y="2551176"/>
            <a:ext cx="290779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integrate once to access full GP capabilities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02920" y="3049524"/>
            <a:ext cx="800100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8640" y="3124962"/>
            <a:ext cx="384048" cy="384048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31" name="Image 3" descr="icons_hi/icon9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31" y="3209453"/>
            <a:ext cx="215067" cy="21506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24712" y="3086100"/>
            <a:ext cx="18745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apps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3044952" y="3086100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~10</a:t>
            </a:r>
            <a:endParaRPr lang="en-US" sz="2400" dirty="0"/>
          </a:p>
        </p:txBody>
      </p:sp>
      <p:sp>
        <p:nvSpPr>
          <p:cNvPr id="34" name="Text 28"/>
          <p:cNvSpPr/>
          <p:nvPr/>
        </p:nvSpPr>
        <p:spPr>
          <a:xfrm>
            <a:off x="3995928" y="3086100"/>
            <a:ext cx="5029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4535424" y="3086100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400" dirty="0"/>
          </a:p>
        </p:txBody>
      </p:sp>
      <p:sp>
        <p:nvSpPr>
          <p:cNvPr id="36" name="Text 30"/>
          <p:cNvSpPr/>
          <p:nvPr/>
        </p:nvSpPr>
        <p:spPr>
          <a:xfrm>
            <a:off x="5577840" y="3086100"/>
            <a:ext cx="290779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Apps 2.0 — one app across channels &amp; geographies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02920" y="3584448"/>
            <a:ext cx="800100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48640" y="3659886"/>
            <a:ext cx="384048" cy="384048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39" name="Image 4" descr="icons_hi/icon1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3744377"/>
            <a:ext cx="215067" cy="215067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124712" y="3621024"/>
            <a:ext cx="18745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processing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3044952" y="3621024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80+</a:t>
            </a:r>
            <a:endParaRPr lang="en-US" sz="2400" dirty="0"/>
          </a:p>
        </p:txBody>
      </p:sp>
      <p:sp>
        <p:nvSpPr>
          <p:cNvPr id="42" name="Text 35"/>
          <p:cNvSpPr/>
          <p:nvPr/>
        </p:nvSpPr>
        <p:spPr>
          <a:xfrm>
            <a:off x="3995928" y="3621024"/>
            <a:ext cx="5029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Text 36"/>
          <p:cNvSpPr/>
          <p:nvPr/>
        </p:nvSpPr>
        <p:spPr>
          <a:xfrm>
            <a:off x="4535424" y="3621024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~5</a:t>
            </a:r>
            <a:endParaRPr lang="en-US" sz="2400" dirty="0"/>
          </a:p>
        </p:txBody>
      </p:sp>
      <p:sp>
        <p:nvSpPr>
          <p:cNvPr id="44" name="Text 37"/>
          <p:cNvSpPr/>
          <p:nvPr/>
        </p:nvSpPr>
        <p:spPr>
          <a:xfrm>
            <a:off x="5577840" y="3621024"/>
            <a:ext cx="290779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regional rails; ~5 gateways → 1 in 5–10 yrs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502920" y="4119372"/>
            <a:ext cx="800100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548640" y="4194810"/>
            <a:ext cx="384048" cy="384048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47" name="Image 5" descr="icons_hi/icon10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4279301"/>
            <a:ext cx="215067" cy="215067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124712" y="4155948"/>
            <a:ext cx="18745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Value-added services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3044952" y="4155948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15+</a:t>
            </a:r>
            <a:endParaRPr lang="en-US" sz="2400" dirty="0"/>
          </a:p>
        </p:txBody>
      </p:sp>
      <p:sp>
        <p:nvSpPr>
          <p:cNvPr id="50" name="Text 42"/>
          <p:cNvSpPr/>
          <p:nvPr/>
        </p:nvSpPr>
        <p:spPr>
          <a:xfrm>
            <a:off x="3995928" y="4155948"/>
            <a:ext cx="5029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Text 43"/>
          <p:cNvSpPr/>
          <p:nvPr/>
        </p:nvSpPr>
        <p:spPr>
          <a:xfrm>
            <a:off x="4535424" y="4155948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~10</a:t>
            </a:r>
            <a:endParaRPr lang="en-US" sz="2400" dirty="0"/>
          </a:p>
        </p:txBody>
      </p:sp>
      <p:sp>
        <p:nvSpPr>
          <p:cNvPr id="52" name="Text 44"/>
          <p:cNvSpPr/>
          <p:nvPr/>
        </p:nvSpPr>
        <p:spPr>
          <a:xfrm>
            <a:off x="5577840" y="4155948"/>
            <a:ext cx="290779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orchestration layer for optimization — higher attach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502920" y="4654296"/>
            <a:ext cx="800100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548640" y="4729734"/>
            <a:ext cx="384048" cy="384048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55" name="Image 6" descr="icons_hi/icon10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31" y="4814225"/>
            <a:ext cx="215067" cy="215067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124712" y="4690872"/>
            <a:ext cx="18745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Single-out</a:t>
            </a:r>
            <a:endParaRPr lang="en-US" sz="1250" dirty="0"/>
          </a:p>
        </p:txBody>
      </p:sp>
      <p:sp>
        <p:nvSpPr>
          <p:cNvPr id="57" name="Text 48"/>
          <p:cNvSpPr/>
          <p:nvPr/>
        </p:nvSpPr>
        <p:spPr>
          <a:xfrm>
            <a:off x="3044952" y="4690872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100+</a:t>
            </a:r>
            <a:endParaRPr lang="en-US" sz="2400" dirty="0"/>
          </a:p>
        </p:txBody>
      </p:sp>
      <p:sp>
        <p:nvSpPr>
          <p:cNvPr id="58" name="Text 49"/>
          <p:cNvSpPr/>
          <p:nvPr/>
        </p:nvSpPr>
        <p:spPr>
          <a:xfrm>
            <a:off x="3995928" y="4690872"/>
            <a:ext cx="5029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59" name="Text 50"/>
          <p:cNvSpPr/>
          <p:nvPr/>
        </p:nvSpPr>
        <p:spPr>
          <a:xfrm>
            <a:off x="4535424" y="4690872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~5</a:t>
            </a:r>
            <a:endParaRPr lang="en-US" sz="2400" dirty="0"/>
          </a:p>
        </p:txBody>
      </p:sp>
      <p:sp>
        <p:nvSpPr>
          <p:cNvPr id="60" name="Text 51"/>
          <p:cNvSpPr/>
          <p:nvPr/>
        </p:nvSpPr>
        <p:spPr>
          <a:xfrm>
            <a:off x="5577840" y="4690872"/>
            <a:ext cx="290779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portal, one disputes platform, one PFaaS solution</a:t>
            </a:r>
            <a:endParaRPr lang="en-US" sz="1000" dirty="0"/>
          </a:p>
        </p:txBody>
      </p:sp>
      <p:sp>
        <p:nvSpPr>
          <p:cNvPr id="61" name="Shape 52"/>
          <p:cNvSpPr/>
          <p:nvPr/>
        </p:nvSpPr>
        <p:spPr>
          <a:xfrm>
            <a:off x="502920" y="5189220"/>
            <a:ext cx="800100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548640" y="5264658"/>
            <a:ext cx="384048" cy="384048"/>
          </a:xfrm>
          <a:prstGeom prst="ellipse">
            <a:avLst/>
          </a:prstGeom>
          <a:solidFill>
            <a:srgbClr val="DEDEFB"/>
          </a:solidFill>
          <a:ln/>
        </p:spPr>
      </p:sp>
      <p:pic>
        <p:nvPicPr>
          <p:cNvPr id="63" name="Image 7" descr="icons_hi/icon9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131" y="5349149"/>
            <a:ext cx="215067" cy="215067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1124712" y="5225796"/>
            <a:ext cx="18745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centers</a:t>
            </a:r>
            <a:endParaRPr lang="en-US" sz="1250" dirty="0"/>
          </a:p>
        </p:txBody>
      </p:sp>
      <p:sp>
        <p:nvSpPr>
          <p:cNvPr id="65" name="Text 55"/>
          <p:cNvSpPr/>
          <p:nvPr/>
        </p:nvSpPr>
        <p:spPr>
          <a:xfrm>
            <a:off x="3044952" y="5225796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0C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</a:t>
            </a:r>
            <a:endParaRPr lang="en-US" sz="2400" dirty="0"/>
          </a:p>
        </p:txBody>
      </p:sp>
      <p:sp>
        <p:nvSpPr>
          <p:cNvPr id="66" name="Text 56"/>
          <p:cNvSpPr/>
          <p:nvPr/>
        </p:nvSpPr>
        <p:spPr>
          <a:xfrm>
            <a:off x="3995928" y="5225796"/>
            <a:ext cx="5029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A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67" name="Text 57"/>
          <p:cNvSpPr/>
          <p:nvPr/>
        </p:nvSpPr>
        <p:spPr>
          <a:xfrm>
            <a:off x="4535424" y="5225796"/>
            <a:ext cx="9144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2400" dirty="0"/>
          </a:p>
        </p:txBody>
      </p:sp>
      <p:sp>
        <p:nvSpPr>
          <p:cNvPr id="68" name="Text 58"/>
          <p:cNvSpPr/>
          <p:nvPr/>
        </p:nvSpPr>
        <p:spPr>
          <a:xfrm>
            <a:off x="5577840" y="5225796"/>
            <a:ext cx="290779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Standardized, secure global infrastructure footprint</a:t>
            </a:r>
            <a:endParaRPr lang="en-US" sz="1000" dirty="0"/>
          </a:p>
        </p:txBody>
      </p:sp>
      <p:sp>
        <p:nvSpPr>
          <p:cNvPr id="69" name="Text 59"/>
          <p:cNvSpPr/>
          <p:nvPr/>
        </p:nvSpPr>
        <p:spPr>
          <a:xfrm>
            <a:off x="8778240" y="114300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UNLOCKS</a:t>
            </a:r>
            <a:endParaRPr lang="en-US" sz="1100" dirty="0"/>
          </a:p>
        </p:txBody>
      </p:sp>
      <p:sp>
        <p:nvSpPr>
          <p:cNvPr id="70" name="Shape 60"/>
          <p:cNvSpPr/>
          <p:nvPr/>
        </p:nvSpPr>
        <p:spPr>
          <a:xfrm>
            <a:off x="8732520" y="1444752"/>
            <a:ext cx="2956255" cy="1371600"/>
          </a:xfrm>
          <a:prstGeom prst="roundRect">
            <a:avLst>
              <a:gd name="adj" fmla="val 5333"/>
            </a:avLst>
          </a:prstGeom>
          <a:solidFill>
            <a:srgbClr val="E9E9FC"/>
          </a:solidFill>
          <a:ln/>
        </p:spPr>
      </p:sp>
      <p:sp>
        <p:nvSpPr>
          <p:cNvPr id="71" name="Text 61"/>
          <p:cNvSpPr/>
          <p:nvPr/>
        </p:nvSpPr>
        <p:spPr>
          <a:xfrm>
            <a:off x="8961120" y="1609344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&gt;80%</a:t>
            </a:r>
            <a:endParaRPr lang="en-US" sz="4000" dirty="0"/>
          </a:p>
        </p:txBody>
      </p:sp>
      <p:sp>
        <p:nvSpPr>
          <p:cNvPr id="72" name="Text 62"/>
          <p:cNvSpPr/>
          <p:nvPr/>
        </p:nvSpPr>
        <p:spPr>
          <a:xfrm>
            <a:off x="8961120" y="2286000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smaller platform estate in the target state</a:t>
            </a:r>
            <a:endParaRPr lang="en-US" sz="1050" dirty="0"/>
          </a:p>
        </p:txBody>
      </p:sp>
      <p:sp>
        <p:nvSpPr>
          <p:cNvPr id="73" name="Shape 63"/>
          <p:cNvSpPr/>
          <p:nvPr/>
        </p:nvSpPr>
        <p:spPr>
          <a:xfrm>
            <a:off x="8732520" y="2926080"/>
            <a:ext cx="2956255" cy="1371600"/>
          </a:xfrm>
          <a:prstGeom prst="roundRect">
            <a:avLst>
              <a:gd name="adj" fmla="val 5333"/>
            </a:avLst>
          </a:prstGeom>
          <a:solidFill>
            <a:srgbClr val="E9E9FC"/>
          </a:solidFill>
          <a:ln/>
        </p:spPr>
      </p:sp>
      <p:sp>
        <p:nvSpPr>
          <p:cNvPr id="74" name="Text 64"/>
          <p:cNvSpPr/>
          <p:nvPr/>
        </p:nvSpPr>
        <p:spPr>
          <a:xfrm>
            <a:off x="8961120" y="3090672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~10% → ~8%</a:t>
            </a:r>
            <a:endParaRPr lang="en-US" sz="2600" dirty="0"/>
          </a:p>
        </p:txBody>
      </p:sp>
      <p:sp>
        <p:nvSpPr>
          <p:cNvPr id="75" name="Text 65"/>
          <p:cNvSpPr/>
          <p:nvPr/>
        </p:nvSpPr>
        <p:spPr>
          <a:xfrm>
            <a:off x="8961120" y="376732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spend as a share of revenue</a:t>
            </a:r>
            <a:endParaRPr lang="en-US" sz="1050" dirty="0"/>
          </a:p>
        </p:txBody>
      </p:sp>
      <p:sp>
        <p:nvSpPr>
          <p:cNvPr id="76" name="Shape 66"/>
          <p:cNvSpPr/>
          <p:nvPr/>
        </p:nvSpPr>
        <p:spPr>
          <a:xfrm>
            <a:off x="8732520" y="4407408"/>
            <a:ext cx="2956255" cy="1371600"/>
          </a:xfrm>
          <a:prstGeom prst="roundRect">
            <a:avLst>
              <a:gd name="adj" fmla="val 5333"/>
            </a:avLst>
          </a:prstGeom>
          <a:solidFill>
            <a:srgbClr val="E9E9FC"/>
          </a:solidFill>
          <a:ln/>
        </p:spPr>
      </p:sp>
      <p:sp>
        <p:nvSpPr>
          <p:cNvPr id="77" name="Text 67"/>
          <p:cNvSpPr/>
          <p:nvPr/>
        </p:nvSpPr>
        <p:spPr>
          <a:xfrm>
            <a:off x="8961120" y="4572000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$200M+</a:t>
            </a:r>
            <a:endParaRPr lang="en-US" sz="3200" dirty="0"/>
          </a:p>
        </p:txBody>
      </p:sp>
      <p:sp>
        <p:nvSpPr>
          <p:cNvPr id="78" name="Text 68"/>
          <p:cNvSpPr/>
          <p:nvPr/>
        </p:nvSpPr>
        <p:spPr>
          <a:xfrm>
            <a:off x="8961120" y="524865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6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operating expense unlock over 5 years — committed</a:t>
            </a:r>
            <a:endParaRPr lang="en-US" sz="1050" dirty="0"/>
          </a:p>
        </p:txBody>
      </p:sp>
      <p:sp>
        <p:nvSpPr>
          <p:cNvPr id="79" name="Shape 69"/>
          <p:cNvSpPr/>
          <p:nvPr/>
        </p:nvSpPr>
        <p:spPr>
          <a:xfrm>
            <a:off x="502920" y="5925312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262AFF"/>
          </a:solidFill>
          <a:ln/>
        </p:spPr>
      </p:sp>
      <p:sp>
        <p:nvSpPr>
          <p:cNvPr id="80" name="Text 70"/>
          <p:cNvSpPr/>
          <p:nvPr/>
        </p:nvSpPr>
        <p:spPr>
          <a:xfrm>
            <a:off x="502920" y="592531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 consolidation centralizes investment and simplifies our cost structure</a:t>
            </a:r>
            <a:endParaRPr lang="en-US" sz="1450" dirty="0"/>
          </a:p>
        </p:txBody>
      </p:sp>
      <p:pic>
        <p:nvPicPr>
          <p:cNvPr id="81" name="Image 8" descr="unpacked/ppt/media/image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6419088"/>
            <a:ext cx="227026" cy="310896"/>
          </a:xfrm>
          <a:prstGeom prst="rect">
            <a:avLst/>
          </a:prstGeom>
        </p:spPr>
      </p:pic>
      <p:sp>
        <p:nvSpPr>
          <p:cNvPr id="82" name="Text 71"/>
          <p:cNvSpPr/>
          <p:nvPr/>
        </p:nvSpPr>
        <p:spPr>
          <a:xfrm>
            <a:off x="8229600" y="64739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C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2025 Global Payments Inc. All rights reserved.</a:t>
            </a:r>
            <a:endParaRPr lang="en-US" sz="800" dirty="0"/>
          </a:p>
        </p:txBody>
      </p:sp>
      <p:sp>
        <p:nvSpPr>
          <p:cNvPr id="83" name="Text 72"/>
          <p:cNvSpPr/>
          <p:nvPr/>
        </p:nvSpPr>
        <p:spPr>
          <a:xfrm>
            <a:off x="1138428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C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2026-07-17T19:27:26Z</dcterms:created>
  <dcterms:modified xsi:type="dcterms:W3CDTF">2026-07-17T19:27:26Z</dcterms:modified>
</cp:coreProperties>
</file>