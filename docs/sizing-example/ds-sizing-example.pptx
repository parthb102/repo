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 used in office hours: how to size an AI business case bottom-up. Left: the benefit chain for one role (cost base -&gt; addressable -&gt; capturable -&gt; prioritized). Right: the investment for the No.1 opportunity, one-time vs recurring, with tokens explicitly modeled.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1148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438912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a $38M cost base yields </a:t>
            </a:r>
            <a:pPr indent="0" marL="0">
              <a:buNone/>
            </a:pPr>
            <a:r>
              <a:rPr lang="en-US" sz="19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~$8.3M capturable</a:t>
            </a:r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the first agent build returns ~5× its run cost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104120" y="347472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104120" y="347472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060704"/>
            <a:ext cx="5486400" cy="5285232"/>
          </a:xfrm>
          <a:prstGeom prst="roundRect">
            <a:avLst>
              <a:gd name="adj" fmla="val 1038"/>
            </a:avLst>
          </a:prstGeom>
          <a:solidFill>
            <a:srgbClr val="EFF6F3"/>
          </a:solidFill>
          <a:ln/>
        </p:spPr>
      </p:sp>
      <p:sp>
        <p:nvSpPr>
          <p:cNvPr id="8" name="Shape 5"/>
          <p:cNvSpPr/>
          <p:nvPr/>
        </p:nvSpPr>
        <p:spPr>
          <a:xfrm>
            <a:off x="6291072" y="1060704"/>
            <a:ext cx="5486400" cy="5285232"/>
          </a:xfrm>
          <a:prstGeom prst="roundRect">
            <a:avLst>
              <a:gd name="adj" fmla="val 1038"/>
            </a:avLst>
          </a:prstGeom>
          <a:solidFill>
            <a:srgbClr val="EFF1F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" y="11887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BENEFIT — BOTTOM-UP, NOT TOP-DOWN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1887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 — FOR OPPORTUNITY No.1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" y="1403604"/>
            <a:ext cx="192024" cy="19202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" y="140360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" y="13898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12648" y="164592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2185416" y="168249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 base  =  200 data-scientist FTEs × $190K fully loaded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2648" y="2189988"/>
            <a:ext cx="192024" cy="19202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2648" y="218998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77824" y="217627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77824" y="237744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week · dark fill = AI-addressable · $ = addressable pool / yr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612648" y="259689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240280" y="2628900"/>
            <a:ext cx="2304288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22" name="Shape 19"/>
          <p:cNvSpPr/>
          <p:nvPr/>
        </p:nvSpPr>
        <p:spPr>
          <a:xfrm>
            <a:off x="2240280" y="2628900"/>
            <a:ext cx="1382573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90288" y="259689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837176" y="2596896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404104" y="2619756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D9EEE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04104" y="261975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612648" y="283921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build &amp; experiments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2240280" y="2871216"/>
            <a:ext cx="1536192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29" name="Shape 26"/>
          <p:cNvSpPr/>
          <p:nvPr/>
        </p:nvSpPr>
        <p:spPr>
          <a:xfrm>
            <a:off x="2240280" y="2871216"/>
            <a:ext cx="537667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22192" y="283921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4837176" y="283921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$2.7M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404104" y="2862072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F4E3C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04104" y="2862072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A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650" dirty="0"/>
          </a:p>
        </p:txBody>
      </p:sp>
      <p:sp>
        <p:nvSpPr>
          <p:cNvPr id="34" name="Text 31"/>
          <p:cNvSpPr txBox="1"/>
          <p:nvPr/>
        </p:nvSpPr>
        <p:spPr>
          <a:xfrm>
            <a:off x="612648" y="308152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2240280" y="3113532"/>
            <a:ext cx="1152144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36" name="Shape 33"/>
          <p:cNvSpPr/>
          <p:nvPr/>
        </p:nvSpPr>
        <p:spPr>
          <a:xfrm>
            <a:off x="2240280" y="3113532"/>
            <a:ext cx="460858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38144" y="308152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837176" y="3081528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$2.3M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5404104" y="3104388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F4E3C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404104" y="3104388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A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650" dirty="0"/>
          </a:p>
        </p:txBody>
      </p:sp>
      <p:sp>
        <p:nvSpPr>
          <p:cNvPr id="41" name="Text 38"/>
          <p:cNvSpPr txBox="1"/>
          <p:nvPr/>
        </p:nvSpPr>
        <p:spPr>
          <a:xfrm>
            <a:off x="612648" y="33238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documentation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240280" y="3355848"/>
            <a:ext cx="1152144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43" name="Shape 40"/>
          <p:cNvSpPr/>
          <p:nvPr/>
        </p:nvSpPr>
        <p:spPr>
          <a:xfrm>
            <a:off x="2240280" y="3355848"/>
            <a:ext cx="691286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438144" y="332384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4837176" y="332384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$3.4M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5404104" y="3346704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D9EEE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5404104" y="3346704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</a:t>
            </a:r>
            <a:endParaRPr lang="en-US" sz="650" dirty="0"/>
          </a:p>
        </p:txBody>
      </p:sp>
      <p:sp>
        <p:nvSpPr>
          <p:cNvPr id="48" name="Text 45"/>
          <p:cNvSpPr txBox="1"/>
          <p:nvPr/>
        </p:nvSpPr>
        <p:spPr>
          <a:xfrm>
            <a:off x="612648" y="356616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2240280" y="3598164"/>
            <a:ext cx="921715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50" name="Shape 47"/>
          <p:cNvSpPr/>
          <p:nvPr/>
        </p:nvSpPr>
        <p:spPr>
          <a:xfrm>
            <a:off x="2240280" y="3598164"/>
            <a:ext cx="92172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3207715" y="35661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4837176" y="356616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$0.5M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5404104" y="3589020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EFDBDB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404104" y="3589020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A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612648" y="380847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requests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240280" y="3840480"/>
            <a:ext cx="614477" cy="137160"/>
          </a:xfrm>
          <a:prstGeom prst="rect">
            <a:avLst/>
          </a:prstGeom>
          <a:solidFill>
            <a:srgbClr val="A9D8CE"/>
          </a:solidFill>
          <a:ln/>
        </p:spPr>
      </p:sp>
      <p:sp>
        <p:nvSpPr>
          <p:cNvPr id="57" name="Shape 54"/>
          <p:cNvSpPr/>
          <p:nvPr/>
        </p:nvSpPr>
        <p:spPr>
          <a:xfrm>
            <a:off x="2240280" y="3840480"/>
            <a:ext cx="276515" cy="137160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900477" y="380847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4837176" y="3808476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404104" y="3831336"/>
            <a:ext cx="365760" cy="155448"/>
          </a:xfrm>
          <a:prstGeom prst="roundRect">
            <a:avLst>
              <a:gd name="adj" fmla="val 29412"/>
            </a:avLst>
          </a:prstGeom>
          <a:solidFill>
            <a:srgbClr val="F4E3C6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404104" y="383133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A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650" dirty="0"/>
          </a:p>
        </p:txBody>
      </p:sp>
      <p:sp>
        <p:nvSpPr>
          <p:cNvPr id="62" name="Shape 59"/>
          <p:cNvSpPr/>
          <p:nvPr/>
        </p:nvSpPr>
        <p:spPr>
          <a:xfrm>
            <a:off x="612648" y="4165092"/>
            <a:ext cx="192024" cy="19202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612648" y="416509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77824" y="41513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potential down to what you can actually capture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12648" y="4389120"/>
            <a:ext cx="175564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potential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2423160" y="4411980"/>
            <a:ext cx="2331720" cy="14173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4809744" y="438912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$17.0M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2514600" y="4604004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− 25% viability — data access, tooling maturity, governance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612648" y="4773168"/>
            <a:ext cx="175564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potential</a:t>
            </a:r>
            <a:endParaRPr lang="en-US" sz="850" dirty="0"/>
          </a:p>
        </p:txBody>
      </p:sp>
      <p:sp>
        <p:nvSpPr>
          <p:cNvPr id="70" name="Shape 67"/>
          <p:cNvSpPr/>
          <p:nvPr/>
        </p:nvSpPr>
        <p:spPr>
          <a:xfrm>
            <a:off x="2423160" y="4796028"/>
            <a:ext cx="1755648" cy="14173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233672" y="477316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$12.8M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2514600" y="4988052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− 35% capture — adoption ramp; assumes funded change mgmt (unmanaged = 20–40%)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612648" y="5157216"/>
            <a:ext cx="175564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 (≈22% of cost base)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423160" y="5180076"/>
            <a:ext cx="1138428" cy="14173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3616452" y="5157216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</a:t>
            </a:r>
            <a:endParaRPr lang="en-US" sz="850" dirty="0"/>
          </a:p>
        </p:txBody>
      </p:sp>
      <p:sp>
        <p:nvSpPr>
          <p:cNvPr id="76" name="Shape 73"/>
          <p:cNvSpPr/>
          <p:nvPr/>
        </p:nvSpPr>
        <p:spPr>
          <a:xfrm>
            <a:off x="612648" y="5445252"/>
            <a:ext cx="192024" cy="19202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12648" y="54452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877824" y="543153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30936" y="56692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850" dirty="0"/>
          </a:p>
        </p:txBody>
      </p:sp>
      <p:sp>
        <p:nvSpPr>
          <p:cNvPr id="80" name="Text 77"/>
          <p:cNvSpPr txBox="1"/>
          <p:nvPr/>
        </p:nvSpPr>
        <p:spPr>
          <a:xfrm>
            <a:off x="832104" y="56692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</a:t>
            </a:r>
            <a:pPr indent="0" marL="0">
              <a:buNone/>
            </a:pPr>
            <a:r>
              <a:rPr lang="en-US" sz="8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 pool — most mature tooling — the agentic backbone starts here</a:t>
            </a:r>
            <a:endParaRPr lang="en-US" sz="800" dirty="0"/>
          </a:p>
        </p:txBody>
      </p:sp>
      <p:sp>
        <p:nvSpPr>
          <p:cNvPr id="81" name="Text 78"/>
          <p:cNvSpPr txBox="1"/>
          <p:nvPr/>
        </p:nvSpPr>
        <p:spPr>
          <a:xfrm>
            <a:off x="630936" y="58841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832104" y="588416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documentation  </a:t>
            </a:r>
            <a:pPr indent="0" marL="0">
              <a:buNone/>
            </a:pPr>
            <a:r>
              <a:rPr lang="en-US" sz="8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$3.4M pool — production-proven genAI — fast follow on the backbone</a:t>
            </a:r>
            <a:endParaRPr lang="en-US" sz="800" dirty="0"/>
          </a:p>
        </p:txBody>
      </p:sp>
      <p:sp>
        <p:nvSpPr>
          <p:cNvPr id="83" name="Text 80"/>
          <p:cNvSpPr txBox="1"/>
          <p:nvPr/>
        </p:nvSpPr>
        <p:spPr>
          <a:xfrm>
            <a:off x="630936" y="6099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850" dirty="0"/>
          </a:p>
        </p:txBody>
      </p:sp>
      <p:sp>
        <p:nvSpPr>
          <p:cNvPr id="84" name="Text 81"/>
          <p:cNvSpPr txBox="1"/>
          <p:nvPr/>
        </p:nvSpPr>
        <p:spPr>
          <a:xfrm>
            <a:off x="832104" y="609904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build &amp; experiments  </a:t>
            </a:r>
            <a:pPr indent="0" marL="0">
              <a:buNone/>
            </a:pPr>
            <a:r>
              <a:rPr lang="en-US" sz="8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$2.7M pool — real coding-assistant lift, judgment-heavy — wave 2</a:t>
            </a:r>
            <a:endParaRPr lang="en-US" sz="800" dirty="0"/>
          </a:p>
        </p:txBody>
      </p:sp>
      <p:sp>
        <p:nvSpPr>
          <p:cNvPr id="85" name="Shape 82"/>
          <p:cNvSpPr/>
          <p:nvPr/>
        </p:nvSpPr>
        <p:spPr>
          <a:xfrm>
            <a:off x="6492240" y="1371600"/>
            <a:ext cx="5084064" cy="603504"/>
          </a:xfrm>
          <a:prstGeom prst="roundRect">
            <a:avLst>
              <a:gd name="adj" fmla="val 7576"/>
            </a:avLst>
          </a:prstGeom>
          <a:solidFill>
            <a:srgbClr val="3D4BB5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6620256" y="137160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3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Quality Agent  —  </a:t>
            </a:r>
            <a:pPr indent="0" marL="0">
              <a:buNone/>
            </a:pPr>
            <a:r>
              <a:rPr lang="en-US" sz="1000" dirty="0">
                <a:solidFill>
                  <a:srgbClr val="C3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pool No.1: $6.8M addressable, ~30% of every DS week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6620256" y="170078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D9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profiling, cleaning, joining and validation with human-review checkpoints, embedded in the DS workflow (warehouse, catalog, pipelines).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6492240" y="210312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PHASES  ·  ≈32 WEEKS (~7½ MONTHS)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6492240" y="2340864"/>
            <a:ext cx="625221" cy="310896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6492240" y="2340864"/>
            <a:ext cx="6252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492240" y="2487168"/>
            <a:ext cx="6252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650" dirty="0"/>
          </a:p>
        </p:txBody>
      </p:sp>
      <p:sp>
        <p:nvSpPr>
          <p:cNvPr id="92" name="Text 89"/>
          <p:cNvSpPr txBox="1"/>
          <p:nvPr/>
        </p:nvSpPr>
        <p:spPr>
          <a:xfrm>
            <a:off x="6492240" y="2688336"/>
            <a:ext cx="6252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 FTE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6492240" y="2825496"/>
            <a:ext cx="6252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$65K</a:t>
            </a:r>
            <a:endParaRPr lang="en-US" sz="750" dirty="0"/>
          </a:p>
        </p:txBody>
      </p:sp>
      <p:sp>
        <p:nvSpPr>
          <p:cNvPr id="94" name="Shape 91"/>
          <p:cNvSpPr/>
          <p:nvPr/>
        </p:nvSpPr>
        <p:spPr>
          <a:xfrm>
            <a:off x="7144893" y="2340864"/>
            <a:ext cx="1563052" cy="310896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7144893" y="2340864"/>
            <a:ext cx="15630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700" dirty="0"/>
          </a:p>
        </p:txBody>
      </p:sp>
      <p:sp>
        <p:nvSpPr>
          <p:cNvPr id="96" name="Text 93"/>
          <p:cNvSpPr txBox="1"/>
          <p:nvPr/>
        </p:nvSpPr>
        <p:spPr>
          <a:xfrm>
            <a:off x="7144893" y="2487168"/>
            <a:ext cx="15630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650" dirty="0"/>
          </a:p>
        </p:txBody>
      </p:sp>
      <p:sp>
        <p:nvSpPr>
          <p:cNvPr id="97" name="Text 94"/>
          <p:cNvSpPr txBox="1"/>
          <p:nvPr/>
        </p:nvSpPr>
        <p:spPr>
          <a:xfrm>
            <a:off x="7144893" y="2688336"/>
            <a:ext cx="15630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4.25 FTE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7144893" y="2825496"/>
            <a:ext cx="15630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$180K</a:t>
            </a:r>
            <a:endParaRPr lang="en-US" sz="750" dirty="0"/>
          </a:p>
        </p:txBody>
      </p:sp>
      <p:sp>
        <p:nvSpPr>
          <p:cNvPr id="99" name="Shape 96"/>
          <p:cNvSpPr/>
          <p:nvPr/>
        </p:nvSpPr>
        <p:spPr>
          <a:xfrm>
            <a:off x="8735378" y="2340864"/>
            <a:ext cx="937832" cy="310896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8735378" y="2340864"/>
            <a:ext cx="937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8735378" y="2487168"/>
            <a:ext cx="937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650" dirty="0"/>
          </a:p>
        </p:txBody>
      </p:sp>
      <p:sp>
        <p:nvSpPr>
          <p:cNvPr id="102" name="Text 99"/>
          <p:cNvSpPr txBox="1"/>
          <p:nvPr/>
        </p:nvSpPr>
        <p:spPr>
          <a:xfrm>
            <a:off x="8735378" y="2688336"/>
            <a:ext cx="937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FTE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8735378" y="2825496"/>
            <a:ext cx="937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$115K</a:t>
            </a:r>
            <a:endParaRPr lang="en-US" sz="750" dirty="0"/>
          </a:p>
        </p:txBody>
      </p:sp>
      <p:sp>
        <p:nvSpPr>
          <p:cNvPr id="104" name="Shape 101"/>
          <p:cNvSpPr/>
          <p:nvPr/>
        </p:nvSpPr>
        <p:spPr>
          <a:xfrm>
            <a:off x="9700641" y="2340864"/>
            <a:ext cx="1875663" cy="310896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105" name="Text 102"/>
          <p:cNvSpPr txBox="1"/>
          <p:nvPr/>
        </p:nvSpPr>
        <p:spPr>
          <a:xfrm>
            <a:off x="9700641" y="2340864"/>
            <a:ext cx="18756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&amp; SCALE</a:t>
            </a:r>
            <a:endParaRPr lang="en-US" sz="700" dirty="0"/>
          </a:p>
        </p:txBody>
      </p:sp>
      <p:sp>
        <p:nvSpPr>
          <p:cNvPr id="106" name="Text 103"/>
          <p:cNvSpPr txBox="1"/>
          <p:nvPr/>
        </p:nvSpPr>
        <p:spPr>
          <a:xfrm>
            <a:off x="9700641" y="2487168"/>
            <a:ext cx="18756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650" dirty="0"/>
          </a:p>
        </p:txBody>
      </p:sp>
      <p:sp>
        <p:nvSpPr>
          <p:cNvPr id="107" name="Text 104"/>
          <p:cNvSpPr txBox="1"/>
          <p:nvPr/>
        </p:nvSpPr>
        <p:spPr>
          <a:xfrm>
            <a:off x="9700641" y="2688336"/>
            <a:ext cx="18756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 FTE</a:t>
            </a:r>
            <a:endParaRPr lang="en-US" sz="750" dirty="0"/>
          </a:p>
        </p:txBody>
      </p:sp>
      <p:sp>
        <p:nvSpPr>
          <p:cNvPr id="108" name="Text 105"/>
          <p:cNvSpPr txBox="1"/>
          <p:nvPr/>
        </p:nvSpPr>
        <p:spPr>
          <a:xfrm>
            <a:off x="9700641" y="2825496"/>
            <a:ext cx="18756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$190K</a:t>
            </a:r>
            <a:endParaRPr lang="en-US" sz="750" dirty="0"/>
          </a:p>
        </p:txBody>
      </p:sp>
      <p:sp>
        <p:nvSpPr>
          <p:cNvPr id="109" name="Text 106"/>
          <p:cNvSpPr txBox="1"/>
          <p:nvPr/>
        </p:nvSpPr>
        <p:spPr>
          <a:xfrm>
            <a:off x="6492240" y="3017520"/>
            <a:ext cx="5084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 Product owner ×0.5  ·  2 AI/ML engineers  ·  Data engineer  ·  DS expert  ·  Change lead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92240" y="3273552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COSTS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6492240" y="3493008"/>
            <a:ext cx="2478024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601968" y="3566160"/>
            <a:ext cx="2258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  </a:t>
            </a:r>
            <a:pPr indent="0" marL="0">
              <a:buNone/>
            </a:pPr>
            <a:r>
              <a:rPr lang="en-US" sz="13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endParaRPr lang="en-US" sz="800" dirty="0"/>
          </a:p>
        </p:txBody>
      </p:sp>
      <p:sp>
        <p:nvSpPr>
          <p:cNvPr id="113" name="Text 110"/>
          <p:cNvSpPr txBox="1"/>
          <p:nvPr/>
        </p:nvSpPr>
        <p:spPr>
          <a:xfrm>
            <a:off x="6601968" y="385876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 (all four phases)</a:t>
            </a:r>
            <a:endParaRPr lang="en-US" sz="800" dirty="0"/>
          </a:p>
        </p:txBody>
      </p:sp>
      <p:sp>
        <p:nvSpPr>
          <p:cNvPr id="114" name="Text 111"/>
          <p:cNvSpPr txBox="1"/>
          <p:nvPr/>
        </p:nvSpPr>
        <p:spPr>
          <a:xfrm>
            <a:off x="8366760" y="3858768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800" dirty="0"/>
          </a:p>
        </p:txBody>
      </p:sp>
      <p:sp>
        <p:nvSpPr>
          <p:cNvPr id="115" name="Text 112"/>
          <p:cNvSpPr txBox="1"/>
          <p:nvPr/>
        </p:nvSpPr>
        <p:spPr>
          <a:xfrm>
            <a:off x="6601968" y="4050792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integration</a:t>
            </a:r>
            <a:endParaRPr lang="en-US" sz="800" dirty="0"/>
          </a:p>
        </p:txBody>
      </p:sp>
      <p:sp>
        <p:nvSpPr>
          <p:cNvPr id="116" name="Text 113"/>
          <p:cNvSpPr txBox="1"/>
          <p:nvPr/>
        </p:nvSpPr>
        <p:spPr>
          <a:xfrm>
            <a:off x="8366760" y="4050792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$250K</a:t>
            </a:r>
            <a:endParaRPr lang="en-US" sz="800" dirty="0"/>
          </a:p>
        </p:txBody>
      </p:sp>
      <p:sp>
        <p:nvSpPr>
          <p:cNvPr id="117" name="Text 114"/>
          <p:cNvSpPr txBox="1"/>
          <p:nvPr/>
        </p:nvSpPr>
        <p:spPr>
          <a:xfrm>
            <a:off x="6601968" y="4242816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800" dirty="0"/>
          </a:p>
        </p:txBody>
      </p:sp>
      <p:sp>
        <p:nvSpPr>
          <p:cNvPr id="118" name="Text 115"/>
          <p:cNvSpPr txBox="1"/>
          <p:nvPr/>
        </p:nvSpPr>
        <p:spPr>
          <a:xfrm>
            <a:off x="8366760" y="4242816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800" dirty="0"/>
          </a:p>
        </p:txBody>
      </p:sp>
      <p:sp>
        <p:nvSpPr>
          <p:cNvPr id="119" name="Text 116"/>
          <p:cNvSpPr txBox="1"/>
          <p:nvPr/>
        </p:nvSpPr>
        <p:spPr>
          <a:xfrm>
            <a:off x="6601968" y="4434840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Pre-production token spend</a:t>
            </a:r>
            <a:endParaRPr lang="en-US" sz="800" dirty="0"/>
          </a:p>
        </p:txBody>
      </p:sp>
      <p:sp>
        <p:nvSpPr>
          <p:cNvPr id="120" name="Text 117"/>
          <p:cNvSpPr txBox="1"/>
          <p:nvPr/>
        </p:nvSpPr>
        <p:spPr>
          <a:xfrm>
            <a:off x="8366760" y="4434840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$30K</a:t>
            </a:r>
            <a:endParaRPr lang="en-US" sz="800" dirty="0"/>
          </a:p>
        </p:txBody>
      </p:sp>
      <p:sp>
        <p:nvSpPr>
          <p:cNvPr id="121" name="Text 118"/>
          <p:cNvSpPr txBox="1"/>
          <p:nvPr/>
        </p:nvSpPr>
        <p:spPr>
          <a:xfrm>
            <a:off x="6601968" y="4645152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8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cost = FTE-weeks × ~$4,200 blended loaded rate, by phase</a:t>
            </a:r>
            <a:endParaRPr lang="en-US" sz="680" dirty="0"/>
          </a:p>
        </p:txBody>
      </p:sp>
      <p:sp>
        <p:nvSpPr>
          <p:cNvPr id="122" name="Shape 119"/>
          <p:cNvSpPr/>
          <p:nvPr/>
        </p:nvSpPr>
        <p:spPr>
          <a:xfrm>
            <a:off x="9098280" y="3493008"/>
            <a:ext cx="2478024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23" name="Text 120"/>
          <p:cNvSpPr txBox="1"/>
          <p:nvPr/>
        </p:nvSpPr>
        <p:spPr>
          <a:xfrm>
            <a:off x="9208008" y="3566160"/>
            <a:ext cx="2258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/ YR   </a:t>
            </a:r>
            <a:pPr indent="0" marL="0">
              <a:buNone/>
            </a:pPr>
            <a:r>
              <a:rPr lang="en-US" sz="13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endParaRPr lang="en-US" sz="800" dirty="0"/>
          </a:p>
        </p:txBody>
      </p:sp>
      <p:sp>
        <p:nvSpPr>
          <p:cNvPr id="124" name="Text 121"/>
          <p:cNvSpPr txBox="1"/>
          <p:nvPr/>
        </p:nvSpPr>
        <p:spPr>
          <a:xfrm>
            <a:off x="9208008" y="3858768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/ token consumption</a:t>
            </a:r>
            <a:endParaRPr lang="en-US" sz="800" dirty="0"/>
          </a:p>
        </p:txBody>
      </p:sp>
      <p:sp>
        <p:nvSpPr>
          <p:cNvPr id="125" name="Text 122"/>
          <p:cNvSpPr txBox="1"/>
          <p:nvPr/>
        </p:nvSpPr>
        <p:spPr>
          <a:xfrm>
            <a:off x="10972800" y="3858768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800" dirty="0"/>
          </a:p>
        </p:txBody>
      </p:sp>
      <p:sp>
        <p:nvSpPr>
          <p:cNvPr id="126" name="Text 123"/>
          <p:cNvSpPr txBox="1"/>
          <p:nvPr/>
        </p:nvSpPr>
        <p:spPr>
          <a:xfrm>
            <a:off x="9208008" y="4050792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 ($50/user/mo)</a:t>
            </a:r>
            <a:endParaRPr lang="en-US" sz="800" dirty="0"/>
          </a:p>
        </p:txBody>
      </p:sp>
      <p:sp>
        <p:nvSpPr>
          <p:cNvPr id="127" name="Text 124"/>
          <p:cNvSpPr txBox="1"/>
          <p:nvPr/>
        </p:nvSpPr>
        <p:spPr>
          <a:xfrm>
            <a:off x="10972800" y="4050792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800" dirty="0"/>
          </a:p>
        </p:txBody>
      </p:sp>
      <p:sp>
        <p:nvSpPr>
          <p:cNvPr id="128" name="Text 125"/>
          <p:cNvSpPr txBox="1"/>
          <p:nvPr/>
        </p:nvSpPr>
        <p:spPr>
          <a:xfrm>
            <a:off x="9208008" y="4242816"/>
            <a:ext cx="17922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800" dirty="0"/>
          </a:p>
        </p:txBody>
      </p:sp>
      <p:sp>
        <p:nvSpPr>
          <p:cNvPr id="129" name="Text 126"/>
          <p:cNvSpPr txBox="1"/>
          <p:nvPr/>
        </p:nvSpPr>
        <p:spPr>
          <a:xfrm>
            <a:off x="10972800" y="4242816"/>
            <a:ext cx="493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800" dirty="0"/>
          </a:p>
        </p:txBody>
      </p:sp>
      <p:sp>
        <p:nvSpPr>
          <p:cNvPr id="130" name="Text 127"/>
          <p:cNvSpPr txBox="1"/>
          <p:nvPr/>
        </p:nvSpPr>
        <p:spPr>
          <a:xfrm>
            <a:off x="9208008" y="4645152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8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≈ 200 DS × ~$6.50/day blended (heavy users well above) × 230 days — the line business cases forget</a:t>
            </a:r>
            <a:endParaRPr lang="en-US" sz="680" dirty="0"/>
          </a:p>
        </p:txBody>
      </p:sp>
      <p:sp>
        <p:nvSpPr>
          <p:cNvPr id="131" name="Text 128"/>
          <p:cNvSpPr txBox="1"/>
          <p:nvPr/>
        </p:nvSpPr>
        <p:spPr>
          <a:xfrm>
            <a:off x="6492240" y="5175504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RETURNS</a:t>
            </a:r>
            <a:endParaRPr lang="en-US" sz="950" dirty="0"/>
          </a:p>
        </p:txBody>
      </p:sp>
      <p:sp>
        <p:nvSpPr>
          <p:cNvPr id="132" name="Shape 129"/>
          <p:cNvSpPr/>
          <p:nvPr/>
        </p:nvSpPr>
        <p:spPr>
          <a:xfrm>
            <a:off x="6492240" y="5394960"/>
            <a:ext cx="1609344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33" name="Text 130"/>
          <p:cNvSpPr txBox="1"/>
          <p:nvPr/>
        </p:nvSpPr>
        <p:spPr>
          <a:xfrm>
            <a:off x="6583680" y="54498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$3.3M/yr</a:t>
            </a:r>
            <a:endParaRPr lang="en-US" sz="1600" dirty="0"/>
          </a:p>
        </p:txBody>
      </p:sp>
      <p:sp>
        <p:nvSpPr>
          <p:cNvPr id="134" name="Text 131"/>
          <p:cNvSpPr txBox="1"/>
          <p:nvPr/>
        </p:nvSpPr>
        <p:spPr>
          <a:xfrm>
            <a:off x="6583680" y="57241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steady-state = pool No.1 × 75% viability × 65% capture — a subset of the $8.3M, not additive</a:t>
            </a:r>
            <a:endParaRPr lang="en-US" sz="700" dirty="0"/>
          </a:p>
        </p:txBody>
      </p:sp>
      <p:sp>
        <p:nvSpPr>
          <p:cNvPr id="135" name="Shape 132"/>
          <p:cNvSpPr/>
          <p:nvPr/>
        </p:nvSpPr>
        <p:spPr>
          <a:xfrm>
            <a:off x="8229600" y="5394960"/>
            <a:ext cx="1609344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36" name="Text 133"/>
          <p:cNvSpPr txBox="1"/>
          <p:nvPr/>
        </p:nvSpPr>
        <p:spPr>
          <a:xfrm>
            <a:off x="8321040" y="54498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1600" dirty="0"/>
          </a:p>
        </p:txBody>
      </p:sp>
      <p:sp>
        <p:nvSpPr>
          <p:cNvPr id="137" name="Text 134"/>
          <p:cNvSpPr txBox="1"/>
          <p:nvPr/>
        </p:nvSpPr>
        <p:spPr>
          <a:xfrm>
            <a:off x="8321040" y="57241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captured in year 1; ramp starts 1–3 mo post-deploy → payback ≈12 mo gross, ~14 mo net of run cost</a:t>
            </a:r>
            <a:endParaRPr lang="en-US" sz="700" dirty="0"/>
          </a:p>
        </p:txBody>
      </p:sp>
      <p:sp>
        <p:nvSpPr>
          <p:cNvPr id="138" name="Shape 135"/>
          <p:cNvSpPr/>
          <p:nvPr/>
        </p:nvSpPr>
        <p:spPr>
          <a:xfrm>
            <a:off x="9966960" y="5394960"/>
            <a:ext cx="1609344" cy="804672"/>
          </a:xfrm>
          <a:prstGeom prst="roundRect">
            <a:avLst>
              <a:gd name="adj" fmla="val 5682"/>
            </a:avLst>
          </a:prstGeom>
          <a:solidFill>
            <a:srgbClr val="F2DBBC"/>
          </a:solidFill>
          <a:ln w="12700">
            <a:solidFill>
              <a:srgbClr val="C77414"/>
            </a:solidFill>
            <a:prstDash val="solid"/>
          </a:ln>
        </p:spPr>
      </p:sp>
      <p:sp>
        <p:nvSpPr>
          <p:cNvPr id="139" name="Text 136"/>
          <p:cNvSpPr txBox="1"/>
          <p:nvPr/>
        </p:nvSpPr>
        <p:spPr>
          <a:xfrm>
            <a:off x="10058400" y="54498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4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~5×</a:t>
            </a:r>
            <a:endParaRPr lang="en-US" sz="1600" dirty="0"/>
          </a:p>
        </p:txBody>
      </p:sp>
      <p:sp>
        <p:nvSpPr>
          <p:cNvPr id="140" name="Text 137"/>
          <p:cNvSpPr txBox="1"/>
          <p:nvPr/>
        </p:nvSpPr>
        <p:spPr>
          <a:xfrm>
            <a:off x="10058400" y="57241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return: $3.3M/yr value vs $0.59M/yr run cost</a:t>
            </a:r>
            <a:endParaRPr lang="en-US" sz="700" dirty="0"/>
          </a:p>
        </p:txBody>
      </p:sp>
      <p:sp>
        <p:nvSpPr>
          <p:cNvPr id="141" name="Shape 138"/>
          <p:cNvSpPr/>
          <p:nvPr/>
        </p:nvSpPr>
        <p:spPr>
          <a:xfrm>
            <a:off x="411480" y="6455664"/>
            <a:ext cx="11365992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411480" y="6510528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walkthrough of the sizing method — not a plan of record. Activity pools are pre-haircut addressable value, rounded to $0.1M (rounded pools sum to $17.1M vs the $17.0M unrounded potential). Capturable value is capacity (hiring avoidance, throughput, redeployment), not automatic cost-out. Token costs are explicitly modeled, one-time and recurring.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1148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43891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104120" y="347472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104120" y="347472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060704"/>
            <a:ext cx="5486400" cy="5285232"/>
          </a:xfrm>
          <a:prstGeom prst="roundRect">
            <a:avLst>
              <a:gd name="adj" fmla="val 1038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12648" y="11887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12648" y="155448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12648" y="1737360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Benefit is sized bottom-up from activities — never top-down from a benchmark percentage.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12648" y="2350008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2532888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45536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2648" y="3328416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41064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viability (−25%)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12648" y="4123944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Data-access gaps, tooling maturity, and model-governance / regulatory constraints.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12648" y="4736592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12648" y="4919472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ramp (20–40% early adoption is typical unmanaged) and capacity reinvested in backlog rather than released.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12648" y="553212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12648" y="5715000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 (~22% of cost base) is capacity — realized as hiring avoidance, throughput, or redeployment. Releasing vs reinvesting it is a leadership decision, not a model output.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291072" y="1060704"/>
            <a:ext cx="5486400" cy="5285232"/>
          </a:xfrm>
          <a:prstGeom prst="roundRect">
            <a:avLst>
              <a:gd name="adj" fmla="val 1038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92240" y="11887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155448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492240" y="1737360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2350008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492240" y="2532888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&amp; scale 12. Waves roll out easy datasets and teams first, building the reusable agentic backbone.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492240" y="3145536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3328416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× 230 days) plus $30K pre-production — the cost line business cases most often miss. Pilot measures real cost per workflow.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6492240" y="3941064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492240" y="4123944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4736592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ties to the left side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492240" y="4919472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Steady-state $3.3M/yr = the $6.8M data-prep pool after both haircuts (×0.75 × 0.65). No double counting: adjacent capabilities added during deploy (documentation, feature prep) are credited to the wave-2 cases, not this one.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5532120"/>
            <a:ext cx="5084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costs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492240" y="5715000"/>
            <a:ext cx="5084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~0.75-FTE run team + licensing + tokens = $585K/yr, under 20% of steady-state value — a ~5× running return. Payback ≈12 months gross, ~14 months net of run costs.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1480" y="6455664"/>
            <a:ext cx="11365992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1480" y="6510528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illustrative, for the method walkthrough. Sensitivity: the model is most sensitive to the baseline (headcount × loaded cost × time allocation) — validate the baseline with Finance before the automation percentages.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2026-08-28T06:08:25Z</dcterms:created>
  <dcterms:modified xsi:type="dcterms:W3CDTF">2026-08-28T06:08:25Z</dcterms:modified>
</cp:coreProperties>
</file>