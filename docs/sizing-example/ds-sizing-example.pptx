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Worked example: how to size an AI business case bottom-up, using three activities to keep it simple. Left: cost base -&gt; map the week -&gt; add the pools and haircut -&gt; prioritize. Right: what the first build costs, one-time and recurring. All numbers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 reviewer's checklist: the five gates the AI &amp; automation approver checks before sign-off. Finance approves the dollars separately; this review checks the AI substance so approval is not a rubber stamp. Teams use the same list as a pre-flight check before submitting.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Backup: the assumptions behind every number on the worked example. Reuse the structure, not the numbers - replace each assumption with your own role's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02920" y="237744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C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TRANSFORMATION  ·  HOW TO SIZE A BUSINESS CASE  ·  WORKED EXAMPLE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43891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scientists: three activities yield </a:t>
            </a:r>
            <a:pPr indent="0" marL="0">
              <a:buNone/>
            </a:pPr>
            <a:r>
              <a:rPr lang="en-US" sz="2000" b="1" dirty="0">
                <a:solidFill>
                  <a:srgbClr val="C77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~$3M capturable</a:t>
            </a:r>
            <a:pPr indent="0" marL="0">
              <a:buNone/>
            </a:pPr>
            <a:r>
              <a:rPr lang="en-US" sz="20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for a ~$1M build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10058400" y="365760"/>
            <a:ext cx="1673352" cy="310896"/>
          </a:xfrm>
          <a:prstGeom prst="roundRect">
            <a:avLst>
              <a:gd name="adj" fmla="val 50000"/>
            </a:avLst>
          </a:prstGeom>
          <a:solidFill>
            <a:srgbClr val="1F2A3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0058400" y="365760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02920" y="1207008"/>
            <a:ext cx="219456" cy="219456"/>
          </a:xfrm>
          <a:prstGeom prst="ellipse">
            <a:avLst/>
          </a:prstGeom>
          <a:solidFill>
            <a:srgbClr val="0B6B5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02920" y="12070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13816" y="11887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from the current cost base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13816" y="1481328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$38.0M</a:t>
            </a:r>
            <a:pPr indent="0" marL="0">
              <a:buNone/>
            </a:pPr>
            <a:r>
              <a:rPr lang="en-US" sz="1100" dirty="0">
                <a:solidFill>
                  <a:srgbClr val="5C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(e.g., 200 data-scientist FTEs × $190K fully loaded)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502920" y="2139696"/>
            <a:ext cx="219456" cy="219456"/>
          </a:xfrm>
          <a:prstGeom prst="ellipse">
            <a:avLst/>
          </a:prstGeom>
          <a:solidFill>
            <a:srgbClr val="0B6B5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02920" y="21396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" y="21214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the week — how much of each activity can AI address?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813816" y="23774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8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= share of the week  ·  dark fill = what AI can address today  ·  $ = that pool per year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13816" y="2633472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 &amp; cleaning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2715768" y="2688336"/>
            <a:ext cx="2286000" cy="201168"/>
          </a:xfrm>
          <a:prstGeom prst="rect">
            <a:avLst/>
          </a:prstGeom>
          <a:solidFill>
            <a:srgbClr val="BFE0D8"/>
          </a:solidFill>
          <a:ln/>
        </p:spPr>
      </p:sp>
      <p:sp>
        <p:nvSpPr>
          <p:cNvPr id="17" name="Shape 14"/>
          <p:cNvSpPr/>
          <p:nvPr/>
        </p:nvSpPr>
        <p:spPr>
          <a:xfrm>
            <a:off x="2715768" y="2688336"/>
            <a:ext cx="1371600" cy="201168"/>
          </a:xfrm>
          <a:prstGeom prst="rect">
            <a:avLst/>
          </a:prstGeom>
          <a:solidFill>
            <a:srgbClr val="0B6B5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111496" y="263347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$3M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13816" y="3054096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analysis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2715768" y="3108960"/>
            <a:ext cx="1143000" cy="201168"/>
          </a:xfrm>
          <a:prstGeom prst="rect">
            <a:avLst/>
          </a:prstGeom>
          <a:solidFill>
            <a:srgbClr val="EFD9B8"/>
          </a:solidFill>
          <a:ln/>
        </p:spPr>
      </p:sp>
      <p:sp>
        <p:nvSpPr>
          <p:cNvPr id="21" name="Shape 18"/>
          <p:cNvSpPr/>
          <p:nvPr/>
        </p:nvSpPr>
        <p:spPr>
          <a:xfrm>
            <a:off x="2715768" y="3108960"/>
            <a:ext cx="457200" cy="201168"/>
          </a:xfrm>
          <a:prstGeom prst="rect">
            <a:avLst/>
          </a:prstGeom>
          <a:solidFill>
            <a:srgbClr val="9A5A0B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3968496" y="305409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$2M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13816" y="3474720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alignment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2715768" y="3529584"/>
            <a:ext cx="914400" cy="201168"/>
          </a:xfrm>
          <a:prstGeom prst="rect">
            <a:avLst/>
          </a:prstGeom>
          <a:solidFill>
            <a:srgbClr val="EBD3D6"/>
          </a:solidFill>
          <a:ln/>
        </p:spPr>
      </p:sp>
      <p:sp>
        <p:nvSpPr>
          <p:cNvPr id="25" name="Shape 22"/>
          <p:cNvSpPr/>
          <p:nvPr/>
        </p:nvSpPr>
        <p:spPr>
          <a:xfrm>
            <a:off x="2715768" y="3529584"/>
            <a:ext cx="91440" cy="201168"/>
          </a:xfrm>
          <a:prstGeom prst="rect">
            <a:avLst/>
          </a:prstGeom>
          <a:solidFill>
            <a:srgbClr val="9A4E58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3739896" y="347472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4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$1M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02920" y="4133088"/>
            <a:ext cx="219456" cy="219456"/>
          </a:xfrm>
          <a:prstGeom prst="ellipse">
            <a:avLst/>
          </a:prstGeom>
          <a:solidFill>
            <a:srgbClr val="0B6B5D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02920" y="41330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813816" y="4114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the pools up — then haircut to what you can capture</a:t>
            </a:r>
            <a:endParaRPr lang="en-US" sz="1350" dirty="0"/>
          </a:p>
        </p:txBody>
      </p:sp>
      <p:sp>
        <p:nvSpPr>
          <p:cNvPr id="30" name="Text 27"/>
          <p:cNvSpPr txBox="1"/>
          <p:nvPr/>
        </p:nvSpPr>
        <p:spPr>
          <a:xfrm>
            <a:off x="813816" y="440740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pools together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2715768" y="4448556"/>
            <a:ext cx="1124712" cy="164592"/>
          </a:xfrm>
          <a:prstGeom prst="rect">
            <a:avLst/>
          </a:prstGeom>
          <a:solidFill>
            <a:srgbClr val="0B6B5D"/>
          </a:solidFill>
          <a:ln/>
        </p:spPr>
      </p:sp>
      <p:sp>
        <p:nvSpPr>
          <p:cNvPr id="32" name="Shape 29"/>
          <p:cNvSpPr/>
          <p:nvPr/>
        </p:nvSpPr>
        <p:spPr>
          <a:xfrm>
            <a:off x="3858768" y="4448556"/>
            <a:ext cx="743712" cy="164592"/>
          </a:xfrm>
          <a:prstGeom prst="rect">
            <a:avLst/>
          </a:prstGeom>
          <a:solidFill>
            <a:srgbClr val="9A5A0B"/>
          </a:solidFill>
          <a:ln/>
        </p:spPr>
      </p:sp>
      <p:sp>
        <p:nvSpPr>
          <p:cNvPr id="33" name="Shape 30"/>
          <p:cNvSpPr/>
          <p:nvPr/>
        </p:nvSpPr>
        <p:spPr>
          <a:xfrm>
            <a:off x="4620768" y="4448556"/>
            <a:ext cx="362712" cy="164592"/>
          </a:xfrm>
          <a:prstGeom prst="rect">
            <a:avLst/>
          </a:prstGeom>
          <a:solidFill>
            <a:srgbClr val="9A4E58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5074920" y="44074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$6M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527048" y="466344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you already cover some of this today — tools in place, learned via interviews  (−25%)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813816" y="4846320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Truly new opportunity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2715768" y="4887468"/>
            <a:ext cx="1714500" cy="164592"/>
          </a:xfrm>
          <a:prstGeom prst="rect">
            <a:avLst/>
          </a:prstGeom>
          <a:solidFill>
            <a:srgbClr val="129682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4521708" y="48463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$4.5M</a:t>
            </a:r>
            <a:endParaRPr lang="en-US" sz="1150" dirty="0"/>
          </a:p>
        </p:txBody>
      </p:sp>
      <p:sp>
        <p:nvSpPr>
          <p:cNvPr id="39" name="Text 36"/>
          <p:cNvSpPr txBox="1"/>
          <p:nvPr/>
        </p:nvSpPr>
        <p:spPr>
          <a:xfrm>
            <a:off x="1527048" y="510235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not everything gets captured — people adopt gradually, freed time is reinvested  (−35%)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813816" y="5285232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Capturable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2715768" y="5326380"/>
            <a:ext cx="1143000" cy="164592"/>
          </a:xfrm>
          <a:prstGeom prst="rect">
            <a:avLst/>
          </a:prstGeom>
          <a:solidFill>
            <a:srgbClr val="C77414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3950208" y="52852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~$3M / yr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502920" y="5705856"/>
            <a:ext cx="219456" cy="219456"/>
          </a:xfrm>
          <a:prstGeom prst="ellipse">
            <a:avLst/>
          </a:prstGeom>
          <a:solidFill>
            <a:srgbClr val="0B6B5D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502920" y="57058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813816" y="56875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by size × ease — go easy-first</a:t>
            </a:r>
            <a:endParaRPr lang="en-US" sz="1350" dirty="0"/>
          </a:p>
        </p:txBody>
      </p:sp>
      <p:sp>
        <p:nvSpPr>
          <p:cNvPr id="46" name="Text 43"/>
          <p:cNvSpPr txBox="1"/>
          <p:nvPr/>
        </p:nvSpPr>
        <p:spPr>
          <a:xfrm>
            <a:off x="832104" y="594360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050" dirty="0"/>
          </a:p>
        </p:txBody>
      </p:sp>
      <p:sp>
        <p:nvSpPr>
          <p:cNvPr id="47" name="Text 44"/>
          <p:cNvSpPr txBox="1"/>
          <p:nvPr/>
        </p:nvSpPr>
        <p:spPr>
          <a:xfrm>
            <a:off x="1069848" y="5943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 &amp; cleaning   </a:t>
            </a:r>
            <a:pPr indent="0" marL="0">
              <a:buNone/>
            </a:pPr>
            <a:r>
              <a:rPr lang="en-US" sz="1050" dirty="0">
                <a:solidFill>
                  <a:srgbClr val="5C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$3M pool, easy — the agent build starts here</a:t>
            </a:r>
            <a:endParaRPr lang="en-US" sz="1050" dirty="0"/>
          </a:p>
        </p:txBody>
      </p:sp>
      <p:sp>
        <p:nvSpPr>
          <p:cNvPr id="48" name="Text 45"/>
          <p:cNvSpPr txBox="1"/>
          <p:nvPr/>
        </p:nvSpPr>
        <p:spPr>
          <a:xfrm>
            <a:off x="832104" y="617220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050" dirty="0"/>
          </a:p>
        </p:txBody>
      </p:sp>
      <p:sp>
        <p:nvSpPr>
          <p:cNvPr id="49" name="Text 46"/>
          <p:cNvSpPr txBox="1"/>
          <p:nvPr/>
        </p:nvSpPr>
        <p:spPr>
          <a:xfrm>
            <a:off x="1069848" y="61722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analysis   </a:t>
            </a:r>
            <a:pPr indent="0" marL="0">
              <a:buNone/>
            </a:pPr>
            <a:r>
              <a:rPr lang="en-US" sz="1050" dirty="0">
                <a:solidFill>
                  <a:srgbClr val="5C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$2M pool, medium — fast follow on the same backbone</a:t>
            </a:r>
            <a:endParaRPr lang="en-US" sz="1050" dirty="0"/>
          </a:p>
        </p:txBody>
      </p:sp>
      <p:sp>
        <p:nvSpPr>
          <p:cNvPr id="50" name="Text 47"/>
          <p:cNvSpPr txBox="1"/>
          <p:nvPr/>
        </p:nvSpPr>
        <p:spPr>
          <a:xfrm>
            <a:off x="832104" y="6400800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4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050" dirty="0"/>
          </a:p>
        </p:txBody>
      </p:sp>
      <p:sp>
        <p:nvSpPr>
          <p:cNvPr id="51" name="Text 48"/>
          <p:cNvSpPr txBox="1"/>
          <p:nvPr/>
        </p:nvSpPr>
        <p:spPr>
          <a:xfrm>
            <a:off x="1069848" y="64008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alignment   </a:t>
            </a:r>
            <a:pPr indent="0" marL="0">
              <a:buNone/>
            </a:pPr>
            <a:r>
              <a:rPr lang="en-US" sz="1050" dirty="0">
                <a:solidFill>
                  <a:srgbClr val="5C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$1M pool, hard and human-led — don’t build here yet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6446520" y="1188720"/>
            <a:ext cx="5257800" cy="5541264"/>
          </a:xfrm>
          <a:prstGeom prst="roundRect">
            <a:avLst>
              <a:gd name="adj" fmla="val 1217"/>
            </a:avLst>
          </a:prstGeom>
          <a:solidFill>
            <a:srgbClr val="EFF1FA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6739128" y="1426464"/>
            <a:ext cx="4672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3D4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SIZING THE INVESTMENT</a:t>
            </a:r>
            <a:endParaRPr lang="en-US" sz="1250" dirty="0"/>
          </a:p>
        </p:txBody>
      </p:sp>
      <p:sp>
        <p:nvSpPr>
          <p:cNvPr id="54" name="Text 51"/>
          <p:cNvSpPr txBox="1"/>
          <p:nvPr/>
        </p:nvSpPr>
        <p:spPr>
          <a:xfrm>
            <a:off x="6739128" y="1682496"/>
            <a:ext cx="4672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e.g., build a Data Prep Agent to go after opportunity No. 1</a:t>
            </a:r>
            <a:endParaRPr lang="en-US" sz="1100" dirty="0"/>
          </a:p>
        </p:txBody>
      </p:sp>
      <p:sp>
        <p:nvSpPr>
          <p:cNvPr id="55" name="Text 52"/>
          <p:cNvSpPr txBox="1"/>
          <p:nvPr/>
        </p:nvSpPr>
        <p:spPr>
          <a:xfrm>
            <a:off x="6739128" y="2139696"/>
            <a:ext cx="4672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C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TEST      </a:t>
            </a:r>
            <a:pPr indent="0" marL="0">
              <a:buNone/>
            </a:pPr>
            <a:r>
              <a:rPr lang="en-US" sz="2600" b="1" dirty="0">
                <a:solidFill>
                  <a:srgbClr val="3D4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$0.95M</a:t>
            </a:r>
            <a:pPr indent="0" marL="0">
              <a:buNone/>
            </a:pPr>
            <a:r>
              <a:rPr lang="en-US" sz="1100" dirty="0">
                <a:solidFill>
                  <a:srgbClr val="5C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one-time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6739128" y="2670048"/>
            <a:ext cx="570357" cy="384048"/>
          </a:xfrm>
          <a:prstGeom prst="rect">
            <a:avLst/>
          </a:prstGeom>
          <a:solidFill>
            <a:srgbClr val="8E9AE8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6739128" y="2706624"/>
            <a:ext cx="57035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850" dirty="0"/>
          </a:p>
        </p:txBody>
      </p:sp>
      <p:sp>
        <p:nvSpPr>
          <p:cNvPr id="58" name="Text 55"/>
          <p:cNvSpPr txBox="1"/>
          <p:nvPr/>
        </p:nvSpPr>
        <p:spPr>
          <a:xfrm>
            <a:off x="6739128" y="2862072"/>
            <a:ext cx="57035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wks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7346061" y="2670048"/>
            <a:ext cx="1425893" cy="384048"/>
          </a:xfrm>
          <a:prstGeom prst="rect">
            <a:avLst/>
          </a:prstGeom>
          <a:solidFill>
            <a:srgbClr val="7583E4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7346061" y="2706624"/>
            <a:ext cx="14258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850" dirty="0"/>
          </a:p>
        </p:txBody>
      </p:sp>
      <p:sp>
        <p:nvSpPr>
          <p:cNvPr id="61" name="Text 58"/>
          <p:cNvSpPr txBox="1"/>
          <p:nvPr/>
        </p:nvSpPr>
        <p:spPr>
          <a:xfrm>
            <a:off x="7346061" y="2862072"/>
            <a:ext cx="142589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wks</a:t>
            </a:r>
            <a:endParaRPr lang="en-US" sz="800" dirty="0"/>
          </a:p>
        </p:txBody>
      </p:sp>
      <p:sp>
        <p:nvSpPr>
          <p:cNvPr id="62" name="Shape 59"/>
          <p:cNvSpPr/>
          <p:nvPr/>
        </p:nvSpPr>
        <p:spPr>
          <a:xfrm>
            <a:off x="8808530" y="2670048"/>
            <a:ext cx="855536" cy="384048"/>
          </a:xfrm>
          <a:prstGeom prst="rect">
            <a:avLst/>
          </a:prstGeom>
          <a:solidFill>
            <a:srgbClr val="5A6BE0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8808530" y="2706624"/>
            <a:ext cx="855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850" dirty="0"/>
          </a:p>
        </p:txBody>
      </p:sp>
      <p:sp>
        <p:nvSpPr>
          <p:cNvPr id="64" name="Text 61"/>
          <p:cNvSpPr txBox="1"/>
          <p:nvPr/>
        </p:nvSpPr>
        <p:spPr>
          <a:xfrm>
            <a:off x="8808530" y="2862072"/>
            <a:ext cx="855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wks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9700641" y="2670048"/>
            <a:ext cx="1711071" cy="384048"/>
          </a:xfrm>
          <a:prstGeom prst="rect">
            <a:avLst/>
          </a:prstGeom>
          <a:solidFill>
            <a:srgbClr val="3D4BB5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9700641" y="2706624"/>
            <a:ext cx="17110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850" dirty="0"/>
          </a:p>
        </p:txBody>
      </p:sp>
      <p:sp>
        <p:nvSpPr>
          <p:cNvPr id="67" name="Text 64"/>
          <p:cNvSpPr txBox="1"/>
          <p:nvPr/>
        </p:nvSpPr>
        <p:spPr>
          <a:xfrm>
            <a:off x="9700641" y="2862072"/>
            <a:ext cx="171107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wks</a:t>
            </a:r>
            <a:endParaRPr lang="en-US" sz="800" dirty="0"/>
          </a:p>
        </p:txBody>
      </p:sp>
      <p:sp>
        <p:nvSpPr>
          <p:cNvPr id="68" name="Text 65"/>
          <p:cNvSpPr txBox="1"/>
          <p:nvPr/>
        </p:nvSpPr>
        <p:spPr>
          <a:xfrm>
            <a:off x="6739128" y="3163824"/>
            <a:ext cx="4672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~4-person team — product, AI engineers, data engineering, a DS expert — for ~7½ months</a:t>
            </a:r>
            <a:endParaRPr lang="en-US" sz="1000" dirty="0"/>
          </a:p>
        </p:txBody>
      </p:sp>
      <p:sp>
        <p:nvSpPr>
          <p:cNvPr id="69" name="Text 66"/>
          <p:cNvSpPr txBox="1"/>
          <p:nvPr/>
        </p:nvSpPr>
        <p:spPr>
          <a:xfrm>
            <a:off x="6739128" y="3493008"/>
            <a:ext cx="3849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team</a:t>
            </a:r>
            <a:endParaRPr lang="en-US" sz="1100" dirty="0"/>
          </a:p>
        </p:txBody>
      </p:sp>
      <p:sp>
        <p:nvSpPr>
          <p:cNvPr id="70" name="Text 67"/>
          <p:cNvSpPr txBox="1"/>
          <p:nvPr/>
        </p:nvSpPr>
        <p:spPr>
          <a:xfrm>
            <a:off x="10634472" y="349300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$550K</a:t>
            </a:r>
            <a:endParaRPr lang="en-US" sz="1100" dirty="0"/>
          </a:p>
        </p:txBody>
      </p:sp>
      <p:sp>
        <p:nvSpPr>
          <p:cNvPr id="71" name="Text 68"/>
          <p:cNvSpPr txBox="1"/>
          <p:nvPr/>
        </p:nvSpPr>
        <p:spPr>
          <a:xfrm>
            <a:off x="6739128" y="3767328"/>
            <a:ext cx="3849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Platform, integration &amp; pilot tokens</a:t>
            </a:r>
            <a:endParaRPr lang="en-US" sz="1100" dirty="0"/>
          </a:p>
        </p:txBody>
      </p:sp>
      <p:sp>
        <p:nvSpPr>
          <p:cNvPr id="72" name="Text 69"/>
          <p:cNvSpPr txBox="1"/>
          <p:nvPr/>
        </p:nvSpPr>
        <p:spPr>
          <a:xfrm>
            <a:off x="10634472" y="376732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$280K</a:t>
            </a:r>
            <a:endParaRPr lang="en-US" sz="1100" dirty="0"/>
          </a:p>
        </p:txBody>
      </p:sp>
      <p:sp>
        <p:nvSpPr>
          <p:cNvPr id="73" name="Text 70"/>
          <p:cNvSpPr txBox="1"/>
          <p:nvPr/>
        </p:nvSpPr>
        <p:spPr>
          <a:xfrm>
            <a:off x="6739128" y="4041648"/>
            <a:ext cx="3849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management &amp; training</a:t>
            </a:r>
            <a:endParaRPr lang="en-US" sz="1100" dirty="0"/>
          </a:p>
        </p:txBody>
      </p:sp>
      <p:sp>
        <p:nvSpPr>
          <p:cNvPr id="74" name="Text 71"/>
          <p:cNvSpPr txBox="1"/>
          <p:nvPr/>
        </p:nvSpPr>
        <p:spPr>
          <a:xfrm>
            <a:off x="10634472" y="404164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$120K</a:t>
            </a:r>
            <a:endParaRPr lang="en-US" sz="1100" dirty="0"/>
          </a:p>
        </p:txBody>
      </p:sp>
      <p:sp>
        <p:nvSpPr>
          <p:cNvPr id="75" name="Shape 72"/>
          <p:cNvSpPr/>
          <p:nvPr/>
        </p:nvSpPr>
        <p:spPr>
          <a:xfrm>
            <a:off x="6739128" y="4480560"/>
            <a:ext cx="4672584" cy="0"/>
          </a:xfrm>
          <a:prstGeom prst="line">
            <a:avLst/>
          </a:prstGeom>
          <a:noFill/>
          <a:ln w="12700">
            <a:solidFill>
              <a:srgbClr val="C9CF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6739128" y="4663440"/>
            <a:ext cx="4672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C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     </a:t>
            </a:r>
            <a:pPr indent="0" marL="0">
              <a:buNone/>
            </a:pPr>
            <a:r>
              <a:rPr lang="en-US" sz="2600" b="1" dirty="0">
                <a:solidFill>
                  <a:srgbClr val="3D4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$585K</a:t>
            </a:r>
            <a:pPr indent="0" marL="0">
              <a:buNone/>
            </a:pPr>
            <a:r>
              <a:rPr lang="en-US" sz="1100" dirty="0">
                <a:solidFill>
                  <a:srgbClr val="5C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per year</a:t>
            </a:r>
            <a:endParaRPr lang="en-US" sz="1100" dirty="0"/>
          </a:p>
        </p:txBody>
      </p:sp>
      <p:sp>
        <p:nvSpPr>
          <p:cNvPr id="77" name="Text 74"/>
          <p:cNvSpPr txBox="1"/>
          <p:nvPr/>
        </p:nvSpPr>
        <p:spPr>
          <a:xfrm>
            <a:off x="6739128" y="5175504"/>
            <a:ext cx="3849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&amp; token consumption</a:t>
            </a:r>
            <a:endParaRPr lang="en-US" sz="1100" dirty="0"/>
          </a:p>
        </p:txBody>
      </p:sp>
      <p:sp>
        <p:nvSpPr>
          <p:cNvPr id="78" name="Text 75"/>
          <p:cNvSpPr txBox="1"/>
          <p:nvPr/>
        </p:nvSpPr>
        <p:spPr>
          <a:xfrm>
            <a:off x="10634472" y="517550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$300K</a:t>
            </a:r>
            <a:endParaRPr lang="en-US" sz="1100" dirty="0"/>
          </a:p>
        </p:txBody>
      </p:sp>
      <p:sp>
        <p:nvSpPr>
          <p:cNvPr id="79" name="Text 76"/>
          <p:cNvSpPr txBox="1"/>
          <p:nvPr/>
        </p:nvSpPr>
        <p:spPr>
          <a:xfrm>
            <a:off x="6739128" y="5449824"/>
            <a:ext cx="3849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Licensing &amp; tooling</a:t>
            </a:r>
            <a:endParaRPr lang="en-US" sz="1100" dirty="0"/>
          </a:p>
        </p:txBody>
      </p:sp>
      <p:sp>
        <p:nvSpPr>
          <p:cNvPr id="80" name="Text 77"/>
          <p:cNvSpPr txBox="1"/>
          <p:nvPr/>
        </p:nvSpPr>
        <p:spPr>
          <a:xfrm>
            <a:off x="10634472" y="544982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$120K</a:t>
            </a:r>
            <a:endParaRPr lang="en-US" sz="1100" dirty="0"/>
          </a:p>
        </p:txBody>
      </p:sp>
      <p:sp>
        <p:nvSpPr>
          <p:cNvPr id="81" name="Text 78"/>
          <p:cNvSpPr txBox="1"/>
          <p:nvPr/>
        </p:nvSpPr>
        <p:spPr>
          <a:xfrm>
            <a:off x="6739128" y="5724144"/>
            <a:ext cx="3849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team (~0.75 FTE)</a:t>
            </a:r>
            <a:endParaRPr lang="en-US" sz="1100" dirty="0"/>
          </a:p>
        </p:txBody>
      </p:sp>
      <p:sp>
        <p:nvSpPr>
          <p:cNvPr id="82" name="Text 79"/>
          <p:cNvSpPr txBox="1"/>
          <p:nvPr/>
        </p:nvSpPr>
        <p:spPr>
          <a:xfrm>
            <a:off x="10634472" y="572414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$165K</a:t>
            </a:r>
            <a:endParaRPr lang="en-US" sz="1100" dirty="0"/>
          </a:p>
        </p:txBody>
      </p:sp>
      <p:sp>
        <p:nvSpPr>
          <p:cNvPr id="83" name="Text 80"/>
          <p:cNvSpPr txBox="1"/>
          <p:nvPr/>
        </p:nvSpPr>
        <p:spPr>
          <a:xfrm>
            <a:off x="6739128" y="6071616"/>
            <a:ext cx="4672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C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sized explicitly (~200 users × ~$6.50/day × 230 days) — the line business cases forget</a:t>
            </a:r>
            <a:endParaRPr lang="en-US" sz="950" dirty="0"/>
          </a:p>
        </p:txBody>
      </p:sp>
      <p:sp>
        <p:nvSpPr>
          <p:cNvPr id="84" name="Text 81"/>
          <p:cNvSpPr txBox="1"/>
          <p:nvPr/>
        </p:nvSpPr>
        <p:spPr>
          <a:xfrm>
            <a:off x="502920" y="6675120"/>
            <a:ext cx="11247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8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— a walkthrough of the method, not a plan of record. Detailed assumptions: backup slide.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02920" y="237744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C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TRANSFORMATION  ·  INVESTMENT-CASE REVIEW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438912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reviewer’s checklist — five gates before sign-off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10058400" y="365760"/>
            <a:ext cx="1673352" cy="310896"/>
          </a:xfrm>
          <a:prstGeom prst="roundRect">
            <a:avLst>
              <a:gd name="adj" fmla="val 50000"/>
            </a:avLst>
          </a:prstGeom>
          <a:solidFill>
            <a:srgbClr val="0B6B5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0058400" y="365760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APPROVERS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89611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approves the dollars. This review checks the AI substance — so sign-off is never a rubber stamp. Teams: run the same five gates before you submit.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135331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98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3520440" y="1353312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98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MUST BE TRUE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135331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98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 BACK WHEN…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02920" y="1591056"/>
            <a:ext cx="11201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1719072"/>
            <a:ext cx="237744" cy="237744"/>
          </a:xfrm>
          <a:prstGeom prst="ellipse">
            <a:avLst/>
          </a:prstGeom>
          <a:solidFill>
            <a:srgbClr val="0B6B5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2920" y="1719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" y="1700784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creates the value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3520440" y="1700784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is clear and the mechanism is explicit: which workflow, what the AI or agent actually does, and why that produces the number.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955280" y="1700784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“AI” only appears in the title — the value really comes from ordinary process change.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02920" y="2450592"/>
            <a:ext cx="11201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2578608"/>
            <a:ext cx="237744" cy="237744"/>
          </a:xfrm>
          <a:prstGeom prst="ellipse">
            <a:avLst/>
          </a:prstGeom>
          <a:solidFill>
            <a:srgbClr val="0B6B5D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02920" y="25786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" y="2560320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math holds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3520440" y="256032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Sized bottom-up from a validated baseline with haircuts applied — and the value is claimed once, with overlaps adjusted in sequencing.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7955280" y="25603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top-down percentage on an unvalidated baseline, or the same savings counted by two initiatives.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02920" y="3310128"/>
            <a:ext cx="11201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2920" y="3438144"/>
            <a:ext cx="237744" cy="237744"/>
          </a:xfrm>
          <a:prstGeom prst="ellipse">
            <a:avLst/>
          </a:prstGeom>
          <a:solidFill>
            <a:srgbClr val="0B6B5D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02920" y="34381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868680" y="3419856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AI cost is in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3520440" y="3419856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and recurring: build, platform and change management — plus tokens, licensing and a run team on the recurring side.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955280" y="3419856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token or run-cost line — the case only prices the build.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02920" y="4169664"/>
            <a:ext cx="11201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02920" y="4297680"/>
            <a:ext cx="237744" cy="237744"/>
          </a:xfrm>
          <a:prstGeom prst="ellipse">
            <a:avLst/>
          </a:prstGeom>
          <a:solidFill>
            <a:srgbClr val="0B6B5D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502920" y="42976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868680" y="4279392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is pressure-tested</a:t>
            </a:r>
            <a:endParaRPr lang="en-US" sz="1250" dirty="0"/>
          </a:p>
        </p:txBody>
      </p:sp>
      <p:sp>
        <p:nvSpPr>
          <p:cNvPr id="33" name="Text 30"/>
          <p:cNvSpPr txBox="1"/>
          <p:nvPr/>
        </p:nvSpPr>
        <p:spPr>
          <a:xfrm>
            <a:off x="3520440" y="4279392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 are named, platform and engineering are engaged, and the implementation plan has been reviewed for feasibility — the CTO bar, carried here.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7955280" y="4279392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named tech owner, or a plan engineering has never seen.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02920" y="5029200"/>
            <a:ext cx="112014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02920" y="5157216"/>
            <a:ext cx="237744" cy="237744"/>
          </a:xfrm>
          <a:prstGeom prst="ellipse">
            <a:avLst/>
          </a:prstGeom>
          <a:solidFill>
            <a:srgbClr val="0B6B5D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502920" y="51572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868680" y="5138928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uses the standard stack</a:t>
            </a:r>
            <a:endParaRPr lang="en-US" sz="1250" dirty="0"/>
          </a:p>
        </p:txBody>
      </p:sp>
      <p:sp>
        <p:nvSpPr>
          <p:cNvPr id="39" name="Text 36"/>
          <p:cNvSpPr txBox="1"/>
          <p:nvPr/>
        </p:nvSpPr>
        <p:spPr>
          <a:xfrm>
            <a:off x="3520440" y="5138928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approved platforms and existing vendor partnerships; a new tool only where no standard exists.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7955280" y="513892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vendor duplicating a partnership we already have — one more random tool.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02920" y="6035040"/>
            <a:ext cx="11201400" cy="475488"/>
          </a:xfrm>
          <a:prstGeom prst="roundRect">
            <a:avLst>
              <a:gd name="adj" fmla="val 11538"/>
            </a:avLst>
          </a:prstGeom>
          <a:solidFill>
            <a:srgbClr val="EFF6F3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722376" y="603504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five hold → approved.   </a:t>
            </a:r>
            <a:pPr indent="0" marL="0">
              <a:buNone/>
            </a:pPr>
            <a:r>
              <a:rPr lang="en-US" sz="11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gap → back to the team with the gap named — resubmit when it’s closed. </a:t>
            </a:r>
            <a:pPr indent="0" marL="0">
              <a:buNone/>
            </a:pPr>
            <a:r>
              <a:rPr lang="en-US" sz="1100" dirty="0">
                <a:solidFill>
                  <a:srgbClr val="5C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approval runs separately.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02920" y="6675120"/>
            <a:ext cx="11247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8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 on a gate? Bring it to office hours — don’t wait for the review to find out.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02920" y="237744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C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 ·  WORKED EXAMPLE — DATA SCIENTIST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43891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assumptions — replace these with your role’s data before reusing the math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10058400" y="365760"/>
            <a:ext cx="1673352" cy="310896"/>
          </a:xfrm>
          <a:prstGeom prst="roundRect">
            <a:avLst>
              <a:gd name="adj" fmla="val 50000"/>
            </a:avLst>
          </a:prstGeom>
          <a:solidFill>
            <a:srgbClr val="1F2A3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0058400" y="365760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02920" y="1060704"/>
            <a:ext cx="5486400" cy="5394960"/>
          </a:xfrm>
          <a:prstGeom prst="roundRect">
            <a:avLst>
              <a:gd name="adj" fmla="val 1017"/>
            </a:avLst>
          </a:prstGeom>
          <a:solidFill>
            <a:srgbClr val="EFF6F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40664" y="1225296"/>
            <a:ext cx="5010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B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 SIDE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40664" y="1609344"/>
            <a:ext cx="5010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base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40664" y="1810512"/>
            <a:ext cx="5010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data-scientist FTEs × $190K fully loaded = $38M/yr. The benefit is sized bottom-up from activities — never top-down from a benchmark percentage.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740664" y="2404872"/>
            <a:ext cx="5010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allocation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40664" y="2606040"/>
            <a:ext cx="5010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Anchored to industry surveys (Anaconda, Kaggle): data prep and cleaning consistently absorbs 30–45% of a data scientist’s week.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740664" y="3200400"/>
            <a:ext cx="5010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Addressability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740664" y="3401568"/>
            <a:ext cx="5010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Anchored to observed tool performance: 30–50% coding-assistant speedups, production-proven genAI reporting, near-zero for relationship work.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740664" y="3995928"/>
            <a:ext cx="5010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Haircut 1 — already covered today (−25%)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40664" y="4197096"/>
            <a:ext cx="5010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existing tools and automations already handle — learned through interviews and usage data — plus data-access and governance constraints.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740664" y="4791456"/>
            <a:ext cx="5010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Haircut 2 — capture (−35%)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40664" y="4992624"/>
            <a:ext cx="5010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adopt gradually (20–40% is typical unmanaged), and freed capacity is often reinvested in backlog rather than released.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740664" y="5586984"/>
            <a:ext cx="5010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Capturable ≠ cost-out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740664" y="5788152"/>
            <a:ext cx="5010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Capturable value is capacity — realized as hiring avoidance, throughput, or redeployment. Releasing vs reinvesting it is a leadership decision. Three activities are shown for clarity; a full sizing maps the whole week.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245352" y="1060704"/>
            <a:ext cx="5486400" cy="5394960"/>
          </a:xfrm>
          <a:prstGeom prst="roundRect">
            <a:avLst>
              <a:gd name="adj" fmla="val 1017"/>
            </a:avLst>
          </a:prstGeom>
          <a:solidFill>
            <a:srgbClr val="EFF1F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83096" y="1225296"/>
            <a:ext cx="5010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D4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SIDE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83096" y="1609344"/>
            <a:ext cx="5010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4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cost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6483096" y="1810512"/>
            <a:ext cx="5010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Blended fully-loaded ~$220K/yr (~$4,200 per FTE-week) across product, AI/ML engineering, data engineering, SME and change roles; phase costs = FTE-weeks × rate.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6483096" y="2404872"/>
            <a:ext cx="5010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4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483096" y="2606040"/>
            <a:ext cx="5010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≈32 weeks: Plan 4 · Build 10 · Pilot 6 · Deploy 12. Waves roll out easy datasets and teams first, building the reusable agentic backbone.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6483096" y="3200400"/>
            <a:ext cx="5010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4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modeled explicitly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6483096" y="3401568"/>
            <a:ext cx="5010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~$300K/yr in production (200 DS × ~$6.50/day blended × 230 days) plus $30K pre-production, inside the $280K platform line. The pilot measures real cost per workflow.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6483096" y="3995928"/>
            <a:ext cx="5010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4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management is funded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6483096" y="4197096"/>
            <a:ext cx="5010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$120K one-time, because unmanaged adoption benchmarks at 20–40% — the single biggest driver of the capture haircut.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6483096" y="4791456"/>
            <a:ext cx="5010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4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double counting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6483096" y="4992624"/>
            <a:ext cx="5010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build targets the data-prep pool only; adjacent capabilities added during deploy (documentation, feature prep) are credited to the wave-2 cases, not this one.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02920" y="6583680"/>
            <a:ext cx="1124712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02920" y="6638544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8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figures illustrative. The model is most sensitive to the baseline (headcount × loaded cost × time allocation) — validate that with Finance before the automation percentages.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 Transformation Program</dc:creator>
  <cp:lastModifiedBy>AI Transformation Program</cp:lastModifiedBy>
  <cp:revision>1</cp:revision>
  <dcterms:created xsi:type="dcterms:W3CDTF">2026-08-28T15:18:49Z</dcterms:created>
  <dcterms:modified xsi:type="dcterms:W3CDTF">2026-08-28T15:18:49Z</dcterms:modified>
</cp:coreProperties>
</file>