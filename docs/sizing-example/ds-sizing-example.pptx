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example: how to size an AI business case bottom-up. Left: cost base -&gt; map the week -&gt; haircut to capturable -&gt; prioritize. Right: what the first build costs, one-time and recurring. All numbers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assumptions behind every number on the worked example. Reuse the structure, not the numbers - replace each assumption with your own role's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  ·  HOW TO SIZE A BUSINESS CASE  ·  WORKED EXAMPLE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scientists: a $38M cost base yields </a:t>
            </a:r>
            <a:pPr indent="0" marL="0">
              <a:buNone/>
            </a:pPr>
            <a:r>
              <a:rPr lang="en-US" sz="2000" b="1" dirty="0">
                <a:solidFill>
                  <a:srgbClr val="C77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~$8.3M capturable</a:t>
            </a:r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a ~$1M build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" y="12070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1188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current cost base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1481328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$38.0M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(e.g., 200 data-scientist FTEs × $190K fully loaded)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502920" y="2139696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" y="21396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" y="21214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week — how much of each activity can AI address?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" y="23774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= share of the week  ·  dark fill = what AI can address today  ·  $ = that pool per year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" y="263347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715768" y="2688336"/>
            <a:ext cx="2286000" cy="201168"/>
          </a:xfrm>
          <a:prstGeom prst="rect">
            <a:avLst/>
          </a:prstGeom>
          <a:solidFill>
            <a:srgbClr val="BFE0D8"/>
          </a:solidFill>
          <a:ln/>
        </p:spPr>
      </p:sp>
      <p:sp>
        <p:nvSpPr>
          <p:cNvPr id="17" name="Shape 14"/>
          <p:cNvSpPr/>
          <p:nvPr/>
        </p:nvSpPr>
        <p:spPr>
          <a:xfrm>
            <a:off x="2715768" y="2688336"/>
            <a:ext cx="1371600" cy="201168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11496" y="26334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$6.8M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" y="305409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2715768" y="3108960"/>
            <a:ext cx="1143000" cy="201168"/>
          </a:xfrm>
          <a:prstGeom prst="rect">
            <a:avLst/>
          </a:prstGeom>
          <a:solidFill>
            <a:srgbClr val="EFD9B8"/>
          </a:solidFill>
          <a:ln/>
        </p:spPr>
      </p:sp>
      <p:sp>
        <p:nvSpPr>
          <p:cNvPr id="21" name="Shape 18"/>
          <p:cNvSpPr/>
          <p:nvPr/>
        </p:nvSpPr>
        <p:spPr>
          <a:xfrm>
            <a:off x="2715768" y="3108960"/>
            <a:ext cx="457200" cy="201168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68496" y="30540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$2.3M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" y="3474720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715768" y="3529584"/>
            <a:ext cx="914400" cy="201168"/>
          </a:xfrm>
          <a:prstGeom prst="rect">
            <a:avLst/>
          </a:prstGeom>
          <a:solidFill>
            <a:srgbClr val="EBD3D6"/>
          </a:solidFill>
          <a:ln/>
        </p:spPr>
      </p:sp>
      <p:sp>
        <p:nvSpPr>
          <p:cNvPr id="25" name="Shape 22"/>
          <p:cNvSpPr/>
          <p:nvPr/>
        </p:nvSpPr>
        <p:spPr>
          <a:xfrm>
            <a:off x="2715768" y="3529584"/>
            <a:ext cx="91440" cy="201168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739896" y="34747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$0.5M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13816" y="39136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…plus model build, reporting and ad-hoc work — all six pools together: $17M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02920" y="4187952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2920" y="4187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41696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it to what you can actually capture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4443984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 activity pools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715768" y="4485132"/>
            <a:ext cx="2286000" cy="164592"/>
          </a:xfrm>
          <a:prstGeom prst="rect">
            <a:avLst/>
          </a:prstGeom>
          <a:solidFill>
            <a:srgbClr val="12968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093208" y="444398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$17.0M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1527048" y="4700016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you already cover some of this today — tools in place, learned via interviews  (−25%)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13816" y="488289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Truly new opportunity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2715768" y="4924044"/>
            <a:ext cx="1721224" cy="164592"/>
          </a:xfrm>
          <a:prstGeom prst="rect">
            <a:avLst/>
          </a:prstGeom>
          <a:solidFill>
            <a:srgbClr val="12968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528432" y="488289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$12.8M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1527048" y="51389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not everything gets captured — people adopt gradually, freed time is reinvested  (−35%)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813816" y="532180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2715768" y="5362956"/>
            <a:ext cx="1116106" cy="164592"/>
          </a:xfrm>
          <a:prstGeom prst="rect">
            <a:avLst/>
          </a:prstGeom>
          <a:solidFill>
            <a:srgbClr val="C77414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923314" y="53218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$8.3M  (≈22% of cost base)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02920" y="5724144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502920" y="5724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13816" y="5705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by size × ease — go easy-first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832104" y="596188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069848" y="59618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$6.8M pool — the agentic backbone starts here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832104" y="619048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1069848" y="61904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documentation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$3.4M pool — fast follow on the backbone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32104" y="641908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1069848" y="64190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build &amp; experiments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$2.7M pool — wave 2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6446520" y="1188720"/>
            <a:ext cx="5257800" cy="5541264"/>
          </a:xfrm>
          <a:prstGeom prst="roundRect">
            <a:avLst>
              <a:gd name="adj" fmla="val 1217"/>
            </a:avLst>
          </a:prstGeom>
          <a:solidFill>
            <a:srgbClr val="EFF1FA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739128" y="1426464"/>
            <a:ext cx="4672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THE INVESTMENT</a:t>
            </a:r>
            <a:endParaRPr lang="en-US" sz="1250" dirty="0"/>
          </a:p>
        </p:txBody>
      </p:sp>
      <p:sp>
        <p:nvSpPr>
          <p:cNvPr id="53" name="Text 50"/>
          <p:cNvSpPr txBox="1"/>
          <p:nvPr/>
        </p:nvSpPr>
        <p:spPr>
          <a:xfrm>
            <a:off x="6739128" y="1682496"/>
            <a:ext cx="4672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e.g., build a Data Prep Agent to go after opportunity No. 1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739128" y="2139696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TEST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$0.95M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one-time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6739128" y="2670048"/>
            <a:ext cx="570357" cy="384048"/>
          </a:xfrm>
          <a:prstGeom prst="rect">
            <a:avLst/>
          </a:prstGeom>
          <a:solidFill>
            <a:srgbClr val="8E9AE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6739128" y="2706624"/>
            <a:ext cx="5703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6739128" y="2862072"/>
            <a:ext cx="57035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wks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7346061" y="2670048"/>
            <a:ext cx="1425893" cy="384048"/>
          </a:xfrm>
          <a:prstGeom prst="rect">
            <a:avLst/>
          </a:prstGeom>
          <a:solidFill>
            <a:srgbClr val="7583E4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7346061" y="2706624"/>
            <a:ext cx="142589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850" dirty="0"/>
          </a:p>
        </p:txBody>
      </p:sp>
      <p:sp>
        <p:nvSpPr>
          <p:cNvPr id="60" name="Text 57"/>
          <p:cNvSpPr txBox="1"/>
          <p:nvPr/>
        </p:nvSpPr>
        <p:spPr>
          <a:xfrm>
            <a:off x="7346061" y="2862072"/>
            <a:ext cx="142589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wks</a:t>
            </a:r>
            <a:endParaRPr lang="en-US" sz="800" dirty="0"/>
          </a:p>
        </p:txBody>
      </p:sp>
      <p:sp>
        <p:nvSpPr>
          <p:cNvPr id="61" name="Shape 58"/>
          <p:cNvSpPr/>
          <p:nvPr/>
        </p:nvSpPr>
        <p:spPr>
          <a:xfrm>
            <a:off x="8808530" y="2670048"/>
            <a:ext cx="855536" cy="384048"/>
          </a:xfrm>
          <a:prstGeom prst="rect">
            <a:avLst/>
          </a:prstGeom>
          <a:solidFill>
            <a:srgbClr val="5A6BE0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8808530" y="2706624"/>
            <a:ext cx="855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8808530" y="2862072"/>
            <a:ext cx="855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wks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9700641" y="2670048"/>
            <a:ext cx="1711071" cy="384048"/>
          </a:xfrm>
          <a:prstGeom prst="rect">
            <a:avLst/>
          </a:prstGeom>
          <a:solidFill>
            <a:srgbClr val="3D4BB5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700641" y="2706624"/>
            <a:ext cx="1711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9700641" y="2862072"/>
            <a:ext cx="17110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wks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6739128" y="3163824"/>
            <a:ext cx="4672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~4-person team — product, AI engineers, data engineering, a DS expert — for ~7½ months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6739128" y="349300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team</a:t>
            </a:r>
            <a:endParaRPr lang="en-US" sz="1100" dirty="0"/>
          </a:p>
        </p:txBody>
      </p:sp>
      <p:sp>
        <p:nvSpPr>
          <p:cNvPr id="69" name="Text 66"/>
          <p:cNvSpPr txBox="1"/>
          <p:nvPr/>
        </p:nvSpPr>
        <p:spPr>
          <a:xfrm>
            <a:off x="10634472" y="34930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$550K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6739128" y="376732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Platform, integration &amp; pilot tokens</a:t>
            </a:r>
            <a:endParaRPr lang="en-US" sz="1100" dirty="0"/>
          </a:p>
        </p:txBody>
      </p:sp>
      <p:sp>
        <p:nvSpPr>
          <p:cNvPr id="71" name="Text 68"/>
          <p:cNvSpPr txBox="1"/>
          <p:nvPr/>
        </p:nvSpPr>
        <p:spPr>
          <a:xfrm>
            <a:off x="10634472" y="376732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$280K</a:t>
            </a:r>
            <a:endParaRPr lang="en-US" sz="1100" dirty="0"/>
          </a:p>
        </p:txBody>
      </p:sp>
      <p:sp>
        <p:nvSpPr>
          <p:cNvPr id="72" name="Text 69"/>
          <p:cNvSpPr txBox="1"/>
          <p:nvPr/>
        </p:nvSpPr>
        <p:spPr>
          <a:xfrm>
            <a:off x="6739128" y="404164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&amp; training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10634472" y="40416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74" name="Shape 71"/>
          <p:cNvSpPr/>
          <p:nvPr/>
        </p:nvSpPr>
        <p:spPr>
          <a:xfrm>
            <a:off x="6739128" y="4480560"/>
            <a:ext cx="4672584" cy="0"/>
          </a:xfrm>
          <a:prstGeom prst="line">
            <a:avLst/>
          </a:prstGeom>
          <a:noFill/>
          <a:ln w="12700">
            <a:solidFill>
              <a:srgbClr val="C9CFEA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6739128" y="466344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$585K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 year</a:t>
            </a:r>
            <a:endParaRPr lang="en-US" sz="1100" dirty="0"/>
          </a:p>
        </p:txBody>
      </p:sp>
      <p:sp>
        <p:nvSpPr>
          <p:cNvPr id="76" name="Text 73"/>
          <p:cNvSpPr txBox="1"/>
          <p:nvPr/>
        </p:nvSpPr>
        <p:spPr>
          <a:xfrm>
            <a:off x="6739128" y="517550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&amp; token consumption</a:t>
            </a:r>
            <a:endParaRPr lang="en-US" sz="1100" dirty="0"/>
          </a:p>
        </p:txBody>
      </p:sp>
      <p:sp>
        <p:nvSpPr>
          <p:cNvPr id="77" name="Text 74"/>
          <p:cNvSpPr txBox="1"/>
          <p:nvPr/>
        </p:nvSpPr>
        <p:spPr>
          <a:xfrm>
            <a:off x="10634472" y="517550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$300K</a:t>
            </a:r>
            <a:endParaRPr lang="en-US" sz="1100" dirty="0"/>
          </a:p>
        </p:txBody>
      </p:sp>
      <p:sp>
        <p:nvSpPr>
          <p:cNvPr id="78" name="Text 75"/>
          <p:cNvSpPr txBox="1"/>
          <p:nvPr/>
        </p:nvSpPr>
        <p:spPr>
          <a:xfrm>
            <a:off x="6739128" y="544982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&amp; tooling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10634472" y="544982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80" name="Text 77"/>
          <p:cNvSpPr txBox="1"/>
          <p:nvPr/>
        </p:nvSpPr>
        <p:spPr>
          <a:xfrm>
            <a:off x="6739128" y="572414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team (~0.75 FTE)</a:t>
            </a:r>
            <a:endParaRPr lang="en-US" sz="1100" dirty="0"/>
          </a:p>
        </p:txBody>
      </p:sp>
      <p:sp>
        <p:nvSpPr>
          <p:cNvPr id="81" name="Text 78"/>
          <p:cNvSpPr txBox="1"/>
          <p:nvPr/>
        </p:nvSpPr>
        <p:spPr>
          <a:xfrm>
            <a:off x="10634472" y="572414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$165K</a:t>
            </a:r>
            <a:endParaRPr lang="en-US" sz="1100" dirty="0"/>
          </a:p>
        </p:txBody>
      </p:sp>
      <p:sp>
        <p:nvSpPr>
          <p:cNvPr id="82" name="Text 79"/>
          <p:cNvSpPr txBox="1"/>
          <p:nvPr/>
        </p:nvSpPr>
        <p:spPr>
          <a:xfrm>
            <a:off x="6739128" y="6071616"/>
            <a:ext cx="4672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sized explicitly (~200 users × ~$6.50/day × 230 days) — the line business cases forget</a:t>
            </a:r>
            <a:endParaRPr lang="en-US" sz="950" dirty="0"/>
          </a:p>
        </p:txBody>
      </p:sp>
      <p:sp>
        <p:nvSpPr>
          <p:cNvPr id="83" name="Text 80"/>
          <p:cNvSpPr txBox="1"/>
          <p:nvPr/>
        </p:nvSpPr>
        <p:spPr>
          <a:xfrm>
            <a:off x="502920" y="6675120"/>
            <a:ext cx="11247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a walkthrough of the method, not a plan of record. Detailed assumptions: backup slide.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 ·  WORKED EXAMPLE — DATA SCIENTIST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 — replace these with your role’s data before reusing the math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6F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0664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 SIDE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40664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base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data-scientist FTEs × $190K fully loaded = $38M/yr. The benefit is sized bottom-up from activities — never top-down from a benchmark percentage.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40664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allocation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40664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industry surveys (Anaconda, Kaggle): data prep and cleaning consistently absorbs 30–45% of a data scientist’s week.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Addressability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observed tool performance: 30–50% coding-assistant speedups, production-proven genAI reporting, near-zero for relationship work.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40664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1 — already covered today (−25%)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existing tools and automations already handle — learned through interviews and usage data — plus data-access and governance constraints.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2 — capture (−35%)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adopt gradually (20–40% is typical unmanaged), and freed capacity is often reinvested in backlog rather than released.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" y="558698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≠ cost-out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" y="578815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$8.3M (~22% of cost base) is capacity — realized as hiring avoidance, throughput, or redeployment. Releasing vs reinvesting it is a leadership decision.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245352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1F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83096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SIDE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83096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cost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fully-loaded ~$220K/yr (~$4,200 per FTE-week) across product, AI/ML engineering, data engineering, SME and change roles; phase costs = FTE-weeks × rate.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483096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83096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≈32 weeks: Plan 4 · Build 10 · Pilot 6 · Deploy 12. Waves roll out easy datasets and teams first, building the reusable agentic backbone.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483096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modeled explicitly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83096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 in production (200 DS × ~$6.50/day blended × 230 days) plus $30K pre-production, inside the $280K platform line. The pilot measures real cost per workflow.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is funded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83096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 one-time, because unmanaged adoption benchmarks at 20–40% — the single biggest driver of the capture haircut.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6483096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double counting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483096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build targets the data-prep pool only; adjacent capabilities added during deploy (documentation, feature prep) are credited to the wave-2 cases, not this one.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6583680"/>
            <a:ext cx="1124712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6638544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illustrative. The model is most sensitive to the baseline (headcount × loaded cost × time allocation) — validate that with Finance before the automation percentages.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Transformation Program</dc:creator>
  <cp:lastModifiedBy>AI Transformation Program</cp:lastModifiedBy>
  <cp:revision>1</cp:revision>
  <dcterms:created xsi:type="dcterms:W3CDTF">2026-08-28T07:37:38Z</dcterms:created>
  <dcterms:modified xsi:type="dcterms:W3CDTF">2026-08-28T07:37:38Z</dcterms:modified>
</cp:coreProperties>
</file>