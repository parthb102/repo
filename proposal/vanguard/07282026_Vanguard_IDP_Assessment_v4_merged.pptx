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1.svg" ContentType="image/svg+xml"/>
  <Override PartName="/ppt/media/image12.svg" ContentType="image/svg+xml"/>
  <Override PartName="/ppt/media/image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  <p:sldMasterId id="2147483864" r:id="rId5"/>
  </p:sldMasterIdLst>
  <p:notesMasterIdLst>
    <p:notesMasterId r:id="rId16"/>
  </p:notesMasterIdLst>
  <p:handoutMasterIdLst>
    <p:handoutMasterId r:id="rId17"/>
  </p:handoutMasterIdLst>
  <p:sldIdLst>
    <p:sldId id="256" r:id="rId6"/>
    <p:sldId id="330" r:id="rId7"/>
    <p:sldId id="2147478952" r:id="rId8"/>
    <p:sldId id="2147478953" r:id="rId9"/>
    <p:sldId id="2147478954" r:id="rId10"/>
    <p:sldId id="2147478951" r:id="rId11"/>
    <p:sldId id="2147481970" r:id="rId13"/>
    <p:sldId id="2147481310" r:id="rId14"/>
    <p:sldId id="2147481316" r:id="rId15"/>
  </p:sldIdLst>
  <p:sldSz cx="12192000" cy="6858000"/>
  <p:notesSz cx="7102475" cy="9388475"/>
  <p:embeddedFontLst>
    <p:embeddedFont>
      <p:font typeface="Georgia" panose="02040502050405020303" pitchFamily="18" charset="0"/>
      <p:regular r:id="rId18"/>
      <p:bold r:id="rId19"/>
      <p:italic r:id="rId20"/>
      <p:boldItalic r:id="rId21"/>
    </p:embeddedFont>
    <p:embeddedFont>
      <p:font typeface="Segoe UI" panose="020B0502040204020203" pitchFamily="34" charset="0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57" autoAdjust="0"/>
  </p:normalViewPr>
  <p:slideViewPr>
    <p:cSldViewPr snapToGrid="0" snapToObjects="1">
      <p:cViewPr varScale="1">
        <p:scale>
          <a:sx n="92" d="100"/>
          <a:sy n="92" d="100"/>
        </p:scale>
        <p:origin x="21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tags" Target="tags/tag1.xml"/><Relationship Id="rId27" Type="http://schemas.openxmlformats.org/officeDocument/2006/relationships/commentAuthors" Target="commentAuthor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28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28 July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28 July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06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4BD26-F09E-CC29-D538-88E63D561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4FBB5-185A-7199-D8D2-F3F111115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04C87-9573-D54D-2CBE-5AC80A7CB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67802-54AD-9502-7B22-EB00F4D000E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39CCC-3228-A93E-E5D7-3DA4E2F6D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59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D4758-997E-4F16-97F0-F9BB80987DF2}" type="slidenum">
              <a:rPr lang="en-AU" smtClean="0"/>
              <a:pPr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702088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Relationship Id="rId9" Type="http://schemas.openxmlformats.org/officeDocument/2006/relationships/tags" Target="../tags/tag31.xml"/><Relationship Id="rId10" Type="http://schemas.openxmlformats.org/officeDocument/2006/relationships/slideMaster" Target="../slideMasters/slideMaster1.xml"/><Relationship Id="rId11" Type="http://schemas.openxmlformats.org/officeDocument/2006/relationships/image" Target="../media/image3.jpg"/><Relationship Id="rId12" Type="http://schemas.openxmlformats.org/officeDocument/2006/relationships/image" Target="../media/image4.png"/><Relationship Id="rId13" Type="http://schemas.openxmlformats.org/officeDocument/2006/relationships/oleObject" Target="../embeddings/oleObject2.bin"/><Relationship Id="rId14" Type="http://schemas.openxmlformats.org/officeDocument/2006/relationships/image" Target="../media/image5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3.bin"/><Relationship Id="rId10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6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5.bin"/><Relationship Id="rId10" Type="http://schemas.openxmlformats.org/officeDocument/2006/relationships/image" Target="../media/image6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tags" Target="../tags/tag64.xml"/><Relationship Id="rId6" Type="http://schemas.openxmlformats.org/officeDocument/2006/relationships/tags" Target="../tags/tag65.xml"/><Relationship Id="rId7" Type="http://schemas.openxmlformats.org/officeDocument/2006/relationships/tags" Target="../tags/tag66.xml"/><Relationship Id="rId8" Type="http://schemas.openxmlformats.org/officeDocument/2006/relationships/tags" Target="../tags/tag67.xml"/><Relationship Id="rId9" Type="http://schemas.openxmlformats.org/officeDocument/2006/relationships/tags" Target="../tags/tag68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6.bin"/><Relationship Id="rId1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tags" Target="../tags/tag77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7.bin"/><Relationship Id="rId12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tags" Target="../tags/tag80.xml"/><Relationship Id="rId4" Type="http://schemas.openxmlformats.org/officeDocument/2006/relationships/tags" Target="../tags/tag81.xml"/><Relationship Id="rId5" Type="http://schemas.openxmlformats.org/officeDocument/2006/relationships/tags" Target="../tags/tag82.xml"/><Relationship Id="rId6" Type="http://schemas.openxmlformats.org/officeDocument/2006/relationships/tags" Target="../tags/tag83.xml"/><Relationship Id="rId7" Type="http://schemas.openxmlformats.org/officeDocument/2006/relationships/tags" Target="../tags/tag84.xml"/><Relationship Id="rId8" Type="http://schemas.openxmlformats.org/officeDocument/2006/relationships/tags" Target="../tags/tag85.xml"/><Relationship Id="rId9" Type="http://schemas.openxmlformats.org/officeDocument/2006/relationships/tags" Target="../tags/tag86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tags" Target="../tags/tag88.xml"/><Relationship Id="rId3" Type="http://schemas.openxmlformats.org/officeDocument/2006/relationships/tags" Target="../tags/tag89.xml"/><Relationship Id="rId4" Type="http://schemas.openxmlformats.org/officeDocument/2006/relationships/tags" Target="../tags/tag90.xml"/><Relationship Id="rId5" Type="http://schemas.openxmlformats.org/officeDocument/2006/relationships/tags" Target="../tags/tag91.xml"/><Relationship Id="rId6" Type="http://schemas.openxmlformats.org/officeDocument/2006/relationships/tags" Target="../tags/tag92.xml"/><Relationship Id="rId7" Type="http://schemas.openxmlformats.org/officeDocument/2006/relationships/tags" Target="../tags/tag93.xml"/><Relationship Id="rId8" Type="http://schemas.openxmlformats.org/officeDocument/2006/relationships/tags" Target="../tags/tag94.xml"/><Relationship Id="rId9" Type="http://schemas.openxmlformats.org/officeDocument/2006/relationships/tags" Target="../tags/tag95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9.bin"/><Relationship Id="rId12" Type="http://schemas.openxmlformats.org/officeDocument/2006/relationships/image" Target="../media/image7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96.xml"/><Relationship Id="rId2" Type="http://schemas.openxmlformats.org/officeDocument/2006/relationships/tags" Target="../tags/tag97.xml"/><Relationship Id="rId3" Type="http://schemas.openxmlformats.org/officeDocument/2006/relationships/tags" Target="../tags/tag98.xml"/><Relationship Id="rId4" Type="http://schemas.openxmlformats.org/officeDocument/2006/relationships/tags" Target="../tags/tag99.xml"/><Relationship Id="rId5" Type="http://schemas.openxmlformats.org/officeDocument/2006/relationships/tags" Target="../tags/tag100.xml"/><Relationship Id="rId6" Type="http://schemas.openxmlformats.org/officeDocument/2006/relationships/tags" Target="../tags/tag101.xml"/><Relationship Id="rId7" Type="http://schemas.openxmlformats.org/officeDocument/2006/relationships/tags" Target="../tags/tag102.xml"/><Relationship Id="rId8" Type="http://schemas.openxmlformats.org/officeDocument/2006/relationships/tags" Target="../tags/tag103.xml"/><Relationship Id="rId9" Type="http://schemas.openxmlformats.org/officeDocument/2006/relationships/tags" Target="../tags/tag104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14.xml"/><Relationship Id="rId2" Type="http://schemas.openxmlformats.org/officeDocument/2006/relationships/tags" Target="../tags/tag115.xml"/><Relationship Id="rId3" Type="http://schemas.openxmlformats.org/officeDocument/2006/relationships/tags" Target="../tags/tag116.xml"/><Relationship Id="rId4" Type="http://schemas.openxmlformats.org/officeDocument/2006/relationships/tags" Target="../tags/tag11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3.jpg"/><Relationship Id="rId7" Type="http://schemas.openxmlformats.org/officeDocument/2006/relationships/oleObject" Target="../embeddings/oleObject10.bin"/><Relationship Id="rId8" Type="http://schemas.openxmlformats.org/officeDocument/2006/relationships/image" Target="../media/image5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18.xml"/><Relationship Id="rId2" Type="http://schemas.openxmlformats.org/officeDocument/2006/relationships/tags" Target="../tags/tag119.xml"/><Relationship Id="rId3" Type="http://schemas.openxmlformats.org/officeDocument/2006/relationships/tags" Target="../tags/tag120.xml"/><Relationship Id="rId4" Type="http://schemas.openxmlformats.org/officeDocument/2006/relationships/tags" Target="../tags/tag121.xml"/><Relationship Id="rId5" Type="http://schemas.openxmlformats.org/officeDocument/2006/relationships/tags" Target="../tags/tag122.xml"/><Relationship Id="rId6" Type="http://schemas.openxmlformats.org/officeDocument/2006/relationships/tags" Target="../tags/tag123.xml"/><Relationship Id="rId7" Type="http://schemas.openxmlformats.org/officeDocument/2006/relationships/tags" Target="../tags/tag124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11.bin"/><Relationship Id="rId10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25.xml"/><Relationship Id="rId2" Type="http://schemas.openxmlformats.org/officeDocument/2006/relationships/tags" Target="../tags/tag126.xml"/><Relationship Id="rId3" Type="http://schemas.openxmlformats.org/officeDocument/2006/relationships/tags" Target="../tags/tag127.xml"/><Relationship Id="rId4" Type="http://schemas.openxmlformats.org/officeDocument/2006/relationships/tags" Target="../tags/tag128.xml"/><Relationship Id="rId5" Type="http://schemas.openxmlformats.org/officeDocument/2006/relationships/tags" Target="../tags/tag129.xml"/><Relationship Id="rId6" Type="http://schemas.openxmlformats.org/officeDocument/2006/relationships/tags" Target="../tags/tag130.xml"/><Relationship Id="rId7" Type="http://schemas.openxmlformats.org/officeDocument/2006/relationships/tags" Target="../tags/tag131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3.bin"/><Relationship Id="rId10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32.xml"/><Relationship Id="rId2" Type="http://schemas.openxmlformats.org/officeDocument/2006/relationships/tags" Target="../tags/tag133.xml"/><Relationship Id="rId3" Type="http://schemas.openxmlformats.org/officeDocument/2006/relationships/tags" Target="../tags/tag134.xml"/><Relationship Id="rId4" Type="http://schemas.openxmlformats.org/officeDocument/2006/relationships/tags" Target="../tags/tag135.xml"/><Relationship Id="rId5" Type="http://schemas.openxmlformats.org/officeDocument/2006/relationships/tags" Target="../tags/tag136.xml"/><Relationship Id="rId6" Type="http://schemas.openxmlformats.org/officeDocument/2006/relationships/tags" Target="../tags/tag137.xml"/><Relationship Id="rId7" Type="http://schemas.openxmlformats.org/officeDocument/2006/relationships/tags" Target="../tags/tag138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12.bin"/><Relationship Id="rId10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60.xml"/><Relationship Id="rId2" Type="http://schemas.openxmlformats.org/officeDocument/2006/relationships/tags" Target="../tags/tag161.xml"/><Relationship Id="rId3" Type="http://schemas.openxmlformats.org/officeDocument/2006/relationships/tags" Target="../tags/tag162.xml"/><Relationship Id="rId4" Type="http://schemas.openxmlformats.org/officeDocument/2006/relationships/tags" Target="../tags/tag163.xml"/><Relationship Id="rId5" Type="http://schemas.openxmlformats.org/officeDocument/2006/relationships/tags" Target="../tags/tag164.xml"/><Relationship Id="rId6" Type="http://schemas.openxmlformats.org/officeDocument/2006/relationships/tags" Target="../tags/tag165.xml"/><Relationship Id="rId7" Type="http://schemas.openxmlformats.org/officeDocument/2006/relationships/tags" Target="../tags/tag166.xml"/><Relationship Id="rId8" Type="http://schemas.openxmlformats.org/officeDocument/2006/relationships/tags" Target="../tags/tag167.xml"/><Relationship Id="rId9" Type="http://schemas.openxmlformats.org/officeDocument/2006/relationships/tags" Target="../tags/tag168.xml"/><Relationship Id="rId10" Type="http://schemas.openxmlformats.org/officeDocument/2006/relationships/slideMaster" Target="../slideMasters/slideMaster2.xml"/><Relationship Id="rId11" Type="http://schemas.openxmlformats.org/officeDocument/2006/relationships/image" Target="../media/image3.jpg"/><Relationship Id="rId12" Type="http://schemas.openxmlformats.org/officeDocument/2006/relationships/image" Target="../media/image4.png"/><Relationship Id="rId13" Type="http://schemas.openxmlformats.org/officeDocument/2006/relationships/oleObject" Target="../embeddings/oleObject14.bin"/><Relationship Id="rId14" Type="http://schemas.openxmlformats.org/officeDocument/2006/relationships/image" Target="../media/image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69.xml"/><Relationship Id="rId2" Type="http://schemas.openxmlformats.org/officeDocument/2006/relationships/tags" Target="../tags/tag170.xml"/><Relationship Id="rId3" Type="http://schemas.openxmlformats.org/officeDocument/2006/relationships/tags" Target="../tags/tag171.xml"/><Relationship Id="rId4" Type="http://schemas.openxmlformats.org/officeDocument/2006/relationships/tags" Target="../tags/tag172.xml"/><Relationship Id="rId5" Type="http://schemas.openxmlformats.org/officeDocument/2006/relationships/tags" Target="../tags/tag173.xml"/><Relationship Id="rId6" Type="http://schemas.openxmlformats.org/officeDocument/2006/relationships/tags" Target="../tags/tag174.xml"/><Relationship Id="rId7" Type="http://schemas.openxmlformats.org/officeDocument/2006/relationships/tags" Target="../tags/tag175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5.bin"/><Relationship Id="rId10" Type="http://schemas.openxmlformats.org/officeDocument/2006/relationships/image" Target="../media/image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176.xml"/><Relationship Id="rId2" Type="http://schemas.openxmlformats.org/officeDocument/2006/relationships/tags" Target="../tags/tag177.xml"/><Relationship Id="rId3" Type="http://schemas.openxmlformats.org/officeDocument/2006/relationships/tags" Target="../tags/tag178.xml"/><Relationship Id="rId4" Type="http://schemas.openxmlformats.org/officeDocument/2006/relationships/tags" Target="../tags/tag179.xml"/><Relationship Id="rId5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180.xml"/><Relationship Id="rId2" Type="http://schemas.openxmlformats.org/officeDocument/2006/relationships/tags" Target="../tags/tag181.xml"/><Relationship Id="rId3" Type="http://schemas.openxmlformats.org/officeDocument/2006/relationships/tags" Target="../tags/tag182.xml"/><Relationship Id="rId4" Type="http://schemas.openxmlformats.org/officeDocument/2006/relationships/tags" Target="../tags/tag183.xml"/><Relationship Id="rId5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84.xml"/><Relationship Id="rId2" Type="http://schemas.openxmlformats.org/officeDocument/2006/relationships/tags" Target="../tags/tag185.xml"/><Relationship Id="rId3" Type="http://schemas.openxmlformats.org/officeDocument/2006/relationships/tags" Target="../tags/tag186.xml"/><Relationship Id="rId4" Type="http://schemas.openxmlformats.org/officeDocument/2006/relationships/tags" Target="../tags/tag187.xml"/><Relationship Id="rId5" Type="http://schemas.openxmlformats.org/officeDocument/2006/relationships/tags" Target="../tags/tag188.xml"/><Relationship Id="rId6" Type="http://schemas.openxmlformats.org/officeDocument/2006/relationships/tags" Target="../tags/tag189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16.bin"/><Relationship Id="rId9" Type="http://schemas.openxmlformats.org/officeDocument/2006/relationships/image" Target="../media/image6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190.xml"/><Relationship Id="rId2" Type="http://schemas.openxmlformats.org/officeDocument/2006/relationships/tags" Target="../tags/tag191.xml"/><Relationship Id="rId3" Type="http://schemas.openxmlformats.org/officeDocument/2006/relationships/tags" Target="../tags/tag192.xml"/><Relationship Id="rId4" Type="http://schemas.openxmlformats.org/officeDocument/2006/relationships/tags" Target="../tags/tag193.xml"/><Relationship Id="rId5" Type="http://schemas.openxmlformats.org/officeDocument/2006/relationships/tags" Target="../tags/tag194.xml"/><Relationship Id="rId6" Type="http://schemas.openxmlformats.org/officeDocument/2006/relationships/tags" Target="../tags/tag195.xml"/><Relationship Id="rId7" Type="http://schemas.openxmlformats.org/officeDocument/2006/relationships/tags" Target="../tags/tag196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7.bin"/><Relationship Id="rId10" Type="http://schemas.openxmlformats.org/officeDocument/2006/relationships/image" Target="../media/image6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197.xml"/><Relationship Id="rId2" Type="http://schemas.openxmlformats.org/officeDocument/2006/relationships/tags" Target="../tags/tag198.xml"/><Relationship Id="rId3" Type="http://schemas.openxmlformats.org/officeDocument/2006/relationships/tags" Target="../tags/tag199.xml"/><Relationship Id="rId4" Type="http://schemas.openxmlformats.org/officeDocument/2006/relationships/tags" Target="../tags/tag200.xml"/><Relationship Id="rId5" Type="http://schemas.openxmlformats.org/officeDocument/2006/relationships/tags" Target="../tags/tag201.xml"/><Relationship Id="rId6" Type="http://schemas.openxmlformats.org/officeDocument/2006/relationships/tags" Target="../tags/tag202.xml"/><Relationship Id="rId7" Type="http://schemas.openxmlformats.org/officeDocument/2006/relationships/tags" Target="../tags/tag203.xml"/><Relationship Id="rId8" Type="http://schemas.openxmlformats.org/officeDocument/2006/relationships/tags" Target="../tags/tag204.xml"/><Relationship Id="rId9" Type="http://schemas.openxmlformats.org/officeDocument/2006/relationships/tags" Target="../tags/tag205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8.bin"/><Relationship Id="rId12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06.xml"/><Relationship Id="rId2" Type="http://schemas.openxmlformats.org/officeDocument/2006/relationships/tags" Target="../tags/tag207.xml"/><Relationship Id="rId3" Type="http://schemas.openxmlformats.org/officeDocument/2006/relationships/tags" Target="../tags/tag208.xml"/><Relationship Id="rId4" Type="http://schemas.openxmlformats.org/officeDocument/2006/relationships/tags" Target="../tags/tag209.xml"/><Relationship Id="rId5" Type="http://schemas.openxmlformats.org/officeDocument/2006/relationships/tags" Target="../tags/tag210.xml"/><Relationship Id="rId6" Type="http://schemas.openxmlformats.org/officeDocument/2006/relationships/tags" Target="../tags/tag211.xml"/><Relationship Id="rId7" Type="http://schemas.openxmlformats.org/officeDocument/2006/relationships/tags" Target="../tags/tag212.xml"/><Relationship Id="rId8" Type="http://schemas.openxmlformats.org/officeDocument/2006/relationships/tags" Target="../tags/tag213.xml"/><Relationship Id="rId9" Type="http://schemas.openxmlformats.org/officeDocument/2006/relationships/tags" Target="../tags/tag214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9.bin"/><Relationship Id="rId12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15.xml"/><Relationship Id="rId2" Type="http://schemas.openxmlformats.org/officeDocument/2006/relationships/tags" Target="../tags/tag216.xml"/><Relationship Id="rId3" Type="http://schemas.openxmlformats.org/officeDocument/2006/relationships/tags" Target="../tags/tag217.xml"/><Relationship Id="rId4" Type="http://schemas.openxmlformats.org/officeDocument/2006/relationships/tags" Target="../tags/tag218.xml"/><Relationship Id="rId5" Type="http://schemas.openxmlformats.org/officeDocument/2006/relationships/tags" Target="../tags/tag219.xml"/><Relationship Id="rId6" Type="http://schemas.openxmlformats.org/officeDocument/2006/relationships/tags" Target="../tags/tag220.xml"/><Relationship Id="rId7" Type="http://schemas.openxmlformats.org/officeDocument/2006/relationships/tags" Target="../tags/tag221.xml"/><Relationship Id="rId8" Type="http://schemas.openxmlformats.org/officeDocument/2006/relationships/tags" Target="../tags/tag222.xml"/><Relationship Id="rId9" Type="http://schemas.openxmlformats.org/officeDocument/2006/relationships/tags" Target="../tags/tag22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0.bin"/><Relationship Id="rId12" Type="http://schemas.openxmlformats.org/officeDocument/2006/relationships/image" Target="../media/image9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24.xml"/><Relationship Id="rId2" Type="http://schemas.openxmlformats.org/officeDocument/2006/relationships/tags" Target="../tags/tag225.xml"/><Relationship Id="rId3" Type="http://schemas.openxmlformats.org/officeDocument/2006/relationships/tags" Target="../tags/tag226.xml"/><Relationship Id="rId4" Type="http://schemas.openxmlformats.org/officeDocument/2006/relationships/tags" Target="../tags/tag227.xml"/><Relationship Id="rId5" Type="http://schemas.openxmlformats.org/officeDocument/2006/relationships/tags" Target="../tags/tag228.xml"/><Relationship Id="rId6" Type="http://schemas.openxmlformats.org/officeDocument/2006/relationships/tags" Target="../tags/tag229.xml"/><Relationship Id="rId7" Type="http://schemas.openxmlformats.org/officeDocument/2006/relationships/tags" Target="../tags/tag230.xml"/><Relationship Id="rId8" Type="http://schemas.openxmlformats.org/officeDocument/2006/relationships/tags" Target="../tags/tag231.xml"/><Relationship Id="rId9" Type="http://schemas.openxmlformats.org/officeDocument/2006/relationships/tags" Target="../tags/tag232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1.bin"/><Relationship Id="rId12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233.xml"/><Relationship Id="rId2" Type="http://schemas.openxmlformats.org/officeDocument/2006/relationships/tags" Target="../tags/tag234.xml"/><Relationship Id="rId3" Type="http://schemas.openxmlformats.org/officeDocument/2006/relationships/tags" Target="../tags/tag235.xml"/><Relationship Id="rId4" Type="http://schemas.openxmlformats.org/officeDocument/2006/relationships/tags" Target="../tags/tag236.xml"/><Relationship Id="rId5" Type="http://schemas.openxmlformats.org/officeDocument/2006/relationships/tags" Target="../tags/tag237.xml"/><Relationship Id="rId6" Type="http://schemas.openxmlformats.org/officeDocument/2006/relationships/tags" Target="../tags/tag238.xml"/><Relationship Id="rId7" Type="http://schemas.openxmlformats.org/officeDocument/2006/relationships/tags" Target="../tags/tag239.xml"/><Relationship Id="rId8" Type="http://schemas.openxmlformats.org/officeDocument/2006/relationships/tags" Target="../tags/tag240.xml"/><Relationship Id="rId9" Type="http://schemas.openxmlformats.org/officeDocument/2006/relationships/tags" Target="../tags/tag24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2.bin"/><Relationship Id="rId12" Type="http://schemas.openxmlformats.org/officeDocument/2006/relationships/image" Target="../media/image9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242.xml"/><Relationship Id="rId2" Type="http://schemas.openxmlformats.org/officeDocument/2006/relationships/tags" Target="../tags/tag243.xml"/><Relationship Id="rId3" Type="http://schemas.openxmlformats.org/officeDocument/2006/relationships/tags" Target="../tags/tag244.xml"/><Relationship Id="rId4" Type="http://schemas.openxmlformats.org/officeDocument/2006/relationships/tags" Target="../tags/tag245.xml"/><Relationship Id="rId5" Type="http://schemas.openxmlformats.org/officeDocument/2006/relationships/tags" Target="../tags/tag246.xml"/><Relationship Id="rId6" Type="http://schemas.openxmlformats.org/officeDocument/2006/relationships/tags" Target="../tags/tag247.xml"/><Relationship Id="rId7" Type="http://schemas.openxmlformats.org/officeDocument/2006/relationships/tags" Target="../tags/tag248.xml"/><Relationship Id="rId8" Type="http://schemas.openxmlformats.org/officeDocument/2006/relationships/tags" Target="../tags/tag249.xml"/><Relationship Id="rId9" Type="http://schemas.openxmlformats.org/officeDocument/2006/relationships/tags" Target="../tags/tag250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3.bin"/><Relationship Id="rId12" Type="http://schemas.openxmlformats.org/officeDocument/2006/relationships/image" Target="../media/image9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251.xml"/><Relationship Id="rId2" Type="http://schemas.openxmlformats.org/officeDocument/2006/relationships/tags" Target="../tags/tag252.xml"/><Relationship Id="rId3" Type="http://schemas.openxmlformats.org/officeDocument/2006/relationships/tags" Target="../tags/tag253.xml"/><Relationship Id="rId4" Type="http://schemas.openxmlformats.org/officeDocument/2006/relationships/tags" Target="../tags/tag254.xml"/><Relationship Id="rId5" Type="http://schemas.openxmlformats.org/officeDocument/2006/relationships/tags" Target="../tags/tag255.xml"/><Relationship Id="rId6" Type="http://schemas.openxmlformats.org/officeDocument/2006/relationships/tags" Target="../tags/tag256.xml"/><Relationship Id="rId7" Type="http://schemas.openxmlformats.org/officeDocument/2006/relationships/tags" Target="../tags/tag257.xml"/><Relationship Id="rId8" Type="http://schemas.openxmlformats.org/officeDocument/2006/relationships/tags" Target="../tags/tag258.xml"/><Relationship Id="rId9" Type="http://schemas.openxmlformats.org/officeDocument/2006/relationships/tags" Target="../tags/tag25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4.bin"/><Relationship Id="rId12" Type="http://schemas.openxmlformats.org/officeDocument/2006/relationships/image" Target="../media/image1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260.xml"/><Relationship Id="rId2" Type="http://schemas.openxmlformats.org/officeDocument/2006/relationships/tags" Target="../tags/tag261.xml"/><Relationship Id="rId3" Type="http://schemas.openxmlformats.org/officeDocument/2006/relationships/tags" Target="../tags/tag262.xml"/><Relationship Id="rId4" Type="http://schemas.openxmlformats.org/officeDocument/2006/relationships/tags" Target="../tags/tag263.xml"/><Relationship Id="rId5" Type="http://schemas.openxmlformats.org/officeDocument/2006/relationships/tags" Target="../tags/tag264.xml"/><Relationship Id="rId6" Type="http://schemas.openxmlformats.org/officeDocument/2006/relationships/tags" Target="../tags/tag265.xml"/><Relationship Id="rId7" Type="http://schemas.openxmlformats.org/officeDocument/2006/relationships/tags" Target="../tags/tag266.xml"/><Relationship Id="rId8" Type="http://schemas.openxmlformats.org/officeDocument/2006/relationships/tags" Target="../tags/tag267.xml"/><Relationship Id="rId9" Type="http://schemas.openxmlformats.org/officeDocument/2006/relationships/tags" Target="../tags/tag268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5.bin"/><Relationship Id="rId12" Type="http://schemas.openxmlformats.org/officeDocument/2006/relationships/image" Target="../media/image1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269.xml"/><Relationship Id="rId2" Type="http://schemas.openxmlformats.org/officeDocument/2006/relationships/tags" Target="../tags/tag270.xml"/><Relationship Id="rId3" Type="http://schemas.openxmlformats.org/officeDocument/2006/relationships/tags" Target="../tags/tag271.xml"/><Relationship Id="rId4" Type="http://schemas.openxmlformats.org/officeDocument/2006/relationships/tags" Target="../tags/tag272.xml"/><Relationship Id="rId5" Type="http://schemas.openxmlformats.org/officeDocument/2006/relationships/tags" Target="../tags/tag273.xml"/><Relationship Id="rId6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274.xml"/><Relationship Id="rId2" Type="http://schemas.openxmlformats.org/officeDocument/2006/relationships/tags" Target="../tags/tag275.xml"/><Relationship Id="rId3" Type="http://schemas.openxmlformats.org/officeDocument/2006/relationships/tags" Target="../tags/tag276.xml"/><Relationship Id="rId4" Type="http://schemas.openxmlformats.org/officeDocument/2006/relationships/tags" Target="../tags/tag277.xml"/><Relationship Id="rId5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278.xml"/><Relationship Id="rId2" Type="http://schemas.openxmlformats.org/officeDocument/2006/relationships/tags" Target="../tags/tag279.xml"/><Relationship Id="rId3" Type="http://schemas.openxmlformats.org/officeDocument/2006/relationships/tags" Target="../tags/tag280.xml"/><Relationship Id="rId4" Type="http://schemas.openxmlformats.org/officeDocument/2006/relationships/tags" Target="../tags/tag281.xml"/><Relationship Id="rId5" Type="http://schemas.openxmlformats.org/officeDocument/2006/relationships/slideMaster" Target="../slideMasters/slideMaster2.xml"/><Relationship Id="rId6" Type="http://schemas.openxmlformats.org/officeDocument/2006/relationships/image" Target="../media/image3.jpg"/><Relationship Id="rId7" Type="http://schemas.openxmlformats.org/officeDocument/2006/relationships/oleObject" Target="../embeddings/oleObject26.bin"/><Relationship Id="rId8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artnership">
            <a:extLst>
              <a:ext uri="{FF2B5EF4-FFF2-40B4-BE49-F238E27FC236}">
                <a16:creationId xmlns:a16="http://schemas.microsoft.com/office/drawing/2014/main" id="{52B89695-D141-85AB-BEF2-DAF58FD754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238171" y="-8806"/>
            <a:ext cx="7953829" cy="6866806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884725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113DFDDF-7DA2-4E92-8555-8B9DB1295FAA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6"/>
            </p:custDataLst>
          </p:nvPr>
        </p:nvSpPr>
        <p:spPr>
          <a:xfrm>
            <a:off x="7159752" y="89320"/>
            <a:ext cx="4480560" cy="123111"/>
          </a:xfrm>
        </p:spPr>
        <p:txBody>
          <a:bodyPr vert="horz" wrap="square" lIns="0" tIns="0" rIns="0" bIns="0" rtlCol="0" anchor="ctr" anchorCtr="0">
            <a:spAutoFit/>
          </a:bodyPr>
          <a:lstStyle>
            <a:lvl1pPr algn="r">
              <a:defRPr lang="en-US" sz="800" dirty="0"/>
            </a:lvl1pPr>
          </a:lstStyle>
          <a:p>
            <a:pPr lvl="0" algn="r"/>
            <a:r>
              <a:rPr lang="en-US" dirty="0"/>
              <a:t>Chapter › Topic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182230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02867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Layouts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7721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143928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2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99637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CBBFD578-F950-EA3D-3920-76D96A09AA5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238171" y="-8806"/>
            <a:ext cx="7953829" cy="6866806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tags" Target="../tags/tag2.xml"/><Relationship Id="rId20" Type="http://schemas.openxmlformats.org/officeDocument/2006/relationships/tags" Target="../tags/tag3.xml"/><Relationship Id="rId21" Type="http://schemas.openxmlformats.org/officeDocument/2006/relationships/tags" Target="../tags/tag4.xml"/><Relationship Id="rId22" Type="http://schemas.openxmlformats.org/officeDocument/2006/relationships/tags" Target="../tags/tag5.xml"/><Relationship Id="rId23" Type="http://schemas.openxmlformats.org/officeDocument/2006/relationships/tags" Target="../tags/tag6.xml"/><Relationship Id="rId24" Type="http://schemas.openxmlformats.org/officeDocument/2006/relationships/tags" Target="../tags/tag7.xml"/><Relationship Id="rId25" Type="http://schemas.openxmlformats.org/officeDocument/2006/relationships/tags" Target="../tags/tag8.xml"/><Relationship Id="rId26" Type="http://schemas.openxmlformats.org/officeDocument/2006/relationships/tags" Target="../tags/tag9.xml"/><Relationship Id="rId27" Type="http://schemas.openxmlformats.org/officeDocument/2006/relationships/tags" Target="../tags/tag10.xml"/><Relationship Id="rId28" Type="http://schemas.openxmlformats.org/officeDocument/2006/relationships/tags" Target="../tags/tag11.xml"/><Relationship Id="rId29" Type="http://schemas.openxmlformats.org/officeDocument/2006/relationships/tags" Target="../tags/tag12.xml"/><Relationship Id="rId30" Type="http://schemas.openxmlformats.org/officeDocument/2006/relationships/tags" Target="../tags/tag13.xml"/><Relationship Id="rId31" Type="http://schemas.openxmlformats.org/officeDocument/2006/relationships/tags" Target="../tags/tag14.xml"/><Relationship Id="rId32" Type="http://schemas.openxmlformats.org/officeDocument/2006/relationships/tags" Target="../tags/tag15.xml"/><Relationship Id="rId33" Type="http://schemas.openxmlformats.org/officeDocument/2006/relationships/tags" Target="../tags/tag16.xml"/><Relationship Id="rId34" Type="http://schemas.openxmlformats.org/officeDocument/2006/relationships/tags" Target="../tags/tag17.xml"/><Relationship Id="rId35" Type="http://schemas.openxmlformats.org/officeDocument/2006/relationships/tags" Target="../tags/tag18.xml"/><Relationship Id="rId36" Type="http://schemas.openxmlformats.org/officeDocument/2006/relationships/tags" Target="../tags/tag19.xml"/><Relationship Id="rId37" Type="http://schemas.openxmlformats.org/officeDocument/2006/relationships/tags" Target="../tags/tag20.xml"/><Relationship Id="rId38" Type="http://schemas.openxmlformats.org/officeDocument/2006/relationships/tags" Target="../tags/tag21.xml"/><Relationship Id="rId39" Type="http://schemas.openxmlformats.org/officeDocument/2006/relationships/tags" Target="../tags/tag22.xml"/><Relationship Id="rId40" Type="http://schemas.openxmlformats.org/officeDocument/2006/relationships/oleObject" Target="../embeddings/oleObject1.bin"/><Relationship Id="rId41" Type="http://schemas.openxmlformats.org/officeDocument/2006/relationships/image" Target="../media/image1.emf"/><Relationship Id="rId42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19" Type="http://schemas.openxmlformats.org/officeDocument/2006/relationships/tags" Target="../tags/tag139.xml"/><Relationship Id="rId20" Type="http://schemas.openxmlformats.org/officeDocument/2006/relationships/tags" Target="../tags/tag140.xml"/><Relationship Id="rId21" Type="http://schemas.openxmlformats.org/officeDocument/2006/relationships/tags" Target="../tags/tag141.xml"/><Relationship Id="rId22" Type="http://schemas.openxmlformats.org/officeDocument/2006/relationships/tags" Target="../tags/tag142.xml"/><Relationship Id="rId23" Type="http://schemas.openxmlformats.org/officeDocument/2006/relationships/tags" Target="../tags/tag143.xml"/><Relationship Id="rId24" Type="http://schemas.openxmlformats.org/officeDocument/2006/relationships/tags" Target="../tags/tag144.xml"/><Relationship Id="rId25" Type="http://schemas.openxmlformats.org/officeDocument/2006/relationships/tags" Target="../tags/tag145.xml"/><Relationship Id="rId26" Type="http://schemas.openxmlformats.org/officeDocument/2006/relationships/tags" Target="../tags/tag146.xml"/><Relationship Id="rId27" Type="http://schemas.openxmlformats.org/officeDocument/2006/relationships/tags" Target="../tags/tag147.xml"/><Relationship Id="rId28" Type="http://schemas.openxmlformats.org/officeDocument/2006/relationships/tags" Target="../tags/tag148.xml"/><Relationship Id="rId29" Type="http://schemas.openxmlformats.org/officeDocument/2006/relationships/tags" Target="../tags/tag149.xml"/><Relationship Id="rId30" Type="http://schemas.openxmlformats.org/officeDocument/2006/relationships/tags" Target="../tags/tag150.xml"/><Relationship Id="rId31" Type="http://schemas.openxmlformats.org/officeDocument/2006/relationships/tags" Target="../tags/tag151.xml"/><Relationship Id="rId32" Type="http://schemas.openxmlformats.org/officeDocument/2006/relationships/tags" Target="../tags/tag152.xml"/><Relationship Id="rId33" Type="http://schemas.openxmlformats.org/officeDocument/2006/relationships/tags" Target="../tags/tag153.xml"/><Relationship Id="rId34" Type="http://schemas.openxmlformats.org/officeDocument/2006/relationships/tags" Target="../tags/tag154.xml"/><Relationship Id="rId35" Type="http://schemas.openxmlformats.org/officeDocument/2006/relationships/tags" Target="../tags/tag155.xml"/><Relationship Id="rId36" Type="http://schemas.openxmlformats.org/officeDocument/2006/relationships/tags" Target="../tags/tag156.xml"/><Relationship Id="rId37" Type="http://schemas.openxmlformats.org/officeDocument/2006/relationships/tags" Target="../tags/tag157.xml"/><Relationship Id="rId38" Type="http://schemas.openxmlformats.org/officeDocument/2006/relationships/tags" Target="../tags/tag158.xml"/><Relationship Id="rId39" Type="http://schemas.openxmlformats.org/officeDocument/2006/relationships/tags" Target="../tags/tag159.xml"/><Relationship Id="rId40" Type="http://schemas.openxmlformats.org/officeDocument/2006/relationships/oleObject" Target="../embeddings/oleObject13.bin"/><Relationship Id="rId41" Type="http://schemas.openxmlformats.org/officeDocument/2006/relationships/image" Target="../media/image5.emf"/><Relationship Id="rId42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413" imgH="416" progId="TCLayout.ActiveDocument.1">
                  <p:embed/>
                </p:oleObj>
              </mc:Choice>
              <mc:Fallback>
                <p:oleObj name="think-cell Slide" r:id="rId4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  <p:sldLayoutId id="2147483901" r:id="rId15"/>
    <p:sldLayoutId id="2147483903" r:id="rId16"/>
    <p:sldLayoutId id="2147483904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82.xml"/><Relationship Id="rId2" Type="http://schemas.openxmlformats.org/officeDocument/2006/relationships/tags" Target="../tags/tag283.xml"/><Relationship Id="rId3" Type="http://schemas.openxmlformats.org/officeDocument/2006/relationships/tags" Target="../tags/tag28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Relationship Id="rId6" Type="http://schemas.openxmlformats.org/officeDocument/2006/relationships/oleObject" Target="../embeddings/oleObject27.bin"/><Relationship Id="rId7" Type="http://schemas.openxmlformats.org/officeDocument/2006/relationships/image" Target="../media/image7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85.xml"/><Relationship Id="rId2" Type="http://schemas.openxmlformats.org/officeDocument/2006/relationships/tags" Target="../tags/tag286.xml"/><Relationship Id="rId3" Type="http://schemas.openxmlformats.org/officeDocument/2006/relationships/tags" Target="../tags/tag287.xml"/><Relationship Id="rId4" Type="http://schemas.openxmlformats.org/officeDocument/2006/relationships/tags" Target="../tags/tag288.xml"/><Relationship Id="rId5" Type="http://schemas.openxmlformats.org/officeDocument/2006/relationships/tags" Target="../tags/tag289.xml"/><Relationship Id="rId6" Type="http://schemas.openxmlformats.org/officeDocument/2006/relationships/tags" Target="../tags/tag290.xml"/><Relationship Id="rId7" Type="http://schemas.openxmlformats.org/officeDocument/2006/relationships/tags" Target="../tags/tag291.xml"/><Relationship Id="rId8" Type="http://schemas.openxmlformats.org/officeDocument/2006/relationships/slideLayout" Target="../slideLayouts/slideLayout17.xml"/><Relationship Id="rId9" Type="http://schemas.openxmlformats.org/officeDocument/2006/relationships/notesSlide" Target="../notesSlides/notesSlide2.xml"/><Relationship Id="rId10" Type="http://schemas.openxmlformats.org/officeDocument/2006/relationships/oleObject" Target="../embeddings/oleObject28.bin"/><Relationship Id="rId11" Type="http://schemas.openxmlformats.org/officeDocument/2006/relationships/image" Target="../media/image10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tags" Target="../tags/tag305.xml"/><Relationship Id="rId15" Type="http://schemas.openxmlformats.org/officeDocument/2006/relationships/tags" Target="../tags/tag306.xml"/><Relationship Id="rId16" Type="http://schemas.openxmlformats.org/officeDocument/2006/relationships/tags" Target="../tags/tag307.xml"/><Relationship Id="rId17" Type="http://schemas.openxmlformats.org/officeDocument/2006/relationships/tags" Target="../tags/tag308.xml"/><Relationship Id="rId18" Type="http://schemas.openxmlformats.org/officeDocument/2006/relationships/tags" Target="../tags/tag309.xml"/><Relationship Id="rId19" Type="http://schemas.openxmlformats.org/officeDocument/2006/relationships/tags" Target="../tags/tag310.xml"/><Relationship Id="rId20" Type="http://schemas.openxmlformats.org/officeDocument/2006/relationships/tags" Target="../tags/tag311.xml"/><Relationship Id="rId21" Type="http://schemas.openxmlformats.org/officeDocument/2006/relationships/tags" Target="../tags/tag312.xml"/><Relationship Id="rId22" Type="http://schemas.openxmlformats.org/officeDocument/2006/relationships/tags" Target="../tags/tag313.xml"/><Relationship Id="rId23" Type="http://schemas.openxmlformats.org/officeDocument/2006/relationships/tags" Target="../tags/tag314.xml"/><Relationship Id="rId24" Type="http://schemas.openxmlformats.org/officeDocument/2006/relationships/slideLayout" Target="../slideLayouts/slideLayout2.xml"/><Relationship Id="rId25" Type="http://schemas.openxmlformats.org/officeDocument/2006/relationships/oleObject" Target="../embeddings/oleObject29.bin"/><Relationship Id="rId26" Type="http://schemas.openxmlformats.org/officeDocument/2006/relationships/image" Target="../media/image10.emf"/><Relationship Id="rId27" Type="http://schemas.openxmlformats.org/officeDocument/2006/relationships/image" Target="../media/image11.svg"/><Relationship Id="rId28" Type="http://schemas.openxmlformats.org/officeDocument/2006/relationships/image" Target="../media/image1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15.xml"/><Relationship Id="rId2" Type="http://schemas.openxmlformats.org/officeDocument/2006/relationships/tags" Target="../tags/tag316.xml"/><Relationship Id="rId3" Type="http://schemas.openxmlformats.org/officeDocument/2006/relationships/tags" Target="../tags/tag317.xml"/><Relationship Id="rId4" Type="http://schemas.openxmlformats.org/officeDocument/2006/relationships/tags" Target="../tags/tag318.xml"/><Relationship Id="rId5" Type="http://schemas.openxmlformats.org/officeDocument/2006/relationships/tags" Target="../tags/tag319.xml"/><Relationship Id="rId6" Type="http://schemas.openxmlformats.org/officeDocument/2006/relationships/tags" Target="../tags/tag320.xml"/><Relationship Id="rId7" Type="http://schemas.openxmlformats.org/officeDocument/2006/relationships/tags" Target="../tags/tag321.xml"/><Relationship Id="rId8" Type="http://schemas.openxmlformats.org/officeDocument/2006/relationships/tags" Target="../tags/tag322.xml"/><Relationship Id="rId9" Type="http://schemas.openxmlformats.org/officeDocument/2006/relationships/tags" Target="../tags/tag323.xml"/><Relationship Id="rId10" Type="http://schemas.openxmlformats.org/officeDocument/2006/relationships/tags" Target="../tags/tag324.xml"/><Relationship Id="rId11" Type="http://schemas.openxmlformats.org/officeDocument/2006/relationships/tags" Target="../tags/tag325.xml"/><Relationship Id="rId12" Type="http://schemas.openxmlformats.org/officeDocument/2006/relationships/tags" Target="../tags/tag326.xml"/><Relationship Id="rId13" Type="http://schemas.openxmlformats.org/officeDocument/2006/relationships/tags" Target="../tags/tag327.xml"/><Relationship Id="rId14" Type="http://schemas.openxmlformats.org/officeDocument/2006/relationships/tags" Target="../tags/tag328.xml"/><Relationship Id="rId15" Type="http://schemas.openxmlformats.org/officeDocument/2006/relationships/tags" Target="../tags/tag329.xml"/><Relationship Id="rId16" Type="http://schemas.openxmlformats.org/officeDocument/2006/relationships/tags" Target="../tags/tag330.xml"/><Relationship Id="rId17" Type="http://schemas.openxmlformats.org/officeDocument/2006/relationships/tags" Target="../tags/tag331.xml"/><Relationship Id="rId18" Type="http://schemas.openxmlformats.org/officeDocument/2006/relationships/tags" Target="../tags/tag332.xml"/><Relationship Id="rId19" Type="http://schemas.openxmlformats.org/officeDocument/2006/relationships/tags" Target="../tags/tag333.xml"/><Relationship Id="rId20" Type="http://schemas.openxmlformats.org/officeDocument/2006/relationships/tags" Target="../tags/tag334.xml"/><Relationship Id="rId21" Type="http://schemas.openxmlformats.org/officeDocument/2006/relationships/tags" Target="../tags/tag335.xml"/><Relationship Id="rId22" Type="http://schemas.openxmlformats.org/officeDocument/2006/relationships/tags" Target="../tags/tag336.xml"/><Relationship Id="rId23" Type="http://schemas.openxmlformats.org/officeDocument/2006/relationships/tags" Target="../tags/tag337.xml"/><Relationship Id="rId24" Type="http://schemas.openxmlformats.org/officeDocument/2006/relationships/tags" Target="../tags/tag338.xml"/><Relationship Id="rId25" Type="http://schemas.openxmlformats.org/officeDocument/2006/relationships/tags" Target="../tags/tag339.xml"/><Relationship Id="rId26" Type="http://schemas.openxmlformats.org/officeDocument/2006/relationships/tags" Target="../tags/tag340.xml"/><Relationship Id="rId27" Type="http://schemas.openxmlformats.org/officeDocument/2006/relationships/slideLayout" Target="../slideLayouts/slideLayout2.xml"/><Relationship Id="rId28" Type="http://schemas.openxmlformats.org/officeDocument/2006/relationships/oleObject" Target="../embeddings/oleObject30.bin"/><Relationship Id="rId29" Type="http://schemas.openxmlformats.org/officeDocument/2006/relationships/image" Target="../media/image10.emf"/><Relationship Id="rId30" Type="http://schemas.openxmlformats.org/officeDocument/2006/relationships/image" Target="../media/image11.svg"/><Relationship Id="rId31" Type="http://schemas.openxmlformats.org/officeDocument/2006/relationships/image" Target="../media/image1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4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0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42.xml"/><Relationship Id="rId2" Type="http://schemas.openxmlformats.org/officeDocument/2006/relationships/tags" Target="../tags/tag343.xml"/><Relationship Id="rId3" Type="http://schemas.openxmlformats.org/officeDocument/2006/relationships/tags" Target="../tags/tag344.xml"/><Relationship Id="rId4" Type="http://schemas.openxmlformats.org/officeDocument/2006/relationships/tags" Target="../tags/tag34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Relationship Id="rId7" Type="http://schemas.openxmlformats.org/officeDocument/2006/relationships/oleObject" Target="../embeddings/oleObject32.bin"/><Relationship Id="rId8" Type="http://schemas.openxmlformats.org/officeDocument/2006/relationships/image" Target="../media/image6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383.xml"/><Relationship Id="rId2" Type="http://schemas.openxmlformats.org/officeDocument/2006/relationships/tags" Target="../tags/tag384.xml"/><Relationship Id="rId3" Type="http://schemas.openxmlformats.org/officeDocument/2006/relationships/tags" Target="../tags/tag385.xml"/><Relationship Id="rId4" Type="http://schemas.openxmlformats.org/officeDocument/2006/relationships/tags" Target="../tags/tag386.xml"/><Relationship Id="rId5" Type="http://schemas.openxmlformats.org/officeDocument/2006/relationships/tags" Target="../tags/tag387.xml"/><Relationship Id="rId6" Type="http://schemas.openxmlformats.org/officeDocument/2006/relationships/tags" Target="../tags/tag388.xml"/><Relationship Id="rId7" Type="http://schemas.openxmlformats.org/officeDocument/2006/relationships/tags" Target="../tags/tag389.xml"/><Relationship Id="rId8" Type="http://schemas.openxmlformats.org/officeDocument/2006/relationships/tags" Target="../tags/tag390.xml"/><Relationship Id="rId9" Type="http://schemas.openxmlformats.org/officeDocument/2006/relationships/tags" Target="../tags/tag391.xml"/><Relationship Id="rId10" Type="http://schemas.openxmlformats.org/officeDocument/2006/relationships/tags" Target="../tags/tag392.xml"/><Relationship Id="rId11" Type="http://schemas.openxmlformats.org/officeDocument/2006/relationships/tags" Target="../tags/tag393.xml"/><Relationship Id="rId12" Type="http://schemas.openxmlformats.org/officeDocument/2006/relationships/tags" Target="../tags/tag394.xml"/><Relationship Id="rId13" Type="http://schemas.openxmlformats.org/officeDocument/2006/relationships/tags" Target="../tags/tag395.xml"/><Relationship Id="rId14" Type="http://schemas.openxmlformats.org/officeDocument/2006/relationships/tags" Target="../tags/tag396.xml"/><Relationship Id="rId15" Type="http://schemas.openxmlformats.org/officeDocument/2006/relationships/tags" Target="../tags/tag397.xml"/><Relationship Id="rId16" Type="http://schemas.openxmlformats.org/officeDocument/2006/relationships/tags" Target="../tags/tag398.xml"/><Relationship Id="rId17" Type="http://schemas.openxmlformats.org/officeDocument/2006/relationships/tags" Target="../tags/tag399.xml"/><Relationship Id="rId18" Type="http://schemas.openxmlformats.org/officeDocument/2006/relationships/tags" Target="../tags/tag400.xml"/><Relationship Id="rId19" Type="http://schemas.openxmlformats.org/officeDocument/2006/relationships/tags" Target="../tags/tag401.xml"/><Relationship Id="rId20" Type="http://schemas.openxmlformats.org/officeDocument/2006/relationships/tags" Target="../tags/tag402.xml"/><Relationship Id="rId21" Type="http://schemas.openxmlformats.org/officeDocument/2006/relationships/tags" Target="../tags/tag403.xml"/><Relationship Id="rId22" Type="http://schemas.openxmlformats.org/officeDocument/2006/relationships/tags" Target="../tags/tag404.xml"/><Relationship Id="rId23" Type="http://schemas.openxmlformats.org/officeDocument/2006/relationships/tags" Target="../tags/tag405.xml"/><Relationship Id="rId24" Type="http://schemas.openxmlformats.org/officeDocument/2006/relationships/tags" Target="../tags/tag406.xml"/><Relationship Id="rId25" Type="http://schemas.openxmlformats.org/officeDocument/2006/relationships/tags" Target="../tags/tag407.xml"/><Relationship Id="rId26" Type="http://schemas.openxmlformats.org/officeDocument/2006/relationships/tags" Target="../tags/tag408.xml"/><Relationship Id="rId27" Type="http://schemas.openxmlformats.org/officeDocument/2006/relationships/tags" Target="../tags/tag409.xml"/><Relationship Id="rId28" Type="http://schemas.openxmlformats.org/officeDocument/2006/relationships/tags" Target="../tags/tag410.xml"/><Relationship Id="rId29" Type="http://schemas.openxmlformats.org/officeDocument/2006/relationships/slideLayout" Target="../slideLayouts/slideLayout2.xml"/><Relationship Id="rId30" Type="http://schemas.openxmlformats.org/officeDocument/2006/relationships/oleObject" Target="../embeddings/oleObject34.bin"/><Relationship Id="rId31" Type="http://schemas.openxmlformats.org/officeDocument/2006/relationships/image" Target="../media/image6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411.xml"/><Relationship Id="rId2" Type="http://schemas.openxmlformats.org/officeDocument/2006/relationships/tags" Target="../tags/tag412.xml"/><Relationship Id="rId3" Type="http://schemas.openxmlformats.org/officeDocument/2006/relationships/tags" Target="../tags/tag413.xml"/><Relationship Id="rId4" Type="http://schemas.openxmlformats.org/officeDocument/2006/relationships/tags" Target="../tags/tag414.xml"/><Relationship Id="rId5" Type="http://schemas.openxmlformats.org/officeDocument/2006/relationships/tags" Target="../tags/tag415.xml"/><Relationship Id="rId6" Type="http://schemas.openxmlformats.org/officeDocument/2006/relationships/tags" Target="../tags/tag416.xml"/><Relationship Id="rId7" Type="http://schemas.openxmlformats.org/officeDocument/2006/relationships/tags" Target="../tags/tag417.xml"/><Relationship Id="rId8" Type="http://schemas.openxmlformats.org/officeDocument/2006/relationships/tags" Target="../tags/tag418.xml"/><Relationship Id="rId9" Type="http://schemas.openxmlformats.org/officeDocument/2006/relationships/tags" Target="../tags/tag419.xml"/><Relationship Id="rId10" Type="http://schemas.openxmlformats.org/officeDocument/2006/relationships/tags" Target="../tags/tag420.xml"/><Relationship Id="rId11" Type="http://schemas.openxmlformats.org/officeDocument/2006/relationships/tags" Target="../tags/tag421.xml"/><Relationship Id="rId12" Type="http://schemas.openxmlformats.org/officeDocument/2006/relationships/tags" Target="../tags/tag422.xml"/><Relationship Id="rId13" Type="http://schemas.openxmlformats.org/officeDocument/2006/relationships/tags" Target="../tags/tag423.xml"/><Relationship Id="rId14" Type="http://schemas.openxmlformats.org/officeDocument/2006/relationships/tags" Target="../tags/tag424.xml"/><Relationship Id="rId15" Type="http://schemas.openxmlformats.org/officeDocument/2006/relationships/tags" Target="../tags/tag425.xml"/><Relationship Id="rId16" Type="http://schemas.openxmlformats.org/officeDocument/2006/relationships/tags" Target="../tags/tag426.xml"/><Relationship Id="rId17" Type="http://schemas.openxmlformats.org/officeDocument/2006/relationships/tags" Target="../tags/tag427.xml"/><Relationship Id="rId18" Type="http://schemas.openxmlformats.org/officeDocument/2006/relationships/tags" Target="../tags/tag428.xml"/><Relationship Id="rId19" Type="http://schemas.openxmlformats.org/officeDocument/2006/relationships/tags" Target="../tags/tag429.xml"/><Relationship Id="rId20" Type="http://schemas.openxmlformats.org/officeDocument/2006/relationships/tags" Target="../tags/tag430.xml"/><Relationship Id="rId21" Type="http://schemas.openxmlformats.org/officeDocument/2006/relationships/tags" Target="../tags/tag431.xml"/><Relationship Id="rId22" Type="http://schemas.openxmlformats.org/officeDocument/2006/relationships/tags" Target="../tags/tag432.xml"/><Relationship Id="rId23" Type="http://schemas.openxmlformats.org/officeDocument/2006/relationships/tags" Target="../tags/tag433.xml"/><Relationship Id="rId24" Type="http://schemas.openxmlformats.org/officeDocument/2006/relationships/tags" Target="../tags/tag434.xml"/><Relationship Id="rId25" Type="http://schemas.openxmlformats.org/officeDocument/2006/relationships/tags" Target="../tags/tag435.xml"/><Relationship Id="rId26" Type="http://schemas.openxmlformats.org/officeDocument/2006/relationships/tags" Target="../tags/tag436.xml"/><Relationship Id="rId27" Type="http://schemas.openxmlformats.org/officeDocument/2006/relationships/tags" Target="../tags/tag437.xml"/><Relationship Id="rId28" Type="http://schemas.openxmlformats.org/officeDocument/2006/relationships/tags" Target="../tags/tag438.xml"/><Relationship Id="rId29" Type="http://schemas.openxmlformats.org/officeDocument/2006/relationships/tags" Target="../tags/tag439.xml"/><Relationship Id="rId30" Type="http://schemas.openxmlformats.org/officeDocument/2006/relationships/tags" Target="../tags/tag440.xml"/><Relationship Id="rId31" Type="http://schemas.openxmlformats.org/officeDocument/2006/relationships/tags" Target="../tags/tag441.xml"/><Relationship Id="rId32" Type="http://schemas.openxmlformats.org/officeDocument/2006/relationships/tags" Target="../tags/tag442.xml"/><Relationship Id="rId33" Type="http://schemas.openxmlformats.org/officeDocument/2006/relationships/tags" Target="../tags/tag443.xml"/><Relationship Id="rId34" Type="http://schemas.openxmlformats.org/officeDocument/2006/relationships/tags" Target="../tags/tag444.xml"/><Relationship Id="rId35" Type="http://schemas.openxmlformats.org/officeDocument/2006/relationships/tags" Target="../tags/tag445.xml"/><Relationship Id="rId36" Type="http://schemas.openxmlformats.org/officeDocument/2006/relationships/tags" Target="../tags/tag446.xml"/><Relationship Id="rId37" Type="http://schemas.openxmlformats.org/officeDocument/2006/relationships/tags" Target="../tags/tag447.xml"/><Relationship Id="rId38" Type="http://schemas.openxmlformats.org/officeDocument/2006/relationships/tags" Target="../tags/tag448.xml"/><Relationship Id="rId39" Type="http://schemas.openxmlformats.org/officeDocument/2006/relationships/tags" Target="../tags/tag449.xml"/><Relationship Id="rId40" Type="http://schemas.openxmlformats.org/officeDocument/2006/relationships/tags" Target="../tags/tag450.xml"/><Relationship Id="rId41" Type="http://schemas.openxmlformats.org/officeDocument/2006/relationships/tags" Target="../tags/tag451.xml"/><Relationship Id="rId42" Type="http://schemas.openxmlformats.org/officeDocument/2006/relationships/slideLayout" Target="../slideLayouts/slideLayout2.xml"/><Relationship Id="rId43" Type="http://schemas.openxmlformats.org/officeDocument/2006/relationships/oleObject" Target="../embeddings/oleObject35.bin"/><Relationship Id="rId44" Type="http://schemas.openxmlformats.org/officeDocument/2006/relationships/image" Target="../media/image6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452.xml"/><Relationship Id="rId2" Type="http://schemas.openxmlformats.org/officeDocument/2006/relationships/tags" Target="../tags/tag453.xml"/><Relationship Id="rId3" Type="http://schemas.openxmlformats.org/officeDocument/2006/relationships/tags" Target="../tags/tag454.xml"/><Relationship Id="rId4" Type="http://schemas.openxmlformats.org/officeDocument/2006/relationships/tags" Target="../tags/tag455.xml"/><Relationship Id="rId5" Type="http://schemas.openxmlformats.org/officeDocument/2006/relationships/tags" Target="../tags/tag456.xml"/><Relationship Id="rId6" Type="http://schemas.openxmlformats.org/officeDocument/2006/relationships/tags" Target="../tags/tag457.xml"/><Relationship Id="rId7" Type="http://schemas.openxmlformats.org/officeDocument/2006/relationships/tags" Target="../tags/tag458.xml"/><Relationship Id="rId8" Type="http://schemas.openxmlformats.org/officeDocument/2006/relationships/tags" Target="../tags/tag459.xml"/><Relationship Id="rId9" Type="http://schemas.openxmlformats.org/officeDocument/2006/relationships/tags" Target="../tags/tag460.xml"/><Relationship Id="rId10" Type="http://schemas.openxmlformats.org/officeDocument/2006/relationships/tags" Target="../tags/tag461.xml"/><Relationship Id="rId11" Type="http://schemas.openxmlformats.org/officeDocument/2006/relationships/tags" Target="../tags/tag462.xml"/><Relationship Id="rId12" Type="http://schemas.openxmlformats.org/officeDocument/2006/relationships/tags" Target="../tags/tag463.xml"/><Relationship Id="rId13" Type="http://schemas.openxmlformats.org/officeDocument/2006/relationships/tags" Target="../tags/tag464.xml"/><Relationship Id="rId14" Type="http://schemas.openxmlformats.org/officeDocument/2006/relationships/tags" Target="../tags/tag465.xml"/><Relationship Id="rId15" Type="http://schemas.openxmlformats.org/officeDocument/2006/relationships/tags" Target="../tags/tag466.xml"/><Relationship Id="rId16" Type="http://schemas.openxmlformats.org/officeDocument/2006/relationships/tags" Target="../tags/tag467.xml"/><Relationship Id="rId17" Type="http://schemas.openxmlformats.org/officeDocument/2006/relationships/tags" Target="../tags/tag468.xml"/><Relationship Id="rId18" Type="http://schemas.openxmlformats.org/officeDocument/2006/relationships/tags" Target="../tags/tag469.xml"/><Relationship Id="rId19" Type="http://schemas.openxmlformats.org/officeDocument/2006/relationships/tags" Target="../tags/tag470.xml"/><Relationship Id="rId20" Type="http://schemas.openxmlformats.org/officeDocument/2006/relationships/tags" Target="../tags/tag471.xml"/><Relationship Id="rId21" Type="http://schemas.openxmlformats.org/officeDocument/2006/relationships/tags" Target="../tags/tag472.xml"/><Relationship Id="rId22" Type="http://schemas.openxmlformats.org/officeDocument/2006/relationships/tags" Target="../tags/tag473.xml"/><Relationship Id="rId23" Type="http://schemas.openxmlformats.org/officeDocument/2006/relationships/tags" Target="../tags/tag474.xml"/><Relationship Id="rId24" Type="http://schemas.openxmlformats.org/officeDocument/2006/relationships/tags" Target="../tags/tag475.xml"/><Relationship Id="rId25" Type="http://schemas.openxmlformats.org/officeDocument/2006/relationships/tags" Target="../tags/tag476.xml"/><Relationship Id="rId26" Type="http://schemas.openxmlformats.org/officeDocument/2006/relationships/tags" Target="../tags/tag477.xml"/><Relationship Id="rId27" Type="http://schemas.openxmlformats.org/officeDocument/2006/relationships/tags" Target="../tags/tag478.xml"/><Relationship Id="rId28" Type="http://schemas.openxmlformats.org/officeDocument/2006/relationships/tags" Target="../tags/tag479.xml"/><Relationship Id="rId29" Type="http://schemas.openxmlformats.org/officeDocument/2006/relationships/tags" Target="../tags/tag480.xml"/><Relationship Id="rId30" Type="http://schemas.openxmlformats.org/officeDocument/2006/relationships/tags" Target="../tags/tag481.xml"/><Relationship Id="rId31" Type="http://schemas.openxmlformats.org/officeDocument/2006/relationships/tags" Target="../tags/tag482.xml"/><Relationship Id="rId32" Type="http://schemas.openxmlformats.org/officeDocument/2006/relationships/tags" Target="../tags/tag483.xml"/><Relationship Id="rId33" Type="http://schemas.openxmlformats.org/officeDocument/2006/relationships/tags" Target="../tags/tag484.xml"/><Relationship Id="rId34" Type="http://schemas.openxmlformats.org/officeDocument/2006/relationships/tags" Target="../tags/tag485.xml"/><Relationship Id="rId35" Type="http://schemas.openxmlformats.org/officeDocument/2006/relationships/tags" Target="../tags/tag486.xml"/><Relationship Id="rId36" Type="http://schemas.openxmlformats.org/officeDocument/2006/relationships/tags" Target="../tags/tag487.xml"/><Relationship Id="rId37" Type="http://schemas.openxmlformats.org/officeDocument/2006/relationships/tags" Target="../tags/tag488.xml"/><Relationship Id="rId38" Type="http://schemas.openxmlformats.org/officeDocument/2006/relationships/tags" Target="../tags/tag489.xml"/><Relationship Id="rId39" Type="http://schemas.openxmlformats.org/officeDocument/2006/relationships/tags" Target="../tags/tag490.xml"/><Relationship Id="rId40" Type="http://schemas.openxmlformats.org/officeDocument/2006/relationships/tags" Target="../tags/tag491.xml"/><Relationship Id="rId41" Type="http://schemas.openxmlformats.org/officeDocument/2006/relationships/tags" Target="../tags/tag492.xml"/><Relationship Id="rId42" Type="http://schemas.openxmlformats.org/officeDocument/2006/relationships/tags" Target="../tags/tag493.xml"/><Relationship Id="rId43" Type="http://schemas.openxmlformats.org/officeDocument/2006/relationships/tags" Target="../tags/tag494.xml"/><Relationship Id="rId44" Type="http://schemas.openxmlformats.org/officeDocument/2006/relationships/slideLayout" Target="../slideLayouts/slideLayout2.xml"/><Relationship Id="rId45" Type="http://schemas.openxmlformats.org/officeDocument/2006/relationships/oleObject" Target="../embeddings/oleObject36.bin"/><Relationship Id="rId46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FC82A3A-0A2D-4C91-9164-E53833C359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1723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72" imgH="588" progId="TCLayout.ActiveDocument.1">
                  <p:embed/>
                </p:oleObj>
              </mc:Choice>
              <mc:Fallback>
                <p:oleObj name="think-cell Slide" r:id="rId6" imgW="572" imgH="588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FC82A3A-0A2D-4C91-9164-E53833C359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108DE052-9238-470A-B7A3-D8EB461E3CE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4400" b="1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C4C79E0-583C-4EE6-80BA-90735595EF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835DA42-CBF3-4299-9CD7-2662B8C52E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507EE703-C870-469C-8AF6-3299EC835F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A5D4630-F7DD-45DE-8B28-13C4C3DDAD21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1942" y="2049805"/>
            <a:ext cx="6098240" cy="1921708"/>
          </a:xfrm>
        </p:spPr>
        <p:txBody>
          <a:bodyPr vert="horz"/>
          <a:lstStyle/>
          <a:p>
            <a:r>
              <a:rPr lang="en-US" dirty="0"/>
              <a:t>Vanguard- IDP Assessment</a:t>
            </a:r>
          </a:p>
        </p:txBody>
      </p:sp>
    </p:spTree>
    <p:extLst>
      <p:ext uri="{BB962C8B-B14F-4D97-AF65-F5344CB8AC3E}">
        <p14:creationId xmlns:p14="http://schemas.microsoft.com/office/powerpoint/2010/main" val="309589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B91F8-0350-F52F-1416-54E3E346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Object 6" hidden="1">
            <a:extLst>
              <a:ext uri="{FF2B5EF4-FFF2-40B4-BE49-F238E27FC236}">
                <a16:creationId xmlns:a16="http://schemas.microsoft.com/office/drawing/2014/main" id="{757E6929-4DC9-BD54-2596-D244363B57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20218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606" imgH="608" progId="TCLayout.ActiveDocument.1">
                  <p:embed/>
                </p:oleObj>
              </mc:Choice>
              <mc:Fallback>
                <p:oleObj name="think-cell Slide" r:id="rId10" imgW="606" imgH="608" progId="TCLayout.ActiveDocument.1">
                  <p:embed/>
                  <p:pic>
                    <p:nvPicPr>
                      <p:cNvPr id="43" name="Object 6" hidden="1">
                        <a:extLst>
                          <a:ext uri="{FF2B5EF4-FFF2-40B4-BE49-F238E27FC236}">
                            <a16:creationId xmlns:a16="http://schemas.microsoft.com/office/drawing/2014/main" id="{757E6929-4DC9-BD54-2596-D244363B57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888EC422-E8CA-CEAB-200B-1BF992BE937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63058" y="306399"/>
            <a:ext cx="11083925" cy="357790"/>
          </a:xfrm>
        </p:spPr>
        <p:txBody>
          <a:bodyPr vert="horz"/>
          <a:lstStyle/>
          <a:p>
            <a:r>
              <a:rPr lang="en-US" b="1" dirty="0" sz="2000"/>
              <a:t>Overview of our tech and AI productivity approach for Vanguard</a:t>
            </a:r>
          </a:p>
        </p:txBody>
      </p:sp>
      <p:cxnSp>
        <p:nvCxnSpPr>
          <p:cNvPr id="10" name="GreyLineSeparatorDefault 10">
            <a:extLst>
              <a:ext uri="{FF2B5EF4-FFF2-40B4-BE49-F238E27FC236}">
                <a16:creationId xmlns:a16="http://schemas.microsoft.com/office/drawing/2014/main" id="{10243453-303C-AD59-BEDB-591178CABBD9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1607371"/>
            <a:ext cx="11082528" cy="0"/>
          </a:xfrm>
          <a:prstGeom prst="straightConnector1">
            <a:avLst/>
          </a:prstGeom>
          <a:ln w="1270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reyLineSeparatorStrong 17">
            <a:extLst>
              <a:ext uri="{FF2B5EF4-FFF2-40B4-BE49-F238E27FC236}">
                <a16:creationId xmlns:a16="http://schemas.microsoft.com/office/drawing/2014/main" id="{CD390AC9-B4FC-6D05-B64B-C3D539991293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4238117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2C36F0B-8BD1-4651-A291-1A0672A13D4D}"/>
              </a:ext>
            </a:extLst>
          </p:cNvPr>
          <p:cNvSpPr txBox="1"/>
          <p:nvPr/>
        </p:nvSpPr>
        <p:spPr>
          <a:xfrm>
            <a:off x="596020" y="1335002"/>
            <a:ext cx="1094681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b="1" dirty="0"/>
              <a:t>Workstream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15E9BF-081E-AE0B-BCB9-06CB56BC4163}"/>
              </a:ext>
            </a:extLst>
          </p:cNvPr>
          <p:cNvSpPr txBox="1"/>
          <p:nvPr/>
        </p:nvSpPr>
        <p:spPr>
          <a:xfrm>
            <a:off x="4450125" y="1335770"/>
            <a:ext cx="2194765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300" b="1" dirty="0"/>
              <a:t>Approach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DC9B5A-3958-B1EA-A0D4-8E50751BD158}"/>
              </a:ext>
            </a:extLst>
          </p:cNvPr>
          <p:cNvSpPr txBox="1"/>
          <p:nvPr/>
        </p:nvSpPr>
        <p:spPr>
          <a:xfrm>
            <a:off x="2086493" y="1354646"/>
            <a:ext cx="5587008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AU" sz="1300" b="1" dirty="0"/>
              <a:t>Objectives</a:t>
            </a:r>
            <a:endParaRPr lang="en-US" sz="13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90228-47EB-DCCF-D2FE-C4DB7F5BEF23}"/>
              </a:ext>
            </a:extLst>
          </p:cNvPr>
          <p:cNvSpPr txBox="1"/>
          <p:nvPr/>
        </p:nvSpPr>
        <p:spPr>
          <a:xfrm>
            <a:off x="4450125" y="1777095"/>
            <a:ext cx="2914951" cy="2208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/>
              <a:t>Week 0:</a:t>
            </a:r>
            <a:r>
              <a:rPr sz="1100" b="0"/>
              <a:t> launch data requests, confirm stakeholders, finalize surveys, and frame hypotheses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/>
              <a:t>Weeks 1-2:</a:t>
            </a:r>
            <a:r>
              <a:rPr sz="1100" b="0"/>
              <a:t> baseline spend across applications, infrastructure, cybersecurity, and labor; benchmark cost, productivity, and delivery and engineering maturity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/>
              <a:t>Weeks 3-6:</a:t>
            </a:r>
            <a:r>
              <a:rPr sz="1100" b="0"/>
              <a:t> deep dives into high-potential areas (infrastructure, vendor contracts, developer productivity), pressure tested in 5-10 leadership interviews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/>
              <a:t>Weeks 7-8:</a:t>
            </a:r>
            <a:r>
              <a:rPr sz="1100" b="0"/>
              <a:t> prioritize initiatives with savings, owners, and implications, sequenced into a high-level roadmap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69F4C1-7F04-95EB-667F-5A95233F5DAA}"/>
              </a:ext>
            </a:extLst>
          </p:cNvPr>
          <p:cNvSpPr txBox="1"/>
          <p:nvPr/>
        </p:nvSpPr>
        <p:spPr>
          <a:xfrm>
            <a:off x="2086494" y="1777095"/>
            <a:ext cx="1945180" cy="1097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sz="1200" b="1"/>
              <a:t>Establish what every technology dollar delivers today,</a:t>
            </a:r>
            <a:r>
              <a:rPr sz="1200" b="0"/>
              <a:t> where to rebalance to fund the future, and how capabilities compare with best in class</a:t>
            </a:r>
            <a:endParaRPr lang="en-US" sz="1200" i="1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DC274FF-8D72-734B-ADB7-7B587A2502EE}"/>
              </a:ext>
            </a:extLst>
          </p:cNvPr>
          <p:cNvSpPr>
            <a:spLocks/>
          </p:cNvSpPr>
          <p:nvPr/>
        </p:nvSpPr>
        <p:spPr>
          <a:xfrm>
            <a:off x="554736" y="1777093"/>
            <a:ext cx="1266204" cy="2389473"/>
          </a:xfrm>
          <a:prstGeom prst="rect">
            <a:avLst/>
          </a:prstGeom>
          <a:solidFill>
            <a:schemeClr val="accent4"/>
          </a:solidFill>
          <a:ln w="9525" cap="sq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i="1" dirty="0">
                <a:solidFill>
                  <a:schemeClr val="tx1"/>
                </a:solidFill>
              </a:rPr>
              <a:t>1. Technology Productivity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200" b="1" i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3BD6D-D6ED-12C5-0C1A-B56AE40210C3}"/>
              </a:ext>
            </a:extLst>
          </p:cNvPr>
          <p:cNvSpPr txBox="1"/>
          <p:nvPr/>
        </p:nvSpPr>
        <p:spPr>
          <a:xfrm>
            <a:off x="4450125" y="4362077"/>
            <a:ext cx="2914951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/>
              <a:t>Week 0:</a:t>
            </a:r>
            <a:r>
              <a:rPr sz="1100" b="0"/>
              <a:t> inventory business domains and collect workforce, cost, and process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/>
              <a:t>Weeks 1-2:</a:t>
            </a:r>
            <a:r>
              <a:rPr sz="1100" b="0"/>
              <a:t> confirm domains in scope, baseline each, and size initial AI value at stake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/>
              <a:t>Weeks 3-4:</a:t>
            </a:r>
            <a:r>
              <a:rPr sz="1100" b="0"/>
              <a:t> validate value with leaders and select the two priority domains on value, readiness, and feasibility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/>
              <a:t>Weeks 5-8:</a:t>
            </a:r>
            <a:r>
              <a:rPr sz="1100" b="0"/>
              <a:t> reimagine both domains: future-state workflows, roles of people and AI agents, talent model, controls, and technology requirements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9A2324-1D9A-8377-96DF-B1C8EB9E8977}"/>
              </a:ext>
            </a:extLst>
          </p:cNvPr>
          <p:cNvSpPr txBox="1"/>
          <p:nvPr/>
        </p:nvSpPr>
        <p:spPr>
          <a:xfrm>
            <a:off x="2003367" y="4362077"/>
            <a:ext cx="2136371" cy="1097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sz="1200" b="1"/>
              <a:t>Identify where AI creates the greatest business value</a:t>
            </a:r>
            <a:r>
              <a:rPr sz="1200" b="0"/>
              <a:t> and redesign priority workflows around human and AI collaboration</a:t>
            </a:r>
            <a:endParaRPr lang="en-US" sz="1200" i="1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16F1018-3156-0C99-3F1F-C0770F7D639B}"/>
              </a:ext>
            </a:extLst>
          </p:cNvPr>
          <p:cNvSpPr>
            <a:spLocks/>
          </p:cNvSpPr>
          <p:nvPr/>
        </p:nvSpPr>
        <p:spPr>
          <a:xfrm>
            <a:off x="554736" y="4362077"/>
            <a:ext cx="1266204" cy="2389473"/>
          </a:xfrm>
          <a:prstGeom prst="rect">
            <a:avLst/>
          </a:prstGeom>
          <a:solidFill>
            <a:schemeClr val="accent4"/>
          </a:solidFill>
          <a:ln w="9525" cap="sq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3340" tIns="7620" rIns="53340" bIns="76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i="1" dirty="0">
                <a:solidFill>
                  <a:schemeClr val="tx1"/>
                </a:solidFill>
              </a:rPr>
              <a:t>2. AI-enabled Reimagination</a:t>
            </a:r>
            <a:endParaRPr lang="en-US" sz="1200" b="1" i="1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E9BB4F-920A-7984-C75B-209F41714D64}"/>
              </a:ext>
            </a:extLst>
          </p:cNvPr>
          <p:cNvCxnSpPr>
            <a:cxnSpLocks/>
          </p:cNvCxnSpPr>
          <p:nvPr/>
        </p:nvCxnSpPr>
        <p:spPr>
          <a:xfrm>
            <a:off x="4265160" y="1777095"/>
            <a:ext cx="0" cy="227692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A6461F5-1E93-8AEB-87F1-8B341AD77653}"/>
              </a:ext>
            </a:extLst>
          </p:cNvPr>
          <p:cNvCxnSpPr>
            <a:cxnSpLocks/>
          </p:cNvCxnSpPr>
          <p:nvPr/>
        </p:nvCxnSpPr>
        <p:spPr>
          <a:xfrm>
            <a:off x="7624355" y="1777093"/>
            <a:ext cx="0" cy="227692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54A187-FD48-F3EE-73CC-B6C584BBE17C}"/>
              </a:ext>
            </a:extLst>
          </p:cNvPr>
          <p:cNvCxnSpPr>
            <a:cxnSpLocks/>
          </p:cNvCxnSpPr>
          <p:nvPr/>
        </p:nvCxnSpPr>
        <p:spPr>
          <a:xfrm>
            <a:off x="4265160" y="4370390"/>
            <a:ext cx="0" cy="227692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78356B1-DB09-8219-FB34-C0F2F00DFD80}"/>
              </a:ext>
            </a:extLst>
          </p:cNvPr>
          <p:cNvCxnSpPr>
            <a:cxnSpLocks/>
          </p:cNvCxnSpPr>
          <p:nvPr/>
        </p:nvCxnSpPr>
        <p:spPr>
          <a:xfrm>
            <a:off x="7624355" y="4362077"/>
            <a:ext cx="0" cy="227692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C676A03-8714-7637-4474-DCBFBA2D8238}"/>
              </a:ext>
            </a:extLst>
          </p:cNvPr>
          <p:cNvSpPr txBox="1"/>
          <p:nvPr/>
        </p:nvSpPr>
        <p:spPr>
          <a:xfrm>
            <a:off x="7842368" y="1326662"/>
            <a:ext cx="219476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b="1" dirty="0"/>
              <a:t>Key Assets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B1E13B-D058-2C46-B9A9-6A62C074DDEA}"/>
              </a:ext>
            </a:extLst>
          </p:cNvPr>
          <p:cNvSpPr txBox="1"/>
          <p:nvPr/>
        </p:nvSpPr>
        <p:spPr>
          <a:xfrm>
            <a:off x="9853291" y="1351159"/>
            <a:ext cx="219476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b="1" dirty="0"/>
              <a:t>Outputs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CE5EFB-610C-0029-6A45-3385DE279C84}"/>
              </a:ext>
            </a:extLst>
          </p:cNvPr>
          <p:cNvSpPr txBox="1"/>
          <p:nvPr/>
        </p:nvSpPr>
        <p:spPr>
          <a:xfrm>
            <a:off x="7807965" y="1777095"/>
            <a:ext cx="1811898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Arial" panose="020B0604020202020204" pitchFamily="34" charset="0"/>
              <a:buChar char="•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Wingdings" panose="05000000000000000000" pitchFamily="2" charset="2"/>
              <a:buChar char="§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mazon Ember Display" panose="020F0603020204020204" pitchFamily="34" charset="0"/>
              <a:buChar char="–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Arial" panose="020B0604020202020204" pitchFamily="34" charset="0"/>
              <a:buChar char="•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dirty="0"/>
              <a:t>• Tech Performance Assessment</a:t>
            </a:r>
            <a:br>
              <a:rPr lang="en-US" sz="1200" dirty="0"/>
            </a:br>
            <a:r>
              <a:rPr lang="en-US" sz="1200" dirty="0"/>
              <a:t>• Technology Quotient</a:t>
            </a:r>
            <a:br>
              <a:rPr lang="en-US" sz="1200" dirty="0"/>
            </a:br>
            <a:r>
              <a:rPr lang="en-US" sz="1200" dirty="0"/>
              <a:t>• DVI / Engineering Maturity Assessment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4BC187-BB2C-A8BF-B7C3-A7F9403714EA}"/>
              </a:ext>
            </a:extLst>
          </p:cNvPr>
          <p:cNvSpPr txBox="1"/>
          <p:nvPr/>
        </p:nvSpPr>
        <p:spPr>
          <a:xfrm>
            <a:off x="7807965" y="4362077"/>
            <a:ext cx="1919505" cy="81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Arial" panose="020B0604020202020204" pitchFamily="34" charset="0"/>
              <a:buChar char="•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Wingdings" panose="05000000000000000000" pitchFamily="2" charset="2"/>
              <a:buChar char="§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mazon Ember Display" panose="020F0603020204020204" pitchFamily="34" charset="0"/>
              <a:buChar char="–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Arial" panose="020B0604020202020204" pitchFamily="34" charset="0"/>
              <a:buChar char="•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/>
              <a:t/>
            </a:r>
            <a:r>
              <a:rPr sz="1200" b="0"/>
              <a:t>Celonis Process Intelligence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/>
              <a:t/>
            </a:r>
            <a:r>
              <a:rPr sz="1200" b="0"/>
              <a:t>McKinsey AI value-at-stake sizing tool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C19D370-927C-FB82-7039-14D02CC3EEEE}"/>
              </a:ext>
            </a:extLst>
          </p:cNvPr>
          <p:cNvCxnSpPr>
            <a:cxnSpLocks/>
          </p:cNvCxnSpPr>
          <p:nvPr/>
        </p:nvCxnSpPr>
        <p:spPr>
          <a:xfrm>
            <a:off x="9727474" y="1777093"/>
            <a:ext cx="0" cy="227692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C590978-7AEA-0976-094E-371E90063540}"/>
              </a:ext>
            </a:extLst>
          </p:cNvPr>
          <p:cNvCxnSpPr>
            <a:cxnSpLocks/>
          </p:cNvCxnSpPr>
          <p:nvPr/>
        </p:nvCxnSpPr>
        <p:spPr>
          <a:xfrm>
            <a:off x="9727474" y="4362077"/>
            <a:ext cx="0" cy="227692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2B5A192-7807-4C0A-E885-3E928D67DFC5}"/>
              </a:ext>
            </a:extLst>
          </p:cNvPr>
          <p:cNvSpPr txBox="1"/>
          <p:nvPr/>
        </p:nvSpPr>
        <p:spPr>
          <a:xfrm>
            <a:off x="9835085" y="1798015"/>
            <a:ext cx="1811897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Arial" panose="020B0604020202020204" pitchFamily="34" charset="0"/>
              <a:buChar char="•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Wingdings" panose="05000000000000000000" pitchFamily="2" charset="2"/>
              <a:buChar char="§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mazon Ember Display" panose="020F0603020204020204" pitchFamily="34" charset="0"/>
              <a:buChar char="–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Arial" panose="020B0604020202020204" pitchFamily="34" charset="0"/>
              <a:buChar char="•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Peer-benchmarked technology cost baseline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Quantified business cases for priority optimization levers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Leadership-aligned technology roadmap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A9AC59-4E15-62C0-A55B-92B9B344E0AD}"/>
              </a:ext>
            </a:extLst>
          </p:cNvPr>
          <p:cNvSpPr txBox="1"/>
          <p:nvPr/>
        </p:nvSpPr>
        <p:spPr>
          <a:xfrm>
            <a:off x="9853291" y="4362077"/>
            <a:ext cx="1793692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82880" lvl="1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Arial" panose="020B0604020202020204" pitchFamily="34" charset="0"/>
              <a:buChar char="•"/>
              <a:defRPr lang="en-US" sz="1600" dirty="0"/>
            </a:lvl2pPr>
            <a:lvl3pPr marL="365760" lvl="2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Wingdings" panose="05000000000000000000" pitchFamily="2" charset="2"/>
              <a:buChar char="§"/>
              <a:defRPr lang="en-US" sz="1600" dirty="0"/>
            </a:lvl3pPr>
            <a:lvl4pPr marL="54864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mazon Ember Display" panose="020F0603020204020204" pitchFamily="34" charset="0"/>
              <a:buChar char="–"/>
              <a:defRPr lang="en-US" sz="1600" dirty="0"/>
            </a:lvl4pPr>
            <a:lvl5pPr marL="731520" lvl="4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 typeface="Arial" panose="020B0604020202020204" pitchFamily="34" charset="0"/>
              <a:buChar char="•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/>
              <a:t>Current-state baselines</a:t>
            </a:r>
            <a:r>
              <a:rPr sz="1100" b="0"/>
              <a:t> and quantified AI value at stake across priority domains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/>
              <a:t>Two priority domains</a:t>
            </a:r>
            <a:r>
              <a:rPr sz="1100" b="0"/>
              <a:t> selected for reimagination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/>
              <a:t>Future-state workflows</a:t>
            </a:r>
            <a:r>
              <a:rPr sz="1100" b="0"/>
              <a:t> and enabling capabilities (talent, operating model, controls)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12DA933-2F71-D373-876A-DFD1C9CDF933}"/>
              </a:ext>
            </a:extLst>
          </p:cNvPr>
          <p:cNvCxnSpPr>
            <a:cxnSpLocks/>
          </p:cNvCxnSpPr>
          <p:nvPr/>
        </p:nvCxnSpPr>
        <p:spPr>
          <a:xfrm>
            <a:off x="554038" y="1101921"/>
            <a:ext cx="11030269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58C2EA9-A8EC-100B-3251-16438E10F6BA}"/>
              </a:ext>
            </a:extLst>
          </p:cNvPr>
          <p:cNvSpPr txBox="1"/>
          <p:nvPr/>
        </p:nvSpPr>
        <p:spPr>
          <a:xfrm>
            <a:off x="5723416" y="994173"/>
            <a:ext cx="1033957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lang="en-US" sz="1600" dirty="0"/>
            </a:lvl2pPr>
            <a:lvl3pPr marL="512064" lvl="2" indent="-28346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—"/>
              <a:defRPr lang="en-US" sz="1600" dirty="0"/>
            </a:lvl3pPr>
            <a:lvl4pPr marL="740664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»"/>
              <a:defRPr lang="en-US" sz="1600" dirty="0"/>
            </a:lvl4pPr>
            <a:lvl5pPr marL="914400" lvl="4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en-US" sz="1200" b="1" dirty="0"/>
              <a:t>8 weeks</a:t>
            </a:r>
          </a:p>
        </p:txBody>
      </p:sp>
      <p:cxnSp>
        <p:nvCxnSpPr>
          <p:cNvPr id="52" name="GreyLineSeparatorDefaultVertical 42">
            <a:extLst>
              <a:ext uri="{FF2B5EF4-FFF2-40B4-BE49-F238E27FC236}">
                <a16:creationId xmlns:a16="http://schemas.microsoft.com/office/drawing/2014/main" id="{FF78AD8E-21E9-7B33-AA13-36E2895F8784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554038" y="1036257"/>
            <a:ext cx="0" cy="125914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reyLineSeparatorDefaultVertical 42">
            <a:extLst>
              <a:ext uri="{FF2B5EF4-FFF2-40B4-BE49-F238E27FC236}">
                <a16:creationId xmlns:a16="http://schemas.microsoft.com/office/drawing/2014/main" id="{4657A0A5-2468-3EE1-0142-B9B38D9F2E21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11584307" y="1036257"/>
            <a:ext cx="0" cy="125914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AF1E9393-FA50-E9FB-89ED-1DA9C3AD6E47}"/>
              </a:ext>
            </a:extLst>
          </p:cNvPr>
          <p:cNvSpPr>
            <a:spLocks/>
          </p:cNvSpPr>
          <p:nvPr/>
        </p:nvSpPr>
        <p:spPr>
          <a:xfrm rot="5400000">
            <a:off x="594895" y="2940525"/>
            <a:ext cx="2389474" cy="62615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40000">
                <a:schemeClr val="accent3"/>
              </a:gs>
              <a:gs pos="70000">
                <a:schemeClr val="accent5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highlight>
                <a:srgbClr val="FFFF00"/>
              </a:highlight>
              <a:uLnTx/>
              <a:uFillTx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E541C8D-9C4F-88CC-4C22-D2CEFF08DB3D}"/>
              </a:ext>
            </a:extLst>
          </p:cNvPr>
          <p:cNvSpPr>
            <a:spLocks/>
          </p:cNvSpPr>
          <p:nvPr/>
        </p:nvSpPr>
        <p:spPr>
          <a:xfrm rot="5400000">
            <a:off x="588564" y="5525506"/>
            <a:ext cx="2389474" cy="62615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40000">
                <a:schemeClr val="accent3"/>
              </a:gs>
              <a:gs pos="70000">
                <a:schemeClr val="accent5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highlight>
                <a:srgbClr val="FFFF00"/>
              </a:highlight>
              <a:uLnTx/>
              <a:uFillTx/>
              <a:ea typeface="+mn-ea"/>
              <a:cs typeface="+mn-cs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E88C6DA-E7DC-7D38-87C8-74DA7020751F}"/>
              </a:ext>
            </a:extLst>
          </p:cNvPr>
          <p:cNvGrpSpPr/>
          <p:nvPr/>
        </p:nvGrpSpPr>
        <p:grpSpPr>
          <a:xfrm>
            <a:off x="655495" y="3353234"/>
            <a:ext cx="844772" cy="592725"/>
            <a:chOff x="9229207" y="2673678"/>
            <a:chExt cx="1854700" cy="125918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63B8B88-C3FA-72F8-9BA3-09EAE12635F6}"/>
                </a:ext>
              </a:extLst>
            </p:cNvPr>
            <p:cNvSpPr/>
            <p:nvPr/>
          </p:nvSpPr>
          <p:spPr>
            <a:xfrm rot="18900000">
              <a:off x="9692872" y="3067570"/>
              <a:ext cx="827919" cy="827917"/>
            </a:xfrm>
            <a:custGeom>
              <a:avLst/>
              <a:gdLst>
                <a:gd name="connsiteX0" fmla="*/ 827919 w 827919"/>
                <a:gd name="connsiteY0" fmla="*/ 413959 h 827917"/>
                <a:gd name="connsiteX1" fmla="*/ 413960 w 827919"/>
                <a:gd name="connsiteY1" fmla="*/ 827918 h 827917"/>
                <a:gd name="connsiteX2" fmla="*/ 0 w 827919"/>
                <a:gd name="connsiteY2" fmla="*/ 413959 h 827917"/>
                <a:gd name="connsiteX3" fmla="*/ 413960 w 827919"/>
                <a:gd name="connsiteY3" fmla="*/ 0 h 827917"/>
                <a:gd name="connsiteX4" fmla="*/ 827919 w 827919"/>
                <a:gd name="connsiteY4" fmla="*/ 413959 h 827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19" h="827917">
                  <a:moveTo>
                    <a:pt x="827919" y="413959"/>
                  </a:moveTo>
                  <a:cubicBezTo>
                    <a:pt x="827919" y="642582"/>
                    <a:pt x="642583" y="827918"/>
                    <a:pt x="413960" y="827918"/>
                  </a:cubicBezTo>
                  <a:cubicBezTo>
                    <a:pt x="185336" y="827918"/>
                    <a:pt x="0" y="642582"/>
                    <a:pt x="0" y="413959"/>
                  </a:cubicBezTo>
                  <a:cubicBezTo>
                    <a:pt x="0" y="185336"/>
                    <a:pt x="185336" y="0"/>
                    <a:pt x="413960" y="0"/>
                  </a:cubicBezTo>
                  <a:cubicBezTo>
                    <a:pt x="642583" y="0"/>
                    <a:pt x="827919" y="185336"/>
                    <a:pt x="827919" y="413959"/>
                  </a:cubicBezTo>
                  <a:close/>
                </a:path>
              </a:pathLst>
            </a:custGeom>
            <a:solidFill>
              <a:srgbClr val="2656F4"/>
            </a:solidFill>
            <a:ln w="101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9961C3F-2B7F-FC65-5B92-2B984CEF3F4D}"/>
                </a:ext>
              </a:extLst>
            </p:cNvPr>
            <p:cNvGrpSpPr/>
            <p:nvPr/>
          </p:nvGrpSpPr>
          <p:grpSpPr>
            <a:xfrm>
              <a:off x="9229207" y="2673678"/>
              <a:ext cx="1854700" cy="1259183"/>
              <a:chOff x="9229207" y="2673678"/>
              <a:chExt cx="1854700" cy="1259183"/>
            </a:xfrm>
          </p:grpSpPr>
          <p:grpSp>
            <p:nvGrpSpPr>
              <p:cNvPr id="76" name="Graphic 42">
                <a:extLst>
                  <a:ext uri="{FF2B5EF4-FFF2-40B4-BE49-F238E27FC236}">
                    <a16:creationId xmlns:a16="http://schemas.microsoft.com/office/drawing/2014/main" id="{70638D93-0A23-C666-EFF6-AEBD946522F7}"/>
                  </a:ext>
                </a:extLst>
              </p:cNvPr>
              <p:cNvGrpSpPr/>
              <p:nvPr/>
            </p:nvGrpSpPr>
            <p:grpSpPr>
              <a:xfrm>
                <a:off x="9229207" y="2849058"/>
                <a:ext cx="812646" cy="980109"/>
                <a:chOff x="9229207" y="2849058"/>
                <a:chExt cx="812646" cy="980109"/>
              </a:xfrm>
            </p:grpSpPr>
            <p:grpSp>
              <p:nvGrpSpPr>
                <p:cNvPr id="124" name="Graphic 42">
                  <a:extLst>
                    <a:ext uri="{FF2B5EF4-FFF2-40B4-BE49-F238E27FC236}">
                      <a16:creationId xmlns:a16="http://schemas.microsoft.com/office/drawing/2014/main" id="{89EC16A9-1D64-14CA-8B39-5116F1BE9090}"/>
                    </a:ext>
                  </a:extLst>
                </p:cNvPr>
                <p:cNvGrpSpPr/>
                <p:nvPr/>
              </p:nvGrpSpPr>
              <p:grpSpPr>
                <a:xfrm>
                  <a:off x="9229207" y="2849058"/>
                  <a:ext cx="812646" cy="980109"/>
                  <a:chOff x="9229207" y="2849058"/>
                  <a:chExt cx="812646" cy="980109"/>
                </a:xfrm>
              </p:grpSpPr>
              <p:sp>
                <p:nvSpPr>
                  <p:cNvPr id="152" name="Freeform: Shape 151">
                    <a:extLst>
                      <a:ext uri="{FF2B5EF4-FFF2-40B4-BE49-F238E27FC236}">
                        <a16:creationId xmlns:a16="http://schemas.microsoft.com/office/drawing/2014/main" id="{B65CE701-0A6E-AE5B-091B-D3BB8D9B651C}"/>
                      </a:ext>
                    </a:extLst>
                  </p:cNvPr>
                  <p:cNvSpPr/>
                  <p:nvPr/>
                </p:nvSpPr>
                <p:spPr>
                  <a:xfrm rot="-749399">
                    <a:off x="9314804" y="2908224"/>
                    <a:ext cx="641450" cy="861778"/>
                  </a:xfrm>
                  <a:custGeom>
                    <a:avLst/>
                    <a:gdLst>
                      <a:gd name="connsiteX0" fmla="*/ 0 w 641450"/>
                      <a:gd name="connsiteY0" fmla="*/ 0 h 861778"/>
                      <a:gd name="connsiteX1" fmla="*/ 641450 w 641450"/>
                      <a:gd name="connsiteY1" fmla="*/ 0 h 861778"/>
                      <a:gd name="connsiteX2" fmla="*/ 641450 w 641450"/>
                      <a:gd name="connsiteY2" fmla="*/ 861779 h 861778"/>
                      <a:gd name="connsiteX3" fmla="*/ 0 w 641450"/>
                      <a:gd name="connsiteY3" fmla="*/ 861779 h 861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1450" h="861778">
                        <a:moveTo>
                          <a:pt x="0" y="0"/>
                        </a:moveTo>
                        <a:lnTo>
                          <a:pt x="641450" y="0"/>
                        </a:lnTo>
                        <a:lnTo>
                          <a:pt x="641450" y="861779"/>
                        </a:lnTo>
                        <a:lnTo>
                          <a:pt x="0" y="861779"/>
                        </a:lnTo>
                        <a:close/>
                      </a:path>
                    </a:pathLst>
                  </a:custGeom>
                  <a:solidFill>
                    <a:srgbClr val="47A7ED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3" name="Freeform: Shape 152">
                    <a:extLst>
                      <a:ext uri="{FF2B5EF4-FFF2-40B4-BE49-F238E27FC236}">
                        <a16:creationId xmlns:a16="http://schemas.microsoft.com/office/drawing/2014/main" id="{4F889016-DC01-E81F-E1D5-AB7F99ED6ABF}"/>
                      </a:ext>
                    </a:extLst>
                  </p:cNvPr>
                  <p:cNvSpPr/>
                  <p:nvPr/>
                </p:nvSpPr>
                <p:spPr>
                  <a:xfrm rot="-749399">
                    <a:off x="9347732" y="2936276"/>
                    <a:ext cx="573260" cy="795187"/>
                  </a:xfrm>
                  <a:custGeom>
                    <a:avLst/>
                    <a:gdLst>
                      <a:gd name="connsiteX0" fmla="*/ 0 w 573260"/>
                      <a:gd name="connsiteY0" fmla="*/ 0 h 795187"/>
                      <a:gd name="connsiteX1" fmla="*/ 573260 w 573260"/>
                      <a:gd name="connsiteY1" fmla="*/ 0 h 795187"/>
                      <a:gd name="connsiteX2" fmla="*/ 573260 w 573260"/>
                      <a:gd name="connsiteY2" fmla="*/ 795188 h 795187"/>
                      <a:gd name="connsiteX3" fmla="*/ 0 w 573260"/>
                      <a:gd name="connsiteY3" fmla="*/ 795188 h 7951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73260" h="795187">
                        <a:moveTo>
                          <a:pt x="0" y="0"/>
                        </a:moveTo>
                        <a:lnTo>
                          <a:pt x="573260" y="0"/>
                        </a:lnTo>
                        <a:lnTo>
                          <a:pt x="573260" y="795188"/>
                        </a:lnTo>
                        <a:lnTo>
                          <a:pt x="0" y="79518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4" name="Freeform: Shape 153">
                    <a:extLst>
                      <a:ext uri="{FF2B5EF4-FFF2-40B4-BE49-F238E27FC236}">
                        <a16:creationId xmlns:a16="http://schemas.microsoft.com/office/drawing/2014/main" id="{BAB00E32-FDAB-26AF-B5F2-2BAA0726CA97}"/>
                      </a:ext>
                    </a:extLst>
                  </p:cNvPr>
                  <p:cNvSpPr/>
                  <p:nvPr/>
                </p:nvSpPr>
                <p:spPr>
                  <a:xfrm>
                    <a:off x="9437381" y="2895199"/>
                    <a:ext cx="216920" cy="97877"/>
                  </a:xfrm>
                  <a:custGeom>
                    <a:avLst/>
                    <a:gdLst>
                      <a:gd name="connsiteX0" fmla="*/ 0 w 216920"/>
                      <a:gd name="connsiteY0" fmla="*/ 46482 h 97877"/>
                      <a:gd name="connsiteX1" fmla="*/ 6316 w 216920"/>
                      <a:gd name="connsiteY1" fmla="*/ 74985 h 97877"/>
                      <a:gd name="connsiteX2" fmla="*/ 41104 w 216920"/>
                      <a:gd name="connsiteY2" fmla="*/ 97182 h 97877"/>
                      <a:gd name="connsiteX3" fmla="*/ 194058 w 216920"/>
                      <a:gd name="connsiteY3" fmla="*/ 63311 h 97877"/>
                      <a:gd name="connsiteX4" fmla="*/ 216224 w 216920"/>
                      <a:gd name="connsiteY4" fmla="*/ 28503 h 97877"/>
                      <a:gd name="connsiteX5" fmla="*/ 209908 w 216920"/>
                      <a:gd name="connsiteY5" fmla="*/ 0 h 97877"/>
                      <a:gd name="connsiteX6" fmla="*/ 10 w 216920"/>
                      <a:gd name="connsiteY6" fmla="*/ 46492 h 978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6920" h="97877">
                        <a:moveTo>
                          <a:pt x="0" y="46482"/>
                        </a:moveTo>
                        <a:lnTo>
                          <a:pt x="6316" y="74985"/>
                        </a:lnTo>
                        <a:cubicBezTo>
                          <a:pt x="9800" y="90723"/>
                          <a:pt x="25375" y="100665"/>
                          <a:pt x="41104" y="97182"/>
                        </a:cubicBezTo>
                        <a:lnTo>
                          <a:pt x="194058" y="63311"/>
                        </a:lnTo>
                        <a:cubicBezTo>
                          <a:pt x="209786" y="59827"/>
                          <a:pt x="219708" y="44241"/>
                          <a:pt x="216224" y="28503"/>
                        </a:cubicBezTo>
                        <a:lnTo>
                          <a:pt x="209908" y="0"/>
                        </a:lnTo>
                        <a:lnTo>
                          <a:pt x="10" y="46492"/>
                        </a:lnTo>
                        <a:close/>
                      </a:path>
                    </a:pathLst>
                  </a:custGeom>
                  <a:solidFill>
                    <a:srgbClr val="0A1C2B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25" name="Graphic 42">
                  <a:extLst>
                    <a:ext uri="{FF2B5EF4-FFF2-40B4-BE49-F238E27FC236}">
                      <a16:creationId xmlns:a16="http://schemas.microsoft.com/office/drawing/2014/main" id="{ADC781EE-2895-D680-D7EF-5DD186BE7327}"/>
                    </a:ext>
                  </a:extLst>
                </p:cNvPr>
                <p:cNvGrpSpPr/>
                <p:nvPr/>
              </p:nvGrpSpPr>
              <p:grpSpPr>
                <a:xfrm>
                  <a:off x="9359584" y="3014670"/>
                  <a:ext cx="423935" cy="713670"/>
                  <a:chOff x="9359584" y="3014670"/>
                  <a:chExt cx="423935" cy="713670"/>
                </a:xfrm>
              </p:grpSpPr>
              <p:grpSp>
                <p:nvGrpSpPr>
                  <p:cNvPr id="126" name="Graphic 42">
                    <a:extLst>
                      <a:ext uri="{FF2B5EF4-FFF2-40B4-BE49-F238E27FC236}">
                        <a16:creationId xmlns:a16="http://schemas.microsoft.com/office/drawing/2014/main" id="{97D3329A-18C8-A110-1C3A-020FBC5C4BCA}"/>
                      </a:ext>
                    </a:extLst>
                  </p:cNvPr>
                  <p:cNvGrpSpPr/>
                  <p:nvPr/>
                </p:nvGrpSpPr>
                <p:grpSpPr>
                  <a:xfrm>
                    <a:off x="9395921" y="3196805"/>
                    <a:ext cx="123646" cy="141598"/>
                    <a:chOff x="9395921" y="3196805"/>
                    <a:chExt cx="123646" cy="141598"/>
                  </a:xfrm>
                  <a:solidFill>
                    <a:srgbClr val="AEC3FF"/>
                  </a:solidFill>
                </p:grpSpPr>
                <p:sp>
                  <p:nvSpPr>
                    <p:cNvPr id="150" name="Freeform: Shape 149">
                      <a:extLst>
                        <a:ext uri="{FF2B5EF4-FFF2-40B4-BE49-F238E27FC236}">
                          <a16:creationId xmlns:a16="http://schemas.microsoft.com/office/drawing/2014/main" id="{365DB6B2-7CC5-C9F8-ACFA-66736B91E6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95921" y="3214757"/>
                      <a:ext cx="123646" cy="123646"/>
                    </a:xfrm>
                    <a:custGeom>
                      <a:avLst/>
                      <a:gdLst>
                        <a:gd name="connsiteX0" fmla="*/ 123647 w 123646"/>
                        <a:gd name="connsiteY0" fmla="*/ 101226 h 123646"/>
                        <a:gd name="connsiteX1" fmla="*/ 22421 w 123646"/>
                        <a:gd name="connsiteY1" fmla="*/ 123647 h 123646"/>
                        <a:gd name="connsiteX2" fmla="*/ 0 w 123646"/>
                        <a:gd name="connsiteY2" fmla="*/ 22421 h 123646"/>
                        <a:gd name="connsiteX3" fmla="*/ 101226 w 123646"/>
                        <a:gd name="connsiteY3" fmla="*/ 0 h 123646"/>
                        <a:gd name="connsiteX4" fmla="*/ 123647 w 123646"/>
                        <a:gd name="connsiteY4" fmla="*/ 101226 h 123646"/>
                        <a:gd name="connsiteX5" fmla="*/ 26129 w 123646"/>
                        <a:gd name="connsiteY5" fmla="*/ 117820 h 123646"/>
                        <a:gd name="connsiteX6" fmla="*/ 117820 w 123646"/>
                        <a:gd name="connsiteY6" fmla="*/ 97508 h 123646"/>
                        <a:gd name="connsiteX7" fmla="*/ 97518 w 123646"/>
                        <a:gd name="connsiteY7" fmla="*/ 5817 h 123646"/>
                        <a:gd name="connsiteX8" fmla="*/ 5827 w 123646"/>
                        <a:gd name="connsiteY8" fmla="*/ 26129 h 123646"/>
                        <a:gd name="connsiteX9" fmla="*/ 26139 w 123646"/>
                        <a:gd name="connsiteY9" fmla="*/ 117820 h 1236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23646" h="123646">
                          <a:moveTo>
                            <a:pt x="123647" y="101226"/>
                          </a:moveTo>
                          <a:lnTo>
                            <a:pt x="22421" y="123647"/>
                          </a:lnTo>
                          <a:lnTo>
                            <a:pt x="0" y="22421"/>
                          </a:lnTo>
                          <a:lnTo>
                            <a:pt x="101226" y="0"/>
                          </a:lnTo>
                          <a:lnTo>
                            <a:pt x="123647" y="101226"/>
                          </a:lnTo>
                          <a:close/>
                          <a:moveTo>
                            <a:pt x="26129" y="117820"/>
                          </a:moveTo>
                          <a:lnTo>
                            <a:pt x="117820" y="97508"/>
                          </a:lnTo>
                          <a:lnTo>
                            <a:pt x="97518" y="5817"/>
                          </a:lnTo>
                          <a:lnTo>
                            <a:pt x="5827" y="26129"/>
                          </a:lnTo>
                          <a:lnTo>
                            <a:pt x="26139" y="117820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" name="Freeform: Shape 150">
                      <a:extLst>
                        <a:ext uri="{FF2B5EF4-FFF2-40B4-BE49-F238E27FC236}">
                          <a16:creationId xmlns:a16="http://schemas.microsoft.com/office/drawing/2014/main" id="{CEF633FA-F0C5-475E-391B-D99C28C5D7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18455" y="3196805"/>
                      <a:ext cx="85665" cy="109651"/>
                    </a:xfrm>
                    <a:custGeom>
                      <a:avLst/>
                      <a:gdLst>
                        <a:gd name="connsiteX0" fmla="*/ 48508 w 85665"/>
                        <a:gd name="connsiteY0" fmla="*/ 109480 h 109651"/>
                        <a:gd name="connsiteX1" fmla="*/ 42427 w 85665"/>
                        <a:gd name="connsiteY1" fmla="*/ 108105 h 109651"/>
                        <a:gd name="connsiteX2" fmla="*/ 2820 w 85665"/>
                        <a:gd name="connsiteY2" fmla="*/ 77239 h 109651"/>
                        <a:gd name="connsiteX3" fmla="*/ 1547 w 85665"/>
                        <a:gd name="connsiteY3" fmla="*/ 66960 h 109651"/>
                        <a:gd name="connsiteX4" fmla="*/ 11825 w 85665"/>
                        <a:gd name="connsiteY4" fmla="*/ 65687 h 109651"/>
                        <a:gd name="connsiteX5" fmla="*/ 43231 w 85665"/>
                        <a:gd name="connsiteY5" fmla="*/ 90166 h 109651"/>
                        <a:gd name="connsiteX6" fmla="*/ 71387 w 85665"/>
                        <a:gd name="connsiteY6" fmla="*/ 5025 h 109651"/>
                        <a:gd name="connsiteX7" fmla="*/ 80637 w 85665"/>
                        <a:gd name="connsiteY7" fmla="*/ 370 h 109651"/>
                        <a:gd name="connsiteX8" fmla="*/ 85292 w 85665"/>
                        <a:gd name="connsiteY8" fmla="*/ 9619 h 109651"/>
                        <a:gd name="connsiteX9" fmla="*/ 53876 w 85665"/>
                        <a:gd name="connsiteY9" fmla="*/ 104631 h 109651"/>
                        <a:gd name="connsiteX10" fmla="*/ 49048 w 85665"/>
                        <a:gd name="connsiteY10" fmla="*/ 109337 h 109651"/>
                        <a:gd name="connsiteX11" fmla="*/ 48508 w 85665"/>
                        <a:gd name="connsiteY11" fmla="*/ 109480 h 1096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85665" h="109651">
                          <a:moveTo>
                            <a:pt x="48508" y="109480"/>
                          </a:moveTo>
                          <a:cubicBezTo>
                            <a:pt x="46389" y="109948"/>
                            <a:pt x="44148" y="109449"/>
                            <a:pt x="42427" y="108105"/>
                          </a:cubicBezTo>
                          <a:lnTo>
                            <a:pt x="2820" y="77239"/>
                          </a:lnTo>
                          <a:cubicBezTo>
                            <a:pt x="-368" y="74753"/>
                            <a:pt x="-939" y="70149"/>
                            <a:pt x="1547" y="66960"/>
                          </a:cubicBezTo>
                          <a:cubicBezTo>
                            <a:pt x="4033" y="63772"/>
                            <a:pt x="8637" y="63201"/>
                            <a:pt x="11825" y="65687"/>
                          </a:cubicBezTo>
                          <a:lnTo>
                            <a:pt x="43231" y="90166"/>
                          </a:lnTo>
                          <a:lnTo>
                            <a:pt x="71387" y="5025"/>
                          </a:lnTo>
                          <a:cubicBezTo>
                            <a:pt x="72661" y="1185"/>
                            <a:pt x="76797" y="-894"/>
                            <a:pt x="80637" y="370"/>
                          </a:cubicBezTo>
                          <a:cubicBezTo>
                            <a:pt x="84477" y="1643"/>
                            <a:pt x="86566" y="5779"/>
                            <a:pt x="85292" y="9619"/>
                          </a:cubicBezTo>
                          <a:lnTo>
                            <a:pt x="53876" y="104631"/>
                          </a:lnTo>
                          <a:cubicBezTo>
                            <a:pt x="53133" y="106892"/>
                            <a:pt x="51330" y="108645"/>
                            <a:pt x="49048" y="109337"/>
                          </a:cubicBezTo>
                          <a:cubicBezTo>
                            <a:pt x="48865" y="109388"/>
                            <a:pt x="48691" y="109439"/>
                            <a:pt x="48508" y="109480"/>
                          </a:cubicBez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27" name="Graphic 42">
                    <a:extLst>
                      <a:ext uri="{FF2B5EF4-FFF2-40B4-BE49-F238E27FC236}">
                        <a16:creationId xmlns:a16="http://schemas.microsoft.com/office/drawing/2014/main" id="{68340C1B-DB23-256E-7E75-7A6E81ABBFF4}"/>
                      </a:ext>
                    </a:extLst>
                  </p:cNvPr>
                  <p:cNvGrpSpPr/>
                  <p:nvPr/>
                </p:nvGrpSpPr>
                <p:grpSpPr>
                  <a:xfrm>
                    <a:off x="9430973" y="3354207"/>
                    <a:ext cx="123646" cy="142478"/>
                    <a:chOff x="9430973" y="3354207"/>
                    <a:chExt cx="123646" cy="142478"/>
                  </a:xfrm>
                  <a:solidFill>
                    <a:srgbClr val="AEC3FF"/>
                  </a:solidFill>
                </p:grpSpPr>
                <p:sp>
                  <p:nvSpPr>
                    <p:cNvPr id="148" name="Freeform: Shape 147">
                      <a:extLst>
                        <a:ext uri="{FF2B5EF4-FFF2-40B4-BE49-F238E27FC236}">
                          <a16:creationId xmlns:a16="http://schemas.microsoft.com/office/drawing/2014/main" id="{A5CC5B29-761A-A4D4-49A2-97E7140FC7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0973" y="3373038"/>
                      <a:ext cx="123646" cy="123646"/>
                    </a:xfrm>
                    <a:custGeom>
                      <a:avLst/>
                      <a:gdLst>
                        <a:gd name="connsiteX0" fmla="*/ 123647 w 123646"/>
                        <a:gd name="connsiteY0" fmla="*/ 101226 h 123646"/>
                        <a:gd name="connsiteX1" fmla="*/ 22421 w 123646"/>
                        <a:gd name="connsiteY1" fmla="*/ 123647 h 123646"/>
                        <a:gd name="connsiteX2" fmla="*/ 0 w 123646"/>
                        <a:gd name="connsiteY2" fmla="*/ 22421 h 123646"/>
                        <a:gd name="connsiteX3" fmla="*/ 101226 w 123646"/>
                        <a:gd name="connsiteY3" fmla="*/ 0 h 123646"/>
                        <a:gd name="connsiteX4" fmla="*/ 123647 w 123646"/>
                        <a:gd name="connsiteY4" fmla="*/ 101226 h 123646"/>
                        <a:gd name="connsiteX5" fmla="*/ 26129 w 123646"/>
                        <a:gd name="connsiteY5" fmla="*/ 117820 h 123646"/>
                        <a:gd name="connsiteX6" fmla="*/ 117820 w 123646"/>
                        <a:gd name="connsiteY6" fmla="*/ 97508 h 123646"/>
                        <a:gd name="connsiteX7" fmla="*/ 97518 w 123646"/>
                        <a:gd name="connsiteY7" fmla="*/ 5817 h 123646"/>
                        <a:gd name="connsiteX8" fmla="*/ 5827 w 123646"/>
                        <a:gd name="connsiteY8" fmla="*/ 26119 h 123646"/>
                        <a:gd name="connsiteX9" fmla="*/ 26139 w 123646"/>
                        <a:gd name="connsiteY9" fmla="*/ 117810 h 1236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23646" h="123646">
                          <a:moveTo>
                            <a:pt x="123647" y="101226"/>
                          </a:moveTo>
                          <a:lnTo>
                            <a:pt x="22421" y="123647"/>
                          </a:lnTo>
                          <a:lnTo>
                            <a:pt x="0" y="22421"/>
                          </a:lnTo>
                          <a:lnTo>
                            <a:pt x="101226" y="0"/>
                          </a:lnTo>
                          <a:lnTo>
                            <a:pt x="123647" y="101226"/>
                          </a:lnTo>
                          <a:close/>
                          <a:moveTo>
                            <a:pt x="26129" y="117820"/>
                          </a:moveTo>
                          <a:lnTo>
                            <a:pt x="117820" y="97508"/>
                          </a:lnTo>
                          <a:lnTo>
                            <a:pt x="97518" y="5817"/>
                          </a:lnTo>
                          <a:lnTo>
                            <a:pt x="5827" y="26119"/>
                          </a:lnTo>
                          <a:lnTo>
                            <a:pt x="26139" y="117810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9" name="Freeform: Shape 148">
                      <a:extLst>
                        <a:ext uri="{FF2B5EF4-FFF2-40B4-BE49-F238E27FC236}">
                          <a16:creationId xmlns:a16="http://schemas.microsoft.com/office/drawing/2014/main" id="{474111E8-7B3B-4D23-CB91-7D34EBBE70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53314" y="3354207"/>
                      <a:ext cx="85676" cy="109655"/>
                    </a:xfrm>
                    <a:custGeom>
                      <a:avLst/>
                      <a:gdLst>
                        <a:gd name="connsiteX0" fmla="*/ 48508 w 85676"/>
                        <a:gd name="connsiteY0" fmla="*/ 109484 h 109655"/>
                        <a:gd name="connsiteX1" fmla="*/ 42427 w 85676"/>
                        <a:gd name="connsiteY1" fmla="*/ 108109 h 109655"/>
                        <a:gd name="connsiteX2" fmla="*/ 2820 w 85676"/>
                        <a:gd name="connsiteY2" fmla="*/ 77243 h 109655"/>
                        <a:gd name="connsiteX3" fmla="*/ 1547 w 85676"/>
                        <a:gd name="connsiteY3" fmla="*/ 66964 h 109655"/>
                        <a:gd name="connsiteX4" fmla="*/ 11825 w 85676"/>
                        <a:gd name="connsiteY4" fmla="*/ 65691 h 109655"/>
                        <a:gd name="connsiteX5" fmla="*/ 43231 w 85676"/>
                        <a:gd name="connsiteY5" fmla="*/ 90170 h 109655"/>
                        <a:gd name="connsiteX6" fmla="*/ 71387 w 85676"/>
                        <a:gd name="connsiteY6" fmla="*/ 5029 h 109655"/>
                        <a:gd name="connsiteX7" fmla="*/ 80647 w 85676"/>
                        <a:gd name="connsiteY7" fmla="*/ 373 h 109655"/>
                        <a:gd name="connsiteX8" fmla="*/ 85303 w 85676"/>
                        <a:gd name="connsiteY8" fmla="*/ 9633 h 109655"/>
                        <a:gd name="connsiteX9" fmla="*/ 53887 w 85676"/>
                        <a:gd name="connsiteY9" fmla="*/ 104645 h 109655"/>
                        <a:gd name="connsiteX10" fmla="*/ 49058 w 85676"/>
                        <a:gd name="connsiteY10" fmla="*/ 109351 h 109655"/>
                        <a:gd name="connsiteX11" fmla="*/ 48518 w 85676"/>
                        <a:gd name="connsiteY11" fmla="*/ 109494 h 10965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85676" h="109655">
                          <a:moveTo>
                            <a:pt x="48508" y="109484"/>
                          </a:moveTo>
                          <a:cubicBezTo>
                            <a:pt x="46389" y="109952"/>
                            <a:pt x="44148" y="109453"/>
                            <a:pt x="42427" y="108109"/>
                          </a:cubicBezTo>
                          <a:lnTo>
                            <a:pt x="2820" y="77243"/>
                          </a:lnTo>
                          <a:cubicBezTo>
                            <a:pt x="-368" y="74757"/>
                            <a:pt x="-939" y="70153"/>
                            <a:pt x="1547" y="66964"/>
                          </a:cubicBezTo>
                          <a:cubicBezTo>
                            <a:pt x="4033" y="63776"/>
                            <a:pt x="8637" y="63205"/>
                            <a:pt x="11825" y="65691"/>
                          </a:cubicBezTo>
                          <a:lnTo>
                            <a:pt x="43231" y="90170"/>
                          </a:lnTo>
                          <a:lnTo>
                            <a:pt x="71387" y="5029"/>
                          </a:lnTo>
                          <a:cubicBezTo>
                            <a:pt x="72661" y="1188"/>
                            <a:pt x="76797" y="-900"/>
                            <a:pt x="80647" y="373"/>
                          </a:cubicBezTo>
                          <a:cubicBezTo>
                            <a:pt x="84488" y="1647"/>
                            <a:pt x="86576" y="5783"/>
                            <a:pt x="85303" y="9633"/>
                          </a:cubicBezTo>
                          <a:lnTo>
                            <a:pt x="53887" y="104645"/>
                          </a:lnTo>
                          <a:cubicBezTo>
                            <a:pt x="53143" y="106907"/>
                            <a:pt x="51340" y="108659"/>
                            <a:pt x="49058" y="109351"/>
                          </a:cubicBezTo>
                          <a:cubicBezTo>
                            <a:pt x="48875" y="109402"/>
                            <a:pt x="48691" y="109453"/>
                            <a:pt x="48518" y="109494"/>
                          </a:cubicBez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28" name="Graphic 42">
                    <a:extLst>
                      <a:ext uri="{FF2B5EF4-FFF2-40B4-BE49-F238E27FC236}">
                        <a16:creationId xmlns:a16="http://schemas.microsoft.com/office/drawing/2014/main" id="{236F75B2-6624-9028-8BB9-5A2D590E950F}"/>
                      </a:ext>
                    </a:extLst>
                  </p:cNvPr>
                  <p:cNvGrpSpPr/>
                  <p:nvPr/>
                </p:nvGrpSpPr>
                <p:grpSpPr>
                  <a:xfrm>
                    <a:off x="9465303" y="3507725"/>
                    <a:ext cx="123646" cy="143951"/>
                    <a:chOff x="9465303" y="3507725"/>
                    <a:chExt cx="123646" cy="143951"/>
                  </a:xfrm>
                  <a:solidFill>
                    <a:srgbClr val="AEC3FF"/>
                  </a:solidFill>
                </p:grpSpPr>
                <p:sp>
                  <p:nvSpPr>
                    <p:cNvPr id="146" name="Freeform: Shape 145">
                      <a:extLst>
                        <a:ext uri="{FF2B5EF4-FFF2-40B4-BE49-F238E27FC236}">
                          <a16:creationId xmlns:a16="http://schemas.microsoft.com/office/drawing/2014/main" id="{76B14E20-616F-997B-9D02-F435371414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65303" y="3528030"/>
                      <a:ext cx="123646" cy="123646"/>
                    </a:xfrm>
                    <a:custGeom>
                      <a:avLst/>
                      <a:gdLst>
                        <a:gd name="connsiteX0" fmla="*/ 123647 w 123646"/>
                        <a:gd name="connsiteY0" fmla="*/ 101226 h 123646"/>
                        <a:gd name="connsiteX1" fmla="*/ 22421 w 123646"/>
                        <a:gd name="connsiteY1" fmla="*/ 123647 h 123646"/>
                        <a:gd name="connsiteX2" fmla="*/ 0 w 123646"/>
                        <a:gd name="connsiteY2" fmla="*/ 22421 h 123646"/>
                        <a:gd name="connsiteX3" fmla="*/ 101226 w 123646"/>
                        <a:gd name="connsiteY3" fmla="*/ 0 h 123646"/>
                        <a:gd name="connsiteX4" fmla="*/ 123647 w 123646"/>
                        <a:gd name="connsiteY4" fmla="*/ 101226 h 123646"/>
                        <a:gd name="connsiteX5" fmla="*/ 26129 w 123646"/>
                        <a:gd name="connsiteY5" fmla="*/ 117820 h 123646"/>
                        <a:gd name="connsiteX6" fmla="*/ 117820 w 123646"/>
                        <a:gd name="connsiteY6" fmla="*/ 97508 h 123646"/>
                        <a:gd name="connsiteX7" fmla="*/ 97508 w 123646"/>
                        <a:gd name="connsiteY7" fmla="*/ 5817 h 123646"/>
                        <a:gd name="connsiteX8" fmla="*/ 5817 w 123646"/>
                        <a:gd name="connsiteY8" fmla="*/ 26129 h 123646"/>
                        <a:gd name="connsiteX9" fmla="*/ 26129 w 123646"/>
                        <a:gd name="connsiteY9" fmla="*/ 117820 h 1236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23646" h="123646">
                          <a:moveTo>
                            <a:pt x="123647" y="101226"/>
                          </a:moveTo>
                          <a:lnTo>
                            <a:pt x="22421" y="123647"/>
                          </a:lnTo>
                          <a:lnTo>
                            <a:pt x="0" y="22421"/>
                          </a:lnTo>
                          <a:lnTo>
                            <a:pt x="101226" y="0"/>
                          </a:lnTo>
                          <a:lnTo>
                            <a:pt x="123647" y="101226"/>
                          </a:lnTo>
                          <a:close/>
                          <a:moveTo>
                            <a:pt x="26129" y="117820"/>
                          </a:moveTo>
                          <a:lnTo>
                            <a:pt x="117820" y="97508"/>
                          </a:lnTo>
                          <a:lnTo>
                            <a:pt x="97508" y="5817"/>
                          </a:lnTo>
                          <a:lnTo>
                            <a:pt x="5817" y="26129"/>
                          </a:lnTo>
                          <a:lnTo>
                            <a:pt x="26129" y="117820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7" name="Freeform: Shape 146">
                      <a:extLst>
                        <a:ext uri="{FF2B5EF4-FFF2-40B4-BE49-F238E27FC236}">
                          <a16:creationId xmlns:a16="http://schemas.microsoft.com/office/drawing/2014/main" id="{06236594-8D9E-C180-8829-0AE0E1FC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87307" y="3507725"/>
                      <a:ext cx="85665" cy="109651"/>
                    </a:xfrm>
                    <a:custGeom>
                      <a:avLst/>
                      <a:gdLst>
                        <a:gd name="connsiteX0" fmla="*/ 48508 w 85665"/>
                        <a:gd name="connsiteY0" fmla="*/ 109480 h 109651"/>
                        <a:gd name="connsiteX1" fmla="*/ 42426 w 85665"/>
                        <a:gd name="connsiteY1" fmla="*/ 108105 h 109651"/>
                        <a:gd name="connsiteX2" fmla="*/ 2820 w 85665"/>
                        <a:gd name="connsiteY2" fmla="*/ 77239 h 109651"/>
                        <a:gd name="connsiteX3" fmla="*/ 1547 w 85665"/>
                        <a:gd name="connsiteY3" fmla="*/ 66960 h 109651"/>
                        <a:gd name="connsiteX4" fmla="*/ 11825 w 85665"/>
                        <a:gd name="connsiteY4" fmla="*/ 65687 h 109651"/>
                        <a:gd name="connsiteX5" fmla="*/ 43231 w 85665"/>
                        <a:gd name="connsiteY5" fmla="*/ 90166 h 109651"/>
                        <a:gd name="connsiteX6" fmla="*/ 71388 w 85665"/>
                        <a:gd name="connsiteY6" fmla="*/ 5025 h 109651"/>
                        <a:gd name="connsiteX7" fmla="*/ 80637 w 85665"/>
                        <a:gd name="connsiteY7" fmla="*/ 370 h 109651"/>
                        <a:gd name="connsiteX8" fmla="*/ 85292 w 85665"/>
                        <a:gd name="connsiteY8" fmla="*/ 9629 h 109651"/>
                        <a:gd name="connsiteX9" fmla="*/ 53876 w 85665"/>
                        <a:gd name="connsiteY9" fmla="*/ 104641 h 109651"/>
                        <a:gd name="connsiteX10" fmla="*/ 49048 w 85665"/>
                        <a:gd name="connsiteY10" fmla="*/ 109347 h 109651"/>
                        <a:gd name="connsiteX11" fmla="*/ 48508 w 85665"/>
                        <a:gd name="connsiteY11" fmla="*/ 109490 h 1096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85665" h="109651">
                          <a:moveTo>
                            <a:pt x="48508" y="109480"/>
                          </a:moveTo>
                          <a:cubicBezTo>
                            <a:pt x="46389" y="109948"/>
                            <a:pt x="44148" y="109449"/>
                            <a:pt x="42426" y="108105"/>
                          </a:cubicBezTo>
                          <a:lnTo>
                            <a:pt x="2820" y="77239"/>
                          </a:lnTo>
                          <a:cubicBezTo>
                            <a:pt x="-368" y="74753"/>
                            <a:pt x="-939" y="70149"/>
                            <a:pt x="1547" y="66960"/>
                          </a:cubicBezTo>
                          <a:cubicBezTo>
                            <a:pt x="4033" y="63772"/>
                            <a:pt x="8637" y="63201"/>
                            <a:pt x="11825" y="65687"/>
                          </a:cubicBezTo>
                          <a:lnTo>
                            <a:pt x="43231" y="90166"/>
                          </a:lnTo>
                          <a:lnTo>
                            <a:pt x="71388" y="5025"/>
                          </a:lnTo>
                          <a:cubicBezTo>
                            <a:pt x="72661" y="1185"/>
                            <a:pt x="76797" y="-894"/>
                            <a:pt x="80637" y="370"/>
                          </a:cubicBezTo>
                          <a:cubicBezTo>
                            <a:pt x="84477" y="1643"/>
                            <a:pt x="86566" y="5779"/>
                            <a:pt x="85292" y="9629"/>
                          </a:cubicBezTo>
                          <a:lnTo>
                            <a:pt x="53876" y="104641"/>
                          </a:lnTo>
                          <a:cubicBezTo>
                            <a:pt x="53133" y="106903"/>
                            <a:pt x="51330" y="108655"/>
                            <a:pt x="49048" y="109347"/>
                          </a:cubicBezTo>
                          <a:cubicBezTo>
                            <a:pt x="48865" y="109398"/>
                            <a:pt x="48691" y="109449"/>
                            <a:pt x="48508" y="109490"/>
                          </a:cubicBez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29" name="Graphic 42">
                    <a:extLst>
                      <a:ext uri="{FF2B5EF4-FFF2-40B4-BE49-F238E27FC236}">
                        <a16:creationId xmlns:a16="http://schemas.microsoft.com/office/drawing/2014/main" id="{E044DA52-4A62-38AD-E90A-12B807A0F9C0}"/>
                      </a:ext>
                    </a:extLst>
                  </p:cNvPr>
                  <p:cNvGrpSpPr/>
                  <p:nvPr/>
                </p:nvGrpSpPr>
                <p:grpSpPr>
                  <a:xfrm>
                    <a:off x="9570614" y="3178732"/>
                    <a:ext cx="212906" cy="98488"/>
                    <a:chOff x="9570614" y="3178732"/>
                    <a:chExt cx="212906" cy="98488"/>
                  </a:xfrm>
                  <a:solidFill>
                    <a:srgbClr val="AEC3FF"/>
                  </a:solidFill>
                </p:grpSpPr>
                <p:sp>
                  <p:nvSpPr>
                    <p:cNvPr id="142" name="Freeform: Shape 141">
                      <a:extLst>
                        <a:ext uri="{FF2B5EF4-FFF2-40B4-BE49-F238E27FC236}">
                          <a16:creationId xmlns:a16="http://schemas.microsoft.com/office/drawing/2014/main" id="{B6241391-BD6B-4A56-78E6-4CB9CCDB9415}"/>
                        </a:ext>
                      </a:extLst>
                    </p:cNvPr>
                    <p:cNvSpPr/>
                    <p:nvPr/>
                  </p:nvSpPr>
                  <p:spPr>
                    <a:xfrm rot="-749399">
                      <a:off x="9569272" y="3200869"/>
                      <a:ext cx="205823" cy="10115"/>
                    </a:xfrm>
                    <a:custGeom>
                      <a:avLst/>
                      <a:gdLst>
                        <a:gd name="connsiteX0" fmla="*/ 0 w 205823"/>
                        <a:gd name="connsiteY0" fmla="*/ 0 h 10115"/>
                        <a:gd name="connsiteX1" fmla="*/ 205824 w 205823"/>
                        <a:gd name="connsiteY1" fmla="*/ 0 h 10115"/>
                        <a:gd name="connsiteX2" fmla="*/ 205824 w 205823"/>
                        <a:gd name="connsiteY2" fmla="*/ 10115 h 10115"/>
                        <a:gd name="connsiteX3" fmla="*/ 0 w 205823"/>
                        <a:gd name="connsiteY3" fmla="*/ 10115 h 10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5823" h="10115">
                          <a:moveTo>
                            <a:pt x="0" y="0"/>
                          </a:moveTo>
                          <a:lnTo>
                            <a:pt x="205824" y="0"/>
                          </a:lnTo>
                          <a:lnTo>
                            <a:pt x="205824" y="10115"/>
                          </a:lnTo>
                          <a:lnTo>
                            <a:pt x="0" y="10115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3" name="Freeform: Shape 142">
                      <a:extLst>
                        <a:ext uri="{FF2B5EF4-FFF2-40B4-BE49-F238E27FC236}">
                          <a16:creationId xmlns:a16="http://schemas.microsoft.com/office/drawing/2014/main" id="{719628E3-3ACD-6ED0-CC11-3936962DA997}"/>
                        </a:ext>
                      </a:extLst>
                    </p:cNvPr>
                    <p:cNvSpPr/>
                    <p:nvPr/>
                  </p:nvSpPr>
                  <p:spPr>
                    <a:xfrm rot="-749399">
                      <a:off x="9579038" y="3244969"/>
                      <a:ext cx="205823" cy="10115"/>
                    </a:xfrm>
                    <a:custGeom>
                      <a:avLst/>
                      <a:gdLst>
                        <a:gd name="connsiteX0" fmla="*/ 0 w 205823"/>
                        <a:gd name="connsiteY0" fmla="*/ 0 h 10115"/>
                        <a:gd name="connsiteX1" fmla="*/ 205824 w 205823"/>
                        <a:gd name="connsiteY1" fmla="*/ 0 h 10115"/>
                        <a:gd name="connsiteX2" fmla="*/ 205824 w 205823"/>
                        <a:gd name="connsiteY2" fmla="*/ 10115 h 10115"/>
                        <a:gd name="connsiteX3" fmla="*/ 0 w 205823"/>
                        <a:gd name="connsiteY3" fmla="*/ 10115 h 10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5823" h="10115">
                          <a:moveTo>
                            <a:pt x="0" y="0"/>
                          </a:moveTo>
                          <a:lnTo>
                            <a:pt x="205824" y="0"/>
                          </a:lnTo>
                          <a:lnTo>
                            <a:pt x="205824" y="10115"/>
                          </a:lnTo>
                          <a:lnTo>
                            <a:pt x="0" y="10115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4" name="Freeform: Shape 143">
                      <a:extLst>
                        <a:ext uri="{FF2B5EF4-FFF2-40B4-BE49-F238E27FC236}">
                          <a16:creationId xmlns:a16="http://schemas.microsoft.com/office/drawing/2014/main" id="{34476B45-508F-B3FD-B37F-F04E58ED0C88}"/>
                        </a:ext>
                      </a:extLst>
                    </p:cNvPr>
                    <p:cNvSpPr/>
                    <p:nvPr/>
                  </p:nvSpPr>
                  <p:spPr>
                    <a:xfrm rot="-749399">
                      <a:off x="9724377" y="3206097"/>
                      <a:ext cx="57331" cy="10115"/>
                    </a:xfrm>
                    <a:custGeom>
                      <a:avLst/>
                      <a:gdLst>
                        <a:gd name="connsiteX0" fmla="*/ 0 w 57331"/>
                        <a:gd name="connsiteY0" fmla="*/ 0 h 10115"/>
                        <a:gd name="connsiteX1" fmla="*/ 57331 w 57331"/>
                        <a:gd name="connsiteY1" fmla="*/ 0 h 10115"/>
                        <a:gd name="connsiteX2" fmla="*/ 57331 w 57331"/>
                        <a:gd name="connsiteY2" fmla="*/ 10115 h 10115"/>
                        <a:gd name="connsiteX3" fmla="*/ 0 w 57331"/>
                        <a:gd name="connsiteY3" fmla="*/ 10115 h 10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7331" h="10115">
                          <a:moveTo>
                            <a:pt x="0" y="0"/>
                          </a:moveTo>
                          <a:lnTo>
                            <a:pt x="57331" y="0"/>
                          </a:lnTo>
                          <a:lnTo>
                            <a:pt x="57331" y="10115"/>
                          </a:lnTo>
                          <a:lnTo>
                            <a:pt x="0" y="10115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" name="Freeform: Shape 144">
                      <a:extLst>
                        <a:ext uri="{FF2B5EF4-FFF2-40B4-BE49-F238E27FC236}">
                          <a16:creationId xmlns:a16="http://schemas.microsoft.com/office/drawing/2014/main" id="{E066D6E1-3EB4-147B-A508-F4C0192175F5}"/>
                        </a:ext>
                      </a:extLst>
                    </p:cNvPr>
                    <p:cNvSpPr/>
                    <p:nvPr/>
                  </p:nvSpPr>
                  <p:spPr>
                    <a:xfrm rot="-749399">
                      <a:off x="9575078" y="3231414"/>
                      <a:ext cx="127375" cy="10115"/>
                    </a:xfrm>
                    <a:custGeom>
                      <a:avLst/>
                      <a:gdLst>
                        <a:gd name="connsiteX0" fmla="*/ 0 w 127375"/>
                        <a:gd name="connsiteY0" fmla="*/ 0 h 10115"/>
                        <a:gd name="connsiteX1" fmla="*/ 127375 w 127375"/>
                        <a:gd name="connsiteY1" fmla="*/ 0 h 10115"/>
                        <a:gd name="connsiteX2" fmla="*/ 127375 w 127375"/>
                        <a:gd name="connsiteY2" fmla="*/ 10115 h 10115"/>
                        <a:gd name="connsiteX3" fmla="*/ 0 w 127375"/>
                        <a:gd name="connsiteY3" fmla="*/ 10115 h 10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7375" h="10115">
                          <a:moveTo>
                            <a:pt x="0" y="0"/>
                          </a:moveTo>
                          <a:lnTo>
                            <a:pt x="127375" y="0"/>
                          </a:lnTo>
                          <a:lnTo>
                            <a:pt x="127375" y="10115"/>
                          </a:lnTo>
                          <a:lnTo>
                            <a:pt x="0" y="10115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0" name="Graphic 42">
                    <a:extLst>
                      <a:ext uri="{FF2B5EF4-FFF2-40B4-BE49-F238E27FC236}">
                        <a16:creationId xmlns:a16="http://schemas.microsoft.com/office/drawing/2014/main" id="{177EABED-4176-FA7A-09AE-B673EF8878DC}"/>
                      </a:ext>
                    </a:extLst>
                  </p:cNvPr>
                  <p:cNvGrpSpPr/>
                  <p:nvPr/>
                </p:nvGrpSpPr>
                <p:grpSpPr>
                  <a:xfrm>
                    <a:off x="9359584" y="3032747"/>
                    <a:ext cx="123646" cy="141598"/>
                    <a:chOff x="9359584" y="3032747"/>
                    <a:chExt cx="123646" cy="141598"/>
                  </a:xfrm>
                </p:grpSpPr>
                <p:sp>
                  <p:nvSpPr>
                    <p:cNvPr id="140" name="Freeform: Shape 139">
                      <a:extLst>
                        <a:ext uri="{FF2B5EF4-FFF2-40B4-BE49-F238E27FC236}">
                          <a16:creationId xmlns:a16="http://schemas.microsoft.com/office/drawing/2014/main" id="{B54297BC-5185-93E8-8B2F-C8AB02A535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59584" y="3050699"/>
                      <a:ext cx="123646" cy="123646"/>
                    </a:xfrm>
                    <a:custGeom>
                      <a:avLst/>
                      <a:gdLst>
                        <a:gd name="connsiteX0" fmla="*/ 123647 w 123646"/>
                        <a:gd name="connsiteY0" fmla="*/ 101226 h 123646"/>
                        <a:gd name="connsiteX1" fmla="*/ 22421 w 123646"/>
                        <a:gd name="connsiteY1" fmla="*/ 123647 h 123646"/>
                        <a:gd name="connsiteX2" fmla="*/ 0 w 123646"/>
                        <a:gd name="connsiteY2" fmla="*/ 22421 h 123646"/>
                        <a:gd name="connsiteX3" fmla="*/ 101226 w 123646"/>
                        <a:gd name="connsiteY3" fmla="*/ 0 h 123646"/>
                        <a:gd name="connsiteX4" fmla="*/ 123647 w 123646"/>
                        <a:gd name="connsiteY4" fmla="*/ 101226 h 123646"/>
                        <a:gd name="connsiteX5" fmla="*/ 26129 w 123646"/>
                        <a:gd name="connsiteY5" fmla="*/ 117820 h 123646"/>
                        <a:gd name="connsiteX6" fmla="*/ 117820 w 123646"/>
                        <a:gd name="connsiteY6" fmla="*/ 97508 h 123646"/>
                        <a:gd name="connsiteX7" fmla="*/ 97508 w 123646"/>
                        <a:gd name="connsiteY7" fmla="*/ 5817 h 123646"/>
                        <a:gd name="connsiteX8" fmla="*/ 5817 w 123646"/>
                        <a:gd name="connsiteY8" fmla="*/ 26119 h 123646"/>
                        <a:gd name="connsiteX9" fmla="*/ 26119 w 123646"/>
                        <a:gd name="connsiteY9" fmla="*/ 117810 h 1236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23646" h="123646">
                          <a:moveTo>
                            <a:pt x="123647" y="101226"/>
                          </a:moveTo>
                          <a:lnTo>
                            <a:pt x="22421" y="123647"/>
                          </a:lnTo>
                          <a:lnTo>
                            <a:pt x="0" y="22421"/>
                          </a:lnTo>
                          <a:lnTo>
                            <a:pt x="101226" y="0"/>
                          </a:lnTo>
                          <a:lnTo>
                            <a:pt x="123647" y="101226"/>
                          </a:lnTo>
                          <a:close/>
                          <a:moveTo>
                            <a:pt x="26129" y="117820"/>
                          </a:moveTo>
                          <a:lnTo>
                            <a:pt x="117820" y="97508"/>
                          </a:lnTo>
                          <a:lnTo>
                            <a:pt x="97508" y="5817"/>
                          </a:lnTo>
                          <a:lnTo>
                            <a:pt x="5817" y="26119"/>
                          </a:lnTo>
                          <a:lnTo>
                            <a:pt x="26119" y="117810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1" name="Freeform: Shape 140">
                      <a:extLst>
                        <a:ext uri="{FF2B5EF4-FFF2-40B4-BE49-F238E27FC236}">
                          <a16:creationId xmlns:a16="http://schemas.microsoft.com/office/drawing/2014/main" id="{B53E1667-6126-C9E5-AA82-53E3D4BF10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82119" y="3032747"/>
                      <a:ext cx="85676" cy="109651"/>
                    </a:xfrm>
                    <a:custGeom>
                      <a:avLst/>
                      <a:gdLst>
                        <a:gd name="connsiteX0" fmla="*/ 48508 w 85676"/>
                        <a:gd name="connsiteY0" fmla="*/ 109480 h 109651"/>
                        <a:gd name="connsiteX1" fmla="*/ 42427 w 85676"/>
                        <a:gd name="connsiteY1" fmla="*/ 108105 h 109651"/>
                        <a:gd name="connsiteX2" fmla="*/ 2820 w 85676"/>
                        <a:gd name="connsiteY2" fmla="*/ 77239 h 109651"/>
                        <a:gd name="connsiteX3" fmla="*/ 1547 w 85676"/>
                        <a:gd name="connsiteY3" fmla="*/ 66960 h 109651"/>
                        <a:gd name="connsiteX4" fmla="*/ 11825 w 85676"/>
                        <a:gd name="connsiteY4" fmla="*/ 65687 h 109651"/>
                        <a:gd name="connsiteX5" fmla="*/ 43231 w 85676"/>
                        <a:gd name="connsiteY5" fmla="*/ 90166 h 109651"/>
                        <a:gd name="connsiteX6" fmla="*/ 71387 w 85676"/>
                        <a:gd name="connsiteY6" fmla="*/ 5025 h 109651"/>
                        <a:gd name="connsiteX7" fmla="*/ 80647 w 85676"/>
                        <a:gd name="connsiteY7" fmla="*/ 370 h 109651"/>
                        <a:gd name="connsiteX8" fmla="*/ 85303 w 85676"/>
                        <a:gd name="connsiteY8" fmla="*/ 9629 h 109651"/>
                        <a:gd name="connsiteX9" fmla="*/ 53887 w 85676"/>
                        <a:gd name="connsiteY9" fmla="*/ 104641 h 109651"/>
                        <a:gd name="connsiteX10" fmla="*/ 49058 w 85676"/>
                        <a:gd name="connsiteY10" fmla="*/ 109347 h 109651"/>
                        <a:gd name="connsiteX11" fmla="*/ 48518 w 85676"/>
                        <a:gd name="connsiteY11" fmla="*/ 109490 h 1096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85676" h="109651">
                          <a:moveTo>
                            <a:pt x="48508" y="109480"/>
                          </a:moveTo>
                          <a:cubicBezTo>
                            <a:pt x="46389" y="109948"/>
                            <a:pt x="44148" y="109449"/>
                            <a:pt x="42427" y="108105"/>
                          </a:cubicBezTo>
                          <a:lnTo>
                            <a:pt x="2820" y="77239"/>
                          </a:lnTo>
                          <a:cubicBezTo>
                            <a:pt x="-368" y="74753"/>
                            <a:pt x="-939" y="70149"/>
                            <a:pt x="1547" y="66960"/>
                          </a:cubicBezTo>
                          <a:cubicBezTo>
                            <a:pt x="4033" y="63772"/>
                            <a:pt x="8637" y="63201"/>
                            <a:pt x="11825" y="65687"/>
                          </a:cubicBezTo>
                          <a:lnTo>
                            <a:pt x="43231" y="90166"/>
                          </a:lnTo>
                          <a:lnTo>
                            <a:pt x="71387" y="5025"/>
                          </a:lnTo>
                          <a:cubicBezTo>
                            <a:pt x="72661" y="1185"/>
                            <a:pt x="76797" y="-894"/>
                            <a:pt x="80647" y="370"/>
                          </a:cubicBezTo>
                          <a:cubicBezTo>
                            <a:pt x="84488" y="1643"/>
                            <a:pt x="86576" y="5779"/>
                            <a:pt x="85303" y="9629"/>
                          </a:cubicBezTo>
                          <a:lnTo>
                            <a:pt x="53887" y="104641"/>
                          </a:lnTo>
                          <a:cubicBezTo>
                            <a:pt x="53143" y="106903"/>
                            <a:pt x="51340" y="108655"/>
                            <a:pt x="49058" y="109347"/>
                          </a:cubicBezTo>
                          <a:cubicBezTo>
                            <a:pt x="48875" y="109398"/>
                            <a:pt x="48691" y="109449"/>
                            <a:pt x="48518" y="109490"/>
                          </a:cubicBezTo>
                          <a:close/>
                        </a:path>
                      </a:pathLst>
                    </a:custGeom>
                    <a:solidFill>
                      <a:srgbClr val="2656F4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1" name="Graphic 42">
                    <a:extLst>
                      <a:ext uri="{FF2B5EF4-FFF2-40B4-BE49-F238E27FC236}">
                        <a16:creationId xmlns:a16="http://schemas.microsoft.com/office/drawing/2014/main" id="{E14B1B17-2140-C79A-8FF5-234853765BA4}"/>
                      </a:ext>
                    </a:extLst>
                  </p:cNvPr>
                  <p:cNvGrpSpPr/>
                  <p:nvPr/>
                </p:nvGrpSpPr>
                <p:grpSpPr>
                  <a:xfrm>
                    <a:off x="9534271" y="3014670"/>
                    <a:ext cx="212906" cy="98499"/>
                    <a:chOff x="9534271" y="3014670"/>
                    <a:chExt cx="212906" cy="98499"/>
                  </a:xfrm>
                  <a:solidFill>
                    <a:srgbClr val="AEC3FF"/>
                  </a:solidFill>
                </p:grpSpPr>
                <p:sp>
                  <p:nvSpPr>
                    <p:cNvPr id="136" name="Freeform: Shape 135">
                      <a:extLst>
                        <a:ext uri="{FF2B5EF4-FFF2-40B4-BE49-F238E27FC236}">
                          <a16:creationId xmlns:a16="http://schemas.microsoft.com/office/drawing/2014/main" id="{DA75812F-EE3C-969D-DA2F-D3BE23AFCB7A}"/>
                        </a:ext>
                      </a:extLst>
                    </p:cNvPr>
                    <p:cNvSpPr/>
                    <p:nvPr/>
                  </p:nvSpPr>
                  <p:spPr>
                    <a:xfrm rot="-749399">
                      <a:off x="9532930" y="3036807"/>
                      <a:ext cx="205823" cy="10115"/>
                    </a:xfrm>
                    <a:custGeom>
                      <a:avLst/>
                      <a:gdLst>
                        <a:gd name="connsiteX0" fmla="*/ 0 w 205823"/>
                        <a:gd name="connsiteY0" fmla="*/ 0 h 10115"/>
                        <a:gd name="connsiteX1" fmla="*/ 205824 w 205823"/>
                        <a:gd name="connsiteY1" fmla="*/ 0 h 10115"/>
                        <a:gd name="connsiteX2" fmla="*/ 205824 w 205823"/>
                        <a:gd name="connsiteY2" fmla="*/ 10115 h 10115"/>
                        <a:gd name="connsiteX3" fmla="*/ 0 w 205823"/>
                        <a:gd name="connsiteY3" fmla="*/ 10115 h 10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5823" h="10115">
                          <a:moveTo>
                            <a:pt x="0" y="0"/>
                          </a:moveTo>
                          <a:lnTo>
                            <a:pt x="205824" y="0"/>
                          </a:lnTo>
                          <a:lnTo>
                            <a:pt x="205824" y="10115"/>
                          </a:lnTo>
                          <a:lnTo>
                            <a:pt x="0" y="10115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7" name="Freeform: Shape 136">
                      <a:extLst>
                        <a:ext uri="{FF2B5EF4-FFF2-40B4-BE49-F238E27FC236}">
                          <a16:creationId xmlns:a16="http://schemas.microsoft.com/office/drawing/2014/main" id="{84E0B5BD-2CE5-A5B3-9AA2-7F5B565D6672}"/>
                        </a:ext>
                      </a:extLst>
                    </p:cNvPr>
                    <p:cNvSpPr/>
                    <p:nvPr/>
                  </p:nvSpPr>
                  <p:spPr>
                    <a:xfrm rot="-749399">
                      <a:off x="9542696" y="3080917"/>
                      <a:ext cx="205823" cy="10115"/>
                    </a:xfrm>
                    <a:custGeom>
                      <a:avLst/>
                      <a:gdLst>
                        <a:gd name="connsiteX0" fmla="*/ 0 w 205823"/>
                        <a:gd name="connsiteY0" fmla="*/ 0 h 10115"/>
                        <a:gd name="connsiteX1" fmla="*/ 205824 w 205823"/>
                        <a:gd name="connsiteY1" fmla="*/ 0 h 10115"/>
                        <a:gd name="connsiteX2" fmla="*/ 205824 w 205823"/>
                        <a:gd name="connsiteY2" fmla="*/ 10115 h 10115"/>
                        <a:gd name="connsiteX3" fmla="*/ 0 w 205823"/>
                        <a:gd name="connsiteY3" fmla="*/ 10115 h 10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5823" h="10115">
                          <a:moveTo>
                            <a:pt x="0" y="0"/>
                          </a:moveTo>
                          <a:lnTo>
                            <a:pt x="205824" y="0"/>
                          </a:lnTo>
                          <a:lnTo>
                            <a:pt x="205824" y="10115"/>
                          </a:lnTo>
                          <a:lnTo>
                            <a:pt x="0" y="10115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8" name="Freeform: Shape 137">
                      <a:extLst>
                        <a:ext uri="{FF2B5EF4-FFF2-40B4-BE49-F238E27FC236}">
                          <a16:creationId xmlns:a16="http://schemas.microsoft.com/office/drawing/2014/main" id="{B006D1BD-4D21-05AD-038D-D1DA7E69FC80}"/>
                        </a:ext>
                      </a:extLst>
                    </p:cNvPr>
                    <p:cNvSpPr/>
                    <p:nvPr/>
                  </p:nvSpPr>
                  <p:spPr>
                    <a:xfrm rot="-749399">
                      <a:off x="9688034" y="3042035"/>
                      <a:ext cx="57331" cy="10115"/>
                    </a:xfrm>
                    <a:custGeom>
                      <a:avLst/>
                      <a:gdLst>
                        <a:gd name="connsiteX0" fmla="*/ 0 w 57331"/>
                        <a:gd name="connsiteY0" fmla="*/ 0 h 10115"/>
                        <a:gd name="connsiteX1" fmla="*/ 57331 w 57331"/>
                        <a:gd name="connsiteY1" fmla="*/ 0 h 10115"/>
                        <a:gd name="connsiteX2" fmla="*/ 57331 w 57331"/>
                        <a:gd name="connsiteY2" fmla="*/ 10115 h 10115"/>
                        <a:gd name="connsiteX3" fmla="*/ 0 w 57331"/>
                        <a:gd name="connsiteY3" fmla="*/ 10115 h 10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57331" h="10115">
                          <a:moveTo>
                            <a:pt x="0" y="0"/>
                          </a:moveTo>
                          <a:lnTo>
                            <a:pt x="57331" y="0"/>
                          </a:lnTo>
                          <a:lnTo>
                            <a:pt x="57331" y="10115"/>
                          </a:lnTo>
                          <a:lnTo>
                            <a:pt x="0" y="10115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" name="Freeform: Shape 138">
                      <a:extLst>
                        <a:ext uri="{FF2B5EF4-FFF2-40B4-BE49-F238E27FC236}">
                          <a16:creationId xmlns:a16="http://schemas.microsoft.com/office/drawing/2014/main" id="{C15D6247-A4DD-04D8-8999-8AC300FF7200}"/>
                        </a:ext>
                      </a:extLst>
                    </p:cNvPr>
                    <p:cNvSpPr/>
                    <p:nvPr/>
                  </p:nvSpPr>
                  <p:spPr>
                    <a:xfrm rot="-749399">
                      <a:off x="9538746" y="3067350"/>
                      <a:ext cx="127375" cy="10115"/>
                    </a:xfrm>
                    <a:custGeom>
                      <a:avLst/>
                      <a:gdLst>
                        <a:gd name="connsiteX0" fmla="*/ 0 w 127375"/>
                        <a:gd name="connsiteY0" fmla="*/ 0 h 10115"/>
                        <a:gd name="connsiteX1" fmla="*/ 127375 w 127375"/>
                        <a:gd name="connsiteY1" fmla="*/ 0 h 10115"/>
                        <a:gd name="connsiteX2" fmla="*/ 127375 w 127375"/>
                        <a:gd name="connsiteY2" fmla="*/ 10115 h 10115"/>
                        <a:gd name="connsiteX3" fmla="*/ 0 w 127375"/>
                        <a:gd name="connsiteY3" fmla="*/ 10115 h 101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27375" h="10115">
                          <a:moveTo>
                            <a:pt x="0" y="0"/>
                          </a:moveTo>
                          <a:lnTo>
                            <a:pt x="127375" y="0"/>
                          </a:lnTo>
                          <a:lnTo>
                            <a:pt x="127375" y="10115"/>
                          </a:lnTo>
                          <a:lnTo>
                            <a:pt x="0" y="10115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2" name="Graphic 42">
                    <a:extLst>
                      <a:ext uri="{FF2B5EF4-FFF2-40B4-BE49-F238E27FC236}">
                        <a16:creationId xmlns:a16="http://schemas.microsoft.com/office/drawing/2014/main" id="{423D6AB5-2DEC-A2F7-B73F-5E90AB5439DA}"/>
                      </a:ext>
                    </a:extLst>
                  </p:cNvPr>
                  <p:cNvGrpSpPr/>
                  <p:nvPr/>
                </p:nvGrpSpPr>
                <p:grpSpPr>
                  <a:xfrm>
                    <a:off x="9499743" y="3682709"/>
                    <a:ext cx="105635" cy="45631"/>
                    <a:chOff x="9499743" y="3682709"/>
                    <a:chExt cx="105635" cy="45631"/>
                  </a:xfrm>
                  <a:solidFill>
                    <a:srgbClr val="AEC3FF"/>
                  </a:solidFill>
                </p:grpSpPr>
                <p:sp>
                  <p:nvSpPr>
                    <p:cNvPr id="133" name="Freeform: Shape 132">
                      <a:extLst>
                        <a:ext uri="{FF2B5EF4-FFF2-40B4-BE49-F238E27FC236}">
                          <a16:creationId xmlns:a16="http://schemas.microsoft.com/office/drawing/2014/main" id="{DD06743F-3F71-9647-B34B-8E9640BE211E}"/>
                        </a:ext>
                      </a:extLst>
                    </p:cNvPr>
                    <p:cNvSpPr/>
                    <p:nvPr/>
                  </p:nvSpPr>
                  <p:spPr>
                    <a:xfrm rot="-749399">
                      <a:off x="9499954" y="3700514"/>
                      <a:ext cx="47775" cy="7181"/>
                    </a:xfrm>
                    <a:custGeom>
                      <a:avLst/>
                      <a:gdLst>
                        <a:gd name="connsiteX0" fmla="*/ 0 w 47775"/>
                        <a:gd name="connsiteY0" fmla="*/ 0 h 7181"/>
                        <a:gd name="connsiteX1" fmla="*/ 47776 w 47775"/>
                        <a:gd name="connsiteY1" fmla="*/ 0 h 7181"/>
                        <a:gd name="connsiteX2" fmla="*/ 47776 w 47775"/>
                        <a:gd name="connsiteY2" fmla="*/ 7182 h 7181"/>
                        <a:gd name="connsiteX3" fmla="*/ 0 w 47775"/>
                        <a:gd name="connsiteY3" fmla="*/ 7182 h 71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7775" h="7181">
                          <a:moveTo>
                            <a:pt x="0" y="0"/>
                          </a:moveTo>
                          <a:lnTo>
                            <a:pt x="47776" y="0"/>
                          </a:lnTo>
                          <a:lnTo>
                            <a:pt x="47776" y="7182"/>
                          </a:lnTo>
                          <a:lnTo>
                            <a:pt x="0" y="7182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4" name="Freeform: Shape 133">
                      <a:extLst>
                        <a:ext uri="{FF2B5EF4-FFF2-40B4-BE49-F238E27FC236}">
                          <a16:creationId xmlns:a16="http://schemas.microsoft.com/office/drawing/2014/main" id="{B712EB81-1BE7-2F4B-6948-6DB41600A345}"/>
                        </a:ext>
                      </a:extLst>
                    </p:cNvPr>
                    <p:cNvSpPr/>
                    <p:nvPr/>
                  </p:nvSpPr>
                  <p:spPr>
                    <a:xfrm rot="-749399">
                      <a:off x="9557392" y="3687791"/>
                      <a:ext cx="47775" cy="7181"/>
                    </a:xfrm>
                    <a:custGeom>
                      <a:avLst/>
                      <a:gdLst>
                        <a:gd name="connsiteX0" fmla="*/ 0 w 47775"/>
                        <a:gd name="connsiteY0" fmla="*/ 0 h 7181"/>
                        <a:gd name="connsiteX1" fmla="*/ 47776 w 47775"/>
                        <a:gd name="connsiteY1" fmla="*/ 0 h 7181"/>
                        <a:gd name="connsiteX2" fmla="*/ 47776 w 47775"/>
                        <a:gd name="connsiteY2" fmla="*/ 7182 h 7181"/>
                        <a:gd name="connsiteX3" fmla="*/ 0 w 47775"/>
                        <a:gd name="connsiteY3" fmla="*/ 7182 h 71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7775" h="7181">
                          <a:moveTo>
                            <a:pt x="0" y="0"/>
                          </a:moveTo>
                          <a:lnTo>
                            <a:pt x="47776" y="0"/>
                          </a:lnTo>
                          <a:lnTo>
                            <a:pt x="47776" y="7182"/>
                          </a:lnTo>
                          <a:lnTo>
                            <a:pt x="0" y="7182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5" name="Freeform: Shape 134">
                      <a:extLst>
                        <a:ext uri="{FF2B5EF4-FFF2-40B4-BE49-F238E27FC236}">
                          <a16:creationId xmlns:a16="http://schemas.microsoft.com/office/drawing/2014/main" id="{0CE61673-3B3B-2A2E-3E3C-D7381CBAAF97}"/>
                        </a:ext>
                      </a:extLst>
                    </p:cNvPr>
                    <p:cNvSpPr/>
                    <p:nvPr/>
                  </p:nvSpPr>
                  <p:spPr>
                    <a:xfrm rot="-749399">
                      <a:off x="9503172" y="3714080"/>
                      <a:ext cx="66254" cy="7181"/>
                    </a:xfrm>
                    <a:custGeom>
                      <a:avLst/>
                      <a:gdLst>
                        <a:gd name="connsiteX0" fmla="*/ 0 w 66254"/>
                        <a:gd name="connsiteY0" fmla="*/ 0 h 7181"/>
                        <a:gd name="connsiteX1" fmla="*/ 66255 w 66254"/>
                        <a:gd name="connsiteY1" fmla="*/ 0 h 7181"/>
                        <a:gd name="connsiteX2" fmla="*/ 66255 w 66254"/>
                        <a:gd name="connsiteY2" fmla="*/ 7182 h 7181"/>
                        <a:gd name="connsiteX3" fmla="*/ 0 w 66254"/>
                        <a:gd name="connsiteY3" fmla="*/ 7182 h 71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6254" h="7181">
                          <a:moveTo>
                            <a:pt x="0" y="0"/>
                          </a:moveTo>
                          <a:lnTo>
                            <a:pt x="66255" y="0"/>
                          </a:lnTo>
                          <a:lnTo>
                            <a:pt x="66255" y="7182"/>
                          </a:lnTo>
                          <a:lnTo>
                            <a:pt x="0" y="7182"/>
                          </a:lnTo>
                          <a:close/>
                        </a:path>
                      </a:pathLst>
                    </a:custGeom>
                    <a:solidFill>
                      <a:srgbClr val="AEC3FF"/>
                    </a:solidFill>
                    <a:ln w="101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N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</p:grpSp>
          <p:grpSp>
            <p:nvGrpSpPr>
              <p:cNvPr id="77" name="Graphic 42">
                <a:extLst>
                  <a:ext uri="{FF2B5EF4-FFF2-40B4-BE49-F238E27FC236}">
                    <a16:creationId xmlns:a16="http://schemas.microsoft.com/office/drawing/2014/main" id="{8DA9892A-13F9-E7EB-EF61-ED5BBE589F6C}"/>
                  </a:ext>
                </a:extLst>
              </p:cNvPr>
              <p:cNvGrpSpPr/>
              <p:nvPr/>
            </p:nvGrpSpPr>
            <p:grpSpPr>
              <a:xfrm>
                <a:off x="9916179" y="2782166"/>
                <a:ext cx="937773" cy="506974"/>
                <a:chOff x="9916179" y="2782166"/>
                <a:chExt cx="937773" cy="506974"/>
              </a:xfrm>
              <a:solidFill>
                <a:srgbClr val="47A7ED"/>
              </a:solidFill>
            </p:grpSpPr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FAE5D250-E84E-12B5-6DA7-3C74450E4F73}"/>
                    </a:ext>
                  </a:extLst>
                </p:cNvPr>
                <p:cNvSpPr/>
                <p:nvPr/>
              </p:nvSpPr>
              <p:spPr>
                <a:xfrm>
                  <a:off x="9916179" y="2953650"/>
                  <a:ext cx="846998" cy="335490"/>
                </a:xfrm>
                <a:custGeom>
                  <a:avLst/>
                  <a:gdLst>
                    <a:gd name="connsiteX0" fmla="*/ 846999 w 846998"/>
                    <a:gd name="connsiteY0" fmla="*/ 89134 h 335490"/>
                    <a:gd name="connsiteX1" fmla="*/ 815787 w 846998"/>
                    <a:gd name="connsiteY1" fmla="*/ 133059 h 335490"/>
                    <a:gd name="connsiteX2" fmla="*/ 671960 w 846998"/>
                    <a:gd name="connsiteY2" fmla="*/ 335490 h 335490"/>
                    <a:gd name="connsiteX3" fmla="*/ 87657 w 846998"/>
                    <a:gd name="connsiteY3" fmla="*/ 335490 h 335490"/>
                    <a:gd name="connsiteX4" fmla="*/ 0 w 846998"/>
                    <a:gd name="connsiteY4" fmla="*/ 181599 h 335490"/>
                    <a:gd name="connsiteX5" fmla="*/ 592523 w 846998"/>
                    <a:gd name="connsiteY5" fmla="*/ 181599 h 335490"/>
                    <a:gd name="connsiteX6" fmla="*/ 690337 w 846998"/>
                    <a:gd name="connsiteY6" fmla="*/ 43935 h 335490"/>
                    <a:gd name="connsiteX7" fmla="*/ 721549 w 846998"/>
                    <a:gd name="connsiteY7" fmla="*/ 0 h 335490"/>
                    <a:gd name="connsiteX8" fmla="*/ 846999 w 846998"/>
                    <a:gd name="connsiteY8" fmla="*/ 89134 h 335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46998" h="335490">
                      <a:moveTo>
                        <a:pt x="846999" y="89134"/>
                      </a:moveTo>
                      <a:lnTo>
                        <a:pt x="815787" y="133059"/>
                      </a:lnTo>
                      <a:lnTo>
                        <a:pt x="671960" y="335490"/>
                      </a:lnTo>
                      <a:lnTo>
                        <a:pt x="87657" y="335490"/>
                      </a:lnTo>
                      <a:lnTo>
                        <a:pt x="0" y="181599"/>
                      </a:lnTo>
                      <a:lnTo>
                        <a:pt x="592523" y="181599"/>
                      </a:lnTo>
                      <a:lnTo>
                        <a:pt x="690337" y="43935"/>
                      </a:lnTo>
                      <a:lnTo>
                        <a:pt x="721549" y="0"/>
                      </a:lnTo>
                      <a:lnTo>
                        <a:pt x="846999" y="89134"/>
                      </a:lnTo>
                      <a:close/>
                    </a:path>
                  </a:pathLst>
                </a:custGeom>
                <a:solidFill>
                  <a:srgbClr val="47A7ED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F7CA9A8C-8D75-6780-B6C3-7A632DDAAC7E}"/>
                    </a:ext>
                  </a:extLst>
                </p:cNvPr>
                <p:cNvSpPr/>
                <p:nvPr/>
              </p:nvSpPr>
              <p:spPr>
                <a:xfrm>
                  <a:off x="10519123" y="2782166"/>
                  <a:ext cx="334828" cy="366651"/>
                </a:xfrm>
                <a:custGeom>
                  <a:avLst/>
                  <a:gdLst>
                    <a:gd name="connsiteX0" fmla="*/ 300245 w 334828"/>
                    <a:gd name="connsiteY0" fmla="*/ 366652 h 366651"/>
                    <a:gd name="connsiteX1" fmla="*/ 334829 w 334828"/>
                    <a:gd name="connsiteY1" fmla="*/ 0 h 366651"/>
                    <a:gd name="connsiteX2" fmla="*/ 0 w 334828"/>
                    <a:gd name="connsiteY2" fmla="*/ 153321 h 366651"/>
                    <a:gd name="connsiteX3" fmla="*/ 300245 w 334828"/>
                    <a:gd name="connsiteY3" fmla="*/ 366652 h 3666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4828" h="366651">
                      <a:moveTo>
                        <a:pt x="300245" y="366652"/>
                      </a:moveTo>
                      <a:lnTo>
                        <a:pt x="334829" y="0"/>
                      </a:lnTo>
                      <a:lnTo>
                        <a:pt x="0" y="153321"/>
                      </a:lnTo>
                      <a:lnTo>
                        <a:pt x="300245" y="366652"/>
                      </a:lnTo>
                      <a:close/>
                    </a:path>
                  </a:pathLst>
                </a:custGeom>
                <a:solidFill>
                  <a:srgbClr val="47A7ED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8" name="Graphic 42">
                <a:extLst>
                  <a:ext uri="{FF2B5EF4-FFF2-40B4-BE49-F238E27FC236}">
                    <a16:creationId xmlns:a16="http://schemas.microsoft.com/office/drawing/2014/main" id="{56DDC95D-BFE8-83FC-1EFB-2724E9943C24}"/>
                  </a:ext>
                </a:extLst>
              </p:cNvPr>
              <p:cNvGrpSpPr/>
              <p:nvPr/>
            </p:nvGrpSpPr>
            <p:grpSpPr>
              <a:xfrm>
                <a:off x="10094478" y="2673678"/>
                <a:ext cx="351086" cy="361975"/>
                <a:chOff x="10094478" y="2673678"/>
                <a:chExt cx="351086" cy="361975"/>
              </a:xfrm>
            </p:grpSpPr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FF53C4B9-F463-B8D1-BE12-9C7F9B97A3DE}"/>
                    </a:ext>
                  </a:extLst>
                </p:cNvPr>
                <p:cNvSpPr/>
                <p:nvPr/>
              </p:nvSpPr>
              <p:spPr>
                <a:xfrm>
                  <a:off x="10094478" y="2908849"/>
                  <a:ext cx="86750" cy="126804"/>
                </a:xfrm>
                <a:custGeom>
                  <a:avLst/>
                  <a:gdLst>
                    <a:gd name="connsiteX0" fmla="*/ 0 w 86750"/>
                    <a:gd name="connsiteY0" fmla="*/ 0 h 126804"/>
                    <a:gd name="connsiteX1" fmla="*/ 86751 w 86750"/>
                    <a:gd name="connsiteY1" fmla="*/ 0 h 126804"/>
                    <a:gd name="connsiteX2" fmla="*/ 86751 w 86750"/>
                    <a:gd name="connsiteY2" fmla="*/ 126805 h 126804"/>
                    <a:gd name="connsiteX3" fmla="*/ 0 w 86750"/>
                    <a:gd name="connsiteY3" fmla="*/ 126805 h 126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750" h="126804">
                      <a:moveTo>
                        <a:pt x="0" y="0"/>
                      </a:moveTo>
                      <a:lnTo>
                        <a:pt x="86751" y="0"/>
                      </a:lnTo>
                      <a:lnTo>
                        <a:pt x="86751" y="126805"/>
                      </a:lnTo>
                      <a:lnTo>
                        <a:pt x="0" y="126805"/>
                      </a:lnTo>
                      <a:close/>
                    </a:path>
                  </a:pathLst>
                </a:custGeom>
                <a:solidFill>
                  <a:srgbClr val="0A1C2B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56F3EE34-8E85-5093-5B59-9CC172D98829}"/>
                    </a:ext>
                  </a:extLst>
                </p:cNvPr>
                <p:cNvSpPr/>
                <p:nvPr/>
              </p:nvSpPr>
              <p:spPr>
                <a:xfrm>
                  <a:off x="10226641" y="2782044"/>
                  <a:ext cx="86750" cy="253609"/>
                </a:xfrm>
                <a:custGeom>
                  <a:avLst/>
                  <a:gdLst>
                    <a:gd name="connsiteX0" fmla="*/ 0 w 86750"/>
                    <a:gd name="connsiteY0" fmla="*/ 0 h 253609"/>
                    <a:gd name="connsiteX1" fmla="*/ 86750 w 86750"/>
                    <a:gd name="connsiteY1" fmla="*/ 0 h 253609"/>
                    <a:gd name="connsiteX2" fmla="*/ 86750 w 86750"/>
                    <a:gd name="connsiteY2" fmla="*/ 253609 h 253609"/>
                    <a:gd name="connsiteX3" fmla="*/ 0 w 86750"/>
                    <a:gd name="connsiteY3" fmla="*/ 253609 h 253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750" h="253609">
                      <a:moveTo>
                        <a:pt x="0" y="0"/>
                      </a:moveTo>
                      <a:lnTo>
                        <a:pt x="86750" y="0"/>
                      </a:lnTo>
                      <a:lnTo>
                        <a:pt x="86750" y="253609"/>
                      </a:lnTo>
                      <a:lnTo>
                        <a:pt x="0" y="253609"/>
                      </a:lnTo>
                      <a:close/>
                    </a:path>
                  </a:pathLst>
                </a:custGeom>
                <a:solidFill>
                  <a:srgbClr val="47A7ED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71270C86-10D3-AC48-86C0-D97E4B7D29FE}"/>
                    </a:ext>
                  </a:extLst>
                </p:cNvPr>
                <p:cNvSpPr/>
                <p:nvPr/>
              </p:nvSpPr>
              <p:spPr>
                <a:xfrm>
                  <a:off x="10358814" y="2673678"/>
                  <a:ext cx="86750" cy="361975"/>
                </a:xfrm>
                <a:custGeom>
                  <a:avLst/>
                  <a:gdLst>
                    <a:gd name="connsiteX0" fmla="*/ 0 w 86750"/>
                    <a:gd name="connsiteY0" fmla="*/ 0 h 361975"/>
                    <a:gd name="connsiteX1" fmla="*/ 86750 w 86750"/>
                    <a:gd name="connsiteY1" fmla="*/ 0 h 361975"/>
                    <a:gd name="connsiteX2" fmla="*/ 86750 w 86750"/>
                    <a:gd name="connsiteY2" fmla="*/ 361976 h 361975"/>
                    <a:gd name="connsiteX3" fmla="*/ 0 w 86750"/>
                    <a:gd name="connsiteY3" fmla="*/ 361976 h 361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750" h="361975">
                      <a:moveTo>
                        <a:pt x="0" y="0"/>
                      </a:moveTo>
                      <a:lnTo>
                        <a:pt x="86750" y="0"/>
                      </a:lnTo>
                      <a:lnTo>
                        <a:pt x="86750" y="361976"/>
                      </a:lnTo>
                      <a:lnTo>
                        <a:pt x="0" y="361976"/>
                      </a:lnTo>
                      <a:close/>
                    </a:path>
                  </a:pathLst>
                </a:custGeom>
                <a:solidFill>
                  <a:srgbClr val="2656F4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C4D5F066-5547-5754-8A21-7500DAC032A8}"/>
                  </a:ext>
                </a:extLst>
              </p:cNvPr>
              <p:cNvSpPr/>
              <p:nvPr/>
            </p:nvSpPr>
            <p:spPr>
              <a:xfrm>
                <a:off x="10273526" y="3754752"/>
                <a:ext cx="95288" cy="177661"/>
              </a:xfrm>
              <a:custGeom>
                <a:avLst/>
                <a:gdLst>
                  <a:gd name="connsiteX0" fmla="*/ 21906 w 95288"/>
                  <a:gd name="connsiteY0" fmla="*/ 534 h 177661"/>
                  <a:gd name="connsiteX1" fmla="*/ 2571 w 95288"/>
                  <a:gd name="connsiteY1" fmla="*/ 10619 h 177661"/>
                  <a:gd name="connsiteX2" fmla="*/ 544 w 95288"/>
                  <a:gd name="connsiteY2" fmla="*/ 17077 h 177661"/>
                  <a:gd name="connsiteX3" fmla="*/ 80969 w 95288"/>
                  <a:gd name="connsiteY3" fmla="*/ 173444 h 177661"/>
                  <a:gd name="connsiteX4" fmla="*/ 94670 w 95288"/>
                  <a:gd name="connsiteY4" fmla="*/ 169501 h 177661"/>
                  <a:gd name="connsiteX5" fmla="*/ 28374 w 95288"/>
                  <a:gd name="connsiteY5" fmla="*/ 2571 h 177661"/>
                  <a:gd name="connsiteX6" fmla="*/ 21916 w 95288"/>
                  <a:gd name="connsiteY6" fmla="*/ 544 h 177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288" h="177661">
                    <a:moveTo>
                      <a:pt x="21906" y="534"/>
                    </a:moveTo>
                    <a:lnTo>
                      <a:pt x="2571" y="10619"/>
                    </a:lnTo>
                    <a:cubicBezTo>
                      <a:pt x="228" y="11841"/>
                      <a:pt x="-678" y="14734"/>
                      <a:pt x="544" y="17077"/>
                    </a:cubicBezTo>
                    <a:lnTo>
                      <a:pt x="80969" y="173444"/>
                    </a:lnTo>
                    <a:cubicBezTo>
                      <a:pt x="83312" y="178456"/>
                      <a:pt x="98510" y="180962"/>
                      <a:pt x="94670" y="169501"/>
                    </a:cubicBezTo>
                    <a:lnTo>
                      <a:pt x="28374" y="2571"/>
                    </a:lnTo>
                    <a:cubicBezTo>
                      <a:pt x="27152" y="228"/>
                      <a:pt x="24259" y="-678"/>
                      <a:pt x="21916" y="544"/>
                    </a:cubicBezTo>
                    <a:close/>
                  </a:path>
                </a:pathLst>
              </a:custGeom>
              <a:solidFill>
                <a:srgbClr val="2B478B"/>
              </a:solidFill>
              <a:ln w="10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Z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1EAD5878-8A2C-EB5E-65E3-0BEFB9C8C4C1}"/>
                  </a:ext>
                </a:extLst>
              </p:cNvPr>
              <p:cNvSpPr/>
              <p:nvPr/>
            </p:nvSpPr>
            <p:spPr>
              <a:xfrm rot="18900000">
                <a:off x="9779765" y="3154463"/>
                <a:ext cx="654133" cy="654132"/>
              </a:xfrm>
              <a:custGeom>
                <a:avLst/>
                <a:gdLst>
                  <a:gd name="connsiteX0" fmla="*/ 654133 w 654133"/>
                  <a:gd name="connsiteY0" fmla="*/ 327066 h 654132"/>
                  <a:gd name="connsiteX1" fmla="*/ 327067 w 654133"/>
                  <a:gd name="connsiteY1" fmla="*/ 654132 h 654132"/>
                  <a:gd name="connsiteX2" fmla="*/ 0 w 654133"/>
                  <a:gd name="connsiteY2" fmla="*/ 327066 h 654132"/>
                  <a:gd name="connsiteX3" fmla="*/ 327067 w 654133"/>
                  <a:gd name="connsiteY3" fmla="*/ 0 h 654132"/>
                  <a:gd name="connsiteX4" fmla="*/ 654133 w 654133"/>
                  <a:gd name="connsiteY4" fmla="*/ 327066 h 654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4133" h="654132">
                    <a:moveTo>
                      <a:pt x="654133" y="327066"/>
                    </a:moveTo>
                    <a:cubicBezTo>
                      <a:pt x="654133" y="507700"/>
                      <a:pt x="507700" y="654132"/>
                      <a:pt x="327067" y="654132"/>
                    </a:cubicBezTo>
                    <a:cubicBezTo>
                      <a:pt x="146433" y="654132"/>
                      <a:pt x="0" y="507700"/>
                      <a:pt x="0" y="327066"/>
                    </a:cubicBezTo>
                    <a:cubicBezTo>
                      <a:pt x="0" y="146432"/>
                      <a:pt x="146433" y="0"/>
                      <a:pt x="327067" y="0"/>
                    </a:cubicBezTo>
                    <a:cubicBezTo>
                      <a:pt x="507700" y="0"/>
                      <a:pt x="654133" y="146432"/>
                      <a:pt x="654133" y="3270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Z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978256A7-4E1D-F460-40F5-040F847CD56E}"/>
                  </a:ext>
                </a:extLst>
              </p:cNvPr>
              <p:cNvSpPr/>
              <p:nvPr/>
            </p:nvSpPr>
            <p:spPr>
              <a:xfrm rot="18900000">
                <a:off x="9852182" y="3226880"/>
                <a:ext cx="509297" cy="509296"/>
              </a:xfrm>
              <a:custGeom>
                <a:avLst/>
                <a:gdLst>
                  <a:gd name="connsiteX0" fmla="*/ 509298 w 509297"/>
                  <a:gd name="connsiteY0" fmla="*/ 254648 h 509296"/>
                  <a:gd name="connsiteX1" fmla="*/ 254649 w 509297"/>
                  <a:gd name="connsiteY1" fmla="*/ 509297 h 509296"/>
                  <a:gd name="connsiteX2" fmla="*/ 0 w 509297"/>
                  <a:gd name="connsiteY2" fmla="*/ 254648 h 509296"/>
                  <a:gd name="connsiteX3" fmla="*/ 254649 w 509297"/>
                  <a:gd name="connsiteY3" fmla="*/ 0 h 509296"/>
                  <a:gd name="connsiteX4" fmla="*/ 509298 w 509297"/>
                  <a:gd name="connsiteY4" fmla="*/ 254648 h 509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9297" h="509296">
                    <a:moveTo>
                      <a:pt x="509298" y="254648"/>
                    </a:moveTo>
                    <a:cubicBezTo>
                      <a:pt x="509298" y="395287"/>
                      <a:pt x="395287" y="509297"/>
                      <a:pt x="254649" y="509297"/>
                    </a:cubicBezTo>
                    <a:cubicBezTo>
                      <a:pt x="114010" y="509297"/>
                      <a:pt x="0" y="395287"/>
                      <a:pt x="0" y="254648"/>
                    </a:cubicBezTo>
                    <a:cubicBezTo>
                      <a:pt x="0" y="114010"/>
                      <a:pt x="114010" y="0"/>
                      <a:pt x="254649" y="0"/>
                    </a:cubicBezTo>
                    <a:cubicBezTo>
                      <a:pt x="395287" y="0"/>
                      <a:pt x="509298" y="114010"/>
                      <a:pt x="509298" y="254648"/>
                    </a:cubicBezTo>
                    <a:close/>
                  </a:path>
                </a:pathLst>
              </a:custGeom>
              <a:solidFill>
                <a:srgbClr val="2656F4"/>
              </a:solidFill>
              <a:ln w="10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Z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9D2FC7F3-0746-AB0B-BACC-48DCAF232224}"/>
                  </a:ext>
                </a:extLst>
              </p:cNvPr>
              <p:cNvSpPr/>
              <p:nvPr/>
            </p:nvSpPr>
            <p:spPr>
              <a:xfrm>
                <a:off x="9929409" y="3304112"/>
                <a:ext cx="354831" cy="354830"/>
              </a:xfrm>
              <a:custGeom>
                <a:avLst/>
                <a:gdLst>
                  <a:gd name="connsiteX0" fmla="*/ 354828 w 354831"/>
                  <a:gd name="connsiteY0" fmla="*/ 178444 h 354830"/>
                  <a:gd name="connsiteX1" fmla="*/ 178445 w 354831"/>
                  <a:gd name="connsiteY1" fmla="*/ 3 h 354830"/>
                  <a:gd name="connsiteX2" fmla="*/ 3 w 354831"/>
                  <a:gd name="connsiteY2" fmla="*/ 176387 h 354830"/>
                  <a:gd name="connsiteX3" fmla="*/ 176387 w 354831"/>
                  <a:gd name="connsiteY3" fmla="*/ 354828 h 354830"/>
                  <a:gd name="connsiteX4" fmla="*/ 354828 w 354831"/>
                  <a:gd name="connsiteY4" fmla="*/ 178444 h 354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831" h="354830">
                    <a:moveTo>
                      <a:pt x="354828" y="178444"/>
                    </a:moveTo>
                    <a:cubicBezTo>
                      <a:pt x="355399" y="80468"/>
                      <a:pt x="276431" y="574"/>
                      <a:pt x="178445" y="3"/>
                    </a:cubicBezTo>
                    <a:cubicBezTo>
                      <a:pt x="80468" y="-567"/>
                      <a:pt x="574" y="78400"/>
                      <a:pt x="3" y="176387"/>
                    </a:cubicBezTo>
                    <a:cubicBezTo>
                      <a:pt x="-567" y="274363"/>
                      <a:pt x="78400" y="354257"/>
                      <a:pt x="176387" y="354828"/>
                    </a:cubicBezTo>
                    <a:cubicBezTo>
                      <a:pt x="274363" y="355398"/>
                      <a:pt x="354258" y="276431"/>
                      <a:pt x="354828" y="1784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Z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C04CB162-27F0-2637-C98F-130B3432DD77}"/>
                  </a:ext>
                </a:extLst>
              </p:cNvPr>
              <p:cNvSpPr/>
              <p:nvPr/>
            </p:nvSpPr>
            <p:spPr>
              <a:xfrm>
                <a:off x="10000636" y="3375319"/>
                <a:ext cx="212407" cy="212407"/>
              </a:xfrm>
              <a:custGeom>
                <a:avLst/>
                <a:gdLst>
                  <a:gd name="connsiteX0" fmla="*/ 212406 w 212407"/>
                  <a:gd name="connsiteY0" fmla="*/ 106820 h 212407"/>
                  <a:gd name="connsiteX1" fmla="*/ 106820 w 212407"/>
                  <a:gd name="connsiteY1" fmla="*/ 2 h 212407"/>
                  <a:gd name="connsiteX2" fmla="*/ 2 w 212407"/>
                  <a:gd name="connsiteY2" fmla="*/ 105587 h 212407"/>
                  <a:gd name="connsiteX3" fmla="*/ 105588 w 212407"/>
                  <a:gd name="connsiteY3" fmla="*/ 212406 h 212407"/>
                  <a:gd name="connsiteX4" fmla="*/ 212406 w 212407"/>
                  <a:gd name="connsiteY4" fmla="*/ 106820 h 212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407" h="212407">
                    <a:moveTo>
                      <a:pt x="212406" y="106820"/>
                    </a:moveTo>
                    <a:cubicBezTo>
                      <a:pt x="212742" y="48165"/>
                      <a:pt x="165476" y="338"/>
                      <a:pt x="106820" y="2"/>
                    </a:cubicBezTo>
                    <a:cubicBezTo>
                      <a:pt x="48165" y="-334"/>
                      <a:pt x="338" y="46932"/>
                      <a:pt x="2" y="105587"/>
                    </a:cubicBezTo>
                    <a:cubicBezTo>
                      <a:pt x="-334" y="164243"/>
                      <a:pt x="46932" y="212069"/>
                      <a:pt x="105588" y="212406"/>
                    </a:cubicBezTo>
                    <a:cubicBezTo>
                      <a:pt x="164243" y="212742"/>
                      <a:pt x="212070" y="165475"/>
                      <a:pt x="212406" y="106820"/>
                    </a:cubicBezTo>
                    <a:close/>
                  </a:path>
                </a:pathLst>
              </a:custGeom>
              <a:solidFill>
                <a:srgbClr val="2656F4"/>
              </a:solidFill>
              <a:ln w="10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Z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87" name="Graphic 42">
                <a:extLst>
                  <a:ext uri="{FF2B5EF4-FFF2-40B4-BE49-F238E27FC236}">
                    <a16:creationId xmlns:a16="http://schemas.microsoft.com/office/drawing/2014/main" id="{32A09FC0-FFA7-2BC5-40B4-EA5815C3A7F7}"/>
                  </a:ext>
                </a:extLst>
              </p:cNvPr>
              <p:cNvGrpSpPr/>
              <p:nvPr/>
            </p:nvGrpSpPr>
            <p:grpSpPr>
              <a:xfrm>
                <a:off x="10476764" y="3285994"/>
                <a:ext cx="607143" cy="646867"/>
                <a:chOff x="10476764" y="3285994"/>
                <a:chExt cx="607143" cy="646867"/>
              </a:xfrm>
            </p:grpSpPr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DBA311B3-C7D5-A2AC-EB20-465CD300E495}"/>
                    </a:ext>
                  </a:extLst>
                </p:cNvPr>
                <p:cNvSpPr/>
                <p:nvPr/>
              </p:nvSpPr>
              <p:spPr>
                <a:xfrm>
                  <a:off x="10476764" y="3653552"/>
                  <a:ext cx="279298" cy="279297"/>
                </a:xfrm>
                <a:custGeom>
                  <a:avLst/>
                  <a:gdLst>
                    <a:gd name="connsiteX0" fmla="*/ 64760 w 279298"/>
                    <a:gd name="connsiteY0" fmla="*/ 257469 h 279297"/>
                    <a:gd name="connsiteX1" fmla="*/ 69945 w 279298"/>
                    <a:gd name="connsiteY1" fmla="*/ 260617 h 279297"/>
                    <a:gd name="connsiteX2" fmla="*/ 71728 w 279298"/>
                    <a:gd name="connsiteY2" fmla="*/ 261625 h 279297"/>
                    <a:gd name="connsiteX3" fmla="*/ 75823 w 279298"/>
                    <a:gd name="connsiteY3" fmla="*/ 263836 h 279297"/>
                    <a:gd name="connsiteX4" fmla="*/ 260621 w 279298"/>
                    <a:gd name="connsiteY4" fmla="*/ 209377 h 279297"/>
                    <a:gd name="connsiteX5" fmla="*/ 223450 w 279298"/>
                    <a:gd name="connsiteY5" fmla="*/ 27962 h 279297"/>
                    <a:gd name="connsiteX6" fmla="*/ 209372 w 279298"/>
                    <a:gd name="connsiteY6" fmla="*/ 18692 h 279297"/>
                    <a:gd name="connsiteX7" fmla="*/ 204024 w 279298"/>
                    <a:gd name="connsiteY7" fmla="*/ 15758 h 279297"/>
                    <a:gd name="connsiteX8" fmla="*/ 198757 w 279298"/>
                    <a:gd name="connsiteY8" fmla="*/ 13150 h 279297"/>
                    <a:gd name="connsiteX9" fmla="*/ 182244 w 279298"/>
                    <a:gd name="connsiteY9" fmla="*/ 6661 h 279297"/>
                    <a:gd name="connsiteX10" fmla="*/ 157062 w 279298"/>
                    <a:gd name="connsiteY10" fmla="*/ 1079 h 279297"/>
                    <a:gd name="connsiteX11" fmla="*/ 80590 w 279298"/>
                    <a:gd name="connsiteY11" fmla="*/ 13120 h 279297"/>
                    <a:gd name="connsiteX12" fmla="*/ 18675 w 279298"/>
                    <a:gd name="connsiteY12" fmla="*/ 69921 h 279297"/>
                    <a:gd name="connsiteX13" fmla="*/ 64730 w 279298"/>
                    <a:gd name="connsiteY13" fmla="*/ 257469 h 2792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9298" h="279297">
                      <a:moveTo>
                        <a:pt x="64760" y="257469"/>
                      </a:moveTo>
                      <a:cubicBezTo>
                        <a:pt x="66461" y="258549"/>
                        <a:pt x="68193" y="259598"/>
                        <a:pt x="69945" y="260617"/>
                      </a:cubicBezTo>
                      <a:cubicBezTo>
                        <a:pt x="70536" y="260963"/>
                        <a:pt x="71137" y="261299"/>
                        <a:pt x="71728" y="261625"/>
                      </a:cubicBezTo>
                      <a:cubicBezTo>
                        <a:pt x="73093" y="262389"/>
                        <a:pt x="74448" y="263112"/>
                        <a:pt x="75823" y="263836"/>
                      </a:cubicBezTo>
                      <a:cubicBezTo>
                        <a:pt x="141680" y="297747"/>
                        <a:pt x="223236" y="274236"/>
                        <a:pt x="260621" y="209377"/>
                      </a:cubicBezTo>
                      <a:cubicBezTo>
                        <a:pt x="296285" y="147513"/>
                        <a:pt x="279232" y="69707"/>
                        <a:pt x="223450" y="27962"/>
                      </a:cubicBezTo>
                      <a:cubicBezTo>
                        <a:pt x="218998" y="24631"/>
                        <a:pt x="214312" y="21534"/>
                        <a:pt x="209372" y="18692"/>
                      </a:cubicBezTo>
                      <a:cubicBezTo>
                        <a:pt x="207599" y="17673"/>
                        <a:pt x="205816" y="16695"/>
                        <a:pt x="204024" y="15758"/>
                      </a:cubicBezTo>
                      <a:cubicBezTo>
                        <a:pt x="202281" y="14851"/>
                        <a:pt x="200519" y="13975"/>
                        <a:pt x="198757" y="13150"/>
                      </a:cubicBezTo>
                      <a:cubicBezTo>
                        <a:pt x="193338" y="10614"/>
                        <a:pt x="187827" y="8454"/>
                        <a:pt x="182244" y="6661"/>
                      </a:cubicBezTo>
                      <a:cubicBezTo>
                        <a:pt x="173962" y="3992"/>
                        <a:pt x="165528" y="2138"/>
                        <a:pt x="157062" y="1079"/>
                      </a:cubicBezTo>
                      <a:cubicBezTo>
                        <a:pt x="130821" y="-2212"/>
                        <a:pt x="104275" y="2087"/>
                        <a:pt x="80590" y="13120"/>
                      </a:cubicBezTo>
                      <a:cubicBezTo>
                        <a:pt x="55470" y="24814"/>
                        <a:pt x="33568" y="44087"/>
                        <a:pt x="18675" y="69921"/>
                      </a:cubicBezTo>
                      <a:cubicBezTo>
                        <a:pt x="-18812" y="134973"/>
                        <a:pt x="1949" y="217619"/>
                        <a:pt x="64730" y="257469"/>
                      </a:cubicBezTo>
                      <a:close/>
                    </a:path>
                  </a:pathLst>
                </a:custGeom>
                <a:solidFill>
                  <a:srgbClr val="2656F4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98" name="Graphic 42">
                  <a:extLst>
                    <a:ext uri="{FF2B5EF4-FFF2-40B4-BE49-F238E27FC236}">
                      <a16:creationId xmlns:a16="http://schemas.microsoft.com/office/drawing/2014/main" id="{39CEB618-C35C-772A-4D23-BD709C89781F}"/>
                    </a:ext>
                  </a:extLst>
                </p:cNvPr>
                <p:cNvGrpSpPr/>
                <p:nvPr/>
              </p:nvGrpSpPr>
              <p:grpSpPr>
                <a:xfrm>
                  <a:off x="10627539" y="3285994"/>
                  <a:ext cx="456368" cy="646867"/>
                  <a:chOff x="10627539" y="3285994"/>
                  <a:chExt cx="456368" cy="646867"/>
                </a:xfrm>
              </p:grpSpPr>
              <p:sp>
                <p:nvSpPr>
                  <p:cNvPr id="100" name="Freeform: Shape 99">
                    <a:extLst>
                      <a:ext uri="{FF2B5EF4-FFF2-40B4-BE49-F238E27FC236}">
                        <a16:creationId xmlns:a16="http://schemas.microsoft.com/office/drawing/2014/main" id="{86662E32-ADA7-E258-5396-4AA024797A6B}"/>
                      </a:ext>
                    </a:extLst>
                  </p:cNvPr>
                  <p:cNvSpPr/>
                  <p:nvPr/>
                </p:nvSpPr>
                <p:spPr>
                  <a:xfrm>
                    <a:off x="10684444" y="3301223"/>
                    <a:ext cx="86502" cy="75839"/>
                  </a:xfrm>
                  <a:custGeom>
                    <a:avLst/>
                    <a:gdLst>
                      <a:gd name="connsiteX0" fmla="*/ 35725 w 86502"/>
                      <a:gd name="connsiteY0" fmla="*/ 447 h 75839"/>
                      <a:gd name="connsiteX1" fmla="*/ 74822 w 86502"/>
                      <a:gd name="connsiteY1" fmla="*/ 19568 h 75839"/>
                      <a:gd name="connsiteX2" fmla="*/ 77338 w 86502"/>
                      <a:gd name="connsiteY2" fmla="*/ 64919 h 75839"/>
                      <a:gd name="connsiteX3" fmla="*/ 72122 w 86502"/>
                      <a:gd name="connsiteY3" fmla="*/ 75839 h 75839"/>
                      <a:gd name="connsiteX4" fmla="*/ 0 w 86502"/>
                      <a:gd name="connsiteY4" fmla="*/ 45330 h 75839"/>
                      <a:gd name="connsiteX5" fmla="*/ 35725 w 86502"/>
                      <a:gd name="connsiteY5" fmla="*/ 457 h 758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6502" h="75839">
                        <a:moveTo>
                          <a:pt x="35725" y="447"/>
                        </a:moveTo>
                        <a:cubicBezTo>
                          <a:pt x="35297" y="-1264"/>
                          <a:pt x="72917" y="17449"/>
                          <a:pt x="74822" y="19568"/>
                        </a:cubicBezTo>
                        <a:cubicBezTo>
                          <a:pt x="92465" y="39137"/>
                          <a:pt x="87433" y="64675"/>
                          <a:pt x="77338" y="64919"/>
                        </a:cubicBezTo>
                        <a:cubicBezTo>
                          <a:pt x="70869" y="65072"/>
                          <a:pt x="72122" y="75839"/>
                          <a:pt x="72122" y="75839"/>
                        </a:cubicBezTo>
                        <a:lnTo>
                          <a:pt x="0" y="45330"/>
                        </a:lnTo>
                        <a:cubicBezTo>
                          <a:pt x="0" y="45330"/>
                          <a:pt x="8679" y="-5308"/>
                          <a:pt x="35725" y="457"/>
                        </a:cubicBezTo>
                        <a:close/>
                      </a:path>
                    </a:pathLst>
                  </a:custGeom>
                  <a:solidFill>
                    <a:srgbClr val="2C3A64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Freeform: Shape 100">
                    <a:extLst>
                      <a:ext uri="{FF2B5EF4-FFF2-40B4-BE49-F238E27FC236}">
                        <a16:creationId xmlns:a16="http://schemas.microsoft.com/office/drawing/2014/main" id="{11D28F8D-FC4F-FEB2-9E16-A48D1B895F5E}"/>
                      </a:ext>
                    </a:extLst>
                  </p:cNvPr>
                  <p:cNvSpPr/>
                  <p:nvPr/>
                </p:nvSpPr>
                <p:spPr>
                  <a:xfrm>
                    <a:off x="10711297" y="3285994"/>
                    <a:ext cx="108988" cy="201319"/>
                  </a:xfrm>
                  <a:custGeom>
                    <a:avLst/>
                    <a:gdLst>
                      <a:gd name="connsiteX0" fmla="*/ 0 w 108988"/>
                      <a:gd name="connsiteY0" fmla="*/ 19629 h 201319"/>
                      <a:gd name="connsiteX1" fmla="*/ 56190 w 108988"/>
                      <a:gd name="connsiteY1" fmla="*/ 5581 h 201319"/>
                      <a:gd name="connsiteX2" fmla="*/ 86068 w 108988"/>
                      <a:gd name="connsiteY2" fmla="*/ 65428 h 201319"/>
                      <a:gd name="connsiteX3" fmla="*/ 108285 w 108988"/>
                      <a:gd name="connsiteY3" fmla="*/ 115649 h 201319"/>
                      <a:gd name="connsiteX4" fmla="*/ 23521 w 108988"/>
                      <a:gd name="connsiteY4" fmla="*/ 201320 h 201319"/>
                      <a:gd name="connsiteX5" fmla="*/ 16421 w 108988"/>
                      <a:gd name="connsiteY5" fmla="*/ 130369 h 201319"/>
                      <a:gd name="connsiteX6" fmla="*/ 37854 w 108988"/>
                      <a:gd name="connsiteY6" fmla="*/ 91069 h 201319"/>
                      <a:gd name="connsiteX7" fmla="*/ 10 w 108988"/>
                      <a:gd name="connsiteY7" fmla="*/ 19639 h 2013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8988" h="201319">
                        <a:moveTo>
                          <a:pt x="0" y="19629"/>
                        </a:moveTo>
                        <a:cubicBezTo>
                          <a:pt x="0" y="19629"/>
                          <a:pt x="17878" y="-12653"/>
                          <a:pt x="56190" y="5581"/>
                        </a:cubicBezTo>
                        <a:cubicBezTo>
                          <a:pt x="76442" y="15218"/>
                          <a:pt x="78051" y="58104"/>
                          <a:pt x="86068" y="65428"/>
                        </a:cubicBezTo>
                        <a:cubicBezTo>
                          <a:pt x="104017" y="81829"/>
                          <a:pt x="111433" y="87839"/>
                          <a:pt x="108285" y="115649"/>
                        </a:cubicBezTo>
                        <a:cubicBezTo>
                          <a:pt x="105138" y="143459"/>
                          <a:pt x="18458" y="178308"/>
                          <a:pt x="23521" y="201320"/>
                        </a:cubicBezTo>
                        <a:cubicBezTo>
                          <a:pt x="23521" y="201320"/>
                          <a:pt x="-12092" y="157557"/>
                          <a:pt x="16421" y="130369"/>
                        </a:cubicBezTo>
                        <a:cubicBezTo>
                          <a:pt x="27148" y="120142"/>
                          <a:pt x="39005" y="95418"/>
                          <a:pt x="37854" y="91069"/>
                        </a:cubicBezTo>
                        <a:cubicBezTo>
                          <a:pt x="36703" y="86719"/>
                          <a:pt x="10" y="19639"/>
                          <a:pt x="10" y="19639"/>
                        </a:cubicBezTo>
                        <a:close/>
                      </a:path>
                    </a:pathLst>
                  </a:custGeom>
                  <a:solidFill>
                    <a:srgbClr val="2C3A64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" name="Freeform: Shape 101">
                    <a:extLst>
                      <a:ext uri="{FF2B5EF4-FFF2-40B4-BE49-F238E27FC236}">
                        <a16:creationId xmlns:a16="http://schemas.microsoft.com/office/drawing/2014/main" id="{EC7E1D1C-C767-994F-8315-36FC98F7A3C4}"/>
                      </a:ext>
                    </a:extLst>
                  </p:cNvPr>
                  <p:cNvSpPr/>
                  <p:nvPr/>
                </p:nvSpPr>
                <p:spPr>
                  <a:xfrm>
                    <a:off x="10661096" y="3415402"/>
                    <a:ext cx="133219" cy="245789"/>
                  </a:xfrm>
                  <a:custGeom>
                    <a:avLst/>
                    <a:gdLst>
                      <a:gd name="connsiteX0" fmla="*/ 78703 w 133219"/>
                      <a:gd name="connsiteY0" fmla="*/ 22394 h 245789"/>
                      <a:gd name="connsiteX1" fmla="*/ 128068 w 133219"/>
                      <a:gd name="connsiteY1" fmla="*/ 10893 h 245789"/>
                      <a:gd name="connsiteX2" fmla="*/ 133039 w 133219"/>
                      <a:gd name="connsiteY2" fmla="*/ 23138 h 245789"/>
                      <a:gd name="connsiteX3" fmla="*/ 87942 w 133219"/>
                      <a:gd name="connsiteY3" fmla="*/ 167127 h 245789"/>
                      <a:gd name="connsiteX4" fmla="*/ 11969 w 133219"/>
                      <a:gd name="connsiteY4" fmla="*/ 245789 h 245789"/>
                      <a:gd name="connsiteX5" fmla="*/ 0 w 133219"/>
                      <a:gd name="connsiteY5" fmla="*/ 238536 h 245789"/>
                      <a:gd name="connsiteX6" fmla="*/ 53195 w 133219"/>
                      <a:gd name="connsiteY6" fmla="*/ 153253 h 245789"/>
                      <a:gd name="connsiteX7" fmla="*/ 78703 w 133219"/>
                      <a:gd name="connsiteY7" fmla="*/ 22404 h 245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33219" h="245789">
                        <a:moveTo>
                          <a:pt x="78703" y="22394"/>
                        </a:moveTo>
                        <a:cubicBezTo>
                          <a:pt x="83542" y="-913"/>
                          <a:pt x="113766" y="-8146"/>
                          <a:pt x="128068" y="10893"/>
                        </a:cubicBezTo>
                        <a:cubicBezTo>
                          <a:pt x="130635" y="14316"/>
                          <a:pt x="132448" y="18360"/>
                          <a:pt x="133039" y="23138"/>
                        </a:cubicBezTo>
                        <a:cubicBezTo>
                          <a:pt x="136309" y="49593"/>
                          <a:pt x="94003" y="157368"/>
                          <a:pt x="87942" y="167127"/>
                        </a:cubicBezTo>
                        <a:cubicBezTo>
                          <a:pt x="76910" y="184893"/>
                          <a:pt x="11969" y="245789"/>
                          <a:pt x="11969" y="245789"/>
                        </a:cubicBezTo>
                        <a:lnTo>
                          <a:pt x="0" y="238536"/>
                        </a:lnTo>
                        <a:cubicBezTo>
                          <a:pt x="0" y="238536"/>
                          <a:pt x="46065" y="160547"/>
                          <a:pt x="53195" y="153253"/>
                        </a:cubicBezTo>
                        <a:cubicBezTo>
                          <a:pt x="61447" y="144818"/>
                          <a:pt x="69514" y="66666"/>
                          <a:pt x="78703" y="22404"/>
                        </a:cubicBezTo>
                        <a:close/>
                      </a:path>
                    </a:pathLst>
                  </a:custGeom>
                  <a:solidFill>
                    <a:srgbClr val="ED985F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3" name="Freeform: Shape 102">
                    <a:extLst>
                      <a:ext uri="{FF2B5EF4-FFF2-40B4-BE49-F238E27FC236}">
                        <a16:creationId xmlns:a16="http://schemas.microsoft.com/office/drawing/2014/main" id="{7621D750-8656-31DF-CD97-E3AF7B5DB9E6}"/>
                      </a:ext>
                    </a:extLst>
                  </p:cNvPr>
                  <p:cNvSpPr/>
                  <p:nvPr/>
                </p:nvSpPr>
                <p:spPr>
                  <a:xfrm>
                    <a:off x="10627539" y="3643197"/>
                    <a:ext cx="50069" cy="24042"/>
                  </a:xfrm>
                  <a:custGeom>
                    <a:avLst/>
                    <a:gdLst>
                      <a:gd name="connsiteX0" fmla="*/ 50070 w 50069"/>
                      <a:gd name="connsiteY0" fmla="*/ 10761 h 24042"/>
                      <a:gd name="connsiteX1" fmla="*/ 25988 w 50069"/>
                      <a:gd name="connsiteY1" fmla="*/ 35 h 24042"/>
                      <a:gd name="connsiteX2" fmla="*/ 2 w 50069"/>
                      <a:gd name="connsiteY2" fmla="*/ 9091 h 24042"/>
                      <a:gd name="connsiteX3" fmla="*/ 22779 w 50069"/>
                      <a:gd name="connsiteY3" fmla="*/ 15203 h 24042"/>
                      <a:gd name="connsiteX4" fmla="*/ 44172 w 50069"/>
                      <a:gd name="connsiteY4" fmla="*/ 23454 h 24042"/>
                      <a:gd name="connsiteX5" fmla="*/ 50070 w 50069"/>
                      <a:gd name="connsiteY5" fmla="*/ 10771 h 240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0069" h="24042">
                        <a:moveTo>
                          <a:pt x="50070" y="10761"/>
                        </a:moveTo>
                        <a:cubicBezTo>
                          <a:pt x="50070" y="10761"/>
                          <a:pt x="32600" y="-709"/>
                          <a:pt x="25988" y="35"/>
                        </a:cubicBezTo>
                        <a:cubicBezTo>
                          <a:pt x="19377" y="778"/>
                          <a:pt x="236" y="6279"/>
                          <a:pt x="2" y="9091"/>
                        </a:cubicBezTo>
                        <a:cubicBezTo>
                          <a:pt x="-232" y="11902"/>
                          <a:pt x="21333" y="13664"/>
                          <a:pt x="22779" y="15203"/>
                        </a:cubicBezTo>
                        <a:cubicBezTo>
                          <a:pt x="24226" y="16741"/>
                          <a:pt x="38864" y="26510"/>
                          <a:pt x="44172" y="23454"/>
                        </a:cubicBezTo>
                        <a:cubicBezTo>
                          <a:pt x="49479" y="20388"/>
                          <a:pt x="50070" y="10771"/>
                          <a:pt x="50070" y="10771"/>
                        </a:cubicBezTo>
                        <a:close/>
                      </a:path>
                    </a:pathLst>
                  </a:custGeom>
                  <a:solidFill>
                    <a:srgbClr val="ED985F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4" name="Freeform: Shape 103">
                    <a:extLst>
                      <a:ext uri="{FF2B5EF4-FFF2-40B4-BE49-F238E27FC236}">
                        <a16:creationId xmlns:a16="http://schemas.microsoft.com/office/drawing/2014/main" id="{77E7FB68-2EA0-9C4B-6315-4B141C27EAB4}"/>
                      </a:ext>
                    </a:extLst>
                  </p:cNvPr>
                  <p:cNvSpPr/>
                  <p:nvPr/>
                </p:nvSpPr>
                <p:spPr>
                  <a:xfrm>
                    <a:off x="10799463" y="3519249"/>
                    <a:ext cx="177763" cy="393860"/>
                  </a:xfrm>
                  <a:custGeom>
                    <a:avLst/>
                    <a:gdLst>
                      <a:gd name="connsiteX0" fmla="*/ 0 w 177763"/>
                      <a:gd name="connsiteY0" fmla="*/ 393850 h 393860"/>
                      <a:gd name="connsiteX1" fmla="*/ 15606 w 177763"/>
                      <a:gd name="connsiteY1" fmla="*/ 391558 h 393860"/>
                      <a:gd name="connsiteX2" fmla="*/ 75891 w 177763"/>
                      <a:gd name="connsiteY2" fmla="*/ 272047 h 393860"/>
                      <a:gd name="connsiteX3" fmla="*/ 76268 w 177763"/>
                      <a:gd name="connsiteY3" fmla="*/ 247986 h 393860"/>
                      <a:gd name="connsiteX4" fmla="*/ 76818 w 177763"/>
                      <a:gd name="connsiteY4" fmla="*/ 245327 h 393860"/>
                      <a:gd name="connsiteX5" fmla="*/ 76839 w 177763"/>
                      <a:gd name="connsiteY5" fmla="*/ 245307 h 393860"/>
                      <a:gd name="connsiteX6" fmla="*/ 88360 w 177763"/>
                      <a:gd name="connsiteY6" fmla="*/ 227103 h 393860"/>
                      <a:gd name="connsiteX7" fmla="*/ 113990 w 177763"/>
                      <a:gd name="connsiteY7" fmla="*/ 181813 h 393860"/>
                      <a:gd name="connsiteX8" fmla="*/ 162499 w 177763"/>
                      <a:gd name="connsiteY8" fmla="*/ 92842 h 393860"/>
                      <a:gd name="connsiteX9" fmla="*/ 174968 w 177763"/>
                      <a:gd name="connsiteY9" fmla="*/ 22737 h 393860"/>
                      <a:gd name="connsiteX10" fmla="*/ 89399 w 177763"/>
                      <a:gd name="connsiteY10" fmla="*/ 0 h 393860"/>
                      <a:gd name="connsiteX11" fmla="*/ 82767 w 177763"/>
                      <a:gd name="connsiteY11" fmla="*/ 10217 h 393860"/>
                      <a:gd name="connsiteX12" fmla="*/ 68903 w 177763"/>
                      <a:gd name="connsiteY12" fmla="*/ 74944 h 393860"/>
                      <a:gd name="connsiteX13" fmla="*/ 66723 w 177763"/>
                      <a:gd name="connsiteY13" fmla="*/ 81637 h 393860"/>
                      <a:gd name="connsiteX14" fmla="*/ 34828 w 177763"/>
                      <a:gd name="connsiteY14" fmla="*/ 197470 h 393860"/>
                      <a:gd name="connsiteX15" fmla="*/ 29786 w 177763"/>
                      <a:gd name="connsiteY15" fmla="*/ 247518 h 393860"/>
                      <a:gd name="connsiteX16" fmla="*/ 28604 w 177763"/>
                      <a:gd name="connsiteY16" fmla="*/ 265844 h 393860"/>
                      <a:gd name="connsiteX17" fmla="*/ 20 w 177763"/>
                      <a:gd name="connsiteY17" fmla="*/ 393860 h 3938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77763" h="393860">
                        <a:moveTo>
                          <a:pt x="0" y="393850"/>
                        </a:moveTo>
                        <a:lnTo>
                          <a:pt x="15606" y="391558"/>
                        </a:lnTo>
                        <a:cubicBezTo>
                          <a:pt x="15606" y="391558"/>
                          <a:pt x="68078" y="349854"/>
                          <a:pt x="75891" y="272047"/>
                        </a:cubicBezTo>
                        <a:cubicBezTo>
                          <a:pt x="76686" y="264132"/>
                          <a:pt x="76859" y="256095"/>
                          <a:pt x="76268" y="247986"/>
                        </a:cubicBezTo>
                        <a:cubicBezTo>
                          <a:pt x="76197" y="247049"/>
                          <a:pt x="76299" y="246122"/>
                          <a:pt x="76818" y="245327"/>
                        </a:cubicBezTo>
                        <a:cubicBezTo>
                          <a:pt x="76818" y="245327"/>
                          <a:pt x="76818" y="245317"/>
                          <a:pt x="76839" y="245307"/>
                        </a:cubicBezTo>
                        <a:cubicBezTo>
                          <a:pt x="78520" y="242730"/>
                          <a:pt x="82696" y="236282"/>
                          <a:pt x="88360" y="227103"/>
                        </a:cubicBezTo>
                        <a:cubicBezTo>
                          <a:pt x="93942" y="218068"/>
                          <a:pt x="103487" y="200985"/>
                          <a:pt x="113990" y="181813"/>
                        </a:cubicBezTo>
                        <a:cubicBezTo>
                          <a:pt x="132907" y="147280"/>
                          <a:pt x="154941" y="105993"/>
                          <a:pt x="162499" y="92842"/>
                        </a:cubicBezTo>
                        <a:cubicBezTo>
                          <a:pt x="186570" y="50924"/>
                          <a:pt x="174968" y="22737"/>
                          <a:pt x="174968" y="22737"/>
                        </a:cubicBezTo>
                        <a:cubicBezTo>
                          <a:pt x="174968" y="22737"/>
                          <a:pt x="107806" y="16095"/>
                          <a:pt x="89399" y="0"/>
                        </a:cubicBezTo>
                        <a:lnTo>
                          <a:pt x="82767" y="10217"/>
                        </a:lnTo>
                        <a:cubicBezTo>
                          <a:pt x="82767" y="10217"/>
                          <a:pt x="68211" y="74638"/>
                          <a:pt x="68903" y="74944"/>
                        </a:cubicBezTo>
                        <a:cubicBezTo>
                          <a:pt x="68190" y="77134"/>
                          <a:pt x="67457" y="79365"/>
                          <a:pt x="66723" y="81637"/>
                        </a:cubicBezTo>
                        <a:cubicBezTo>
                          <a:pt x="55243" y="117086"/>
                          <a:pt x="42031" y="161389"/>
                          <a:pt x="34828" y="197470"/>
                        </a:cubicBezTo>
                        <a:cubicBezTo>
                          <a:pt x="30784" y="217772"/>
                          <a:pt x="28635" y="235456"/>
                          <a:pt x="29786" y="247518"/>
                        </a:cubicBezTo>
                        <a:cubicBezTo>
                          <a:pt x="30183" y="251653"/>
                          <a:pt x="29705" y="258000"/>
                          <a:pt x="28604" y="265844"/>
                        </a:cubicBezTo>
                        <a:cubicBezTo>
                          <a:pt x="22105" y="312081"/>
                          <a:pt x="20" y="393860"/>
                          <a:pt x="20" y="393860"/>
                        </a:cubicBezTo>
                        <a:close/>
                      </a:path>
                    </a:pathLst>
                  </a:custGeom>
                  <a:solidFill>
                    <a:srgbClr val="0A1C2B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Freeform: Shape 104">
                    <a:extLst>
                      <a:ext uri="{FF2B5EF4-FFF2-40B4-BE49-F238E27FC236}">
                        <a16:creationId xmlns:a16="http://schemas.microsoft.com/office/drawing/2014/main" id="{2C779770-3C5C-B0E0-484F-9853FB987C91}"/>
                      </a:ext>
                    </a:extLst>
                  </p:cNvPr>
                  <p:cNvSpPr/>
                  <p:nvPr/>
                </p:nvSpPr>
                <p:spPr>
                  <a:xfrm>
                    <a:off x="10766723" y="3896627"/>
                    <a:ext cx="65470" cy="36234"/>
                  </a:xfrm>
                  <a:custGeom>
                    <a:avLst/>
                    <a:gdLst>
                      <a:gd name="connsiteX0" fmla="*/ 0 w 65470"/>
                      <a:gd name="connsiteY0" fmla="*/ 36224 h 36234"/>
                      <a:gd name="connsiteX1" fmla="*/ 65114 w 65470"/>
                      <a:gd name="connsiteY1" fmla="*/ 36224 h 36234"/>
                      <a:gd name="connsiteX2" fmla="*/ 63270 w 65470"/>
                      <a:gd name="connsiteY2" fmla="*/ 18774 h 36234"/>
                      <a:gd name="connsiteX3" fmla="*/ 62679 w 65470"/>
                      <a:gd name="connsiteY3" fmla="*/ 0 h 36234"/>
                      <a:gd name="connsiteX4" fmla="*/ 35827 w 65470"/>
                      <a:gd name="connsiteY4" fmla="*/ 4757 h 36234"/>
                      <a:gd name="connsiteX5" fmla="*/ 24540 w 65470"/>
                      <a:gd name="connsiteY5" fmla="*/ 21942 h 36234"/>
                      <a:gd name="connsiteX6" fmla="*/ 0 w 65470"/>
                      <a:gd name="connsiteY6" fmla="*/ 36234 h 36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5470" h="36234">
                        <a:moveTo>
                          <a:pt x="0" y="36224"/>
                        </a:moveTo>
                        <a:lnTo>
                          <a:pt x="65114" y="36224"/>
                        </a:lnTo>
                        <a:cubicBezTo>
                          <a:pt x="65114" y="36224"/>
                          <a:pt x="66672" y="26302"/>
                          <a:pt x="63270" y="18774"/>
                        </a:cubicBezTo>
                        <a:cubicBezTo>
                          <a:pt x="60010" y="11552"/>
                          <a:pt x="55365" y="11317"/>
                          <a:pt x="62679" y="0"/>
                        </a:cubicBezTo>
                        <a:cubicBezTo>
                          <a:pt x="58543" y="4258"/>
                          <a:pt x="45239" y="6020"/>
                          <a:pt x="35827" y="4757"/>
                        </a:cubicBezTo>
                        <a:cubicBezTo>
                          <a:pt x="34676" y="6621"/>
                          <a:pt x="28391" y="19171"/>
                          <a:pt x="24540" y="21942"/>
                        </a:cubicBezTo>
                        <a:cubicBezTo>
                          <a:pt x="20282" y="24998"/>
                          <a:pt x="1314" y="23908"/>
                          <a:pt x="0" y="36234"/>
                        </a:cubicBezTo>
                        <a:close/>
                      </a:path>
                    </a:pathLst>
                  </a:custGeom>
                  <a:solidFill>
                    <a:srgbClr val="233862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Freeform: Shape 105">
                    <a:extLst>
                      <a:ext uri="{FF2B5EF4-FFF2-40B4-BE49-F238E27FC236}">
                        <a16:creationId xmlns:a16="http://schemas.microsoft.com/office/drawing/2014/main" id="{8FFA8A98-5585-39DF-E17C-28DC58EB2996}"/>
                      </a:ext>
                    </a:extLst>
                  </p:cNvPr>
                  <p:cNvSpPr/>
                  <p:nvPr/>
                </p:nvSpPr>
                <p:spPr>
                  <a:xfrm>
                    <a:off x="10866176" y="3519249"/>
                    <a:ext cx="111039" cy="181813"/>
                  </a:xfrm>
                  <a:custGeom>
                    <a:avLst/>
                    <a:gdLst>
                      <a:gd name="connsiteX0" fmla="*/ 0 w 111039"/>
                      <a:gd name="connsiteY0" fmla="*/ 81626 h 181813"/>
                      <a:gd name="connsiteX1" fmla="*/ 47266 w 111039"/>
                      <a:gd name="connsiteY1" fmla="*/ 181813 h 181813"/>
                      <a:gd name="connsiteX2" fmla="*/ 95776 w 111039"/>
                      <a:gd name="connsiteY2" fmla="*/ 92842 h 181813"/>
                      <a:gd name="connsiteX3" fmla="*/ 108245 w 111039"/>
                      <a:gd name="connsiteY3" fmla="*/ 22737 h 181813"/>
                      <a:gd name="connsiteX4" fmla="*/ 22676 w 111039"/>
                      <a:gd name="connsiteY4" fmla="*/ 0 h 181813"/>
                      <a:gd name="connsiteX5" fmla="*/ 16044 w 111039"/>
                      <a:gd name="connsiteY5" fmla="*/ 10217 h 181813"/>
                      <a:gd name="connsiteX6" fmla="*/ 2180 w 111039"/>
                      <a:gd name="connsiteY6" fmla="*/ 74944 h 181813"/>
                      <a:gd name="connsiteX7" fmla="*/ 0 w 111039"/>
                      <a:gd name="connsiteY7" fmla="*/ 81637 h 1818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1039" h="181813">
                        <a:moveTo>
                          <a:pt x="0" y="81626"/>
                        </a:moveTo>
                        <a:cubicBezTo>
                          <a:pt x="5684" y="112991"/>
                          <a:pt x="19121" y="165198"/>
                          <a:pt x="47266" y="181813"/>
                        </a:cubicBezTo>
                        <a:cubicBezTo>
                          <a:pt x="66183" y="147280"/>
                          <a:pt x="88217" y="105993"/>
                          <a:pt x="95776" y="92842"/>
                        </a:cubicBezTo>
                        <a:cubicBezTo>
                          <a:pt x="119847" y="50924"/>
                          <a:pt x="108245" y="22737"/>
                          <a:pt x="108245" y="22737"/>
                        </a:cubicBezTo>
                        <a:cubicBezTo>
                          <a:pt x="108245" y="22737"/>
                          <a:pt x="41083" y="16095"/>
                          <a:pt x="22676" y="0"/>
                        </a:cubicBezTo>
                        <a:lnTo>
                          <a:pt x="16044" y="10217"/>
                        </a:lnTo>
                        <a:cubicBezTo>
                          <a:pt x="16044" y="10217"/>
                          <a:pt x="1487" y="74638"/>
                          <a:pt x="2180" y="74944"/>
                        </a:cubicBezTo>
                        <a:cubicBezTo>
                          <a:pt x="1467" y="77134"/>
                          <a:pt x="733" y="79365"/>
                          <a:pt x="0" y="81637"/>
                        </a:cubicBezTo>
                        <a:close/>
                      </a:path>
                    </a:pathLst>
                  </a:custGeom>
                  <a:solidFill>
                    <a:srgbClr val="0A1C2B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7E027463-87B4-8C97-DD51-65EB4B592F8B}"/>
                      </a:ext>
                    </a:extLst>
                  </p:cNvPr>
                  <p:cNvSpPr/>
                  <p:nvPr/>
                </p:nvSpPr>
                <p:spPr>
                  <a:xfrm>
                    <a:off x="10736957" y="3423320"/>
                    <a:ext cx="45402" cy="68505"/>
                  </a:xfrm>
                  <a:custGeom>
                    <a:avLst/>
                    <a:gdLst>
                      <a:gd name="connsiteX0" fmla="*/ 9800 w 45402"/>
                      <a:gd name="connsiteY0" fmla="*/ 10 h 68505"/>
                      <a:gd name="connsiteX1" fmla="*/ 0 w 45402"/>
                      <a:gd name="connsiteY1" fmla="*/ 29328 h 68505"/>
                      <a:gd name="connsiteX2" fmla="*/ 45402 w 45402"/>
                      <a:gd name="connsiteY2" fmla="*/ 68506 h 68505"/>
                      <a:gd name="connsiteX3" fmla="*/ 9810 w 45402"/>
                      <a:gd name="connsiteY3" fmla="*/ 0 h 685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5402" h="68505">
                        <a:moveTo>
                          <a:pt x="9800" y="10"/>
                        </a:moveTo>
                        <a:cubicBezTo>
                          <a:pt x="9800" y="10"/>
                          <a:pt x="937" y="9270"/>
                          <a:pt x="0" y="29328"/>
                        </a:cubicBezTo>
                        <a:cubicBezTo>
                          <a:pt x="0" y="29328"/>
                          <a:pt x="11073" y="63219"/>
                          <a:pt x="45402" y="68506"/>
                        </a:cubicBezTo>
                        <a:cubicBezTo>
                          <a:pt x="45402" y="68506"/>
                          <a:pt x="18245" y="-10"/>
                          <a:pt x="9810" y="0"/>
                        </a:cubicBezTo>
                        <a:close/>
                      </a:path>
                    </a:pathLst>
                  </a:custGeom>
                  <a:solidFill>
                    <a:srgbClr val="ED7D2B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B42936B-84DD-9867-4D24-386BFFAFB4C3}"/>
                      </a:ext>
                    </a:extLst>
                  </p:cNvPr>
                  <p:cNvSpPr/>
                  <p:nvPr/>
                </p:nvSpPr>
                <p:spPr>
                  <a:xfrm>
                    <a:off x="10911619" y="3505660"/>
                    <a:ext cx="163654" cy="424553"/>
                  </a:xfrm>
                  <a:custGeom>
                    <a:avLst/>
                    <a:gdLst>
                      <a:gd name="connsiteX0" fmla="*/ 224 w 163654"/>
                      <a:gd name="connsiteY0" fmla="*/ 41175 h 424553"/>
                      <a:gd name="connsiteX1" fmla="*/ 0 w 163654"/>
                      <a:gd name="connsiteY1" fmla="*/ 28992 h 424553"/>
                      <a:gd name="connsiteX2" fmla="*/ 83664 w 163654"/>
                      <a:gd name="connsiteY2" fmla="*/ 0 h 424553"/>
                      <a:gd name="connsiteX3" fmla="*/ 112523 w 163654"/>
                      <a:gd name="connsiteY3" fmla="*/ 65093 h 424553"/>
                      <a:gd name="connsiteX4" fmla="*/ 126132 w 163654"/>
                      <a:gd name="connsiteY4" fmla="*/ 217864 h 424553"/>
                      <a:gd name="connsiteX5" fmla="*/ 126754 w 163654"/>
                      <a:gd name="connsiteY5" fmla="*/ 239389 h 424553"/>
                      <a:gd name="connsiteX6" fmla="*/ 126754 w 163654"/>
                      <a:gd name="connsiteY6" fmla="*/ 239419 h 424553"/>
                      <a:gd name="connsiteX7" fmla="*/ 127783 w 163654"/>
                      <a:gd name="connsiteY7" fmla="*/ 241925 h 424553"/>
                      <a:gd name="connsiteX8" fmla="*/ 140934 w 163654"/>
                      <a:gd name="connsiteY8" fmla="*/ 262074 h 424553"/>
                      <a:gd name="connsiteX9" fmla="*/ 158598 w 163654"/>
                      <a:gd name="connsiteY9" fmla="*/ 424553 h 424553"/>
                      <a:gd name="connsiteX10" fmla="*/ 150000 w 163654"/>
                      <a:gd name="connsiteY10" fmla="*/ 422363 h 424553"/>
                      <a:gd name="connsiteX11" fmla="*/ 98231 w 163654"/>
                      <a:gd name="connsiteY11" fmla="*/ 283365 h 424553"/>
                      <a:gd name="connsiteX12" fmla="*/ 88961 w 163654"/>
                      <a:gd name="connsiteY12" fmla="*/ 267504 h 424553"/>
                      <a:gd name="connsiteX13" fmla="*/ 65165 w 163654"/>
                      <a:gd name="connsiteY13" fmla="*/ 223192 h 424553"/>
                      <a:gd name="connsiteX14" fmla="*/ 24917 w 163654"/>
                      <a:gd name="connsiteY14" fmla="*/ 102560 h 424553"/>
                      <a:gd name="connsiteX15" fmla="*/ 224 w 163654"/>
                      <a:gd name="connsiteY15" fmla="*/ 41144 h 4245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63654" h="424553">
                        <a:moveTo>
                          <a:pt x="224" y="41175"/>
                        </a:moveTo>
                        <a:lnTo>
                          <a:pt x="0" y="28992"/>
                        </a:lnTo>
                        <a:cubicBezTo>
                          <a:pt x="24265" y="32048"/>
                          <a:pt x="83664" y="0"/>
                          <a:pt x="83664" y="0"/>
                        </a:cubicBezTo>
                        <a:cubicBezTo>
                          <a:pt x="83664" y="0"/>
                          <a:pt x="109049" y="16879"/>
                          <a:pt x="112523" y="65093"/>
                        </a:cubicBezTo>
                        <a:cubicBezTo>
                          <a:pt x="114214" y="88625"/>
                          <a:pt x="124951" y="188149"/>
                          <a:pt x="126132" y="217864"/>
                        </a:cubicBezTo>
                        <a:cubicBezTo>
                          <a:pt x="126560" y="228631"/>
                          <a:pt x="126713" y="236322"/>
                          <a:pt x="126754" y="239389"/>
                        </a:cubicBezTo>
                        <a:cubicBezTo>
                          <a:pt x="126754" y="239399"/>
                          <a:pt x="126754" y="239409"/>
                          <a:pt x="126754" y="239419"/>
                        </a:cubicBezTo>
                        <a:cubicBezTo>
                          <a:pt x="126764" y="240356"/>
                          <a:pt x="127212" y="241181"/>
                          <a:pt x="127783" y="241925"/>
                        </a:cubicBezTo>
                        <a:cubicBezTo>
                          <a:pt x="132805" y="248302"/>
                          <a:pt x="137155" y="255066"/>
                          <a:pt x="140934" y="262074"/>
                        </a:cubicBezTo>
                        <a:cubicBezTo>
                          <a:pt x="177953" y="330957"/>
                          <a:pt x="158598" y="424553"/>
                          <a:pt x="158598" y="424553"/>
                        </a:cubicBezTo>
                        <a:lnTo>
                          <a:pt x="150000" y="422363"/>
                        </a:lnTo>
                        <a:cubicBezTo>
                          <a:pt x="150000" y="422363"/>
                          <a:pt x="118696" y="325334"/>
                          <a:pt x="98231" y="283365"/>
                        </a:cubicBezTo>
                        <a:cubicBezTo>
                          <a:pt x="94757" y="276244"/>
                          <a:pt x="91599" y="270713"/>
                          <a:pt x="88961" y="267504"/>
                        </a:cubicBezTo>
                        <a:cubicBezTo>
                          <a:pt x="81270" y="258163"/>
                          <a:pt x="73161" y="242292"/>
                          <a:pt x="65165" y="223192"/>
                        </a:cubicBezTo>
                        <a:cubicBezTo>
                          <a:pt x="50048" y="187090"/>
                          <a:pt x="35379" y="139446"/>
                          <a:pt x="24917" y="102560"/>
                        </a:cubicBezTo>
                        <a:cubicBezTo>
                          <a:pt x="24183" y="102693"/>
                          <a:pt x="224" y="41144"/>
                          <a:pt x="224" y="41144"/>
                        </a:cubicBezTo>
                        <a:close/>
                      </a:path>
                    </a:pathLst>
                  </a:custGeom>
                  <a:solidFill>
                    <a:srgbClr val="0A1C2B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9" name="Freeform: Shape 108">
                    <a:extLst>
                      <a:ext uri="{FF2B5EF4-FFF2-40B4-BE49-F238E27FC236}">
                        <a16:creationId xmlns:a16="http://schemas.microsoft.com/office/drawing/2014/main" id="{8D7CE3B3-E394-7030-A2CA-8459601AD2BC}"/>
                      </a:ext>
                    </a:extLst>
                  </p:cNvPr>
                  <p:cNvSpPr/>
                  <p:nvPr/>
                </p:nvSpPr>
                <p:spPr>
                  <a:xfrm>
                    <a:off x="10727687" y="3372081"/>
                    <a:ext cx="64272" cy="93579"/>
                  </a:xfrm>
                  <a:custGeom>
                    <a:avLst/>
                    <a:gdLst>
                      <a:gd name="connsiteX0" fmla="*/ 42163 w 64272"/>
                      <a:gd name="connsiteY0" fmla="*/ 93474 h 93579"/>
                      <a:gd name="connsiteX1" fmla="*/ 54183 w 64272"/>
                      <a:gd name="connsiteY1" fmla="*/ 29613 h 93579"/>
                      <a:gd name="connsiteX2" fmla="*/ 25823 w 64272"/>
                      <a:gd name="connsiteY2" fmla="*/ 0 h 93579"/>
                      <a:gd name="connsiteX3" fmla="*/ 24367 w 64272"/>
                      <a:gd name="connsiteY3" fmla="*/ 1263 h 93579"/>
                      <a:gd name="connsiteX4" fmla="*/ 0 w 64272"/>
                      <a:gd name="connsiteY4" fmla="*/ 22625 h 93579"/>
                      <a:gd name="connsiteX5" fmla="*/ 10370 w 64272"/>
                      <a:gd name="connsiteY5" fmla="*/ 39066 h 93579"/>
                      <a:gd name="connsiteX6" fmla="*/ 16717 w 64272"/>
                      <a:gd name="connsiteY6" fmla="*/ 53868 h 93579"/>
                      <a:gd name="connsiteX7" fmla="*/ 42153 w 64272"/>
                      <a:gd name="connsiteY7" fmla="*/ 93474 h 935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4272" h="93579">
                        <a:moveTo>
                          <a:pt x="42163" y="93474"/>
                        </a:moveTo>
                        <a:cubicBezTo>
                          <a:pt x="81830" y="84367"/>
                          <a:pt x="56486" y="28635"/>
                          <a:pt x="54183" y="29613"/>
                        </a:cubicBezTo>
                        <a:cubicBezTo>
                          <a:pt x="48693" y="28492"/>
                          <a:pt x="36621" y="18845"/>
                          <a:pt x="25823" y="0"/>
                        </a:cubicBezTo>
                        <a:lnTo>
                          <a:pt x="24367" y="1263"/>
                        </a:lnTo>
                        <a:lnTo>
                          <a:pt x="0" y="22625"/>
                        </a:lnTo>
                        <a:cubicBezTo>
                          <a:pt x="0" y="22625"/>
                          <a:pt x="5633" y="30937"/>
                          <a:pt x="10370" y="39066"/>
                        </a:cubicBezTo>
                        <a:cubicBezTo>
                          <a:pt x="14068" y="45433"/>
                          <a:pt x="17216" y="51718"/>
                          <a:pt x="16717" y="53868"/>
                        </a:cubicBezTo>
                        <a:cubicBezTo>
                          <a:pt x="14761" y="55406"/>
                          <a:pt x="31579" y="95908"/>
                          <a:pt x="42153" y="93474"/>
                        </a:cubicBezTo>
                        <a:close/>
                      </a:path>
                    </a:pathLst>
                  </a:custGeom>
                  <a:solidFill>
                    <a:srgbClr val="FFB27D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" name="Freeform: Shape 109">
                    <a:extLst>
                      <a:ext uri="{FF2B5EF4-FFF2-40B4-BE49-F238E27FC236}">
                        <a16:creationId xmlns:a16="http://schemas.microsoft.com/office/drawing/2014/main" id="{42DE9986-46AB-5EDD-FE89-4C343E869DA9}"/>
                      </a:ext>
                    </a:extLst>
                  </p:cNvPr>
                  <p:cNvSpPr/>
                  <p:nvPr/>
                </p:nvSpPr>
                <p:spPr>
                  <a:xfrm>
                    <a:off x="10727697" y="3373344"/>
                    <a:ext cx="24814" cy="37803"/>
                  </a:xfrm>
                  <a:custGeom>
                    <a:avLst/>
                    <a:gdLst>
                      <a:gd name="connsiteX0" fmla="*/ 0 w 24814"/>
                      <a:gd name="connsiteY0" fmla="*/ 21362 h 37803"/>
                      <a:gd name="connsiteX1" fmla="*/ 10370 w 24814"/>
                      <a:gd name="connsiteY1" fmla="*/ 37803 h 37803"/>
                      <a:gd name="connsiteX2" fmla="*/ 24367 w 24814"/>
                      <a:gd name="connsiteY2" fmla="*/ 0 h 37803"/>
                      <a:gd name="connsiteX3" fmla="*/ 0 w 24814"/>
                      <a:gd name="connsiteY3" fmla="*/ 21362 h 378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4814" h="37803">
                        <a:moveTo>
                          <a:pt x="0" y="21362"/>
                        </a:moveTo>
                        <a:cubicBezTo>
                          <a:pt x="0" y="21362"/>
                          <a:pt x="5633" y="29664"/>
                          <a:pt x="10370" y="37803"/>
                        </a:cubicBezTo>
                        <a:cubicBezTo>
                          <a:pt x="25518" y="28462"/>
                          <a:pt x="25528" y="9718"/>
                          <a:pt x="24367" y="0"/>
                        </a:cubicBezTo>
                        <a:lnTo>
                          <a:pt x="0" y="21362"/>
                        </a:lnTo>
                        <a:close/>
                      </a:path>
                    </a:pathLst>
                  </a:custGeom>
                  <a:solidFill>
                    <a:srgbClr val="ED985F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Freeform: Shape 110">
                    <a:extLst>
                      <a:ext uri="{FF2B5EF4-FFF2-40B4-BE49-F238E27FC236}">
                        <a16:creationId xmlns:a16="http://schemas.microsoft.com/office/drawing/2014/main" id="{331B6412-ED0F-5950-7390-51E66F6BBB91}"/>
                      </a:ext>
                    </a:extLst>
                  </p:cNvPr>
                  <p:cNvSpPr/>
                  <p:nvPr/>
                </p:nvSpPr>
                <p:spPr>
                  <a:xfrm>
                    <a:off x="10687309" y="3329801"/>
                    <a:ext cx="66217" cy="76030"/>
                  </a:xfrm>
                  <a:custGeom>
                    <a:avLst/>
                    <a:gdLst>
                      <a:gd name="connsiteX0" fmla="*/ 39716 w 66217"/>
                      <a:gd name="connsiteY0" fmla="*/ 75601 h 76030"/>
                      <a:gd name="connsiteX1" fmla="*/ 63400 w 66217"/>
                      <a:gd name="connsiteY1" fmla="*/ 32429 h 76030"/>
                      <a:gd name="connsiteX2" fmla="*/ 22195 w 66217"/>
                      <a:gd name="connsiteY2" fmla="*/ 3896 h 76030"/>
                      <a:gd name="connsiteX3" fmla="*/ 1159 w 66217"/>
                      <a:gd name="connsiteY3" fmla="*/ 35913 h 76030"/>
                      <a:gd name="connsiteX4" fmla="*/ 39716 w 66217"/>
                      <a:gd name="connsiteY4" fmla="*/ 75601 h 760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6217" h="76030">
                        <a:moveTo>
                          <a:pt x="39716" y="75601"/>
                        </a:moveTo>
                        <a:cubicBezTo>
                          <a:pt x="39716" y="75601"/>
                          <a:pt x="76490" y="55135"/>
                          <a:pt x="63400" y="32429"/>
                        </a:cubicBezTo>
                        <a:cubicBezTo>
                          <a:pt x="50300" y="9723"/>
                          <a:pt x="46236" y="-8206"/>
                          <a:pt x="22195" y="3896"/>
                        </a:cubicBezTo>
                        <a:cubicBezTo>
                          <a:pt x="-1836" y="15998"/>
                          <a:pt x="-1367" y="27275"/>
                          <a:pt x="1159" y="35913"/>
                        </a:cubicBezTo>
                        <a:cubicBezTo>
                          <a:pt x="3685" y="44551"/>
                          <a:pt x="29814" y="80337"/>
                          <a:pt x="39716" y="75601"/>
                        </a:cubicBezTo>
                        <a:close/>
                      </a:path>
                    </a:pathLst>
                  </a:custGeom>
                  <a:solidFill>
                    <a:srgbClr val="FFB27D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Freeform: Shape 111">
                    <a:extLst>
                      <a:ext uri="{FF2B5EF4-FFF2-40B4-BE49-F238E27FC236}">
                        <a16:creationId xmlns:a16="http://schemas.microsoft.com/office/drawing/2014/main" id="{D1B8B12D-A59C-8ADF-2284-77310B21FF49}"/>
                      </a:ext>
                    </a:extLst>
                  </p:cNvPr>
                  <p:cNvSpPr/>
                  <p:nvPr/>
                </p:nvSpPr>
                <p:spPr>
                  <a:xfrm>
                    <a:off x="10682011" y="3326734"/>
                    <a:ext cx="75380" cy="54616"/>
                  </a:xfrm>
                  <a:custGeom>
                    <a:avLst/>
                    <a:gdLst>
                      <a:gd name="connsiteX0" fmla="*/ 243 w 75380"/>
                      <a:gd name="connsiteY0" fmla="*/ 25748 h 54616"/>
                      <a:gd name="connsiteX1" fmla="*/ 10624 w 75380"/>
                      <a:gd name="connsiteY1" fmla="*/ 15377 h 54616"/>
                      <a:gd name="connsiteX2" fmla="*/ 46400 w 75380"/>
                      <a:gd name="connsiteY2" fmla="*/ 1686 h 54616"/>
                      <a:gd name="connsiteX3" fmla="*/ 75381 w 75380"/>
                      <a:gd name="connsiteY3" fmla="*/ 19096 h 54616"/>
                      <a:gd name="connsiteX4" fmla="*/ 53530 w 75380"/>
                      <a:gd name="connsiteY4" fmla="*/ 31951 h 54616"/>
                      <a:gd name="connsiteX5" fmla="*/ 36182 w 75380"/>
                      <a:gd name="connsiteY5" fmla="*/ 30566 h 54616"/>
                      <a:gd name="connsiteX6" fmla="*/ 61140 w 75380"/>
                      <a:gd name="connsiteY6" fmla="*/ 39968 h 54616"/>
                      <a:gd name="connsiteX7" fmla="*/ 13639 w 75380"/>
                      <a:gd name="connsiteY7" fmla="*/ 18637 h 54616"/>
                      <a:gd name="connsiteX8" fmla="*/ 11815 w 75380"/>
                      <a:gd name="connsiteY8" fmla="*/ 33816 h 54616"/>
                      <a:gd name="connsiteX9" fmla="*/ 15697 w 75380"/>
                      <a:gd name="connsiteY9" fmla="*/ 54617 h 54616"/>
                      <a:gd name="connsiteX10" fmla="*/ 243 w 75380"/>
                      <a:gd name="connsiteY10" fmla="*/ 25748 h 546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5380" h="54616">
                        <a:moveTo>
                          <a:pt x="243" y="25748"/>
                        </a:moveTo>
                        <a:cubicBezTo>
                          <a:pt x="1924" y="15663"/>
                          <a:pt x="7048" y="14705"/>
                          <a:pt x="10624" y="15377"/>
                        </a:cubicBezTo>
                        <a:cubicBezTo>
                          <a:pt x="24203" y="-7084"/>
                          <a:pt x="46400" y="1686"/>
                          <a:pt x="46400" y="1686"/>
                        </a:cubicBezTo>
                        <a:cubicBezTo>
                          <a:pt x="58247" y="16559"/>
                          <a:pt x="75381" y="19096"/>
                          <a:pt x="75381" y="19096"/>
                        </a:cubicBezTo>
                        <a:cubicBezTo>
                          <a:pt x="75381" y="19096"/>
                          <a:pt x="71113" y="27031"/>
                          <a:pt x="53530" y="31951"/>
                        </a:cubicBezTo>
                        <a:cubicBezTo>
                          <a:pt x="48162" y="33449"/>
                          <a:pt x="42060" y="32542"/>
                          <a:pt x="36182" y="30566"/>
                        </a:cubicBezTo>
                        <a:cubicBezTo>
                          <a:pt x="48386" y="37371"/>
                          <a:pt x="61140" y="39968"/>
                          <a:pt x="61140" y="39968"/>
                        </a:cubicBezTo>
                        <a:cubicBezTo>
                          <a:pt x="37965" y="42087"/>
                          <a:pt x="15921" y="20909"/>
                          <a:pt x="13639" y="18637"/>
                        </a:cubicBezTo>
                        <a:cubicBezTo>
                          <a:pt x="12569" y="21917"/>
                          <a:pt x="10695" y="28793"/>
                          <a:pt x="11815" y="33816"/>
                        </a:cubicBezTo>
                        <a:cubicBezTo>
                          <a:pt x="13343" y="40641"/>
                          <a:pt x="19405" y="53007"/>
                          <a:pt x="15697" y="54617"/>
                        </a:cubicBezTo>
                        <a:cubicBezTo>
                          <a:pt x="15697" y="54617"/>
                          <a:pt x="-2283" y="40865"/>
                          <a:pt x="243" y="25748"/>
                        </a:cubicBezTo>
                        <a:close/>
                      </a:path>
                    </a:pathLst>
                  </a:custGeom>
                  <a:solidFill>
                    <a:srgbClr val="2C3A64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3" name="Freeform: Shape 112">
                    <a:extLst>
                      <a:ext uri="{FF2B5EF4-FFF2-40B4-BE49-F238E27FC236}">
                        <a16:creationId xmlns:a16="http://schemas.microsoft.com/office/drawing/2014/main" id="{96949B1C-4C81-F616-5057-C31B8DA2D28E}"/>
                      </a:ext>
                    </a:extLst>
                  </p:cNvPr>
                  <p:cNvSpPr/>
                  <p:nvPr/>
                </p:nvSpPr>
                <p:spPr>
                  <a:xfrm>
                    <a:off x="11018438" y="3896148"/>
                    <a:ext cx="65470" cy="36702"/>
                  </a:xfrm>
                  <a:custGeom>
                    <a:avLst/>
                    <a:gdLst>
                      <a:gd name="connsiteX0" fmla="*/ 0 w 65470"/>
                      <a:gd name="connsiteY0" fmla="*/ 36703 h 36702"/>
                      <a:gd name="connsiteX1" fmla="*/ 65114 w 65470"/>
                      <a:gd name="connsiteY1" fmla="*/ 36703 h 36702"/>
                      <a:gd name="connsiteX2" fmla="*/ 63270 w 65470"/>
                      <a:gd name="connsiteY2" fmla="*/ 19253 h 36702"/>
                      <a:gd name="connsiteX3" fmla="*/ 56129 w 65470"/>
                      <a:gd name="connsiteY3" fmla="*/ 0 h 36702"/>
                      <a:gd name="connsiteX4" fmla="*/ 35837 w 65470"/>
                      <a:gd name="connsiteY4" fmla="*/ 7762 h 36702"/>
                      <a:gd name="connsiteX5" fmla="*/ 24540 w 65470"/>
                      <a:gd name="connsiteY5" fmla="*/ 22411 h 36702"/>
                      <a:gd name="connsiteX6" fmla="*/ 0 w 65470"/>
                      <a:gd name="connsiteY6" fmla="*/ 36703 h 367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5470" h="36702">
                        <a:moveTo>
                          <a:pt x="0" y="36703"/>
                        </a:moveTo>
                        <a:lnTo>
                          <a:pt x="65114" y="36703"/>
                        </a:lnTo>
                        <a:cubicBezTo>
                          <a:pt x="65114" y="36703"/>
                          <a:pt x="66672" y="26781"/>
                          <a:pt x="63270" y="19253"/>
                        </a:cubicBezTo>
                        <a:cubicBezTo>
                          <a:pt x="60010" y="12030"/>
                          <a:pt x="54907" y="8750"/>
                          <a:pt x="56129" y="0"/>
                        </a:cubicBezTo>
                        <a:cubicBezTo>
                          <a:pt x="51993" y="4258"/>
                          <a:pt x="45250" y="9036"/>
                          <a:pt x="35837" y="7762"/>
                        </a:cubicBezTo>
                        <a:cubicBezTo>
                          <a:pt x="34686" y="9637"/>
                          <a:pt x="28391" y="19640"/>
                          <a:pt x="24540" y="22411"/>
                        </a:cubicBezTo>
                        <a:cubicBezTo>
                          <a:pt x="20282" y="25467"/>
                          <a:pt x="1314" y="24377"/>
                          <a:pt x="0" y="36703"/>
                        </a:cubicBezTo>
                        <a:close/>
                      </a:path>
                    </a:pathLst>
                  </a:custGeom>
                  <a:solidFill>
                    <a:srgbClr val="233862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4" name="Freeform: Shape 113">
                    <a:extLst>
                      <a:ext uri="{FF2B5EF4-FFF2-40B4-BE49-F238E27FC236}">
                        <a16:creationId xmlns:a16="http://schemas.microsoft.com/office/drawing/2014/main" id="{0DB58281-6081-F7F7-64FE-F7C4ECB0B478}"/>
                      </a:ext>
                    </a:extLst>
                  </p:cNvPr>
                  <p:cNvSpPr/>
                  <p:nvPr/>
                </p:nvSpPr>
                <p:spPr>
                  <a:xfrm>
                    <a:off x="10743767" y="3393423"/>
                    <a:ext cx="251516" cy="164800"/>
                  </a:xfrm>
                  <a:custGeom>
                    <a:avLst/>
                    <a:gdLst>
                      <a:gd name="connsiteX0" fmla="*/ 21418 w 251516"/>
                      <a:gd name="connsiteY0" fmla="*/ 116312 h 164800"/>
                      <a:gd name="connsiteX1" fmla="*/ 53587 w 251516"/>
                      <a:gd name="connsiteY1" fmla="*/ 122138 h 164800"/>
                      <a:gd name="connsiteX2" fmla="*/ 97645 w 251516"/>
                      <a:gd name="connsiteY2" fmla="*/ 128974 h 164800"/>
                      <a:gd name="connsiteX3" fmla="*/ 103992 w 251516"/>
                      <a:gd name="connsiteY3" fmla="*/ 134108 h 164800"/>
                      <a:gd name="connsiteX4" fmla="*/ 125689 w 251516"/>
                      <a:gd name="connsiteY4" fmla="*/ 164800 h 164800"/>
                      <a:gd name="connsiteX5" fmla="*/ 251516 w 251516"/>
                      <a:gd name="connsiteY5" fmla="*/ 112216 h 164800"/>
                      <a:gd name="connsiteX6" fmla="*/ 47343 w 251516"/>
                      <a:gd name="connsiteY6" fmla="*/ 1374 h 164800"/>
                      <a:gd name="connsiteX7" fmla="*/ 19503 w 251516"/>
                      <a:gd name="connsiteY7" fmla="*/ 11317 h 164800"/>
                      <a:gd name="connsiteX8" fmla="*/ 158 w 251516"/>
                      <a:gd name="connsiteY8" fmla="*/ 29449 h 164800"/>
                      <a:gd name="connsiteX9" fmla="*/ 21428 w 251516"/>
                      <a:gd name="connsiteY9" fmla="*/ 116301 h 164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51516" h="164800">
                        <a:moveTo>
                          <a:pt x="21418" y="116312"/>
                        </a:moveTo>
                        <a:cubicBezTo>
                          <a:pt x="29791" y="119235"/>
                          <a:pt x="41557" y="120834"/>
                          <a:pt x="53587" y="122138"/>
                        </a:cubicBezTo>
                        <a:cubicBezTo>
                          <a:pt x="70711" y="124003"/>
                          <a:pt x="88385" y="125286"/>
                          <a:pt x="97645" y="128974"/>
                        </a:cubicBezTo>
                        <a:cubicBezTo>
                          <a:pt x="101027" y="130318"/>
                          <a:pt x="103278" y="131989"/>
                          <a:pt x="103992" y="134108"/>
                        </a:cubicBezTo>
                        <a:cubicBezTo>
                          <a:pt x="108005" y="146179"/>
                          <a:pt x="125689" y="164800"/>
                          <a:pt x="125689" y="164800"/>
                        </a:cubicBezTo>
                        <a:cubicBezTo>
                          <a:pt x="239068" y="159636"/>
                          <a:pt x="251516" y="112216"/>
                          <a:pt x="251516" y="112216"/>
                        </a:cubicBezTo>
                        <a:cubicBezTo>
                          <a:pt x="175238" y="23520"/>
                          <a:pt x="47343" y="1374"/>
                          <a:pt x="47343" y="1374"/>
                        </a:cubicBezTo>
                        <a:cubicBezTo>
                          <a:pt x="47343" y="1374"/>
                          <a:pt x="23995" y="-5451"/>
                          <a:pt x="19503" y="11317"/>
                        </a:cubicBezTo>
                        <a:cubicBezTo>
                          <a:pt x="14287" y="30804"/>
                          <a:pt x="158" y="29449"/>
                          <a:pt x="158" y="29449"/>
                        </a:cubicBezTo>
                        <a:cubicBezTo>
                          <a:pt x="158" y="29449"/>
                          <a:pt x="-3234" y="107694"/>
                          <a:pt x="21428" y="116301"/>
                        </a:cubicBezTo>
                        <a:close/>
                      </a:path>
                    </a:pathLst>
                  </a:custGeom>
                  <a:solidFill>
                    <a:srgbClr val="47A7ED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5" name="Freeform: Shape 114">
                    <a:extLst>
                      <a:ext uri="{FF2B5EF4-FFF2-40B4-BE49-F238E27FC236}">
                        <a16:creationId xmlns:a16="http://schemas.microsoft.com/office/drawing/2014/main" id="{C39F64C8-A018-8418-6116-591F06FF663A}"/>
                      </a:ext>
                    </a:extLst>
                  </p:cNvPr>
                  <p:cNvSpPr/>
                  <p:nvPr/>
                </p:nvSpPr>
                <p:spPr>
                  <a:xfrm>
                    <a:off x="10797354" y="3423330"/>
                    <a:ext cx="44424" cy="99076"/>
                  </a:xfrm>
                  <a:custGeom>
                    <a:avLst/>
                    <a:gdLst>
                      <a:gd name="connsiteX0" fmla="*/ 0 w 44424"/>
                      <a:gd name="connsiteY0" fmla="*/ 92241 h 99076"/>
                      <a:gd name="connsiteX1" fmla="*/ 44058 w 44424"/>
                      <a:gd name="connsiteY1" fmla="*/ 99076 h 99076"/>
                      <a:gd name="connsiteX2" fmla="*/ 21158 w 44424"/>
                      <a:gd name="connsiteY2" fmla="*/ 0 h 99076"/>
                      <a:gd name="connsiteX3" fmla="*/ 0 w 44424"/>
                      <a:gd name="connsiteY3" fmla="*/ 92241 h 990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4424" h="99076">
                        <a:moveTo>
                          <a:pt x="0" y="92241"/>
                        </a:moveTo>
                        <a:cubicBezTo>
                          <a:pt x="17124" y="94105"/>
                          <a:pt x="34798" y="95389"/>
                          <a:pt x="44058" y="99076"/>
                        </a:cubicBezTo>
                        <a:cubicBezTo>
                          <a:pt x="47837" y="42530"/>
                          <a:pt x="21158" y="0"/>
                          <a:pt x="21158" y="0"/>
                        </a:cubicBezTo>
                        <a:cubicBezTo>
                          <a:pt x="21158" y="0"/>
                          <a:pt x="3749" y="70839"/>
                          <a:pt x="0" y="92241"/>
                        </a:cubicBezTo>
                        <a:close/>
                      </a:path>
                    </a:pathLst>
                  </a:custGeom>
                  <a:solidFill>
                    <a:srgbClr val="47A7ED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Freeform: Shape 115">
                    <a:extLst>
                      <a:ext uri="{FF2B5EF4-FFF2-40B4-BE49-F238E27FC236}">
                        <a16:creationId xmlns:a16="http://schemas.microsoft.com/office/drawing/2014/main" id="{031BCCA6-B4AC-6F6A-1D1C-5627B1B391B2}"/>
                      </a:ext>
                    </a:extLst>
                  </p:cNvPr>
                  <p:cNvSpPr/>
                  <p:nvPr/>
                </p:nvSpPr>
                <p:spPr>
                  <a:xfrm>
                    <a:off x="10685891" y="3412390"/>
                    <a:ext cx="140379" cy="266740"/>
                  </a:xfrm>
                  <a:custGeom>
                    <a:avLst/>
                    <a:gdLst>
                      <a:gd name="connsiteX0" fmla="*/ 93840 w 140379"/>
                      <a:gd name="connsiteY0" fmla="*/ 0 h 266740"/>
                      <a:gd name="connsiteX1" fmla="*/ 140190 w 140379"/>
                      <a:gd name="connsiteY1" fmla="*/ 32119 h 266740"/>
                      <a:gd name="connsiteX2" fmla="*/ 92669 w 140379"/>
                      <a:gd name="connsiteY2" fmla="*/ 183850 h 266740"/>
                      <a:gd name="connsiteX3" fmla="*/ 12611 w 140379"/>
                      <a:gd name="connsiteY3" fmla="*/ 266740 h 266740"/>
                      <a:gd name="connsiteX4" fmla="*/ 0 w 140379"/>
                      <a:gd name="connsiteY4" fmla="*/ 259100 h 266740"/>
                      <a:gd name="connsiteX5" fmla="*/ 56058 w 140379"/>
                      <a:gd name="connsiteY5" fmla="*/ 169222 h 266740"/>
                      <a:gd name="connsiteX6" fmla="*/ 93851 w 140379"/>
                      <a:gd name="connsiteY6" fmla="*/ 0 h 266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40379" h="266740">
                        <a:moveTo>
                          <a:pt x="93840" y="0"/>
                        </a:moveTo>
                        <a:cubicBezTo>
                          <a:pt x="93840" y="0"/>
                          <a:pt x="136747" y="4238"/>
                          <a:pt x="140190" y="32119"/>
                        </a:cubicBezTo>
                        <a:cubicBezTo>
                          <a:pt x="143633" y="60000"/>
                          <a:pt x="99056" y="173562"/>
                          <a:pt x="92669" y="183850"/>
                        </a:cubicBezTo>
                        <a:cubicBezTo>
                          <a:pt x="81046" y="202574"/>
                          <a:pt x="12611" y="266740"/>
                          <a:pt x="12611" y="266740"/>
                        </a:cubicBezTo>
                        <a:lnTo>
                          <a:pt x="0" y="259100"/>
                        </a:lnTo>
                        <a:cubicBezTo>
                          <a:pt x="0" y="259100"/>
                          <a:pt x="48550" y="176913"/>
                          <a:pt x="56058" y="169222"/>
                        </a:cubicBezTo>
                        <a:cubicBezTo>
                          <a:pt x="67854" y="157151"/>
                          <a:pt x="79314" y="9657"/>
                          <a:pt x="93851" y="0"/>
                        </a:cubicBezTo>
                        <a:close/>
                      </a:path>
                    </a:pathLst>
                  </a:custGeom>
                  <a:solidFill>
                    <a:srgbClr val="FFB27D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7" name="Freeform: Shape 116">
                    <a:extLst>
                      <a:ext uri="{FF2B5EF4-FFF2-40B4-BE49-F238E27FC236}">
                        <a16:creationId xmlns:a16="http://schemas.microsoft.com/office/drawing/2014/main" id="{DD6B7F99-AB48-371E-DBB6-1D33868E11FF}"/>
                      </a:ext>
                    </a:extLst>
                  </p:cNvPr>
                  <p:cNvSpPr/>
                  <p:nvPr/>
                </p:nvSpPr>
                <p:spPr>
                  <a:xfrm>
                    <a:off x="10759458" y="3405705"/>
                    <a:ext cx="74387" cy="61456"/>
                  </a:xfrm>
                  <a:custGeom>
                    <a:avLst/>
                    <a:gdLst>
                      <a:gd name="connsiteX0" fmla="*/ 65391 w 74387"/>
                      <a:gd name="connsiteY0" fmla="*/ 55581 h 61456"/>
                      <a:gd name="connsiteX1" fmla="*/ 379 w 74387"/>
                      <a:gd name="connsiteY1" fmla="*/ 55581 h 61456"/>
                      <a:gd name="connsiteX2" fmla="*/ 25275 w 74387"/>
                      <a:gd name="connsiteY2" fmla="*/ 125 h 61456"/>
                      <a:gd name="connsiteX3" fmla="*/ 74345 w 74387"/>
                      <a:gd name="connsiteY3" fmla="*/ 27384 h 61456"/>
                      <a:gd name="connsiteX4" fmla="*/ 65391 w 74387"/>
                      <a:gd name="connsiteY4" fmla="*/ 55571 h 6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4387" h="61456">
                        <a:moveTo>
                          <a:pt x="65391" y="55581"/>
                        </a:moveTo>
                        <a:cubicBezTo>
                          <a:pt x="65279" y="56213"/>
                          <a:pt x="25785" y="68478"/>
                          <a:pt x="379" y="55581"/>
                        </a:cubicBezTo>
                        <a:cubicBezTo>
                          <a:pt x="379" y="55581"/>
                          <a:pt x="-5061" y="-3054"/>
                          <a:pt x="25275" y="125"/>
                        </a:cubicBezTo>
                        <a:cubicBezTo>
                          <a:pt x="55612" y="3303"/>
                          <a:pt x="73581" y="12858"/>
                          <a:pt x="74345" y="27384"/>
                        </a:cubicBezTo>
                        <a:cubicBezTo>
                          <a:pt x="75109" y="41911"/>
                          <a:pt x="65391" y="55571"/>
                          <a:pt x="65391" y="55571"/>
                        </a:cubicBezTo>
                        <a:close/>
                      </a:path>
                    </a:pathLst>
                  </a:custGeom>
                  <a:solidFill>
                    <a:srgbClr val="47A7ED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3C3848E4-914A-023A-04D0-E5742A060B7A}"/>
                      </a:ext>
                    </a:extLst>
                  </p:cNvPr>
                  <p:cNvSpPr/>
                  <p:nvPr/>
                </p:nvSpPr>
                <p:spPr>
                  <a:xfrm>
                    <a:off x="10653236" y="3656473"/>
                    <a:ext cx="49157" cy="26330"/>
                  </a:xfrm>
                  <a:custGeom>
                    <a:avLst/>
                    <a:gdLst>
                      <a:gd name="connsiteX0" fmla="*/ 49157 w 49157"/>
                      <a:gd name="connsiteY0" fmla="*/ 14507 h 26330"/>
                      <a:gd name="connsiteX1" fmla="*/ 27123 w 49157"/>
                      <a:gd name="connsiteY1" fmla="*/ 32 h 26330"/>
                      <a:gd name="connsiteX2" fmla="*/ 16 w 49157"/>
                      <a:gd name="connsiteY2" fmla="*/ 4789 h 26330"/>
                      <a:gd name="connsiteX3" fmla="*/ 21510 w 49157"/>
                      <a:gd name="connsiteY3" fmla="*/ 14487 h 26330"/>
                      <a:gd name="connsiteX4" fmla="*/ 41293 w 49157"/>
                      <a:gd name="connsiteY4" fmla="*/ 26069 h 26330"/>
                      <a:gd name="connsiteX5" fmla="*/ 49157 w 49157"/>
                      <a:gd name="connsiteY5" fmla="*/ 14507 h 263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9157" h="26330">
                        <a:moveTo>
                          <a:pt x="49157" y="14507"/>
                        </a:moveTo>
                        <a:cubicBezTo>
                          <a:pt x="49157" y="14507"/>
                          <a:pt x="33765" y="368"/>
                          <a:pt x="27123" y="32"/>
                        </a:cubicBezTo>
                        <a:cubicBezTo>
                          <a:pt x="20481" y="-304"/>
                          <a:pt x="699" y="2049"/>
                          <a:pt x="16" y="4789"/>
                        </a:cubicBezTo>
                        <a:cubicBezTo>
                          <a:pt x="-666" y="7530"/>
                          <a:pt x="20329" y="12735"/>
                          <a:pt x="21510" y="14487"/>
                        </a:cubicBezTo>
                        <a:cubicBezTo>
                          <a:pt x="22692" y="16239"/>
                          <a:pt x="35568" y="28239"/>
                          <a:pt x="41293" y="26069"/>
                        </a:cubicBezTo>
                        <a:cubicBezTo>
                          <a:pt x="47018" y="23900"/>
                          <a:pt x="49157" y="14507"/>
                          <a:pt x="49157" y="14507"/>
                        </a:cubicBezTo>
                        <a:close/>
                      </a:path>
                    </a:pathLst>
                  </a:custGeom>
                  <a:solidFill>
                    <a:srgbClr val="FFB27D"/>
                  </a:solidFill>
                  <a:ln w="101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N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D95E62C9-DEA3-1039-12B4-95ACC440A6B9}"/>
                    </a:ext>
                  </a:extLst>
                </p:cNvPr>
                <p:cNvSpPr/>
                <p:nvPr/>
              </p:nvSpPr>
              <p:spPr>
                <a:xfrm>
                  <a:off x="10550770" y="3701079"/>
                  <a:ext cx="126842" cy="162329"/>
                </a:xfrm>
                <a:custGeom>
                  <a:avLst/>
                  <a:gdLst>
                    <a:gd name="connsiteX0" fmla="*/ 71820 w 126842"/>
                    <a:gd name="connsiteY0" fmla="*/ 162074 h 162329"/>
                    <a:gd name="connsiteX1" fmla="*/ 62815 w 126842"/>
                    <a:gd name="connsiteY1" fmla="*/ 160037 h 162329"/>
                    <a:gd name="connsiteX2" fmla="*/ 4180 w 126842"/>
                    <a:gd name="connsiteY2" fmla="*/ 114339 h 162329"/>
                    <a:gd name="connsiteX3" fmla="*/ 2296 w 126842"/>
                    <a:gd name="connsiteY3" fmla="*/ 99120 h 162329"/>
                    <a:gd name="connsiteX4" fmla="*/ 17515 w 126842"/>
                    <a:gd name="connsiteY4" fmla="*/ 97236 h 162329"/>
                    <a:gd name="connsiteX5" fmla="*/ 64017 w 126842"/>
                    <a:gd name="connsiteY5" fmla="*/ 133480 h 162329"/>
                    <a:gd name="connsiteX6" fmla="*/ 105702 w 126842"/>
                    <a:gd name="connsiteY6" fmla="*/ 7439 h 162329"/>
                    <a:gd name="connsiteX7" fmla="*/ 119403 w 126842"/>
                    <a:gd name="connsiteY7" fmla="*/ 553 h 162329"/>
                    <a:gd name="connsiteX8" fmla="*/ 126289 w 126842"/>
                    <a:gd name="connsiteY8" fmla="*/ 14254 h 162329"/>
                    <a:gd name="connsiteX9" fmla="*/ 79776 w 126842"/>
                    <a:gd name="connsiteY9" fmla="*/ 154903 h 162329"/>
                    <a:gd name="connsiteX10" fmla="*/ 72625 w 126842"/>
                    <a:gd name="connsiteY10" fmla="*/ 161871 h 162329"/>
                    <a:gd name="connsiteX11" fmla="*/ 71820 w 126842"/>
                    <a:gd name="connsiteY11" fmla="*/ 162085 h 1623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26842" h="162329">
                      <a:moveTo>
                        <a:pt x="71820" y="162074"/>
                      </a:moveTo>
                      <a:cubicBezTo>
                        <a:pt x="68683" y="162767"/>
                        <a:pt x="65372" y="162034"/>
                        <a:pt x="62815" y="160037"/>
                      </a:cubicBezTo>
                      <a:lnTo>
                        <a:pt x="4180" y="114339"/>
                      </a:lnTo>
                      <a:cubicBezTo>
                        <a:pt x="-546" y="110662"/>
                        <a:pt x="-1392" y="103847"/>
                        <a:pt x="2296" y="99120"/>
                      </a:cubicBezTo>
                      <a:cubicBezTo>
                        <a:pt x="5973" y="94394"/>
                        <a:pt x="12788" y="93548"/>
                        <a:pt x="17515" y="97236"/>
                      </a:cubicBezTo>
                      <a:lnTo>
                        <a:pt x="64017" y="133480"/>
                      </a:lnTo>
                      <a:lnTo>
                        <a:pt x="105702" y="7439"/>
                      </a:lnTo>
                      <a:cubicBezTo>
                        <a:pt x="107586" y="1755"/>
                        <a:pt x="113719" y="-1331"/>
                        <a:pt x="119403" y="553"/>
                      </a:cubicBezTo>
                      <a:cubicBezTo>
                        <a:pt x="125087" y="2438"/>
                        <a:pt x="128174" y="8570"/>
                        <a:pt x="126289" y="14254"/>
                      </a:cubicBezTo>
                      <a:lnTo>
                        <a:pt x="79776" y="154903"/>
                      </a:lnTo>
                      <a:cubicBezTo>
                        <a:pt x="78666" y="158254"/>
                        <a:pt x="76007" y="160852"/>
                        <a:pt x="72625" y="161871"/>
                      </a:cubicBezTo>
                      <a:cubicBezTo>
                        <a:pt x="72360" y="161952"/>
                        <a:pt x="72085" y="162023"/>
                        <a:pt x="71820" y="162085"/>
                      </a:cubicBezTo>
                      <a:close/>
                    </a:path>
                  </a:pathLst>
                </a:custGeom>
                <a:solidFill>
                  <a:srgbClr val="EEF4FF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8" name="Graphic 42">
                <a:extLst>
                  <a:ext uri="{FF2B5EF4-FFF2-40B4-BE49-F238E27FC236}">
                    <a16:creationId xmlns:a16="http://schemas.microsoft.com/office/drawing/2014/main" id="{2371A991-8B2E-DB5B-51F3-10091B6DA242}"/>
                  </a:ext>
                </a:extLst>
              </p:cNvPr>
              <p:cNvGrpSpPr/>
              <p:nvPr/>
            </p:nvGrpSpPr>
            <p:grpSpPr>
              <a:xfrm>
                <a:off x="9563075" y="3331364"/>
                <a:ext cx="333280" cy="601486"/>
                <a:chOff x="9563075" y="3331364"/>
                <a:chExt cx="333280" cy="601486"/>
              </a:xfrm>
            </p:grpSpPr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D3CDD38F-9FAD-3EF7-DBCF-7DE537984716}"/>
                    </a:ext>
                  </a:extLst>
                </p:cNvPr>
                <p:cNvSpPr/>
                <p:nvPr/>
              </p:nvSpPr>
              <p:spPr>
                <a:xfrm>
                  <a:off x="9582471" y="3349843"/>
                  <a:ext cx="296852" cy="553028"/>
                </a:xfrm>
                <a:custGeom>
                  <a:avLst/>
                  <a:gdLst>
                    <a:gd name="connsiteX0" fmla="*/ 165229 w 296852"/>
                    <a:gd name="connsiteY0" fmla="*/ 272496 h 553028"/>
                    <a:gd name="connsiteX1" fmla="*/ 165331 w 296852"/>
                    <a:gd name="connsiteY1" fmla="*/ 280451 h 553028"/>
                    <a:gd name="connsiteX2" fmla="*/ 165698 w 296852"/>
                    <a:gd name="connsiteY2" fmla="*/ 281052 h 553028"/>
                    <a:gd name="connsiteX3" fmla="*/ 296853 w 296852"/>
                    <a:gd name="connsiteY3" fmla="*/ 436645 h 553028"/>
                    <a:gd name="connsiteX4" fmla="*/ 296853 w 296852"/>
                    <a:gd name="connsiteY4" fmla="*/ 553028 h 553028"/>
                    <a:gd name="connsiteX5" fmla="*/ 0 w 296852"/>
                    <a:gd name="connsiteY5" fmla="*/ 553028 h 553028"/>
                    <a:gd name="connsiteX6" fmla="*/ 0 w 296852"/>
                    <a:gd name="connsiteY6" fmla="*/ 436594 h 553028"/>
                    <a:gd name="connsiteX7" fmla="*/ 131776 w 296852"/>
                    <a:gd name="connsiteY7" fmla="*/ 280441 h 553028"/>
                    <a:gd name="connsiteX8" fmla="*/ 131776 w 296852"/>
                    <a:gd name="connsiteY8" fmla="*/ 280441 h 553028"/>
                    <a:gd name="connsiteX9" fmla="*/ 133141 w 296852"/>
                    <a:gd name="connsiteY9" fmla="*/ 276428 h 553028"/>
                    <a:gd name="connsiteX10" fmla="*/ 131776 w 296852"/>
                    <a:gd name="connsiteY10" fmla="*/ 272353 h 553028"/>
                    <a:gd name="connsiteX11" fmla="*/ 0 w 296852"/>
                    <a:gd name="connsiteY11" fmla="*/ 116384 h 553028"/>
                    <a:gd name="connsiteX12" fmla="*/ 0 w 296852"/>
                    <a:gd name="connsiteY12" fmla="*/ 0 h 553028"/>
                    <a:gd name="connsiteX13" fmla="*/ 296853 w 296852"/>
                    <a:gd name="connsiteY13" fmla="*/ 0 h 553028"/>
                    <a:gd name="connsiteX14" fmla="*/ 296853 w 296852"/>
                    <a:gd name="connsiteY14" fmla="*/ 116435 h 553028"/>
                    <a:gd name="connsiteX15" fmla="*/ 165229 w 296852"/>
                    <a:gd name="connsiteY15" fmla="*/ 272496 h 55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96852" h="553028">
                      <a:moveTo>
                        <a:pt x="165229" y="272496"/>
                      </a:moveTo>
                      <a:cubicBezTo>
                        <a:pt x="164730" y="273209"/>
                        <a:pt x="162591" y="276611"/>
                        <a:pt x="165331" y="280451"/>
                      </a:cubicBezTo>
                      <a:cubicBezTo>
                        <a:pt x="165504" y="280696"/>
                        <a:pt x="165627" y="280889"/>
                        <a:pt x="165698" y="281052"/>
                      </a:cubicBezTo>
                      <a:cubicBezTo>
                        <a:pt x="198489" y="300754"/>
                        <a:pt x="296853" y="380465"/>
                        <a:pt x="296853" y="436645"/>
                      </a:cubicBezTo>
                      <a:lnTo>
                        <a:pt x="296853" y="553028"/>
                      </a:lnTo>
                      <a:lnTo>
                        <a:pt x="0" y="553028"/>
                      </a:lnTo>
                      <a:lnTo>
                        <a:pt x="0" y="436594"/>
                      </a:lnTo>
                      <a:cubicBezTo>
                        <a:pt x="0" y="380057"/>
                        <a:pt x="99698" y="299083"/>
                        <a:pt x="131776" y="280441"/>
                      </a:cubicBezTo>
                      <a:lnTo>
                        <a:pt x="131776" y="280441"/>
                      </a:lnTo>
                      <a:cubicBezTo>
                        <a:pt x="132805" y="279005"/>
                        <a:pt x="133141" y="277619"/>
                        <a:pt x="133141" y="276428"/>
                      </a:cubicBezTo>
                      <a:cubicBezTo>
                        <a:pt x="133141" y="274034"/>
                        <a:pt x="131776" y="272353"/>
                        <a:pt x="131776" y="272353"/>
                      </a:cubicBezTo>
                      <a:cubicBezTo>
                        <a:pt x="99627" y="253304"/>
                        <a:pt x="0" y="172920"/>
                        <a:pt x="0" y="116384"/>
                      </a:cubicBezTo>
                      <a:lnTo>
                        <a:pt x="0" y="0"/>
                      </a:lnTo>
                      <a:lnTo>
                        <a:pt x="296853" y="0"/>
                      </a:lnTo>
                      <a:lnTo>
                        <a:pt x="296853" y="116435"/>
                      </a:lnTo>
                      <a:cubicBezTo>
                        <a:pt x="296853" y="172879"/>
                        <a:pt x="197481" y="253691"/>
                        <a:pt x="165229" y="272496"/>
                      </a:cubicBezTo>
                      <a:close/>
                    </a:path>
                  </a:pathLst>
                </a:custGeom>
                <a:solidFill>
                  <a:srgbClr val="CADAFF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D15D6084-A51B-D3DF-54DD-D0B32D2E63FA}"/>
                    </a:ext>
                  </a:extLst>
                </p:cNvPr>
                <p:cNvSpPr/>
                <p:nvPr/>
              </p:nvSpPr>
              <p:spPr>
                <a:xfrm>
                  <a:off x="9596498" y="3427209"/>
                  <a:ext cx="265996" cy="475662"/>
                </a:xfrm>
                <a:custGeom>
                  <a:avLst/>
                  <a:gdLst>
                    <a:gd name="connsiteX0" fmla="*/ 244360 w 265996"/>
                    <a:gd name="connsiteY0" fmla="*/ 13 h 475662"/>
                    <a:gd name="connsiteX1" fmla="*/ 145375 w 265996"/>
                    <a:gd name="connsiteY1" fmla="*/ 16159 h 475662"/>
                    <a:gd name="connsiteX2" fmla="*/ 20771 w 265996"/>
                    <a:gd name="connsiteY2" fmla="*/ 13816 h 475662"/>
                    <a:gd name="connsiteX3" fmla="*/ 0 w 265996"/>
                    <a:gd name="connsiteY3" fmla="*/ 31816 h 475662"/>
                    <a:gd name="connsiteX4" fmla="*/ 0 w 265996"/>
                    <a:gd name="connsiteY4" fmla="*/ 45231 h 475662"/>
                    <a:gd name="connsiteX5" fmla="*/ 125745 w 265996"/>
                    <a:gd name="connsiteY5" fmla="*/ 182783 h 475662"/>
                    <a:gd name="connsiteX6" fmla="*/ 132061 w 265996"/>
                    <a:gd name="connsiteY6" fmla="*/ 195720 h 475662"/>
                    <a:gd name="connsiteX7" fmla="*/ 132061 w 265996"/>
                    <a:gd name="connsiteY7" fmla="*/ 401258 h 475662"/>
                    <a:gd name="connsiteX8" fmla="*/ 122852 w 265996"/>
                    <a:gd name="connsiteY8" fmla="*/ 418830 h 475662"/>
                    <a:gd name="connsiteX9" fmla="*/ 67314 w 265996"/>
                    <a:gd name="connsiteY9" fmla="*/ 475662 h 475662"/>
                    <a:gd name="connsiteX10" fmla="*/ 199121 w 265996"/>
                    <a:gd name="connsiteY10" fmla="*/ 475662 h 475662"/>
                    <a:gd name="connsiteX11" fmla="*/ 143939 w 265996"/>
                    <a:gd name="connsiteY11" fmla="*/ 419605 h 475662"/>
                    <a:gd name="connsiteX12" fmla="*/ 136737 w 265996"/>
                    <a:gd name="connsiteY12" fmla="*/ 405078 h 475662"/>
                    <a:gd name="connsiteX13" fmla="*/ 136737 w 265996"/>
                    <a:gd name="connsiteY13" fmla="*/ 195649 h 475662"/>
                    <a:gd name="connsiteX14" fmla="*/ 142941 w 265996"/>
                    <a:gd name="connsiteY14" fmla="*/ 182732 h 475662"/>
                    <a:gd name="connsiteX15" fmla="*/ 265997 w 265996"/>
                    <a:gd name="connsiteY15" fmla="*/ 44793 h 475662"/>
                    <a:gd name="connsiteX16" fmla="*/ 265997 w 265996"/>
                    <a:gd name="connsiteY16" fmla="*/ 21323 h 475662"/>
                    <a:gd name="connsiteX17" fmla="*/ 244350 w 265996"/>
                    <a:gd name="connsiteY17" fmla="*/ 2 h 47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65996" h="475662">
                      <a:moveTo>
                        <a:pt x="244360" y="13"/>
                      </a:moveTo>
                      <a:cubicBezTo>
                        <a:pt x="226360" y="288"/>
                        <a:pt x="195423" y="3527"/>
                        <a:pt x="145375" y="16159"/>
                      </a:cubicBezTo>
                      <a:cubicBezTo>
                        <a:pt x="111107" y="24807"/>
                        <a:pt x="52024" y="18288"/>
                        <a:pt x="20771" y="13816"/>
                      </a:cubicBezTo>
                      <a:cubicBezTo>
                        <a:pt x="9810" y="12247"/>
                        <a:pt x="0" y="20743"/>
                        <a:pt x="0" y="31816"/>
                      </a:cubicBezTo>
                      <a:lnTo>
                        <a:pt x="0" y="45231"/>
                      </a:lnTo>
                      <a:cubicBezTo>
                        <a:pt x="0" y="82189"/>
                        <a:pt x="99453" y="162257"/>
                        <a:pt x="125745" y="182783"/>
                      </a:cubicBezTo>
                      <a:cubicBezTo>
                        <a:pt x="129728" y="185890"/>
                        <a:pt x="132061" y="190668"/>
                        <a:pt x="132061" y="195720"/>
                      </a:cubicBezTo>
                      <a:lnTo>
                        <a:pt x="132061" y="401258"/>
                      </a:lnTo>
                      <a:cubicBezTo>
                        <a:pt x="132061" y="408277"/>
                        <a:pt x="128598" y="414807"/>
                        <a:pt x="122852" y="418830"/>
                      </a:cubicBezTo>
                      <a:cubicBezTo>
                        <a:pt x="102173" y="433306"/>
                        <a:pt x="67314" y="475662"/>
                        <a:pt x="67314" y="475662"/>
                      </a:cubicBezTo>
                      <a:lnTo>
                        <a:pt x="199121" y="475662"/>
                      </a:lnTo>
                      <a:cubicBezTo>
                        <a:pt x="199121" y="475662"/>
                        <a:pt x="163773" y="434783"/>
                        <a:pt x="143939" y="419605"/>
                      </a:cubicBezTo>
                      <a:cubicBezTo>
                        <a:pt x="139406" y="416141"/>
                        <a:pt x="136737" y="410783"/>
                        <a:pt x="136737" y="405078"/>
                      </a:cubicBezTo>
                      <a:lnTo>
                        <a:pt x="136737" y="195649"/>
                      </a:lnTo>
                      <a:cubicBezTo>
                        <a:pt x="136737" y="190627"/>
                        <a:pt x="139019" y="185870"/>
                        <a:pt x="142941" y="182732"/>
                      </a:cubicBezTo>
                      <a:cubicBezTo>
                        <a:pt x="168723" y="162084"/>
                        <a:pt x="265997" y="81720"/>
                        <a:pt x="265997" y="44793"/>
                      </a:cubicBezTo>
                      <a:lnTo>
                        <a:pt x="265997" y="21323"/>
                      </a:lnTo>
                      <a:cubicBezTo>
                        <a:pt x="265997" y="9425"/>
                        <a:pt x="256258" y="-171"/>
                        <a:pt x="244350" y="2"/>
                      </a:cubicBezTo>
                      <a:close/>
                    </a:path>
                  </a:pathLst>
                </a:custGeom>
                <a:solidFill>
                  <a:srgbClr val="6F89DD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518FC526-666D-36D9-2522-F6D4C5C8381B}"/>
                    </a:ext>
                  </a:extLst>
                </p:cNvPr>
                <p:cNvSpPr/>
                <p:nvPr/>
              </p:nvSpPr>
              <p:spPr>
                <a:xfrm>
                  <a:off x="9563075" y="3331364"/>
                  <a:ext cx="333270" cy="29979"/>
                </a:xfrm>
                <a:custGeom>
                  <a:avLst/>
                  <a:gdLst>
                    <a:gd name="connsiteX0" fmla="*/ 0 w 333270"/>
                    <a:gd name="connsiteY0" fmla="*/ 0 h 29979"/>
                    <a:gd name="connsiteX1" fmla="*/ 333270 w 333270"/>
                    <a:gd name="connsiteY1" fmla="*/ 0 h 29979"/>
                    <a:gd name="connsiteX2" fmla="*/ 333270 w 333270"/>
                    <a:gd name="connsiteY2" fmla="*/ 14435 h 29979"/>
                    <a:gd name="connsiteX3" fmla="*/ 317725 w 333270"/>
                    <a:gd name="connsiteY3" fmla="*/ 29980 h 29979"/>
                    <a:gd name="connsiteX4" fmla="*/ 14985 w 333270"/>
                    <a:gd name="connsiteY4" fmla="*/ 29980 h 29979"/>
                    <a:gd name="connsiteX5" fmla="*/ 0 w 333270"/>
                    <a:gd name="connsiteY5" fmla="*/ 14995 h 29979"/>
                    <a:gd name="connsiteX6" fmla="*/ 0 w 333270"/>
                    <a:gd name="connsiteY6" fmla="*/ 10 h 29979"/>
                    <a:gd name="connsiteX7" fmla="*/ 0 w 333270"/>
                    <a:gd name="connsiteY7" fmla="*/ 10 h 29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3270" h="29979">
                      <a:moveTo>
                        <a:pt x="0" y="0"/>
                      </a:moveTo>
                      <a:lnTo>
                        <a:pt x="333270" y="0"/>
                      </a:lnTo>
                      <a:lnTo>
                        <a:pt x="333270" y="14435"/>
                      </a:lnTo>
                      <a:cubicBezTo>
                        <a:pt x="333270" y="23012"/>
                        <a:pt x="326302" y="29980"/>
                        <a:pt x="317725" y="29980"/>
                      </a:cubicBezTo>
                      <a:lnTo>
                        <a:pt x="14985" y="29980"/>
                      </a:lnTo>
                      <a:cubicBezTo>
                        <a:pt x="6713" y="29980"/>
                        <a:pt x="0" y="23266"/>
                        <a:pt x="0" y="14995"/>
                      </a:cubicBezTo>
                      <a:lnTo>
                        <a:pt x="0" y="1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2B478B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6D79B4DA-A251-52A1-0E95-59E01AFA0F66}"/>
                    </a:ext>
                  </a:extLst>
                </p:cNvPr>
                <p:cNvSpPr/>
                <p:nvPr/>
              </p:nvSpPr>
              <p:spPr>
                <a:xfrm rot="10800000">
                  <a:off x="9563085" y="3902872"/>
                  <a:ext cx="333270" cy="29979"/>
                </a:xfrm>
                <a:custGeom>
                  <a:avLst/>
                  <a:gdLst>
                    <a:gd name="connsiteX0" fmla="*/ 0 w 333270"/>
                    <a:gd name="connsiteY0" fmla="*/ 0 h 29979"/>
                    <a:gd name="connsiteX1" fmla="*/ 333270 w 333270"/>
                    <a:gd name="connsiteY1" fmla="*/ 0 h 29979"/>
                    <a:gd name="connsiteX2" fmla="*/ 333270 w 333270"/>
                    <a:gd name="connsiteY2" fmla="*/ 14435 h 29979"/>
                    <a:gd name="connsiteX3" fmla="*/ 317725 w 333270"/>
                    <a:gd name="connsiteY3" fmla="*/ 29980 h 29979"/>
                    <a:gd name="connsiteX4" fmla="*/ 14985 w 333270"/>
                    <a:gd name="connsiteY4" fmla="*/ 29980 h 29979"/>
                    <a:gd name="connsiteX5" fmla="*/ 0 w 333270"/>
                    <a:gd name="connsiteY5" fmla="*/ 14995 h 29979"/>
                    <a:gd name="connsiteX6" fmla="*/ 0 w 333270"/>
                    <a:gd name="connsiteY6" fmla="*/ 10 h 29979"/>
                    <a:gd name="connsiteX7" fmla="*/ 0 w 333270"/>
                    <a:gd name="connsiteY7" fmla="*/ 10 h 29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3270" h="29979">
                      <a:moveTo>
                        <a:pt x="0" y="0"/>
                      </a:moveTo>
                      <a:lnTo>
                        <a:pt x="333270" y="0"/>
                      </a:lnTo>
                      <a:lnTo>
                        <a:pt x="333270" y="14435"/>
                      </a:lnTo>
                      <a:cubicBezTo>
                        <a:pt x="333270" y="23012"/>
                        <a:pt x="326302" y="29980"/>
                        <a:pt x="317725" y="29980"/>
                      </a:cubicBezTo>
                      <a:lnTo>
                        <a:pt x="14985" y="29980"/>
                      </a:lnTo>
                      <a:cubicBezTo>
                        <a:pt x="6713" y="29980"/>
                        <a:pt x="0" y="23266"/>
                        <a:pt x="0" y="14995"/>
                      </a:cubicBezTo>
                      <a:lnTo>
                        <a:pt x="0" y="1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2B478B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9" name="Graphic 42">
                <a:extLst>
                  <a:ext uri="{FF2B5EF4-FFF2-40B4-BE49-F238E27FC236}">
                    <a16:creationId xmlns:a16="http://schemas.microsoft.com/office/drawing/2014/main" id="{9125360D-D82A-C7F9-A50C-75770BBA7AC4}"/>
                  </a:ext>
                </a:extLst>
              </p:cNvPr>
              <p:cNvGrpSpPr/>
              <p:nvPr/>
            </p:nvGrpSpPr>
            <p:grpSpPr>
              <a:xfrm>
                <a:off x="10101385" y="3357555"/>
                <a:ext cx="478451" cy="126753"/>
                <a:chOff x="10101385" y="3357555"/>
                <a:chExt cx="478451" cy="126753"/>
              </a:xfrm>
              <a:solidFill>
                <a:srgbClr val="5494B0"/>
              </a:solidFill>
            </p:grpSpPr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8CFBD4B8-ECAC-4CAC-4AB0-9905B7974773}"/>
                    </a:ext>
                  </a:extLst>
                </p:cNvPr>
                <p:cNvSpPr/>
                <p:nvPr/>
              </p:nvSpPr>
              <p:spPr>
                <a:xfrm>
                  <a:off x="10456577" y="3357555"/>
                  <a:ext cx="123259" cy="69473"/>
                </a:xfrm>
                <a:custGeom>
                  <a:avLst/>
                  <a:gdLst>
                    <a:gd name="connsiteX0" fmla="*/ 0 w 123259"/>
                    <a:gd name="connsiteY0" fmla="*/ 53287 h 69473"/>
                    <a:gd name="connsiteX1" fmla="*/ 26475 w 123259"/>
                    <a:gd name="connsiteY1" fmla="*/ 19008 h 69473"/>
                    <a:gd name="connsiteX2" fmla="*/ 112768 w 123259"/>
                    <a:gd name="connsiteY2" fmla="*/ 0 h 69473"/>
                    <a:gd name="connsiteX3" fmla="*/ 102357 w 123259"/>
                    <a:gd name="connsiteY3" fmla="*/ 30713 h 69473"/>
                    <a:gd name="connsiteX4" fmla="*/ 123260 w 123259"/>
                    <a:gd name="connsiteY4" fmla="*/ 54367 h 69473"/>
                    <a:gd name="connsiteX5" fmla="*/ 39280 w 123259"/>
                    <a:gd name="connsiteY5" fmla="*/ 69474 h 69473"/>
                    <a:gd name="connsiteX6" fmla="*/ 0 w 123259"/>
                    <a:gd name="connsiteY6" fmla="*/ 53287 h 69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259" h="69473">
                      <a:moveTo>
                        <a:pt x="0" y="53287"/>
                      </a:moveTo>
                      <a:lnTo>
                        <a:pt x="26475" y="19008"/>
                      </a:lnTo>
                      <a:lnTo>
                        <a:pt x="112768" y="0"/>
                      </a:lnTo>
                      <a:lnTo>
                        <a:pt x="102357" y="30713"/>
                      </a:lnTo>
                      <a:lnTo>
                        <a:pt x="123260" y="54367"/>
                      </a:lnTo>
                      <a:lnTo>
                        <a:pt x="39280" y="69474"/>
                      </a:lnTo>
                      <a:lnTo>
                        <a:pt x="0" y="53287"/>
                      </a:lnTo>
                      <a:close/>
                    </a:path>
                  </a:pathLst>
                </a:custGeom>
                <a:solidFill>
                  <a:srgbClr val="5494B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74B273D1-DE74-23D0-3C35-998DEDCC1F96}"/>
                    </a:ext>
                  </a:extLst>
                </p:cNvPr>
                <p:cNvSpPr/>
                <p:nvPr/>
              </p:nvSpPr>
              <p:spPr>
                <a:xfrm rot="-688201">
                  <a:off x="10128561" y="3430494"/>
                  <a:ext cx="397630" cy="12926"/>
                </a:xfrm>
                <a:custGeom>
                  <a:avLst/>
                  <a:gdLst>
                    <a:gd name="connsiteX0" fmla="*/ 0 w 397630"/>
                    <a:gd name="connsiteY0" fmla="*/ 0 h 12926"/>
                    <a:gd name="connsiteX1" fmla="*/ 397630 w 397630"/>
                    <a:gd name="connsiteY1" fmla="*/ 0 h 12926"/>
                    <a:gd name="connsiteX2" fmla="*/ 397630 w 397630"/>
                    <a:gd name="connsiteY2" fmla="*/ 12927 h 12926"/>
                    <a:gd name="connsiteX3" fmla="*/ 0 w 397630"/>
                    <a:gd name="connsiteY3" fmla="*/ 12927 h 12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7630" h="12926">
                      <a:moveTo>
                        <a:pt x="0" y="0"/>
                      </a:moveTo>
                      <a:lnTo>
                        <a:pt x="397630" y="0"/>
                      </a:lnTo>
                      <a:lnTo>
                        <a:pt x="397630" y="12927"/>
                      </a:lnTo>
                      <a:lnTo>
                        <a:pt x="0" y="12927"/>
                      </a:lnTo>
                      <a:close/>
                    </a:path>
                  </a:pathLst>
                </a:custGeom>
                <a:solidFill>
                  <a:srgbClr val="5494B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28D63091-D139-0B38-436E-C86DD941B69F}"/>
                    </a:ext>
                  </a:extLst>
                </p:cNvPr>
                <p:cNvSpPr/>
                <p:nvPr/>
              </p:nvSpPr>
              <p:spPr>
                <a:xfrm>
                  <a:off x="10101385" y="3470220"/>
                  <a:ext cx="32393" cy="14088"/>
                </a:xfrm>
                <a:custGeom>
                  <a:avLst/>
                  <a:gdLst>
                    <a:gd name="connsiteX0" fmla="*/ 0 w 32393"/>
                    <a:gd name="connsiteY0" fmla="*/ 14088 h 14088"/>
                    <a:gd name="connsiteX1" fmla="*/ 29827 w 32393"/>
                    <a:gd name="connsiteY1" fmla="*/ 0 h 14088"/>
                    <a:gd name="connsiteX2" fmla="*/ 32394 w 32393"/>
                    <a:gd name="connsiteY2" fmla="*/ 12662 h 14088"/>
                    <a:gd name="connsiteX3" fmla="*/ 0 w 32393"/>
                    <a:gd name="connsiteY3" fmla="*/ 14088 h 14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393" h="14088">
                      <a:moveTo>
                        <a:pt x="0" y="14088"/>
                      </a:moveTo>
                      <a:lnTo>
                        <a:pt x="29827" y="0"/>
                      </a:lnTo>
                      <a:lnTo>
                        <a:pt x="32394" y="12662"/>
                      </a:lnTo>
                      <a:lnTo>
                        <a:pt x="0" y="14088"/>
                      </a:lnTo>
                      <a:close/>
                    </a:path>
                  </a:pathLst>
                </a:custGeom>
                <a:solidFill>
                  <a:srgbClr val="5494B0"/>
                </a:solidFill>
                <a:ln w="101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NZ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B61DEA5-B84D-653E-AE33-4E246E0DF166}"/>
              </a:ext>
            </a:extLst>
          </p:cNvPr>
          <p:cNvGrpSpPr/>
          <p:nvPr/>
        </p:nvGrpSpPr>
        <p:grpSpPr>
          <a:xfrm>
            <a:off x="669234" y="5963029"/>
            <a:ext cx="868749" cy="588572"/>
            <a:chOff x="4422237" y="2629512"/>
            <a:chExt cx="1349680" cy="914400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96E8177E-B7B8-E343-62C1-1BB76829048C}"/>
                </a:ext>
              </a:extLst>
            </p:cNvPr>
            <p:cNvSpPr>
              <a:spLocks/>
            </p:cNvSpPr>
            <p:nvPr/>
          </p:nvSpPr>
          <p:spPr>
            <a:xfrm>
              <a:off x="4589862" y="2629512"/>
              <a:ext cx="914307" cy="9144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FFFFFF"/>
                </a:buClr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0C78F5D7-F125-4C67-5B06-E40A5D576180}"/>
                </a:ext>
              </a:extLst>
            </p:cNvPr>
            <p:cNvSpPr/>
            <p:nvPr/>
          </p:nvSpPr>
          <p:spPr>
            <a:xfrm>
              <a:off x="4878329" y="2850363"/>
              <a:ext cx="408509" cy="191786"/>
            </a:xfrm>
            <a:custGeom>
              <a:avLst/>
              <a:gdLst>
                <a:gd name="connsiteX0" fmla="*/ 350835 w 384171"/>
                <a:gd name="connsiteY0" fmla="*/ 0 h 180360"/>
                <a:gd name="connsiteX1" fmla="*/ 33353 w 384171"/>
                <a:gd name="connsiteY1" fmla="*/ 0 h 180360"/>
                <a:gd name="connsiteX2" fmla="*/ 0 w 384171"/>
                <a:gd name="connsiteY2" fmla="*/ 33353 h 180360"/>
                <a:gd name="connsiteX3" fmla="*/ 0 w 384171"/>
                <a:gd name="connsiteY3" fmla="*/ 109478 h 180360"/>
                <a:gd name="connsiteX4" fmla="*/ 33353 w 384171"/>
                <a:gd name="connsiteY4" fmla="*/ 142831 h 180360"/>
                <a:gd name="connsiteX5" fmla="*/ 307047 w 384171"/>
                <a:gd name="connsiteY5" fmla="*/ 142831 h 180360"/>
                <a:gd name="connsiteX6" fmla="*/ 320836 w 384171"/>
                <a:gd name="connsiteY6" fmla="*/ 180361 h 180360"/>
                <a:gd name="connsiteX7" fmla="*/ 337948 w 384171"/>
                <a:gd name="connsiteY7" fmla="*/ 142831 h 180360"/>
                <a:gd name="connsiteX8" fmla="*/ 350819 w 384171"/>
                <a:gd name="connsiteY8" fmla="*/ 142831 h 180360"/>
                <a:gd name="connsiteX9" fmla="*/ 384171 w 384171"/>
                <a:gd name="connsiteY9" fmla="*/ 109478 h 180360"/>
                <a:gd name="connsiteX10" fmla="*/ 384171 w 384171"/>
                <a:gd name="connsiteY10" fmla="*/ 33353 h 180360"/>
                <a:gd name="connsiteX11" fmla="*/ 350819 w 384171"/>
                <a:gd name="connsiteY11" fmla="*/ 0 h 18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4171" h="180360">
                  <a:moveTo>
                    <a:pt x="350835" y="0"/>
                  </a:moveTo>
                  <a:lnTo>
                    <a:pt x="33353" y="0"/>
                  </a:lnTo>
                  <a:cubicBezTo>
                    <a:pt x="14935" y="0"/>
                    <a:pt x="0" y="14935"/>
                    <a:pt x="0" y="33353"/>
                  </a:cubicBezTo>
                  <a:lnTo>
                    <a:pt x="0" y="109478"/>
                  </a:lnTo>
                  <a:cubicBezTo>
                    <a:pt x="0" y="127896"/>
                    <a:pt x="14935" y="142831"/>
                    <a:pt x="33353" y="142831"/>
                  </a:cubicBezTo>
                  <a:lnTo>
                    <a:pt x="307047" y="142831"/>
                  </a:lnTo>
                  <a:lnTo>
                    <a:pt x="320836" y="180361"/>
                  </a:lnTo>
                  <a:lnTo>
                    <a:pt x="337948" y="142831"/>
                  </a:lnTo>
                  <a:lnTo>
                    <a:pt x="350819" y="142831"/>
                  </a:lnTo>
                  <a:cubicBezTo>
                    <a:pt x="369237" y="142831"/>
                    <a:pt x="384171" y="127896"/>
                    <a:pt x="384171" y="109478"/>
                  </a:cubicBezTo>
                  <a:lnTo>
                    <a:pt x="384171" y="33353"/>
                  </a:lnTo>
                  <a:cubicBezTo>
                    <a:pt x="384171" y="14935"/>
                    <a:pt x="369237" y="0"/>
                    <a:pt x="350819" y="0"/>
                  </a:cubicBezTo>
                  <a:close/>
                </a:path>
              </a:pathLst>
            </a:custGeom>
            <a:solidFill>
              <a:srgbClr val="67D5FF"/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9B769E8-7AB5-47DD-CDB2-464668BBF83C}"/>
                </a:ext>
              </a:extLst>
            </p:cNvPr>
            <p:cNvSpPr/>
            <p:nvPr/>
          </p:nvSpPr>
          <p:spPr>
            <a:xfrm>
              <a:off x="4907449" y="2880512"/>
              <a:ext cx="163592" cy="13411"/>
            </a:xfrm>
            <a:custGeom>
              <a:avLst/>
              <a:gdLst>
                <a:gd name="connsiteX0" fmla="*/ 147540 w 153846"/>
                <a:gd name="connsiteY0" fmla="*/ 0 h 12612"/>
                <a:gd name="connsiteX1" fmla="*/ 153846 w 153846"/>
                <a:gd name="connsiteY1" fmla="*/ 6306 h 12612"/>
                <a:gd name="connsiteX2" fmla="*/ 153846 w 153846"/>
                <a:gd name="connsiteY2" fmla="*/ 6306 h 12612"/>
                <a:gd name="connsiteX3" fmla="*/ 147540 w 153846"/>
                <a:gd name="connsiteY3" fmla="*/ 12612 h 12612"/>
                <a:gd name="connsiteX4" fmla="*/ 6306 w 153846"/>
                <a:gd name="connsiteY4" fmla="*/ 12612 h 12612"/>
                <a:gd name="connsiteX5" fmla="*/ 0 w 153846"/>
                <a:gd name="connsiteY5" fmla="*/ 6306 h 12612"/>
                <a:gd name="connsiteX6" fmla="*/ 0 w 153846"/>
                <a:gd name="connsiteY6" fmla="*/ 6306 h 12612"/>
                <a:gd name="connsiteX7" fmla="*/ 6306 w 153846"/>
                <a:gd name="connsiteY7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846" h="12612">
                  <a:moveTo>
                    <a:pt x="147540" y="0"/>
                  </a:moveTo>
                  <a:cubicBezTo>
                    <a:pt x="151023" y="0"/>
                    <a:pt x="153846" y="2823"/>
                    <a:pt x="153846" y="6306"/>
                  </a:cubicBezTo>
                  <a:lnTo>
                    <a:pt x="153846" y="6306"/>
                  </a:lnTo>
                  <a:cubicBezTo>
                    <a:pt x="153846" y="9789"/>
                    <a:pt x="151023" y="12612"/>
                    <a:pt x="147540" y="12612"/>
                  </a:cubicBezTo>
                  <a:lnTo>
                    <a:pt x="6306" y="12612"/>
                  </a:lnTo>
                  <a:cubicBezTo>
                    <a:pt x="2823" y="12612"/>
                    <a:pt x="0" y="9789"/>
                    <a:pt x="0" y="6306"/>
                  </a:cubicBezTo>
                  <a:lnTo>
                    <a:pt x="0" y="6306"/>
                  </a:lnTo>
                  <a:cubicBezTo>
                    <a:pt x="0" y="2823"/>
                    <a:pt x="2823" y="0"/>
                    <a:pt x="630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CC0F845-38B7-CA08-4D26-E4A056D8720E}"/>
                </a:ext>
              </a:extLst>
            </p:cNvPr>
            <p:cNvSpPr/>
            <p:nvPr/>
          </p:nvSpPr>
          <p:spPr>
            <a:xfrm>
              <a:off x="5087625" y="2880512"/>
              <a:ext cx="65135" cy="13411"/>
            </a:xfrm>
            <a:custGeom>
              <a:avLst/>
              <a:gdLst>
                <a:gd name="connsiteX0" fmla="*/ 54948 w 61254"/>
                <a:gd name="connsiteY0" fmla="*/ 0 h 12612"/>
                <a:gd name="connsiteX1" fmla="*/ 61255 w 61254"/>
                <a:gd name="connsiteY1" fmla="*/ 6306 h 12612"/>
                <a:gd name="connsiteX2" fmla="*/ 61255 w 61254"/>
                <a:gd name="connsiteY2" fmla="*/ 6306 h 12612"/>
                <a:gd name="connsiteX3" fmla="*/ 54948 w 61254"/>
                <a:gd name="connsiteY3" fmla="*/ 12612 h 12612"/>
                <a:gd name="connsiteX4" fmla="*/ 6306 w 61254"/>
                <a:gd name="connsiteY4" fmla="*/ 12612 h 12612"/>
                <a:gd name="connsiteX5" fmla="*/ 0 w 61254"/>
                <a:gd name="connsiteY5" fmla="*/ 6306 h 12612"/>
                <a:gd name="connsiteX6" fmla="*/ 0 w 61254"/>
                <a:gd name="connsiteY6" fmla="*/ 6306 h 12612"/>
                <a:gd name="connsiteX7" fmla="*/ 6306 w 61254"/>
                <a:gd name="connsiteY7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254" h="12612">
                  <a:moveTo>
                    <a:pt x="54948" y="0"/>
                  </a:moveTo>
                  <a:cubicBezTo>
                    <a:pt x="58431" y="0"/>
                    <a:pt x="61255" y="2823"/>
                    <a:pt x="61255" y="6306"/>
                  </a:cubicBezTo>
                  <a:lnTo>
                    <a:pt x="61255" y="6306"/>
                  </a:lnTo>
                  <a:cubicBezTo>
                    <a:pt x="61255" y="9789"/>
                    <a:pt x="58431" y="12612"/>
                    <a:pt x="54948" y="12612"/>
                  </a:cubicBezTo>
                  <a:lnTo>
                    <a:pt x="6306" y="12612"/>
                  </a:lnTo>
                  <a:cubicBezTo>
                    <a:pt x="2823" y="12612"/>
                    <a:pt x="0" y="9789"/>
                    <a:pt x="0" y="6306"/>
                  </a:cubicBezTo>
                  <a:lnTo>
                    <a:pt x="0" y="6306"/>
                  </a:lnTo>
                  <a:cubicBezTo>
                    <a:pt x="0" y="2823"/>
                    <a:pt x="2823" y="0"/>
                    <a:pt x="630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E3171A77-06A4-0EEF-5C55-14089387BB78}"/>
                </a:ext>
              </a:extLst>
            </p:cNvPr>
            <p:cNvSpPr/>
            <p:nvPr/>
          </p:nvSpPr>
          <p:spPr>
            <a:xfrm>
              <a:off x="5116403" y="2906082"/>
              <a:ext cx="112537" cy="13411"/>
            </a:xfrm>
            <a:custGeom>
              <a:avLst/>
              <a:gdLst>
                <a:gd name="connsiteX0" fmla="*/ 99527 w 105832"/>
                <a:gd name="connsiteY0" fmla="*/ 0 h 12612"/>
                <a:gd name="connsiteX1" fmla="*/ 105833 w 105832"/>
                <a:gd name="connsiteY1" fmla="*/ 6306 h 12612"/>
                <a:gd name="connsiteX2" fmla="*/ 105833 w 105832"/>
                <a:gd name="connsiteY2" fmla="*/ 6306 h 12612"/>
                <a:gd name="connsiteX3" fmla="*/ 99527 w 105832"/>
                <a:gd name="connsiteY3" fmla="*/ 12612 h 12612"/>
                <a:gd name="connsiteX4" fmla="*/ 6306 w 105832"/>
                <a:gd name="connsiteY4" fmla="*/ 12612 h 12612"/>
                <a:gd name="connsiteX5" fmla="*/ 0 w 105832"/>
                <a:gd name="connsiteY5" fmla="*/ 6306 h 12612"/>
                <a:gd name="connsiteX6" fmla="*/ 0 w 105832"/>
                <a:gd name="connsiteY6" fmla="*/ 6306 h 12612"/>
                <a:gd name="connsiteX7" fmla="*/ 6306 w 105832"/>
                <a:gd name="connsiteY7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832" h="12612">
                  <a:moveTo>
                    <a:pt x="99527" y="0"/>
                  </a:moveTo>
                  <a:cubicBezTo>
                    <a:pt x="103009" y="0"/>
                    <a:pt x="105833" y="2823"/>
                    <a:pt x="105833" y="6306"/>
                  </a:cubicBezTo>
                  <a:lnTo>
                    <a:pt x="105833" y="6306"/>
                  </a:lnTo>
                  <a:cubicBezTo>
                    <a:pt x="105833" y="9789"/>
                    <a:pt x="103009" y="12612"/>
                    <a:pt x="99527" y="12612"/>
                  </a:cubicBezTo>
                  <a:lnTo>
                    <a:pt x="6306" y="12612"/>
                  </a:lnTo>
                  <a:cubicBezTo>
                    <a:pt x="2823" y="12612"/>
                    <a:pt x="0" y="9789"/>
                    <a:pt x="0" y="6306"/>
                  </a:cubicBezTo>
                  <a:lnTo>
                    <a:pt x="0" y="6306"/>
                  </a:lnTo>
                  <a:cubicBezTo>
                    <a:pt x="0" y="2823"/>
                    <a:pt x="2823" y="0"/>
                    <a:pt x="630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C3B3B8A-0C0E-27A5-60CF-FB4A39DF2EF3}"/>
                </a:ext>
              </a:extLst>
            </p:cNvPr>
            <p:cNvSpPr/>
            <p:nvPr/>
          </p:nvSpPr>
          <p:spPr>
            <a:xfrm>
              <a:off x="5240362" y="2906082"/>
              <a:ext cx="17389" cy="13411"/>
            </a:xfrm>
            <a:custGeom>
              <a:avLst/>
              <a:gdLst>
                <a:gd name="connsiteX0" fmla="*/ 10048 w 16353"/>
                <a:gd name="connsiteY0" fmla="*/ 0 h 12612"/>
                <a:gd name="connsiteX1" fmla="*/ 16354 w 16353"/>
                <a:gd name="connsiteY1" fmla="*/ 6306 h 12612"/>
                <a:gd name="connsiteX2" fmla="*/ 16354 w 16353"/>
                <a:gd name="connsiteY2" fmla="*/ 6306 h 12612"/>
                <a:gd name="connsiteX3" fmla="*/ 10048 w 16353"/>
                <a:gd name="connsiteY3" fmla="*/ 12612 h 12612"/>
                <a:gd name="connsiteX4" fmla="*/ 6306 w 16353"/>
                <a:gd name="connsiteY4" fmla="*/ 12612 h 12612"/>
                <a:gd name="connsiteX5" fmla="*/ 0 w 16353"/>
                <a:gd name="connsiteY5" fmla="*/ 6306 h 12612"/>
                <a:gd name="connsiteX6" fmla="*/ 0 w 16353"/>
                <a:gd name="connsiteY6" fmla="*/ 6306 h 12612"/>
                <a:gd name="connsiteX7" fmla="*/ 6306 w 16353"/>
                <a:gd name="connsiteY7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53" h="12612">
                  <a:moveTo>
                    <a:pt x="10048" y="0"/>
                  </a:moveTo>
                  <a:cubicBezTo>
                    <a:pt x="13531" y="0"/>
                    <a:pt x="16354" y="2823"/>
                    <a:pt x="16354" y="6306"/>
                  </a:cubicBezTo>
                  <a:lnTo>
                    <a:pt x="16354" y="6306"/>
                  </a:lnTo>
                  <a:cubicBezTo>
                    <a:pt x="16354" y="9789"/>
                    <a:pt x="13531" y="12612"/>
                    <a:pt x="10048" y="12612"/>
                  </a:cubicBezTo>
                  <a:lnTo>
                    <a:pt x="6306" y="12612"/>
                  </a:lnTo>
                  <a:cubicBezTo>
                    <a:pt x="2823" y="12612"/>
                    <a:pt x="0" y="9789"/>
                    <a:pt x="0" y="6306"/>
                  </a:cubicBezTo>
                  <a:lnTo>
                    <a:pt x="0" y="6306"/>
                  </a:lnTo>
                  <a:cubicBezTo>
                    <a:pt x="0" y="2823"/>
                    <a:pt x="2823" y="0"/>
                    <a:pt x="630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3DFFA5E-0093-1443-8E55-985D23B32FA8}"/>
                </a:ext>
              </a:extLst>
            </p:cNvPr>
            <p:cNvSpPr/>
            <p:nvPr/>
          </p:nvSpPr>
          <p:spPr>
            <a:xfrm>
              <a:off x="5167423" y="2880512"/>
              <a:ext cx="90327" cy="13411"/>
            </a:xfrm>
            <a:custGeom>
              <a:avLst/>
              <a:gdLst>
                <a:gd name="connsiteX0" fmla="*/ 78641 w 84946"/>
                <a:gd name="connsiteY0" fmla="*/ 0 h 12612"/>
                <a:gd name="connsiteX1" fmla="*/ 84947 w 84946"/>
                <a:gd name="connsiteY1" fmla="*/ 6306 h 12612"/>
                <a:gd name="connsiteX2" fmla="*/ 84947 w 84946"/>
                <a:gd name="connsiteY2" fmla="*/ 6306 h 12612"/>
                <a:gd name="connsiteX3" fmla="*/ 78641 w 84946"/>
                <a:gd name="connsiteY3" fmla="*/ 12612 h 12612"/>
                <a:gd name="connsiteX4" fmla="*/ 6306 w 84946"/>
                <a:gd name="connsiteY4" fmla="*/ 12612 h 12612"/>
                <a:gd name="connsiteX5" fmla="*/ 0 w 84946"/>
                <a:gd name="connsiteY5" fmla="*/ 6306 h 12612"/>
                <a:gd name="connsiteX6" fmla="*/ 0 w 84946"/>
                <a:gd name="connsiteY6" fmla="*/ 6306 h 12612"/>
                <a:gd name="connsiteX7" fmla="*/ 6306 w 84946"/>
                <a:gd name="connsiteY7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946" h="12612">
                  <a:moveTo>
                    <a:pt x="78641" y="0"/>
                  </a:moveTo>
                  <a:cubicBezTo>
                    <a:pt x="82123" y="0"/>
                    <a:pt x="84947" y="2823"/>
                    <a:pt x="84947" y="6306"/>
                  </a:cubicBezTo>
                  <a:lnTo>
                    <a:pt x="84947" y="6306"/>
                  </a:lnTo>
                  <a:cubicBezTo>
                    <a:pt x="84947" y="9789"/>
                    <a:pt x="82123" y="12612"/>
                    <a:pt x="78641" y="12612"/>
                  </a:cubicBezTo>
                  <a:lnTo>
                    <a:pt x="6306" y="12612"/>
                  </a:lnTo>
                  <a:cubicBezTo>
                    <a:pt x="2823" y="12612"/>
                    <a:pt x="0" y="9789"/>
                    <a:pt x="0" y="6306"/>
                  </a:cubicBezTo>
                  <a:lnTo>
                    <a:pt x="0" y="6306"/>
                  </a:lnTo>
                  <a:cubicBezTo>
                    <a:pt x="0" y="2823"/>
                    <a:pt x="2823" y="0"/>
                    <a:pt x="630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D761F0F2-10DE-35BD-E7B3-59AF0EA018D5}"/>
                </a:ext>
              </a:extLst>
            </p:cNvPr>
            <p:cNvSpPr/>
            <p:nvPr/>
          </p:nvSpPr>
          <p:spPr>
            <a:xfrm>
              <a:off x="4907449" y="2906082"/>
              <a:ext cx="74602" cy="13411"/>
            </a:xfrm>
            <a:custGeom>
              <a:avLst/>
              <a:gdLst>
                <a:gd name="connsiteX0" fmla="*/ 63851 w 70157"/>
                <a:gd name="connsiteY0" fmla="*/ 0 h 12612"/>
                <a:gd name="connsiteX1" fmla="*/ 70157 w 70157"/>
                <a:gd name="connsiteY1" fmla="*/ 6306 h 12612"/>
                <a:gd name="connsiteX2" fmla="*/ 70157 w 70157"/>
                <a:gd name="connsiteY2" fmla="*/ 6306 h 12612"/>
                <a:gd name="connsiteX3" fmla="*/ 63851 w 70157"/>
                <a:gd name="connsiteY3" fmla="*/ 12612 h 12612"/>
                <a:gd name="connsiteX4" fmla="*/ 6306 w 70157"/>
                <a:gd name="connsiteY4" fmla="*/ 12612 h 12612"/>
                <a:gd name="connsiteX5" fmla="*/ 0 w 70157"/>
                <a:gd name="connsiteY5" fmla="*/ 6306 h 12612"/>
                <a:gd name="connsiteX6" fmla="*/ 0 w 70157"/>
                <a:gd name="connsiteY6" fmla="*/ 6306 h 12612"/>
                <a:gd name="connsiteX7" fmla="*/ 6306 w 70157"/>
                <a:gd name="connsiteY7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157" h="12612">
                  <a:moveTo>
                    <a:pt x="63851" y="0"/>
                  </a:moveTo>
                  <a:cubicBezTo>
                    <a:pt x="67334" y="0"/>
                    <a:pt x="70157" y="2823"/>
                    <a:pt x="70157" y="6306"/>
                  </a:cubicBezTo>
                  <a:lnTo>
                    <a:pt x="70157" y="6306"/>
                  </a:lnTo>
                  <a:cubicBezTo>
                    <a:pt x="70157" y="9789"/>
                    <a:pt x="67334" y="12612"/>
                    <a:pt x="63851" y="12612"/>
                  </a:cubicBezTo>
                  <a:lnTo>
                    <a:pt x="6306" y="12612"/>
                  </a:lnTo>
                  <a:cubicBezTo>
                    <a:pt x="2823" y="12612"/>
                    <a:pt x="0" y="9789"/>
                    <a:pt x="0" y="6306"/>
                  </a:cubicBezTo>
                  <a:lnTo>
                    <a:pt x="0" y="6306"/>
                  </a:lnTo>
                  <a:cubicBezTo>
                    <a:pt x="0" y="2823"/>
                    <a:pt x="2823" y="0"/>
                    <a:pt x="630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124E587-F7DD-6FBF-C0AE-DDEE7DAC17F7}"/>
                </a:ext>
              </a:extLst>
            </p:cNvPr>
            <p:cNvSpPr/>
            <p:nvPr/>
          </p:nvSpPr>
          <p:spPr>
            <a:xfrm>
              <a:off x="4998858" y="2906082"/>
              <a:ext cx="103481" cy="13411"/>
            </a:xfrm>
            <a:custGeom>
              <a:avLst/>
              <a:gdLst>
                <a:gd name="connsiteX0" fmla="*/ 91301 w 97316"/>
                <a:gd name="connsiteY0" fmla="*/ 0 h 12612"/>
                <a:gd name="connsiteX1" fmla="*/ 97317 w 97316"/>
                <a:gd name="connsiteY1" fmla="*/ 6016 h 12612"/>
                <a:gd name="connsiteX2" fmla="*/ 97317 w 97316"/>
                <a:gd name="connsiteY2" fmla="*/ 6596 h 12612"/>
                <a:gd name="connsiteX3" fmla="*/ 91301 w 97316"/>
                <a:gd name="connsiteY3" fmla="*/ 12612 h 12612"/>
                <a:gd name="connsiteX4" fmla="*/ 6016 w 97316"/>
                <a:gd name="connsiteY4" fmla="*/ 12612 h 12612"/>
                <a:gd name="connsiteX5" fmla="*/ 0 w 97316"/>
                <a:gd name="connsiteY5" fmla="*/ 6596 h 12612"/>
                <a:gd name="connsiteX6" fmla="*/ 0 w 97316"/>
                <a:gd name="connsiteY6" fmla="*/ 6016 h 12612"/>
                <a:gd name="connsiteX7" fmla="*/ 6016 w 97316"/>
                <a:gd name="connsiteY7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316" h="12612">
                  <a:moveTo>
                    <a:pt x="91301" y="0"/>
                  </a:moveTo>
                  <a:cubicBezTo>
                    <a:pt x="94624" y="0"/>
                    <a:pt x="97317" y="2693"/>
                    <a:pt x="97317" y="6016"/>
                  </a:cubicBezTo>
                  <a:lnTo>
                    <a:pt x="97317" y="6596"/>
                  </a:lnTo>
                  <a:cubicBezTo>
                    <a:pt x="97317" y="9919"/>
                    <a:pt x="94624" y="12612"/>
                    <a:pt x="91301" y="12612"/>
                  </a:cubicBezTo>
                  <a:lnTo>
                    <a:pt x="6016" y="12612"/>
                  </a:lnTo>
                  <a:cubicBezTo>
                    <a:pt x="2693" y="12612"/>
                    <a:pt x="0" y="9919"/>
                    <a:pt x="0" y="6596"/>
                  </a:cubicBezTo>
                  <a:lnTo>
                    <a:pt x="0" y="6016"/>
                  </a:lnTo>
                  <a:cubicBezTo>
                    <a:pt x="0" y="2693"/>
                    <a:pt x="2693" y="0"/>
                    <a:pt x="601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7DD9167-9E5D-CABC-AAF4-600681363FCC}"/>
                </a:ext>
              </a:extLst>
            </p:cNvPr>
            <p:cNvSpPr/>
            <p:nvPr/>
          </p:nvSpPr>
          <p:spPr>
            <a:xfrm>
              <a:off x="4907449" y="2957961"/>
              <a:ext cx="163592" cy="13411"/>
            </a:xfrm>
            <a:custGeom>
              <a:avLst/>
              <a:gdLst>
                <a:gd name="connsiteX0" fmla="*/ 147540 w 153846"/>
                <a:gd name="connsiteY0" fmla="*/ 0 h 12612"/>
                <a:gd name="connsiteX1" fmla="*/ 6306 w 153846"/>
                <a:gd name="connsiteY1" fmla="*/ 0 h 12612"/>
                <a:gd name="connsiteX2" fmla="*/ 0 w 153846"/>
                <a:gd name="connsiteY2" fmla="*/ 6306 h 12612"/>
                <a:gd name="connsiteX3" fmla="*/ 0 w 153846"/>
                <a:gd name="connsiteY3" fmla="*/ 6306 h 12612"/>
                <a:gd name="connsiteX4" fmla="*/ 6306 w 153846"/>
                <a:gd name="connsiteY4" fmla="*/ 12612 h 12612"/>
                <a:gd name="connsiteX5" fmla="*/ 147540 w 153846"/>
                <a:gd name="connsiteY5" fmla="*/ 12612 h 12612"/>
                <a:gd name="connsiteX6" fmla="*/ 153846 w 153846"/>
                <a:gd name="connsiteY6" fmla="*/ 6306 h 12612"/>
                <a:gd name="connsiteX7" fmla="*/ 153846 w 153846"/>
                <a:gd name="connsiteY7" fmla="*/ 6306 h 12612"/>
                <a:gd name="connsiteX8" fmla="*/ 147540 w 153846"/>
                <a:gd name="connsiteY8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846" h="12612">
                  <a:moveTo>
                    <a:pt x="147540" y="0"/>
                  </a:moveTo>
                  <a:lnTo>
                    <a:pt x="6306" y="0"/>
                  </a:lnTo>
                  <a:cubicBezTo>
                    <a:pt x="2822" y="0"/>
                    <a:pt x="0" y="2822"/>
                    <a:pt x="0" y="6306"/>
                  </a:cubicBezTo>
                  <a:lnTo>
                    <a:pt x="0" y="6306"/>
                  </a:lnTo>
                  <a:cubicBezTo>
                    <a:pt x="0" y="9790"/>
                    <a:pt x="2822" y="12612"/>
                    <a:pt x="6306" y="12612"/>
                  </a:cubicBezTo>
                  <a:lnTo>
                    <a:pt x="147540" y="12612"/>
                  </a:lnTo>
                  <a:cubicBezTo>
                    <a:pt x="151024" y="12612"/>
                    <a:pt x="153846" y="9790"/>
                    <a:pt x="153846" y="6306"/>
                  </a:cubicBezTo>
                  <a:lnTo>
                    <a:pt x="153846" y="6306"/>
                  </a:lnTo>
                  <a:cubicBezTo>
                    <a:pt x="153846" y="2822"/>
                    <a:pt x="151024" y="0"/>
                    <a:pt x="147540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ED809A3-DAF4-D33C-4F8A-5647009ACC8B}"/>
                </a:ext>
              </a:extLst>
            </p:cNvPr>
            <p:cNvSpPr/>
            <p:nvPr/>
          </p:nvSpPr>
          <p:spPr>
            <a:xfrm>
              <a:off x="5087625" y="2957961"/>
              <a:ext cx="65135" cy="13411"/>
            </a:xfrm>
            <a:custGeom>
              <a:avLst/>
              <a:gdLst>
                <a:gd name="connsiteX0" fmla="*/ 54948 w 61254"/>
                <a:gd name="connsiteY0" fmla="*/ 0 h 12612"/>
                <a:gd name="connsiteX1" fmla="*/ 6306 w 61254"/>
                <a:gd name="connsiteY1" fmla="*/ 0 h 12612"/>
                <a:gd name="connsiteX2" fmla="*/ 0 w 61254"/>
                <a:gd name="connsiteY2" fmla="*/ 6306 h 12612"/>
                <a:gd name="connsiteX3" fmla="*/ 0 w 61254"/>
                <a:gd name="connsiteY3" fmla="*/ 6306 h 12612"/>
                <a:gd name="connsiteX4" fmla="*/ 6306 w 61254"/>
                <a:gd name="connsiteY4" fmla="*/ 12612 h 12612"/>
                <a:gd name="connsiteX5" fmla="*/ 54948 w 61254"/>
                <a:gd name="connsiteY5" fmla="*/ 12612 h 12612"/>
                <a:gd name="connsiteX6" fmla="*/ 61255 w 61254"/>
                <a:gd name="connsiteY6" fmla="*/ 6306 h 12612"/>
                <a:gd name="connsiteX7" fmla="*/ 61255 w 61254"/>
                <a:gd name="connsiteY7" fmla="*/ 6306 h 12612"/>
                <a:gd name="connsiteX8" fmla="*/ 54948 w 61254"/>
                <a:gd name="connsiteY8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54" h="12612">
                  <a:moveTo>
                    <a:pt x="54948" y="0"/>
                  </a:moveTo>
                  <a:lnTo>
                    <a:pt x="6306" y="0"/>
                  </a:lnTo>
                  <a:cubicBezTo>
                    <a:pt x="2822" y="0"/>
                    <a:pt x="0" y="2822"/>
                    <a:pt x="0" y="6306"/>
                  </a:cubicBezTo>
                  <a:lnTo>
                    <a:pt x="0" y="6306"/>
                  </a:lnTo>
                  <a:cubicBezTo>
                    <a:pt x="0" y="9790"/>
                    <a:pt x="2822" y="12612"/>
                    <a:pt x="6306" y="12612"/>
                  </a:cubicBezTo>
                  <a:lnTo>
                    <a:pt x="54948" y="12612"/>
                  </a:lnTo>
                  <a:cubicBezTo>
                    <a:pt x="58432" y="12612"/>
                    <a:pt x="61255" y="9790"/>
                    <a:pt x="61255" y="6306"/>
                  </a:cubicBezTo>
                  <a:lnTo>
                    <a:pt x="61255" y="6306"/>
                  </a:lnTo>
                  <a:cubicBezTo>
                    <a:pt x="61255" y="2822"/>
                    <a:pt x="58432" y="0"/>
                    <a:pt x="54948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063C3F2-01EE-2521-32C7-EDF51B01EAF5}"/>
                </a:ext>
              </a:extLst>
            </p:cNvPr>
            <p:cNvSpPr/>
            <p:nvPr/>
          </p:nvSpPr>
          <p:spPr>
            <a:xfrm>
              <a:off x="5116403" y="2932391"/>
              <a:ext cx="112537" cy="13411"/>
            </a:xfrm>
            <a:custGeom>
              <a:avLst/>
              <a:gdLst>
                <a:gd name="connsiteX0" fmla="*/ 99527 w 105832"/>
                <a:gd name="connsiteY0" fmla="*/ 0 h 12612"/>
                <a:gd name="connsiteX1" fmla="*/ 105833 w 105832"/>
                <a:gd name="connsiteY1" fmla="*/ 6306 h 12612"/>
                <a:gd name="connsiteX2" fmla="*/ 105833 w 105832"/>
                <a:gd name="connsiteY2" fmla="*/ 6306 h 12612"/>
                <a:gd name="connsiteX3" fmla="*/ 99527 w 105832"/>
                <a:gd name="connsiteY3" fmla="*/ 12612 h 12612"/>
                <a:gd name="connsiteX4" fmla="*/ 6306 w 105832"/>
                <a:gd name="connsiteY4" fmla="*/ 12612 h 12612"/>
                <a:gd name="connsiteX5" fmla="*/ 0 w 105832"/>
                <a:gd name="connsiteY5" fmla="*/ 6306 h 12612"/>
                <a:gd name="connsiteX6" fmla="*/ 0 w 105832"/>
                <a:gd name="connsiteY6" fmla="*/ 6306 h 12612"/>
                <a:gd name="connsiteX7" fmla="*/ 6306 w 105832"/>
                <a:gd name="connsiteY7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832" h="12612">
                  <a:moveTo>
                    <a:pt x="99527" y="0"/>
                  </a:moveTo>
                  <a:cubicBezTo>
                    <a:pt x="103009" y="0"/>
                    <a:pt x="105833" y="2823"/>
                    <a:pt x="105833" y="6306"/>
                  </a:cubicBezTo>
                  <a:lnTo>
                    <a:pt x="105833" y="6306"/>
                  </a:lnTo>
                  <a:cubicBezTo>
                    <a:pt x="105833" y="9789"/>
                    <a:pt x="103009" y="12612"/>
                    <a:pt x="99527" y="12612"/>
                  </a:cubicBezTo>
                  <a:lnTo>
                    <a:pt x="6306" y="12612"/>
                  </a:lnTo>
                  <a:cubicBezTo>
                    <a:pt x="2823" y="12612"/>
                    <a:pt x="0" y="9789"/>
                    <a:pt x="0" y="6306"/>
                  </a:cubicBezTo>
                  <a:lnTo>
                    <a:pt x="0" y="6306"/>
                  </a:lnTo>
                  <a:cubicBezTo>
                    <a:pt x="0" y="2823"/>
                    <a:pt x="2823" y="0"/>
                    <a:pt x="630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DB4EFDF2-5070-E03F-00A3-2EC45969696C}"/>
                </a:ext>
              </a:extLst>
            </p:cNvPr>
            <p:cNvSpPr/>
            <p:nvPr/>
          </p:nvSpPr>
          <p:spPr>
            <a:xfrm>
              <a:off x="5240362" y="2932391"/>
              <a:ext cx="17389" cy="13411"/>
            </a:xfrm>
            <a:custGeom>
              <a:avLst/>
              <a:gdLst>
                <a:gd name="connsiteX0" fmla="*/ 10048 w 16353"/>
                <a:gd name="connsiteY0" fmla="*/ 0 h 12612"/>
                <a:gd name="connsiteX1" fmla="*/ 16354 w 16353"/>
                <a:gd name="connsiteY1" fmla="*/ 6306 h 12612"/>
                <a:gd name="connsiteX2" fmla="*/ 16354 w 16353"/>
                <a:gd name="connsiteY2" fmla="*/ 6306 h 12612"/>
                <a:gd name="connsiteX3" fmla="*/ 10048 w 16353"/>
                <a:gd name="connsiteY3" fmla="*/ 12612 h 12612"/>
                <a:gd name="connsiteX4" fmla="*/ 6306 w 16353"/>
                <a:gd name="connsiteY4" fmla="*/ 12612 h 12612"/>
                <a:gd name="connsiteX5" fmla="*/ 0 w 16353"/>
                <a:gd name="connsiteY5" fmla="*/ 6306 h 12612"/>
                <a:gd name="connsiteX6" fmla="*/ 0 w 16353"/>
                <a:gd name="connsiteY6" fmla="*/ 6306 h 12612"/>
                <a:gd name="connsiteX7" fmla="*/ 6306 w 16353"/>
                <a:gd name="connsiteY7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53" h="12612">
                  <a:moveTo>
                    <a:pt x="10048" y="0"/>
                  </a:moveTo>
                  <a:cubicBezTo>
                    <a:pt x="13531" y="0"/>
                    <a:pt x="16354" y="2823"/>
                    <a:pt x="16354" y="6306"/>
                  </a:cubicBezTo>
                  <a:lnTo>
                    <a:pt x="16354" y="6306"/>
                  </a:lnTo>
                  <a:cubicBezTo>
                    <a:pt x="16354" y="9789"/>
                    <a:pt x="13531" y="12612"/>
                    <a:pt x="10048" y="12612"/>
                  </a:cubicBezTo>
                  <a:lnTo>
                    <a:pt x="6306" y="12612"/>
                  </a:lnTo>
                  <a:cubicBezTo>
                    <a:pt x="2823" y="12612"/>
                    <a:pt x="0" y="9789"/>
                    <a:pt x="0" y="6306"/>
                  </a:cubicBezTo>
                  <a:lnTo>
                    <a:pt x="0" y="6306"/>
                  </a:lnTo>
                  <a:cubicBezTo>
                    <a:pt x="0" y="2823"/>
                    <a:pt x="2823" y="0"/>
                    <a:pt x="630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4813483-1D9B-AEC0-6C06-18AA59562568}"/>
                </a:ext>
              </a:extLst>
            </p:cNvPr>
            <p:cNvSpPr/>
            <p:nvPr/>
          </p:nvSpPr>
          <p:spPr>
            <a:xfrm>
              <a:off x="4907449" y="2932391"/>
              <a:ext cx="74602" cy="13411"/>
            </a:xfrm>
            <a:custGeom>
              <a:avLst/>
              <a:gdLst>
                <a:gd name="connsiteX0" fmla="*/ 63851 w 70157"/>
                <a:gd name="connsiteY0" fmla="*/ 0 h 12612"/>
                <a:gd name="connsiteX1" fmla="*/ 70157 w 70157"/>
                <a:gd name="connsiteY1" fmla="*/ 6306 h 12612"/>
                <a:gd name="connsiteX2" fmla="*/ 70157 w 70157"/>
                <a:gd name="connsiteY2" fmla="*/ 6306 h 12612"/>
                <a:gd name="connsiteX3" fmla="*/ 63851 w 70157"/>
                <a:gd name="connsiteY3" fmla="*/ 12612 h 12612"/>
                <a:gd name="connsiteX4" fmla="*/ 6306 w 70157"/>
                <a:gd name="connsiteY4" fmla="*/ 12612 h 12612"/>
                <a:gd name="connsiteX5" fmla="*/ 0 w 70157"/>
                <a:gd name="connsiteY5" fmla="*/ 6306 h 12612"/>
                <a:gd name="connsiteX6" fmla="*/ 0 w 70157"/>
                <a:gd name="connsiteY6" fmla="*/ 6306 h 12612"/>
                <a:gd name="connsiteX7" fmla="*/ 6306 w 70157"/>
                <a:gd name="connsiteY7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157" h="12612">
                  <a:moveTo>
                    <a:pt x="63851" y="0"/>
                  </a:moveTo>
                  <a:cubicBezTo>
                    <a:pt x="67334" y="0"/>
                    <a:pt x="70157" y="2823"/>
                    <a:pt x="70157" y="6306"/>
                  </a:cubicBezTo>
                  <a:lnTo>
                    <a:pt x="70157" y="6306"/>
                  </a:lnTo>
                  <a:cubicBezTo>
                    <a:pt x="70157" y="9789"/>
                    <a:pt x="67334" y="12612"/>
                    <a:pt x="63851" y="12612"/>
                  </a:cubicBezTo>
                  <a:lnTo>
                    <a:pt x="6306" y="12612"/>
                  </a:lnTo>
                  <a:cubicBezTo>
                    <a:pt x="2823" y="12612"/>
                    <a:pt x="0" y="9789"/>
                    <a:pt x="0" y="6306"/>
                  </a:cubicBezTo>
                  <a:lnTo>
                    <a:pt x="0" y="6306"/>
                  </a:lnTo>
                  <a:cubicBezTo>
                    <a:pt x="0" y="2823"/>
                    <a:pt x="2823" y="0"/>
                    <a:pt x="630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9E615990-BE84-CEBE-E4F1-339CD8D63DA6}"/>
                </a:ext>
              </a:extLst>
            </p:cNvPr>
            <p:cNvSpPr/>
            <p:nvPr/>
          </p:nvSpPr>
          <p:spPr>
            <a:xfrm>
              <a:off x="4998858" y="2932391"/>
              <a:ext cx="103481" cy="13411"/>
            </a:xfrm>
            <a:custGeom>
              <a:avLst/>
              <a:gdLst>
                <a:gd name="connsiteX0" fmla="*/ 91301 w 97316"/>
                <a:gd name="connsiteY0" fmla="*/ 0 h 12612"/>
                <a:gd name="connsiteX1" fmla="*/ 97317 w 97316"/>
                <a:gd name="connsiteY1" fmla="*/ 6016 h 12612"/>
                <a:gd name="connsiteX2" fmla="*/ 97317 w 97316"/>
                <a:gd name="connsiteY2" fmla="*/ 6596 h 12612"/>
                <a:gd name="connsiteX3" fmla="*/ 91301 w 97316"/>
                <a:gd name="connsiteY3" fmla="*/ 12612 h 12612"/>
                <a:gd name="connsiteX4" fmla="*/ 6016 w 97316"/>
                <a:gd name="connsiteY4" fmla="*/ 12612 h 12612"/>
                <a:gd name="connsiteX5" fmla="*/ 0 w 97316"/>
                <a:gd name="connsiteY5" fmla="*/ 6596 h 12612"/>
                <a:gd name="connsiteX6" fmla="*/ 0 w 97316"/>
                <a:gd name="connsiteY6" fmla="*/ 6016 h 12612"/>
                <a:gd name="connsiteX7" fmla="*/ 6016 w 97316"/>
                <a:gd name="connsiteY7" fmla="*/ 0 h 1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316" h="12612">
                  <a:moveTo>
                    <a:pt x="91301" y="0"/>
                  </a:moveTo>
                  <a:cubicBezTo>
                    <a:pt x="94624" y="0"/>
                    <a:pt x="97317" y="2693"/>
                    <a:pt x="97317" y="6016"/>
                  </a:cubicBezTo>
                  <a:lnTo>
                    <a:pt x="97317" y="6596"/>
                  </a:lnTo>
                  <a:cubicBezTo>
                    <a:pt x="97317" y="9919"/>
                    <a:pt x="94624" y="12612"/>
                    <a:pt x="91301" y="12612"/>
                  </a:cubicBezTo>
                  <a:lnTo>
                    <a:pt x="6016" y="12612"/>
                  </a:lnTo>
                  <a:cubicBezTo>
                    <a:pt x="2693" y="12612"/>
                    <a:pt x="0" y="9919"/>
                    <a:pt x="0" y="6596"/>
                  </a:cubicBezTo>
                  <a:lnTo>
                    <a:pt x="0" y="6016"/>
                  </a:lnTo>
                  <a:cubicBezTo>
                    <a:pt x="0" y="2693"/>
                    <a:pt x="2693" y="0"/>
                    <a:pt x="601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DAB1F714-FBD4-7454-7536-A6DFEF7F4DFB}"/>
                </a:ext>
              </a:extLst>
            </p:cNvPr>
            <p:cNvSpPr/>
            <p:nvPr/>
          </p:nvSpPr>
          <p:spPr>
            <a:xfrm>
              <a:off x="4652997" y="2639351"/>
              <a:ext cx="389610" cy="182920"/>
            </a:xfrm>
            <a:custGeom>
              <a:avLst/>
              <a:gdLst>
                <a:gd name="connsiteX0" fmla="*/ 31821 w 366398"/>
                <a:gd name="connsiteY0" fmla="*/ 0 h 172022"/>
                <a:gd name="connsiteX1" fmla="*/ 334578 w 366398"/>
                <a:gd name="connsiteY1" fmla="*/ 0 h 172022"/>
                <a:gd name="connsiteX2" fmla="*/ 366398 w 366398"/>
                <a:gd name="connsiteY2" fmla="*/ 31821 h 172022"/>
                <a:gd name="connsiteX3" fmla="*/ 366398 w 366398"/>
                <a:gd name="connsiteY3" fmla="*/ 104413 h 172022"/>
                <a:gd name="connsiteX4" fmla="*/ 334578 w 366398"/>
                <a:gd name="connsiteY4" fmla="*/ 136234 h 172022"/>
                <a:gd name="connsiteX5" fmla="*/ 73576 w 366398"/>
                <a:gd name="connsiteY5" fmla="*/ 136234 h 172022"/>
                <a:gd name="connsiteX6" fmla="*/ 60416 w 366398"/>
                <a:gd name="connsiteY6" fmla="*/ 172023 h 172022"/>
                <a:gd name="connsiteX7" fmla="*/ 44094 w 366398"/>
                <a:gd name="connsiteY7" fmla="*/ 136234 h 172022"/>
                <a:gd name="connsiteX8" fmla="*/ 31821 w 366398"/>
                <a:gd name="connsiteY8" fmla="*/ 136234 h 172022"/>
                <a:gd name="connsiteX9" fmla="*/ 0 w 366398"/>
                <a:gd name="connsiteY9" fmla="*/ 104413 h 172022"/>
                <a:gd name="connsiteX10" fmla="*/ 0 w 366398"/>
                <a:gd name="connsiteY10" fmla="*/ 31821 h 172022"/>
                <a:gd name="connsiteX11" fmla="*/ 31821 w 366398"/>
                <a:gd name="connsiteY11" fmla="*/ 0 h 172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6398" h="172022">
                  <a:moveTo>
                    <a:pt x="31821" y="0"/>
                  </a:moveTo>
                  <a:lnTo>
                    <a:pt x="334578" y="0"/>
                  </a:lnTo>
                  <a:cubicBezTo>
                    <a:pt x="352141" y="0"/>
                    <a:pt x="366398" y="14241"/>
                    <a:pt x="366398" y="31821"/>
                  </a:cubicBezTo>
                  <a:lnTo>
                    <a:pt x="366398" y="104413"/>
                  </a:lnTo>
                  <a:cubicBezTo>
                    <a:pt x="366398" y="121977"/>
                    <a:pt x="352157" y="136234"/>
                    <a:pt x="334578" y="136234"/>
                  </a:cubicBezTo>
                  <a:lnTo>
                    <a:pt x="73576" y="136234"/>
                  </a:lnTo>
                  <a:lnTo>
                    <a:pt x="60416" y="172023"/>
                  </a:lnTo>
                  <a:lnTo>
                    <a:pt x="44094" y="136234"/>
                  </a:lnTo>
                  <a:lnTo>
                    <a:pt x="31821" y="136234"/>
                  </a:lnTo>
                  <a:cubicBezTo>
                    <a:pt x="14257" y="136234"/>
                    <a:pt x="0" y="121993"/>
                    <a:pt x="0" y="104413"/>
                  </a:cubicBezTo>
                  <a:lnTo>
                    <a:pt x="0" y="31821"/>
                  </a:lnTo>
                  <a:cubicBezTo>
                    <a:pt x="0" y="14257"/>
                    <a:pt x="14241" y="0"/>
                    <a:pt x="31821" y="0"/>
                  </a:cubicBezTo>
                  <a:close/>
                </a:path>
              </a:pathLst>
            </a:custGeom>
            <a:solidFill>
              <a:srgbClr val="67D5FF"/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BD80E91-05C9-5AC5-3BB0-5F2E61AA5803}"/>
                </a:ext>
              </a:extLst>
            </p:cNvPr>
            <p:cNvSpPr/>
            <p:nvPr/>
          </p:nvSpPr>
          <p:spPr>
            <a:xfrm rot="10800000">
              <a:off x="4708236" y="2692499"/>
              <a:ext cx="107323" cy="12793"/>
            </a:xfrm>
            <a:custGeom>
              <a:avLst/>
              <a:gdLst>
                <a:gd name="connsiteX0" fmla="*/ 94914 w 100929"/>
                <a:gd name="connsiteY0" fmla="*/ 0 h 12031"/>
                <a:gd name="connsiteX1" fmla="*/ 100930 w 100929"/>
                <a:gd name="connsiteY1" fmla="*/ 6016 h 12031"/>
                <a:gd name="connsiteX2" fmla="*/ 100930 w 100929"/>
                <a:gd name="connsiteY2" fmla="*/ 6016 h 12031"/>
                <a:gd name="connsiteX3" fmla="*/ 94914 w 100929"/>
                <a:gd name="connsiteY3" fmla="*/ 12032 h 12031"/>
                <a:gd name="connsiteX4" fmla="*/ 6016 w 100929"/>
                <a:gd name="connsiteY4" fmla="*/ 12032 h 12031"/>
                <a:gd name="connsiteX5" fmla="*/ 0 w 100929"/>
                <a:gd name="connsiteY5" fmla="*/ 6016 h 12031"/>
                <a:gd name="connsiteX6" fmla="*/ 0 w 100929"/>
                <a:gd name="connsiteY6" fmla="*/ 6016 h 12031"/>
                <a:gd name="connsiteX7" fmla="*/ 6016 w 100929"/>
                <a:gd name="connsiteY7" fmla="*/ 0 h 1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929" h="12031">
                  <a:moveTo>
                    <a:pt x="94914" y="0"/>
                  </a:moveTo>
                  <a:cubicBezTo>
                    <a:pt x="98236" y="0"/>
                    <a:pt x="100930" y="2693"/>
                    <a:pt x="100930" y="6016"/>
                  </a:cubicBezTo>
                  <a:lnTo>
                    <a:pt x="100930" y="6016"/>
                  </a:lnTo>
                  <a:cubicBezTo>
                    <a:pt x="100930" y="9338"/>
                    <a:pt x="98236" y="12032"/>
                    <a:pt x="94914" y="12032"/>
                  </a:cubicBezTo>
                  <a:lnTo>
                    <a:pt x="6016" y="12032"/>
                  </a:lnTo>
                  <a:cubicBezTo>
                    <a:pt x="2693" y="12032"/>
                    <a:pt x="0" y="9338"/>
                    <a:pt x="0" y="6016"/>
                  </a:cubicBezTo>
                  <a:lnTo>
                    <a:pt x="0" y="6016"/>
                  </a:lnTo>
                  <a:cubicBezTo>
                    <a:pt x="0" y="2693"/>
                    <a:pt x="2693" y="0"/>
                    <a:pt x="601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8E0611D0-1E86-0EA9-B4A3-4BDD4DC4D76A}"/>
                </a:ext>
              </a:extLst>
            </p:cNvPr>
            <p:cNvSpPr/>
            <p:nvPr/>
          </p:nvSpPr>
          <p:spPr>
            <a:xfrm rot="10800000">
              <a:off x="4680780" y="2692499"/>
              <a:ext cx="16583" cy="12793"/>
            </a:xfrm>
            <a:custGeom>
              <a:avLst/>
              <a:gdLst>
                <a:gd name="connsiteX0" fmla="*/ 9580 w 15595"/>
                <a:gd name="connsiteY0" fmla="*/ 0 h 12031"/>
                <a:gd name="connsiteX1" fmla="*/ 15596 w 15595"/>
                <a:gd name="connsiteY1" fmla="*/ 6016 h 12031"/>
                <a:gd name="connsiteX2" fmla="*/ 15596 w 15595"/>
                <a:gd name="connsiteY2" fmla="*/ 6016 h 12031"/>
                <a:gd name="connsiteX3" fmla="*/ 9580 w 15595"/>
                <a:gd name="connsiteY3" fmla="*/ 12032 h 12031"/>
                <a:gd name="connsiteX4" fmla="*/ 6016 w 15595"/>
                <a:gd name="connsiteY4" fmla="*/ 12032 h 12031"/>
                <a:gd name="connsiteX5" fmla="*/ 0 w 15595"/>
                <a:gd name="connsiteY5" fmla="*/ 6016 h 12031"/>
                <a:gd name="connsiteX6" fmla="*/ 0 w 15595"/>
                <a:gd name="connsiteY6" fmla="*/ 6016 h 12031"/>
                <a:gd name="connsiteX7" fmla="*/ 6016 w 15595"/>
                <a:gd name="connsiteY7" fmla="*/ 0 h 1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95" h="12031">
                  <a:moveTo>
                    <a:pt x="9580" y="0"/>
                  </a:moveTo>
                  <a:cubicBezTo>
                    <a:pt x="12903" y="0"/>
                    <a:pt x="15596" y="2693"/>
                    <a:pt x="15596" y="6016"/>
                  </a:cubicBezTo>
                  <a:lnTo>
                    <a:pt x="15596" y="6016"/>
                  </a:lnTo>
                  <a:cubicBezTo>
                    <a:pt x="15596" y="9338"/>
                    <a:pt x="12903" y="12032"/>
                    <a:pt x="9580" y="12032"/>
                  </a:cubicBezTo>
                  <a:lnTo>
                    <a:pt x="6016" y="12032"/>
                  </a:lnTo>
                  <a:cubicBezTo>
                    <a:pt x="2693" y="12032"/>
                    <a:pt x="0" y="9338"/>
                    <a:pt x="0" y="6016"/>
                  </a:cubicBezTo>
                  <a:lnTo>
                    <a:pt x="0" y="6016"/>
                  </a:lnTo>
                  <a:cubicBezTo>
                    <a:pt x="0" y="2693"/>
                    <a:pt x="2693" y="0"/>
                    <a:pt x="601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8B8C3A68-D664-EA5E-3BE2-992F0B370264}"/>
                </a:ext>
              </a:extLst>
            </p:cNvPr>
            <p:cNvSpPr/>
            <p:nvPr/>
          </p:nvSpPr>
          <p:spPr>
            <a:xfrm rot="10800000">
              <a:off x="4943687" y="2692499"/>
              <a:ext cx="71154" cy="12793"/>
            </a:xfrm>
            <a:custGeom>
              <a:avLst/>
              <a:gdLst>
                <a:gd name="connsiteX0" fmla="*/ 60900 w 66915"/>
                <a:gd name="connsiteY0" fmla="*/ 0 h 12031"/>
                <a:gd name="connsiteX1" fmla="*/ 66916 w 66915"/>
                <a:gd name="connsiteY1" fmla="*/ 6016 h 12031"/>
                <a:gd name="connsiteX2" fmla="*/ 66916 w 66915"/>
                <a:gd name="connsiteY2" fmla="*/ 6016 h 12031"/>
                <a:gd name="connsiteX3" fmla="*/ 60900 w 66915"/>
                <a:gd name="connsiteY3" fmla="*/ 12032 h 12031"/>
                <a:gd name="connsiteX4" fmla="*/ 6016 w 66915"/>
                <a:gd name="connsiteY4" fmla="*/ 12032 h 12031"/>
                <a:gd name="connsiteX5" fmla="*/ 0 w 66915"/>
                <a:gd name="connsiteY5" fmla="*/ 6016 h 12031"/>
                <a:gd name="connsiteX6" fmla="*/ 0 w 66915"/>
                <a:gd name="connsiteY6" fmla="*/ 6016 h 12031"/>
                <a:gd name="connsiteX7" fmla="*/ 6016 w 66915"/>
                <a:gd name="connsiteY7" fmla="*/ 0 h 1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915" h="12031">
                  <a:moveTo>
                    <a:pt x="60900" y="0"/>
                  </a:moveTo>
                  <a:cubicBezTo>
                    <a:pt x="64222" y="0"/>
                    <a:pt x="66916" y="2693"/>
                    <a:pt x="66916" y="6016"/>
                  </a:cubicBezTo>
                  <a:lnTo>
                    <a:pt x="66916" y="6016"/>
                  </a:lnTo>
                  <a:cubicBezTo>
                    <a:pt x="66916" y="9338"/>
                    <a:pt x="64222" y="12032"/>
                    <a:pt x="60900" y="12032"/>
                  </a:cubicBezTo>
                  <a:lnTo>
                    <a:pt x="6016" y="12032"/>
                  </a:lnTo>
                  <a:cubicBezTo>
                    <a:pt x="2693" y="12032"/>
                    <a:pt x="0" y="9338"/>
                    <a:pt x="0" y="6016"/>
                  </a:cubicBezTo>
                  <a:lnTo>
                    <a:pt x="0" y="6016"/>
                  </a:lnTo>
                  <a:cubicBezTo>
                    <a:pt x="0" y="2693"/>
                    <a:pt x="2693" y="0"/>
                    <a:pt x="601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1B044330-5A9D-2982-A002-3EA6949DBBDC}"/>
                </a:ext>
              </a:extLst>
            </p:cNvPr>
            <p:cNvSpPr/>
            <p:nvPr/>
          </p:nvSpPr>
          <p:spPr>
            <a:xfrm rot="10800000">
              <a:off x="4829005" y="2692499"/>
              <a:ext cx="98680" cy="12793"/>
            </a:xfrm>
            <a:custGeom>
              <a:avLst/>
              <a:gdLst>
                <a:gd name="connsiteX0" fmla="*/ 86785 w 92801"/>
                <a:gd name="connsiteY0" fmla="*/ 0 h 12031"/>
                <a:gd name="connsiteX1" fmla="*/ 92801 w 92801"/>
                <a:gd name="connsiteY1" fmla="*/ 6016 h 12031"/>
                <a:gd name="connsiteX2" fmla="*/ 92801 w 92801"/>
                <a:gd name="connsiteY2" fmla="*/ 6016 h 12031"/>
                <a:gd name="connsiteX3" fmla="*/ 86785 w 92801"/>
                <a:gd name="connsiteY3" fmla="*/ 12032 h 12031"/>
                <a:gd name="connsiteX4" fmla="*/ 6016 w 92801"/>
                <a:gd name="connsiteY4" fmla="*/ 12032 h 12031"/>
                <a:gd name="connsiteX5" fmla="*/ 0 w 92801"/>
                <a:gd name="connsiteY5" fmla="*/ 6016 h 12031"/>
                <a:gd name="connsiteX6" fmla="*/ 0 w 92801"/>
                <a:gd name="connsiteY6" fmla="*/ 6016 h 12031"/>
                <a:gd name="connsiteX7" fmla="*/ 6016 w 92801"/>
                <a:gd name="connsiteY7" fmla="*/ 0 h 1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801" h="12031">
                  <a:moveTo>
                    <a:pt x="86785" y="0"/>
                  </a:moveTo>
                  <a:cubicBezTo>
                    <a:pt x="90108" y="0"/>
                    <a:pt x="92801" y="2693"/>
                    <a:pt x="92801" y="6016"/>
                  </a:cubicBezTo>
                  <a:lnTo>
                    <a:pt x="92801" y="6016"/>
                  </a:lnTo>
                  <a:cubicBezTo>
                    <a:pt x="92801" y="9338"/>
                    <a:pt x="90108" y="12032"/>
                    <a:pt x="86785" y="12032"/>
                  </a:cubicBezTo>
                  <a:lnTo>
                    <a:pt x="6016" y="12032"/>
                  </a:lnTo>
                  <a:cubicBezTo>
                    <a:pt x="2693" y="12032"/>
                    <a:pt x="0" y="9338"/>
                    <a:pt x="0" y="6016"/>
                  </a:cubicBezTo>
                  <a:lnTo>
                    <a:pt x="0" y="6016"/>
                  </a:lnTo>
                  <a:cubicBezTo>
                    <a:pt x="0" y="2693"/>
                    <a:pt x="2693" y="0"/>
                    <a:pt x="601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360718AD-0982-F802-0EF1-5C025ECB1026}"/>
                </a:ext>
              </a:extLst>
            </p:cNvPr>
            <p:cNvSpPr/>
            <p:nvPr/>
          </p:nvSpPr>
          <p:spPr>
            <a:xfrm rot="10800000">
              <a:off x="4708236" y="2717571"/>
              <a:ext cx="107323" cy="12793"/>
            </a:xfrm>
            <a:custGeom>
              <a:avLst/>
              <a:gdLst>
                <a:gd name="connsiteX0" fmla="*/ 94914 w 100929"/>
                <a:gd name="connsiteY0" fmla="*/ 0 h 12031"/>
                <a:gd name="connsiteX1" fmla="*/ 100930 w 100929"/>
                <a:gd name="connsiteY1" fmla="*/ 6016 h 12031"/>
                <a:gd name="connsiteX2" fmla="*/ 100930 w 100929"/>
                <a:gd name="connsiteY2" fmla="*/ 6016 h 12031"/>
                <a:gd name="connsiteX3" fmla="*/ 94914 w 100929"/>
                <a:gd name="connsiteY3" fmla="*/ 12032 h 12031"/>
                <a:gd name="connsiteX4" fmla="*/ 6016 w 100929"/>
                <a:gd name="connsiteY4" fmla="*/ 12032 h 12031"/>
                <a:gd name="connsiteX5" fmla="*/ 0 w 100929"/>
                <a:gd name="connsiteY5" fmla="*/ 6016 h 12031"/>
                <a:gd name="connsiteX6" fmla="*/ 0 w 100929"/>
                <a:gd name="connsiteY6" fmla="*/ 6016 h 12031"/>
                <a:gd name="connsiteX7" fmla="*/ 6016 w 100929"/>
                <a:gd name="connsiteY7" fmla="*/ 0 h 1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929" h="12031">
                  <a:moveTo>
                    <a:pt x="94914" y="0"/>
                  </a:moveTo>
                  <a:cubicBezTo>
                    <a:pt x="98236" y="0"/>
                    <a:pt x="100930" y="2693"/>
                    <a:pt x="100930" y="6016"/>
                  </a:cubicBezTo>
                  <a:lnTo>
                    <a:pt x="100930" y="6016"/>
                  </a:lnTo>
                  <a:cubicBezTo>
                    <a:pt x="100930" y="9338"/>
                    <a:pt x="98236" y="12032"/>
                    <a:pt x="94914" y="12032"/>
                  </a:cubicBezTo>
                  <a:lnTo>
                    <a:pt x="6016" y="12032"/>
                  </a:lnTo>
                  <a:cubicBezTo>
                    <a:pt x="2693" y="12032"/>
                    <a:pt x="0" y="9338"/>
                    <a:pt x="0" y="6016"/>
                  </a:cubicBezTo>
                  <a:lnTo>
                    <a:pt x="0" y="6016"/>
                  </a:lnTo>
                  <a:cubicBezTo>
                    <a:pt x="0" y="2693"/>
                    <a:pt x="2693" y="0"/>
                    <a:pt x="601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A86166E0-1B0F-8ACD-3472-5F265A0C7C2B}"/>
                </a:ext>
              </a:extLst>
            </p:cNvPr>
            <p:cNvSpPr/>
            <p:nvPr/>
          </p:nvSpPr>
          <p:spPr>
            <a:xfrm rot="10800000">
              <a:off x="4680780" y="2717571"/>
              <a:ext cx="16583" cy="12793"/>
            </a:xfrm>
            <a:custGeom>
              <a:avLst/>
              <a:gdLst>
                <a:gd name="connsiteX0" fmla="*/ 9580 w 15595"/>
                <a:gd name="connsiteY0" fmla="*/ 0 h 12031"/>
                <a:gd name="connsiteX1" fmla="*/ 15596 w 15595"/>
                <a:gd name="connsiteY1" fmla="*/ 6016 h 12031"/>
                <a:gd name="connsiteX2" fmla="*/ 15596 w 15595"/>
                <a:gd name="connsiteY2" fmla="*/ 6016 h 12031"/>
                <a:gd name="connsiteX3" fmla="*/ 9580 w 15595"/>
                <a:gd name="connsiteY3" fmla="*/ 12032 h 12031"/>
                <a:gd name="connsiteX4" fmla="*/ 6016 w 15595"/>
                <a:gd name="connsiteY4" fmla="*/ 12032 h 12031"/>
                <a:gd name="connsiteX5" fmla="*/ 0 w 15595"/>
                <a:gd name="connsiteY5" fmla="*/ 6016 h 12031"/>
                <a:gd name="connsiteX6" fmla="*/ 0 w 15595"/>
                <a:gd name="connsiteY6" fmla="*/ 6016 h 12031"/>
                <a:gd name="connsiteX7" fmla="*/ 6016 w 15595"/>
                <a:gd name="connsiteY7" fmla="*/ 0 h 1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95" h="12031">
                  <a:moveTo>
                    <a:pt x="9580" y="0"/>
                  </a:moveTo>
                  <a:cubicBezTo>
                    <a:pt x="12903" y="0"/>
                    <a:pt x="15596" y="2693"/>
                    <a:pt x="15596" y="6016"/>
                  </a:cubicBezTo>
                  <a:lnTo>
                    <a:pt x="15596" y="6016"/>
                  </a:lnTo>
                  <a:cubicBezTo>
                    <a:pt x="15596" y="9338"/>
                    <a:pt x="12903" y="12032"/>
                    <a:pt x="9580" y="12032"/>
                  </a:cubicBezTo>
                  <a:lnTo>
                    <a:pt x="6016" y="12032"/>
                  </a:lnTo>
                  <a:cubicBezTo>
                    <a:pt x="2693" y="12032"/>
                    <a:pt x="0" y="9338"/>
                    <a:pt x="0" y="6016"/>
                  </a:cubicBezTo>
                  <a:lnTo>
                    <a:pt x="0" y="6016"/>
                  </a:lnTo>
                  <a:cubicBezTo>
                    <a:pt x="0" y="2693"/>
                    <a:pt x="2693" y="0"/>
                    <a:pt x="601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25716567-C75C-AB01-5DA9-A9C35674F1F2}"/>
                </a:ext>
              </a:extLst>
            </p:cNvPr>
            <p:cNvSpPr/>
            <p:nvPr/>
          </p:nvSpPr>
          <p:spPr>
            <a:xfrm>
              <a:off x="4680763" y="2741975"/>
              <a:ext cx="86160" cy="12793"/>
            </a:xfrm>
            <a:custGeom>
              <a:avLst/>
              <a:gdLst>
                <a:gd name="connsiteX0" fmla="*/ 6016 w 81027"/>
                <a:gd name="connsiteY0" fmla="*/ 0 h 12031"/>
                <a:gd name="connsiteX1" fmla="*/ 75012 w 81027"/>
                <a:gd name="connsiteY1" fmla="*/ 0 h 12031"/>
                <a:gd name="connsiteX2" fmla="*/ 81028 w 81027"/>
                <a:gd name="connsiteY2" fmla="*/ 6016 h 12031"/>
                <a:gd name="connsiteX3" fmla="*/ 81028 w 81027"/>
                <a:gd name="connsiteY3" fmla="*/ 6016 h 12031"/>
                <a:gd name="connsiteX4" fmla="*/ 75012 w 81027"/>
                <a:gd name="connsiteY4" fmla="*/ 12032 h 12031"/>
                <a:gd name="connsiteX5" fmla="*/ 6016 w 81027"/>
                <a:gd name="connsiteY5" fmla="*/ 12032 h 12031"/>
                <a:gd name="connsiteX6" fmla="*/ 0 w 81027"/>
                <a:gd name="connsiteY6" fmla="*/ 6016 h 12031"/>
                <a:gd name="connsiteX7" fmla="*/ 0 w 81027"/>
                <a:gd name="connsiteY7" fmla="*/ 6016 h 12031"/>
                <a:gd name="connsiteX8" fmla="*/ 6016 w 81027"/>
                <a:gd name="connsiteY8" fmla="*/ 0 h 1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027" h="12031">
                  <a:moveTo>
                    <a:pt x="6016" y="0"/>
                  </a:moveTo>
                  <a:lnTo>
                    <a:pt x="75012" y="0"/>
                  </a:lnTo>
                  <a:cubicBezTo>
                    <a:pt x="78334" y="0"/>
                    <a:pt x="81028" y="2693"/>
                    <a:pt x="81028" y="6016"/>
                  </a:cubicBezTo>
                  <a:lnTo>
                    <a:pt x="81028" y="6016"/>
                  </a:lnTo>
                  <a:cubicBezTo>
                    <a:pt x="81028" y="9338"/>
                    <a:pt x="78334" y="12032"/>
                    <a:pt x="75012" y="12032"/>
                  </a:cubicBezTo>
                  <a:lnTo>
                    <a:pt x="6016" y="12032"/>
                  </a:lnTo>
                  <a:cubicBezTo>
                    <a:pt x="2693" y="12032"/>
                    <a:pt x="0" y="9338"/>
                    <a:pt x="0" y="6016"/>
                  </a:cubicBezTo>
                  <a:lnTo>
                    <a:pt x="0" y="6016"/>
                  </a:lnTo>
                  <a:cubicBezTo>
                    <a:pt x="0" y="2693"/>
                    <a:pt x="2693" y="0"/>
                    <a:pt x="601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59BEF2DA-56DC-1188-900C-9386915C2231}"/>
                </a:ext>
              </a:extLst>
            </p:cNvPr>
            <p:cNvSpPr/>
            <p:nvPr/>
          </p:nvSpPr>
          <p:spPr>
            <a:xfrm rot="10800000">
              <a:off x="4943687" y="2717571"/>
              <a:ext cx="71154" cy="12793"/>
            </a:xfrm>
            <a:custGeom>
              <a:avLst/>
              <a:gdLst>
                <a:gd name="connsiteX0" fmla="*/ 60900 w 66915"/>
                <a:gd name="connsiteY0" fmla="*/ 0 h 12031"/>
                <a:gd name="connsiteX1" fmla="*/ 66916 w 66915"/>
                <a:gd name="connsiteY1" fmla="*/ 6016 h 12031"/>
                <a:gd name="connsiteX2" fmla="*/ 66916 w 66915"/>
                <a:gd name="connsiteY2" fmla="*/ 6016 h 12031"/>
                <a:gd name="connsiteX3" fmla="*/ 60900 w 66915"/>
                <a:gd name="connsiteY3" fmla="*/ 12032 h 12031"/>
                <a:gd name="connsiteX4" fmla="*/ 6016 w 66915"/>
                <a:gd name="connsiteY4" fmla="*/ 12032 h 12031"/>
                <a:gd name="connsiteX5" fmla="*/ 0 w 66915"/>
                <a:gd name="connsiteY5" fmla="*/ 6016 h 12031"/>
                <a:gd name="connsiteX6" fmla="*/ 0 w 66915"/>
                <a:gd name="connsiteY6" fmla="*/ 6016 h 12031"/>
                <a:gd name="connsiteX7" fmla="*/ 6016 w 66915"/>
                <a:gd name="connsiteY7" fmla="*/ 0 h 1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915" h="12031">
                  <a:moveTo>
                    <a:pt x="60900" y="0"/>
                  </a:moveTo>
                  <a:cubicBezTo>
                    <a:pt x="64222" y="0"/>
                    <a:pt x="66916" y="2693"/>
                    <a:pt x="66916" y="6016"/>
                  </a:cubicBezTo>
                  <a:lnTo>
                    <a:pt x="66916" y="6016"/>
                  </a:lnTo>
                  <a:cubicBezTo>
                    <a:pt x="66916" y="9338"/>
                    <a:pt x="64222" y="12032"/>
                    <a:pt x="60900" y="12032"/>
                  </a:cubicBezTo>
                  <a:lnTo>
                    <a:pt x="6016" y="12032"/>
                  </a:lnTo>
                  <a:cubicBezTo>
                    <a:pt x="2693" y="12032"/>
                    <a:pt x="0" y="9338"/>
                    <a:pt x="0" y="6016"/>
                  </a:cubicBezTo>
                  <a:lnTo>
                    <a:pt x="0" y="6016"/>
                  </a:lnTo>
                  <a:cubicBezTo>
                    <a:pt x="0" y="2693"/>
                    <a:pt x="2693" y="0"/>
                    <a:pt x="6016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A3AE3DEA-6EB0-7485-6605-D6A0960D4460}"/>
                </a:ext>
              </a:extLst>
            </p:cNvPr>
            <p:cNvSpPr/>
            <p:nvPr/>
          </p:nvSpPr>
          <p:spPr>
            <a:xfrm rot="10800000">
              <a:off x="4829005" y="2717571"/>
              <a:ext cx="98680" cy="12793"/>
            </a:xfrm>
            <a:custGeom>
              <a:avLst/>
              <a:gdLst>
                <a:gd name="connsiteX0" fmla="*/ 86785 w 92801"/>
                <a:gd name="connsiteY0" fmla="*/ 0 h 12031"/>
                <a:gd name="connsiteX1" fmla="*/ 92801 w 92801"/>
                <a:gd name="connsiteY1" fmla="*/ 6016 h 12031"/>
                <a:gd name="connsiteX2" fmla="*/ 92801 w 92801"/>
                <a:gd name="connsiteY2" fmla="*/ 6016 h 12031"/>
                <a:gd name="connsiteX3" fmla="*/ 86785 w 92801"/>
                <a:gd name="connsiteY3" fmla="*/ 12032 h 12031"/>
                <a:gd name="connsiteX4" fmla="*/ 6016 w 92801"/>
                <a:gd name="connsiteY4" fmla="*/ 12032 h 12031"/>
                <a:gd name="connsiteX5" fmla="*/ 0 w 92801"/>
                <a:gd name="connsiteY5" fmla="*/ 6016 h 12031"/>
                <a:gd name="connsiteX6" fmla="*/ 0 w 92801"/>
                <a:gd name="connsiteY6" fmla="*/ 6016 h 12031"/>
                <a:gd name="connsiteX7" fmla="*/ 6016 w 92801"/>
                <a:gd name="connsiteY7" fmla="*/ 0 h 1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801" h="12031">
                  <a:moveTo>
                    <a:pt x="86785" y="0"/>
                  </a:moveTo>
                  <a:cubicBezTo>
                    <a:pt x="90108" y="0"/>
                    <a:pt x="92801" y="2693"/>
                    <a:pt x="92801" y="6016"/>
                  </a:cubicBezTo>
                  <a:lnTo>
                    <a:pt x="92801" y="6016"/>
                  </a:lnTo>
                  <a:cubicBezTo>
                    <a:pt x="92801" y="9338"/>
                    <a:pt x="90108" y="12032"/>
                    <a:pt x="86785" y="12032"/>
                  </a:cubicBezTo>
                  <a:lnTo>
                    <a:pt x="6016" y="12032"/>
                  </a:lnTo>
                  <a:cubicBezTo>
                    <a:pt x="2693" y="12032"/>
                    <a:pt x="0" y="9338"/>
                    <a:pt x="0" y="6016"/>
                  </a:cubicBezTo>
                  <a:lnTo>
                    <a:pt x="0" y="6016"/>
                  </a:lnTo>
                  <a:cubicBezTo>
                    <a:pt x="0" y="2693"/>
                    <a:pt x="2693" y="0"/>
                    <a:pt x="6016" y="0"/>
                  </a:cubicBezTo>
                  <a:close/>
                </a:path>
              </a:pathLst>
            </a:custGeom>
            <a:solidFill>
              <a:srgbClr val="67D5FF"/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84" name="Graphic 1033">
              <a:extLst>
                <a:ext uri="{FF2B5EF4-FFF2-40B4-BE49-F238E27FC236}">
                  <a16:creationId xmlns:a16="http://schemas.microsoft.com/office/drawing/2014/main" id="{C9B49375-7883-51D7-615D-6AD861981801}"/>
                </a:ext>
              </a:extLst>
            </p:cNvPr>
            <p:cNvGrpSpPr/>
            <p:nvPr/>
          </p:nvGrpSpPr>
          <p:grpSpPr>
            <a:xfrm>
              <a:off x="4422237" y="2846857"/>
              <a:ext cx="463051" cy="595764"/>
              <a:chOff x="4422313" y="2649030"/>
              <a:chExt cx="435471" cy="560269"/>
            </a:xfrm>
          </p:grpSpPr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D8D5329D-1E11-F653-2EAA-C851412F74CD}"/>
                  </a:ext>
                </a:extLst>
              </p:cNvPr>
              <p:cNvSpPr/>
              <p:nvPr/>
            </p:nvSpPr>
            <p:spPr>
              <a:xfrm>
                <a:off x="4503728" y="3156722"/>
                <a:ext cx="229954" cy="52577"/>
              </a:xfrm>
              <a:custGeom>
                <a:avLst/>
                <a:gdLst>
                  <a:gd name="connsiteX0" fmla="*/ 229955 w 229954"/>
                  <a:gd name="connsiteY0" fmla="*/ 28660 h 52577"/>
                  <a:gd name="connsiteX1" fmla="*/ 160636 w 229954"/>
                  <a:gd name="connsiteY1" fmla="*/ 0 h 52577"/>
                  <a:gd name="connsiteX2" fmla="*/ 7822 w 229954"/>
                  <a:gd name="connsiteY2" fmla="*/ 19950 h 52577"/>
                  <a:gd name="connsiteX3" fmla="*/ 0 w 229954"/>
                  <a:gd name="connsiteY3" fmla="*/ 34208 h 52577"/>
                  <a:gd name="connsiteX4" fmla="*/ 107703 w 229954"/>
                  <a:gd name="connsiteY4" fmla="*/ 52578 h 52577"/>
                  <a:gd name="connsiteX5" fmla="*/ 229955 w 229954"/>
                  <a:gd name="connsiteY5" fmla="*/ 28660 h 52577"/>
                  <a:gd name="connsiteX6" fmla="*/ 229955 w 229954"/>
                  <a:gd name="connsiteY6" fmla="*/ 28660 h 5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9954" h="52577">
                    <a:moveTo>
                      <a:pt x="229955" y="28660"/>
                    </a:moveTo>
                    <a:cubicBezTo>
                      <a:pt x="191892" y="11983"/>
                      <a:pt x="160636" y="0"/>
                      <a:pt x="160636" y="0"/>
                    </a:cubicBezTo>
                    <a:lnTo>
                      <a:pt x="7822" y="19950"/>
                    </a:lnTo>
                    <a:cubicBezTo>
                      <a:pt x="7822" y="19950"/>
                      <a:pt x="4451" y="25547"/>
                      <a:pt x="0" y="34208"/>
                    </a:cubicBezTo>
                    <a:cubicBezTo>
                      <a:pt x="33627" y="46078"/>
                      <a:pt x="69883" y="52578"/>
                      <a:pt x="107703" y="52578"/>
                    </a:cubicBezTo>
                    <a:cubicBezTo>
                      <a:pt x="151024" y="52578"/>
                      <a:pt x="192312" y="44030"/>
                      <a:pt x="229955" y="28660"/>
                    </a:cubicBezTo>
                    <a:lnTo>
                      <a:pt x="229955" y="28660"/>
                    </a:lnTo>
                    <a:close/>
                  </a:path>
                </a:pathLst>
              </a:custGeom>
              <a:solidFill>
                <a:srgbClr val="656565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163EFA71-5FC5-8741-F975-DF755B5BF6B8}"/>
                  </a:ext>
                </a:extLst>
              </p:cNvPr>
              <p:cNvSpPr/>
              <p:nvPr/>
            </p:nvSpPr>
            <p:spPr>
              <a:xfrm>
                <a:off x="4664267" y="2946443"/>
                <a:ext cx="164571" cy="205375"/>
              </a:xfrm>
              <a:custGeom>
                <a:avLst/>
                <a:gdLst>
                  <a:gd name="connsiteX0" fmla="*/ 50852 w 164571"/>
                  <a:gd name="connsiteY0" fmla="*/ 0 h 205375"/>
                  <a:gd name="connsiteX1" fmla="*/ 74899 w 164571"/>
                  <a:gd name="connsiteY1" fmla="*/ 134734 h 205375"/>
                  <a:gd name="connsiteX2" fmla="*/ 130831 w 164571"/>
                  <a:gd name="connsiteY2" fmla="*/ 22902 h 205375"/>
                  <a:gd name="connsiteX3" fmla="*/ 164571 w 164571"/>
                  <a:gd name="connsiteY3" fmla="*/ 31885 h 205375"/>
                  <a:gd name="connsiteX4" fmla="*/ 68044 w 164571"/>
                  <a:gd name="connsiteY4" fmla="*/ 205311 h 205375"/>
                  <a:gd name="connsiteX5" fmla="*/ 0 w 164571"/>
                  <a:gd name="connsiteY5" fmla="*/ 59690 h 205375"/>
                  <a:gd name="connsiteX6" fmla="*/ 50836 w 164571"/>
                  <a:gd name="connsiteY6" fmla="*/ 16 h 205375"/>
                  <a:gd name="connsiteX7" fmla="*/ 50836 w 164571"/>
                  <a:gd name="connsiteY7" fmla="*/ 16 h 205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571" h="205375">
                    <a:moveTo>
                      <a:pt x="50852" y="0"/>
                    </a:moveTo>
                    <a:cubicBezTo>
                      <a:pt x="50852" y="0"/>
                      <a:pt x="68190" y="131106"/>
                      <a:pt x="74899" y="134734"/>
                    </a:cubicBezTo>
                    <a:cubicBezTo>
                      <a:pt x="81608" y="138363"/>
                      <a:pt x="130831" y="22902"/>
                      <a:pt x="130831" y="22902"/>
                    </a:cubicBezTo>
                    <a:lnTo>
                      <a:pt x="164571" y="31885"/>
                    </a:lnTo>
                    <a:cubicBezTo>
                      <a:pt x="164571" y="31885"/>
                      <a:pt x="130105" y="209230"/>
                      <a:pt x="68044" y="205311"/>
                    </a:cubicBezTo>
                    <a:cubicBezTo>
                      <a:pt x="5984" y="201376"/>
                      <a:pt x="0" y="59690"/>
                      <a:pt x="0" y="59690"/>
                    </a:cubicBezTo>
                    <a:lnTo>
                      <a:pt x="50836" y="16"/>
                    </a:lnTo>
                    <a:lnTo>
                      <a:pt x="50836" y="16"/>
                    </a:lnTo>
                    <a:close/>
                  </a:path>
                </a:pathLst>
              </a:custGeom>
              <a:solidFill>
                <a:srgbClr val="DAA97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CF888CDA-DCDE-15CE-598F-46F2428FCB0A}"/>
                  </a:ext>
                </a:extLst>
              </p:cNvPr>
              <p:cNvSpPr/>
              <p:nvPr/>
            </p:nvSpPr>
            <p:spPr>
              <a:xfrm>
                <a:off x="4423423" y="2649030"/>
                <a:ext cx="316497" cy="290101"/>
              </a:xfrm>
              <a:custGeom>
                <a:avLst/>
                <a:gdLst>
                  <a:gd name="connsiteX0" fmla="*/ 264859 w 316497"/>
                  <a:gd name="connsiteY0" fmla="*/ 13171 h 290101"/>
                  <a:gd name="connsiteX1" fmla="*/ 305308 w 316497"/>
                  <a:gd name="connsiteY1" fmla="*/ 91779 h 290101"/>
                  <a:gd name="connsiteX2" fmla="*/ 297373 w 316497"/>
                  <a:gd name="connsiteY2" fmla="*/ 166033 h 290101"/>
                  <a:gd name="connsiteX3" fmla="*/ 309260 w 316497"/>
                  <a:gd name="connsiteY3" fmla="*/ 191725 h 290101"/>
                  <a:gd name="connsiteX4" fmla="*/ 315388 w 316497"/>
                  <a:gd name="connsiteY4" fmla="*/ 239255 h 290101"/>
                  <a:gd name="connsiteX5" fmla="*/ 300599 w 316497"/>
                  <a:gd name="connsiteY5" fmla="*/ 268624 h 290101"/>
                  <a:gd name="connsiteX6" fmla="*/ 280116 w 316497"/>
                  <a:gd name="connsiteY6" fmla="*/ 279220 h 290101"/>
                  <a:gd name="connsiteX7" fmla="*/ 231151 w 316497"/>
                  <a:gd name="connsiteY7" fmla="*/ 290091 h 290101"/>
                  <a:gd name="connsiteX8" fmla="*/ 184686 w 316497"/>
                  <a:gd name="connsiteY8" fmla="*/ 274221 h 290101"/>
                  <a:gd name="connsiteX9" fmla="*/ 159075 w 316497"/>
                  <a:gd name="connsiteY9" fmla="*/ 253141 h 290101"/>
                  <a:gd name="connsiteX10" fmla="*/ 147495 w 316497"/>
                  <a:gd name="connsiteY10" fmla="*/ 252674 h 290101"/>
                  <a:gd name="connsiteX11" fmla="*/ 103094 w 316497"/>
                  <a:gd name="connsiteY11" fmla="*/ 259222 h 290101"/>
                  <a:gd name="connsiteX12" fmla="*/ 58548 w 316497"/>
                  <a:gd name="connsiteY12" fmla="*/ 276446 h 290101"/>
                  <a:gd name="connsiteX13" fmla="*/ 3310 w 316497"/>
                  <a:gd name="connsiteY13" fmla="*/ 245626 h 290101"/>
                  <a:gd name="connsiteX14" fmla="*/ 22018 w 316497"/>
                  <a:gd name="connsiteY14" fmla="*/ 186081 h 290101"/>
                  <a:gd name="connsiteX15" fmla="*/ 66951 w 316497"/>
                  <a:gd name="connsiteY15" fmla="*/ 157550 h 290101"/>
                  <a:gd name="connsiteX16" fmla="*/ 74418 w 316497"/>
                  <a:gd name="connsiteY16" fmla="*/ 113762 h 290101"/>
                  <a:gd name="connsiteX17" fmla="*/ 134302 w 316497"/>
                  <a:gd name="connsiteY17" fmla="*/ 64926 h 290101"/>
                  <a:gd name="connsiteX18" fmla="*/ 181267 w 316497"/>
                  <a:gd name="connsiteY18" fmla="*/ 8462 h 290101"/>
                  <a:gd name="connsiteX19" fmla="*/ 264875 w 316497"/>
                  <a:gd name="connsiteY19" fmla="*/ 13155 h 290101"/>
                  <a:gd name="connsiteX20" fmla="*/ 264875 w 316497"/>
                  <a:gd name="connsiteY20" fmla="*/ 13155 h 290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6497" h="290101">
                    <a:moveTo>
                      <a:pt x="264859" y="13171"/>
                    </a:moveTo>
                    <a:cubicBezTo>
                      <a:pt x="291503" y="29557"/>
                      <a:pt x="307679" y="61007"/>
                      <a:pt x="305308" y="91779"/>
                    </a:cubicBezTo>
                    <a:cubicBezTo>
                      <a:pt x="303389" y="116842"/>
                      <a:pt x="290245" y="141906"/>
                      <a:pt x="297373" y="166033"/>
                    </a:cubicBezTo>
                    <a:cubicBezTo>
                      <a:pt x="300051" y="175065"/>
                      <a:pt x="305389" y="183097"/>
                      <a:pt x="309260" y="191725"/>
                    </a:cubicBezTo>
                    <a:cubicBezTo>
                      <a:pt x="315888" y="206547"/>
                      <a:pt x="318050" y="223256"/>
                      <a:pt x="315388" y="239255"/>
                    </a:cubicBezTo>
                    <a:cubicBezTo>
                      <a:pt x="313550" y="250254"/>
                      <a:pt x="309147" y="261318"/>
                      <a:pt x="300599" y="268624"/>
                    </a:cubicBezTo>
                    <a:cubicBezTo>
                      <a:pt x="294761" y="273640"/>
                      <a:pt x="287374" y="276575"/>
                      <a:pt x="280116" y="279220"/>
                    </a:cubicBezTo>
                    <a:cubicBezTo>
                      <a:pt x="264327" y="284946"/>
                      <a:pt x="247957" y="289817"/>
                      <a:pt x="231151" y="290091"/>
                    </a:cubicBezTo>
                    <a:cubicBezTo>
                      <a:pt x="214330" y="290365"/>
                      <a:pt x="196879" y="285607"/>
                      <a:pt x="184686" y="274221"/>
                    </a:cubicBezTo>
                    <a:cubicBezTo>
                      <a:pt x="176477" y="266576"/>
                      <a:pt x="170090" y="255738"/>
                      <a:pt x="159075" y="253141"/>
                    </a:cubicBezTo>
                    <a:cubicBezTo>
                      <a:pt x="155317" y="252238"/>
                      <a:pt x="151366" y="252464"/>
                      <a:pt x="147495" y="252674"/>
                    </a:cubicBezTo>
                    <a:cubicBezTo>
                      <a:pt x="132496" y="253512"/>
                      <a:pt x="117255" y="254399"/>
                      <a:pt x="103094" y="259222"/>
                    </a:cubicBezTo>
                    <a:cubicBezTo>
                      <a:pt x="87982" y="264383"/>
                      <a:pt x="74370" y="273963"/>
                      <a:pt x="58548" y="276446"/>
                    </a:cubicBezTo>
                    <a:cubicBezTo>
                      <a:pt x="35937" y="279995"/>
                      <a:pt x="11745" y="266479"/>
                      <a:pt x="3310" y="245626"/>
                    </a:cubicBezTo>
                    <a:cubicBezTo>
                      <a:pt x="-5126" y="224772"/>
                      <a:pt x="3084" y="198660"/>
                      <a:pt x="22018" y="186081"/>
                    </a:cubicBezTo>
                    <a:cubicBezTo>
                      <a:pt x="37017" y="176065"/>
                      <a:pt x="58242" y="173146"/>
                      <a:pt x="66951" y="157550"/>
                    </a:cubicBezTo>
                    <a:cubicBezTo>
                      <a:pt x="74273" y="144470"/>
                      <a:pt x="69322" y="127826"/>
                      <a:pt x="74418" y="113762"/>
                    </a:cubicBezTo>
                    <a:cubicBezTo>
                      <a:pt x="83273" y="89328"/>
                      <a:pt x="116239" y="83844"/>
                      <a:pt x="134302" y="64926"/>
                    </a:cubicBezTo>
                    <a:cubicBezTo>
                      <a:pt x="151785" y="46605"/>
                      <a:pt x="157720" y="21703"/>
                      <a:pt x="181267" y="8462"/>
                    </a:cubicBezTo>
                    <a:cubicBezTo>
                      <a:pt x="205911" y="-5360"/>
                      <a:pt x="241651" y="-1151"/>
                      <a:pt x="264875" y="13155"/>
                    </a:cubicBezTo>
                    <a:lnTo>
                      <a:pt x="264875" y="13155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3AC1D320-FC05-68F5-F14A-0F6F57D94378}"/>
                  </a:ext>
                </a:extLst>
              </p:cNvPr>
              <p:cNvSpPr/>
              <p:nvPr/>
            </p:nvSpPr>
            <p:spPr>
              <a:xfrm>
                <a:off x="4422313" y="2848507"/>
                <a:ext cx="326513" cy="326939"/>
              </a:xfrm>
              <a:custGeom>
                <a:avLst/>
                <a:gdLst>
                  <a:gd name="connsiteX0" fmla="*/ 213214 w 326513"/>
                  <a:gd name="connsiteY0" fmla="*/ 9941 h 326939"/>
                  <a:gd name="connsiteX1" fmla="*/ 288742 w 326513"/>
                  <a:gd name="connsiteY1" fmla="*/ 51762 h 326939"/>
                  <a:gd name="connsiteX2" fmla="*/ 326514 w 326513"/>
                  <a:gd name="connsiteY2" fmla="*/ 146143 h 326939"/>
                  <a:gd name="connsiteX3" fmla="*/ 276565 w 326513"/>
                  <a:gd name="connsiteY3" fmla="*/ 161675 h 326939"/>
                  <a:gd name="connsiteX4" fmla="*/ 250986 w 326513"/>
                  <a:gd name="connsiteY4" fmla="*/ 207075 h 326939"/>
                  <a:gd name="connsiteX5" fmla="*/ 250986 w 326513"/>
                  <a:gd name="connsiteY5" fmla="*/ 311005 h 326939"/>
                  <a:gd name="connsiteX6" fmla="*/ 52400 w 326513"/>
                  <a:gd name="connsiteY6" fmla="*/ 311005 h 326939"/>
                  <a:gd name="connsiteX7" fmla="*/ 46304 w 326513"/>
                  <a:gd name="connsiteY7" fmla="*/ 148530 h 326939"/>
                  <a:gd name="connsiteX8" fmla="*/ 0 w 326513"/>
                  <a:gd name="connsiteY8" fmla="*/ 129418 h 326939"/>
                  <a:gd name="connsiteX9" fmla="*/ 81624 w 326513"/>
                  <a:gd name="connsiteY9" fmla="*/ 9941 h 326939"/>
                  <a:gd name="connsiteX10" fmla="*/ 213197 w 326513"/>
                  <a:gd name="connsiteY10" fmla="*/ 9909 h 326939"/>
                  <a:gd name="connsiteX11" fmla="*/ 213197 w 326513"/>
                  <a:gd name="connsiteY11" fmla="*/ 9909 h 326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6513" h="326939">
                    <a:moveTo>
                      <a:pt x="213214" y="9941"/>
                    </a:moveTo>
                    <a:cubicBezTo>
                      <a:pt x="213214" y="9941"/>
                      <a:pt x="265614" y="21892"/>
                      <a:pt x="288742" y="51762"/>
                    </a:cubicBezTo>
                    <a:cubicBezTo>
                      <a:pt x="311869" y="81631"/>
                      <a:pt x="326514" y="146143"/>
                      <a:pt x="326514" y="146143"/>
                    </a:cubicBezTo>
                    <a:lnTo>
                      <a:pt x="276565" y="161675"/>
                    </a:lnTo>
                    <a:cubicBezTo>
                      <a:pt x="276565" y="161675"/>
                      <a:pt x="274113" y="197528"/>
                      <a:pt x="250986" y="207075"/>
                    </a:cubicBezTo>
                    <a:cubicBezTo>
                      <a:pt x="250986" y="207075"/>
                      <a:pt x="236374" y="263234"/>
                      <a:pt x="250986" y="311005"/>
                    </a:cubicBezTo>
                    <a:cubicBezTo>
                      <a:pt x="250986" y="311005"/>
                      <a:pt x="127928" y="346858"/>
                      <a:pt x="52400" y="311005"/>
                    </a:cubicBezTo>
                    <a:lnTo>
                      <a:pt x="46304" y="148530"/>
                    </a:lnTo>
                    <a:lnTo>
                      <a:pt x="0" y="129418"/>
                    </a:lnTo>
                    <a:cubicBezTo>
                      <a:pt x="0" y="129418"/>
                      <a:pt x="24353" y="25489"/>
                      <a:pt x="81624" y="9941"/>
                    </a:cubicBezTo>
                    <a:cubicBezTo>
                      <a:pt x="138863" y="-5590"/>
                      <a:pt x="181651" y="-816"/>
                      <a:pt x="213197" y="9909"/>
                    </a:cubicBezTo>
                    <a:lnTo>
                      <a:pt x="213197" y="9909"/>
                    </a:lnTo>
                    <a:close/>
                  </a:path>
                </a:pathLst>
              </a:custGeom>
              <a:solidFill>
                <a:schemeClr val="accent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34C77CDD-817D-57C4-E218-228C351AE20B}"/>
                  </a:ext>
                </a:extLst>
              </p:cNvPr>
              <p:cNvSpPr/>
              <p:nvPr/>
            </p:nvSpPr>
            <p:spPr>
              <a:xfrm>
                <a:off x="4682783" y="2969353"/>
                <a:ext cx="16909" cy="41666"/>
              </a:xfrm>
              <a:custGeom>
                <a:avLst/>
                <a:gdLst>
                  <a:gd name="connsiteX0" fmla="*/ 16079 w 16909"/>
                  <a:gd name="connsiteY0" fmla="*/ 41651 h 41666"/>
                  <a:gd name="connsiteX1" fmla="*/ 16079 w 16909"/>
                  <a:gd name="connsiteY1" fmla="*/ 41651 h 41666"/>
                  <a:gd name="connsiteX2" fmla="*/ 15240 w 16909"/>
                  <a:gd name="connsiteY2" fmla="*/ 40812 h 41666"/>
                  <a:gd name="connsiteX3" fmla="*/ 144 w 16909"/>
                  <a:gd name="connsiteY3" fmla="*/ 1282 h 41666"/>
                  <a:gd name="connsiteX4" fmla="*/ 370 w 16909"/>
                  <a:gd name="connsiteY4" fmla="*/ 137 h 41666"/>
                  <a:gd name="connsiteX5" fmla="*/ 1531 w 16909"/>
                  <a:gd name="connsiteY5" fmla="*/ 363 h 41666"/>
                  <a:gd name="connsiteX6" fmla="*/ 16901 w 16909"/>
                  <a:gd name="connsiteY6" fmla="*/ 40877 h 41666"/>
                  <a:gd name="connsiteX7" fmla="*/ 16062 w 16909"/>
                  <a:gd name="connsiteY7" fmla="*/ 41667 h 41666"/>
                  <a:gd name="connsiteX8" fmla="*/ 16062 w 16909"/>
                  <a:gd name="connsiteY8" fmla="*/ 41667 h 4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909" h="41666">
                    <a:moveTo>
                      <a:pt x="16079" y="41651"/>
                    </a:moveTo>
                    <a:lnTo>
                      <a:pt x="16079" y="41651"/>
                    </a:lnTo>
                    <a:cubicBezTo>
                      <a:pt x="15611" y="41651"/>
                      <a:pt x="15208" y="41264"/>
                      <a:pt x="15240" y="40812"/>
                    </a:cubicBezTo>
                    <a:cubicBezTo>
                      <a:pt x="15627" y="23748"/>
                      <a:pt x="321" y="1492"/>
                      <a:pt x="144" y="1282"/>
                    </a:cubicBezTo>
                    <a:cubicBezTo>
                      <a:pt x="-114" y="895"/>
                      <a:pt x="-17" y="379"/>
                      <a:pt x="370" y="137"/>
                    </a:cubicBezTo>
                    <a:cubicBezTo>
                      <a:pt x="757" y="-105"/>
                      <a:pt x="1289" y="-24"/>
                      <a:pt x="1531" y="363"/>
                    </a:cubicBezTo>
                    <a:cubicBezTo>
                      <a:pt x="2176" y="1298"/>
                      <a:pt x="17320" y="23297"/>
                      <a:pt x="16901" y="40877"/>
                    </a:cubicBezTo>
                    <a:cubicBezTo>
                      <a:pt x="16901" y="41312"/>
                      <a:pt x="16514" y="41667"/>
                      <a:pt x="16062" y="41667"/>
                    </a:cubicBezTo>
                    <a:lnTo>
                      <a:pt x="16062" y="41667"/>
                    </a:lnTo>
                    <a:close/>
                  </a:path>
                </a:pathLst>
              </a:custGeom>
              <a:solidFill>
                <a:srgbClr val="051C2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816A0A26-C5CD-31C2-B2F2-6F360583BE97}"/>
                  </a:ext>
                </a:extLst>
              </p:cNvPr>
              <p:cNvSpPr/>
              <p:nvPr/>
            </p:nvSpPr>
            <p:spPr>
              <a:xfrm>
                <a:off x="4528678" y="3011150"/>
                <a:ext cx="79072" cy="19869"/>
              </a:xfrm>
              <a:custGeom>
                <a:avLst/>
                <a:gdLst>
                  <a:gd name="connsiteX0" fmla="*/ 46094 w 79072"/>
                  <a:gd name="connsiteY0" fmla="*/ 19870 h 19869"/>
                  <a:gd name="connsiteX1" fmla="*/ 290 w 79072"/>
                  <a:gd name="connsiteY1" fmla="*/ 1467 h 19869"/>
                  <a:gd name="connsiteX2" fmla="*/ 209 w 79072"/>
                  <a:gd name="connsiteY2" fmla="*/ 290 h 19869"/>
                  <a:gd name="connsiteX3" fmla="*/ 1403 w 79072"/>
                  <a:gd name="connsiteY3" fmla="*/ 209 h 19869"/>
                  <a:gd name="connsiteX4" fmla="*/ 77705 w 79072"/>
                  <a:gd name="connsiteY4" fmla="*/ 8919 h 19869"/>
                  <a:gd name="connsiteX5" fmla="*/ 78898 w 79072"/>
                  <a:gd name="connsiteY5" fmla="*/ 9080 h 19869"/>
                  <a:gd name="connsiteX6" fmla="*/ 78737 w 79072"/>
                  <a:gd name="connsiteY6" fmla="*/ 10257 h 19869"/>
                  <a:gd name="connsiteX7" fmla="*/ 46078 w 79072"/>
                  <a:gd name="connsiteY7" fmla="*/ 19870 h 19869"/>
                  <a:gd name="connsiteX8" fmla="*/ 46078 w 79072"/>
                  <a:gd name="connsiteY8" fmla="*/ 19870 h 19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072" h="19869">
                    <a:moveTo>
                      <a:pt x="46094" y="19870"/>
                    </a:moveTo>
                    <a:cubicBezTo>
                      <a:pt x="33062" y="19870"/>
                      <a:pt x="17176" y="15612"/>
                      <a:pt x="290" y="1467"/>
                    </a:cubicBezTo>
                    <a:cubicBezTo>
                      <a:pt x="-65" y="1161"/>
                      <a:pt x="-97" y="645"/>
                      <a:pt x="209" y="290"/>
                    </a:cubicBezTo>
                    <a:cubicBezTo>
                      <a:pt x="516" y="-65"/>
                      <a:pt x="1048" y="-97"/>
                      <a:pt x="1403" y="209"/>
                    </a:cubicBezTo>
                    <a:cubicBezTo>
                      <a:pt x="42433" y="34643"/>
                      <a:pt x="77350" y="9193"/>
                      <a:pt x="77705" y="8919"/>
                    </a:cubicBezTo>
                    <a:cubicBezTo>
                      <a:pt x="78060" y="8644"/>
                      <a:pt x="78592" y="8693"/>
                      <a:pt x="78898" y="9080"/>
                    </a:cubicBezTo>
                    <a:cubicBezTo>
                      <a:pt x="79173" y="9435"/>
                      <a:pt x="79124" y="9951"/>
                      <a:pt x="78737" y="10257"/>
                    </a:cubicBezTo>
                    <a:cubicBezTo>
                      <a:pt x="78479" y="10386"/>
                      <a:pt x="65480" y="19870"/>
                      <a:pt x="46078" y="19870"/>
                    </a:cubicBezTo>
                    <a:lnTo>
                      <a:pt x="46078" y="19870"/>
                    </a:lnTo>
                    <a:close/>
                  </a:path>
                </a:pathLst>
              </a:custGeom>
              <a:solidFill>
                <a:srgbClr val="051C2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642F400E-4B4C-1CB1-8150-CF790C945437}"/>
                  </a:ext>
                </a:extLst>
              </p:cNvPr>
              <p:cNvSpPr/>
              <p:nvPr/>
            </p:nvSpPr>
            <p:spPr>
              <a:xfrm>
                <a:off x="4496416" y="2949054"/>
                <a:ext cx="29103" cy="61950"/>
              </a:xfrm>
              <a:custGeom>
                <a:avLst/>
                <a:gdLst>
                  <a:gd name="connsiteX0" fmla="*/ 9295 w 29103"/>
                  <a:gd name="connsiteY0" fmla="*/ 61950 h 61950"/>
                  <a:gd name="connsiteX1" fmla="*/ 9021 w 29103"/>
                  <a:gd name="connsiteY1" fmla="*/ 61902 h 61950"/>
                  <a:gd name="connsiteX2" fmla="*/ 554 w 29103"/>
                  <a:gd name="connsiteY2" fmla="*/ 58918 h 61950"/>
                  <a:gd name="connsiteX3" fmla="*/ 54 w 29103"/>
                  <a:gd name="connsiteY3" fmla="*/ 57854 h 61950"/>
                  <a:gd name="connsiteX4" fmla="*/ 1135 w 29103"/>
                  <a:gd name="connsiteY4" fmla="*/ 57370 h 61950"/>
                  <a:gd name="connsiteX5" fmla="*/ 8763 w 29103"/>
                  <a:gd name="connsiteY5" fmla="*/ 60080 h 61950"/>
                  <a:gd name="connsiteX6" fmla="*/ 27440 w 29103"/>
                  <a:gd name="connsiteY6" fmla="*/ 583 h 61950"/>
                  <a:gd name="connsiteX7" fmla="*/ 28504 w 29103"/>
                  <a:gd name="connsiteY7" fmla="*/ 35 h 61950"/>
                  <a:gd name="connsiteX8" fmla="*/ 29068 w 29103"/>
                  <a:gd name="connsiteY8" fmla="*/ 1067 h 61950"/>
                  <a:gd name="connsiteX9" fmla="*/ 10134 w 29103"/>
                  <a:gd name="connsiteY9" fmla="*/ 61402 h 61950"/>
                  <a:gd name="connsiteX10" fmla="*/ 9715 w 29103"/>
                  <a:gd name="connsiteY10" fmla="*/ 61886 h 61950"/>
                  <a:gd name="connsiteX11" fmla="*/ 9295 w 29103"/>
                  <a:gd name="connsiteY11" fmla="*/ 61934 h 61950"/>
                  <a:gd name="connsiteX12" fmla="*/ 9295 w 29103"/>
                  <a:gd name="connsiteY12" fmla="*/ 61934 h 6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03" h="61950">
                    <a:moveTo>
                      <a:pt x="9295" y="61950"/>
                    </a:moveTo>
                    <a:cubicBezTo>
                      <a:pt x="9183" y="61950"/>
                      <a:pt x="9102" y="61918"/>
                      <a:pt x="9021" y="61902"/>
                    </a:cubicBezTo>
                    <a:lnTo>
                      <a:pt x="554" y="58918"/>
                    </a:lnTo>
                    <a:cubicBezTo>
                      <a:pt x="102" y="58757"/>
                      <a:pt x="-107" y="58289"/>
                      <a:pt x="54" y="57854"/>
                    </a:cubicBezTo>
                    <a:cubicBezTo>
                      <a:pt x="215" y="57418"/>
                      <a:pt x="699" y="57193"/>
                      <a:pt x="1135" y="57370"/>
                    </a:cubicBezTo>
                    <a:lnTo>
                      <a:pt x="8763" y="60080"/>
                    </a:lnTo>
                    <a:lnTo>
                      <a:pt x="27440" y="583"/>
                    </a:lnTo>
                    <a:cubicBezTo>
                      <a:pt x="27585" y="148"/>
                      <a:pt x="28020" y="-94"/>
                      <a:pt x="28504" y="35"/>
                    </a:cubicBezTo>
                    <a:cubicBezTo>
                      <a:pt x="28956" y="164"/>
                      <a:pt x="29197" y="631"/>
                      <a:pt x="29068" y="1067"/>
                    </a:cubicBezTo>
                    <a:lnTo>
                      <a:pt x="10134" y="61402"/>
                    </a:lnTo>
                    <a:cubicBezTo>
                      <a:pt x="10086" y="61628"/>
                      <a:pt x="9908" y="61805"/>
                      <a:pt x="9715" y="61886"/>
                    </a:cubicBezTo>
                    <a:cubicBezTo>
                      <a:pt x="9553" y="61918"/>
                      <a:pt x="9441" y="61934"/>
                      <a:pt x="9295" y="61934"/>
                    </a:cubicBezTo>
                    <a:lnTo>
                      <a:pt x="9295" y="61934"/>
                    </a:lnTo>
                    <a:close/>
                  </a:path>
                </a:pathLst>
              </a:custGeom>
              <a:solidFill>
                <a:srgbClr val="051C2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5172D425-9B2B-10C2-4947-BFCFDAEA6ED5}"/>
                  </a:ext>
                </a:extLst>
              </p:cNvPr>
              <p:cNvSpPr/>
              <p:nvPr/>
            </p:nvSpPr>
            <p:spPr>
              <a:xfrm>
                <a:off x="4694927" y="2765149"/>
                <a:ext cx="15694" cy="20399"/>
              </a:xfrm>
              <a:custGeom>
                <a:avLst/>
                <a:gdLst>
                  <a:gd name="connsiteX0" fmla="*/ 2597 w 15694"/>
                  <a:gd name="connsiteY0" fmla="*/ 3723 h 20399"/>
                  <a:gd name="connsiteX1" fmla="*/ 13032 w 15694"/>
                  <a:gd name="connsiteY1" fmla="*/ 1369 h 20399"/>
                  <a:gd name="connsiteX2" fmla="*/ 0 w 15694"/>
                  <a:gd name="connsiteY2" fmla="*/ 20400 h 20399"/>
                  <a:gd name="connsiteX3" fmla="*/ 2597 w 15694"/>
                  <a:gd name="connsiteY3" fmla="*/ 3723 h 20399"/>
                  <a:gd name="connsiteX4" fmla="*/ 2597 w 15694"/>
                  <a:gd name="connsiteY4" fmla="*/ 3723 h 2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94" h="20399">
                    <a:moveTo>
                      <a:pt x="2597" y="3723"/>
                    </a:moveTo>
                    <a:cubicBezTo>
                      <a:pt x="2597" y="3723"/>
                      <a:pt x="9725" y="-2744"/>
                      <a:pt x="13032" y="1369"/>
                    </a:cubicBezTo>
                    <a:cubicBezTo>
                      <a:pt x="21547" y="11852"/>
                      <a:pt x="7580" y="19771"/>
                      <a:pt x="0" y="20400"/>
                    </a:cubicBezTo>
                    <a:lnTo>
                      <a:pt x="2597" y="3723"/>
                    </a:lnTo>
                    <a:lnTo>
                      <a:pt x="2597" y="3723"/>
                    </a:lnTo>
                    <a:close/>
                  </a:path>
                </a:pathLst>
              </a:custGeom>
              <a:solidFill>
                <a:srgbClr val="DAA97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949446F5-6448-9914-A44A-199851047F78}"/>
                  </a:ext>
                </a:extLst>
              </p:cNvPr>
              <p:cNvSpPr/>
              <p:nvPr/>
            </p:nvSpPr>
            <p:spPr>
              <a:xfrm>
                <a:off x="4577433" y="2658646"/>
                <a:ext cx="131930" cy="213714"/>
              </a:xfrm>
              <a:custGeom>
                <a:avLst/>
                <a:gdLst>
                  <a:gd name="connsiteX0" fmla="*/ 77141 w 131930"/>
                  <a:gd name="connsiteY0" fmla="*/ 942 h 213714"/>
                  <a:gd name="connsiteX1" fmla="*/ 2775 w 131930"/>
                  <a:gd name="connsiteY1" fmla="*/ 46101 h 213714"/>
                  <a:gd name="connsiteX2" fmla="*/ 1081 w 131930"/>
                  <a:gd name="connsiteY2" fmla="*/ 76373 h 213714"/>
                  <a:gd name="connsiteX3" fmla="*/ 13387 w 131930"/>
                  <a:gd name="connsiteY3" fmla="*/ 134741 h 213714"/>
                  <a:gd name="connsiteX4" fmla="*/ 13548 w 131930"/>
                  <a:gd name="connsiteY4" fmla="*/ 181867 h 213714"/>
                  <a:gd name="connsiteX5" fmla="*/ 11064 w 131930"/>
                  <a:gd name="connsiteY5" fmla="*/ 187932 h 213714"/>
                  <a:gd name="connsiteX6" fmla="*/ 16080 w 131930"/>
                  <a:gd name="connsiteY6" fmla="*/ 203657 h 213714"/>
                  <a:gd name="connsiteX7" fmla="*/ 52530 w 131930"/>
                  <a:gd name="connsiteY7" fmla="*/ 213043 h 213714"/>
                  <a:gd name="connsiteX8" fmla="*/ 62497 w 131930"/>
                  <a:gd name="connsiteY8" fmla="*/ 203576 h 213714"/>
                  <a:gd name="connsiteX9" fmla="*/ 69964 w 131930"/>
                  <a:gd name="connsiteY9" fmla="*/ 173320 h 213714"/>
                  <a:gd name="connsiteX10" fmla="*/ 69964 w 131930"/>
                  <a:gd name="connsiteY10" fmla="*/ 173320 h 213714"/>
                  <a:gd name="connsiteX11" fmla="*/ 129461 w 131930"/>
                  <a:gd name="connsiteY11" fmla="*/ 82325 h 213714"/>
                  <a:gd name="connsiteX12" fmla="*/ 129412 w 131930"/>
                  <a:gd name="connsiteY12" fmla="*/ 82325 h 213714"/>
                  <a:gd name="connsiteX13" fmla="*/ 130074 w 131930"/>
                  <a:gd name="connsiteY13" fmla="*/ 79889 h 213714"/>
                  <a:gd name="connsiteX14" fmla="*/ 77157 w 131930"/>
                  <a:gd name="connsiteY14" fmla="*/ 926 h 213714"/>
                  <a:gd name="connsiteX15" fmla="*/ 77157 w 131930"/>
                  <a:gd name="connsiteY15" fmla="*/ 926 h 21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930" h="213714">
                    <a:moveTo>
                      <a:pt x="77141" y="942"/>
                    </a:moveTo>
                    <a:cubicBezTo>
                      <a:pt x="44514" y="-4622"/>
                      <a:pt x="12274" y="14974"/>
                      <a:pt x="2775" y="46101"/>
                    </a:cubicBezTo>
                    <a:cubicBezTo>
                      <a:pt x="-338" y="56342"/>
                      <a:pt x="-725" y="66664"/>
                      <a:pt x="1081" y="76373"/>
                    </a:cubicBezTo>
                    <a:cubicBezTo>
                      <a:pt x="4500" y="100372"/>
                      <a:pt x="7452" y="119726"/>
                      <a:pt x="13387" y="134741"/>
                    </a:cubicBezTo>
                    <a:cubicBezTo>
                      <a:pt x="19370" y="149950"/>
                      <a:pt x="19709" y="166739"/>
                      <a:pt x="13548" y="181867"/>
                    </a:cubicBezTo>
                    <a:lnTo>
                      <a:pt x="11064" y="187932"/>
                    </a:lnTo>
                    <a:cubicBezTo>
                      <a:pt x="8726" y="193673"/>
                      <a:pt x="10839" y="200237"/>
                      <a:pt x="16080" y="203657"/>
                    </a:cubicBezTo>
                    <a:cubicBezTo>
                      <a:pt x="32289" y="214253"/>
                      <a:pt x="44869" y="214575"/>
                      <a:pt x="52530" y="213043"/>
                    </a:cubicBezTo>
                    <a:cubicBezTo>
                      <a:pt x="57433" y="212059"/>
                      <a:pt x="61303" y="208350"/>
                      <a:pt x="62497" y="203576"/>
                    </a:cubicBezTo>
                    <a:lnTo>
                      <a:pt x="69964" y="173320"/>
                    </a:lnTo>
                    <a:lnTo>
                      <a:pt x="69964" y="173320"/>
                    </a:lnTo>
                    <a:cubicBezTo>
                      <a:pt x="111478" y="178174"/>
                      <a:pt x="124106" y="103888"/>
                      <a:pt x="129461" y="82325"/>
                    </a:cubicBezTo>
                    <a:lnTo>
                      <a:pt x="129412" y="82325"/>
                    </a:lnTo>
                    <a:cubicBezTo>
                      <a:pt x="129638" y="81534"/>
                      <a:pt x="129880" y="80712"/>
                      <a:pt x="130074" y="79889"/>
                    </a:cubicBezTo>
                    <a:cubicBezTo>
                      <a:pt x="138960" y="43795"/>
                      <a:pt x="115075" y="7426"/>
                      <a:pt x="77157" y="926"/>
                    </a:cubicBezTo>
                    <a:lnTo>
                      <a:pt x="77157" y="926"/>
                    </a:lnTo>
                    <a:close/>
                  </a:path>
                </a:pathLst>
              </a:custGeom>
              <a:solidFill>
                <a:srgbClr val="DAA97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6D15EBFD-029A-3815-EFD7-FEC569712A07}"/>
                  </a:ext>
                </a:extLst>
              </p:cNvPr>
              <p:cNvSpPr/>
              <p:nvPr/>
            </p:nvSpPr>
            <p:spPr>
              <a:xfrm>
                <a:off x="4565654" y="2654150"/>
                <a:ext cx="144816" cy="115190"/>
              </a:xfrm>
              <a:custGeom>
                <a:avLst/>
                <a:gdLst>
                  <a:gd name="connsiteX0" fmla="*/ 68502 w 144816"/>
                  <a:gd name="connsiteY0" fmla="*/ 68306 h 115190"/>
                  <a:gd name="connsiteX1" fmla="*/ 40778 w 144816"/>
                  <a:gd name="connsiteY1" fmla="*/ 88515 h 115190"/>
                  <a:gd name="connsiteX2" fmla="*/ 16973 w 144816"/>
                  <a:gd name="connsiteY2" fmla="*/ 115191 h 115190"/>
                  <a:gd name="connsiteX3" fmla="*/ 1941 w 144816"/>
                  <a:gd name="connsiteY3" fmla="*/ 78903 h 115190"/>
                  <a:gd name="connsiteX4" fmla="*/ 167 w 144816"/>
                  <a:gd name="connsiteY4" fmla="*/ 60726 h 115190"/>
                  <a:gd name="connsiteX5" fmla="*/ 9263 w 144816"/>
                  <a:gd name="connsiteY5" fmla="*/ 36534 h 115190"/>
                  <a:gd name="connsiteX6" fmla="*/ 29472 w 144816"/>
                  <a:gd name="connsiteY6" fmla="*/ 9939 h 115190"/>
                  <a:gd name="connsiteX7" fmla="*/ 50438 w 144816"/>
                  <a:gd name="connsiteY7" fmla="*/ 2020 h 115190"/>
                  <a:gd name="connsiteX8" fmla="*/ 102387 w 144816"/>
                  <a:gd name="connsiteY8" fmla="*/ 5616 h 115190"/>
                  <a:gd name="connsiteX9" fmla="*/ 139740 w 144816"/>
                  <a:gd name="connsiteY9" fmla="*/ 40227 h 115190"/>
                  <a:gd name="connsiteX10" fmla="*/ 139853 w 144816"/>
                  <a:gd name="connsiteY10" fmla="*/ 105885 h 115190"/>
                  <a:gd name="connsiteX11" fmla="*/ 131563 w 144816"/>
                  <a:gd name="connsiteY11" fmla="*/ 78854 h 115190"/>
                  <a:gd name="connsiteX12" fmla="*/ 121757 w 144816"/>
                  <a:gd name="connsiteY12" fmla="*/ 63162 h 115190"/>
                  <a:gd name="connsiteX13" fmla="*/ 98565 w 144816"/>
                  <a:gd name="connsiteY13" fmla="*/ 42243 h 115190"/>
                  <a:gd name="connsiteX14" fmla="*/ 68502 w 144816"/>
                  <a:gd name="connsiteY14" fmla="*/ 68290 h 115190"/>
                  <a:gd name="connsiteX15" fmla="*/ 68502 w 144816"/>
                  <a:gd name="connsiteY15" fmla="*/ 68290 h 115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4816" h="115190">
                    <a:moveTo>
                      <a:pt x="68502" y="68306"/>
                    </a:moveTo>
                    <a:cubicBezTo>
                      <a:pt x="58728" y="74290"/>
                      <a:pt x="49745" y="81419"/>
                      <a:pt x="40778" y="88515"/>
                    </a:cubicBezTo>
                    <a:cubicBezTo>
                      <a:pt x="31278" y="96031"/>
                      <a:pt x="21424" y="104046"/>
                      <a:pt x="16973" y="115191"/>
                    </a:cubicBezTo>
                    <a:cubicBezTo>
                      <a:pt x="8489" y="104982"/>
                      <a:pt x="4699" y="91821"/>
                      <a:pt x="1941" y="78903"/>
                    </a:cubicBezTo>
                    <a:cubicBezTo>
                      <a:pt x="667" y="72919"/>
                      <a:pt x="-430" y="66807"/>
                      <a:pt x="167" y="60726"/>
                    </a:cubicBezTo>
                    <a:cubicBezTo>
                      <a:pt x="1006" y="52098"/>
                      <a:pt x="5183" y="44179"/>
                      <a:pt x="9263" y="36534"/>
                    </a:cubicBezTo>
                    <a:cubicBezTo>
                      <a:pt x="14553" y="26631"/>
                      <a:pt x="20150" y="16358"/>
                      <a:pt x="29472" y="9939"/>
                    </a:cubicBezTo>
                    <a:cubicBezTo>
                      <a:pt x="35649" y="5681"/>
                      <a:pt x="43036" y="3471"/>
                      <a:pt x="50438" y="2020"/>
                    </a:cubicBezTo>
                    <a:cubicBezTo>
                      <a:pt x="67696" y="-1367"/>
                      <a:pt x="86017" y="-706"/>
                      <a:pt x="102387" y="5616"/>
                    </a:cubicBezTo>
                    <a:cubicBezTo>
                      <a:pt x="118757" y="11939"/>
                      <a:pt x="132982" y="24293"/>
                      <a:pt x="139740" y="40227"/>
                    </a:cubicBezTo>
                    <a:cubicBezTo>
                      <a:pt x="148449" y="60758"/>
                      <a:pt x="144223" y="84080"/>
                      <a:pt x="139853" y="105885"/>
                    </a:cubicBezTo>
                    <a:cubicBezTo>
                      <a:pt x="139853" y="96418"/>
                      <a:pt x="135676" y="87451"/>
                      <a:pt x="131563" y="78854"/>
                    </a:cubicBezTo>
                    <a:cubicBezTo>
                      <a:pt x="128886" y="73258"/>
                      <a:pt x="126160" y="67581"/>
                      <a:pt x="121757" y="63162"/>
                    </a:cubicBezTo>
                    <a:cubicBezTo>
                      <a:pt x="114274" y="55630"/>
                      <a:pt x="111516" y="56226"/>
                      <a:pt x="98565" y="42243"/>
                    </a:cubicBezTo>
                    <a:cubicBezTo>
                      <a:pt x="91243" y="54646"/>
                      <a:pt x="80743" y="60839"/>
                      <a:pt x="68502" y="68290"/>
                    </a:cubicBezTo>
                    <a:lnTo>
                      <a:pt x="68502" y="6829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D6099F38-C219-6B7F-78C1-873601BBC585}"/>
                  </a:ext>
                </a:extLst>
              </p:cNvPr>
              <p:cNvSpPr/>
              <p:nvPr/>
            </p:nvSpPr>
            <p:spPr>
              <a:xfrm>
                <a:off x="4568133" y="2747350"/>
                <a:ext cx="26370" cy="26449"/>
              </a:xfrm>
              <a:custGeom>
                <a:avLst/>
                <a:gdLst>
                  <a:gd name="connsiteX0" fmla="*/ 25573 w 26370"/>
                  <a:gd name="connsiteY0" fmla="*/ 9943 h 26449"/>
                  <a:gd name="connsiteX1" fmla="*/ 21670 w 26370"/>
                  <a:gd name="connsiteY1" fmla="*/ 4314 h 26449"/>
                  <a:gd name="connsiteX2" fmla="*/ 3688 w 26370"/>
                  <a:gd name="connsiteY2" fmla="*/ 1750 h 26449"/>
                  <a:gd name="connsiteX3" fmla="*/ 22864 w 26370"/>
                  <a:gd name="connsiteY3" fmla="*/ 25362 h 26449"/>
                  <a:gd name="connsiteX4" fmla="*/ 25557 w 26370"/>
                  <a:gd name="connsiteY4" fmla="*/ 9943 h 26449"/>
                  <a:gd name="connsiteX5" fmla="*/ 25557 w 26370"/>
                  <a:gd name="connsiteY5" fmla="*/ 9943 h 26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370" h="26449">
                    <a:moveTo>
                      <a:pt x="25573" y="9943"/>
                    </a:moveTo>
                    <a:cubicBezTo>
                      <a:pt x="25041" y="7669"/>
                      <a:pt x="23622" y="5685"/>
                      <a:pt x="21670" y="4314"/>
                    </a:cubicBezTo>
                    <a:cubicBezTo>
                      <a:pt x="17687" y="1508"/>
                      <a:pt x="10332" y="-2266"/>
                      <a:pt x="3688" y="1750"/>
                    </a:cubicBezTo>
                    <a:cubicBezTo>
                      <a:pt x="-6086" y="7588"/>
                      <a:pt x="4687" y="31829"/>
                      <a:pt x="22864" y="25362"/>
                    </a:cubicBezTo>
                    <a:cubicBezTo>
                      <a:pt x="22832" y="25362"/>
                      <a:pt x="28412" y="22023"/>
                      <a:pt x="25557" y="9943"/>
                    </a:cubicBezTo>
                    <a:lnTo>
                      <a:pt x="25557" y="9943"/>
                    </a:lnTo>
                    <a:close/>
                  </a:path>
                </a:pathLst>
              </a:custGeom>
              <a:solidFill>
                <a:srgbClr val="DAA97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00225F2C-B135-58D1-99CB-E4346D1ACDF2}"/>
                  </a:ext>
                </a:extLst>
              </p:cNvPr>
              <p:cNvSpPr/>
              <p:nvPr/>
            </p:nvSpPr>
            <p:spPr>
              <a:xfrm>
                <a:off x="4675549" y="2759450"/>
                <a:ext cx="11514" cy="11296"/>
              </a:xfrm>
              <a:custGeom>
                <a:avLst/>
                <a:gdLst>
                  <a:gd name="connsiteX0" fmla="*/ 11200 w 11514"/>
                  <a:gd name="connsiteY0" fmla="*/ 7487 h 11296"/>
                  <a:gd name="connsiteX1" fmla="*/ 7636 w 11514"/>
                  <a:gd name="connsiteY1" fmla="*/ 310 h 11296"/>
                  <a:gd name="connsiteX2" fmla="*/ 314 w 11514"/>
                  <a:gd name="connsiteY2" fmla="*/ 3810 h 11296"/>
                  <a:gd name="connsiteX3" fmla="*/ 3878 w 11514"/>
                  <a:gd name="connsiteY3" fmla="*/ 10987 h 11296"/>
                  <a:gd name="connsiteX4" fmla="*/ 11200 w 11514"/>
                  <a:gd name="connsiteY4" fmla="*/ 7487 h 11296"/>
                  <a:gd name="connsiteX5" fmla="*/ 11200 w 11514"/>
                  <a:gd name="connsiteY5" fmla="*/ 7487 h 11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14" h="11296">
                    <a:moveTo>
                      <a:pt x="11200" y="7487"/>
                    </a:moveTo>
                    <a:cubicBezTo>
                      <a:pt x="12233" y="4535"/>
                      <a:pt x="10636" y="1310"/>
                      <a:pt x="7636" y="310"/>
                    </a:cubicBezTo>
                    <a:cubicBezTo>
                      <a:pt x="4636" y="-706"/>
                      <a:pt x="1346" y="858"/>
                      <a:pt x="314" y="3810"/>
                    </a:cubicBezTo>
                    <a:cubicBezTo>
                      <a:pt x="-718" y="6761"/>
                      <a:pt x="878" y="9987"/>
                      <a:pt x="3878" y="10987"/>
                    </a:cubicBezTo>
                    <a:cubicBezTo>
                      <a:pt x="6878" y="12003"/>
                      <a:pt x="10168" y="10438"/>
                      <a:pt x="11200" y="7487"/>
                    </a:cubicBezTo>
                    <a:lnTo>
                      <a:pt x="11200" y="7487"/>
                    </a:lnTo>
                    <a:close/>
                  </a:path>
                </a:pathLst>
              </a:custGeom>
              <a:solidFill>
                <a:srgbClr val="051C2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0223D766-7909-8FDB-079E-4A9CF3E5F3E4}"/>
                  </a:ext>
                </a:extLst>
              </p:cNvPr>
              <p:cNvSpPr/>
              <p:nvPr/>
            </p:nvSpPr>
            <p:spPr>
              <a:xfrm>
                <a:off x="4621311" y="2752709"/>
                <a:ext cx="11514" cy="11290"/>
              </a:xfrm>
              <a:custGeom>
                <a:avLst/>
                <a:gdLst>
                  <a:gd name="connsiteX0" fmla="*/ 11200 w 11514"/>
                  <a:gd name="connsiteY0" fmla="*/ 7487 h 11290"/>
                  <a:gd name="connsiteX1" fmla="*/ 7636 w 11514"/>
                  <a:gd name="connsiteY1" fmla="*/ 310 h 11290"/>
                  <a:gd name="connsiteX2" fmla="*/ 314 w 11514"/>
                  <a:gd name="connsiteY2" fmla="*/ 3810 h 11290"/>
                  <a:gd name="connsiteX3" fmla="*/ 3878 w 11514"/>
                  <a:gd name="connsiteY3" fmla="*/ 10987 h 11290"/>
                  <a:gd name="connsiteX4" fmla="*/ 11200 w 11514"/>
                  <a:gd name="connsiteY4" fmla="*/ 7487 h 11290"/>
                  <a:gd name="connsiteX5" fmla="*/ 11200 w 11514"/>
                  <a:gd name="connsiteY5" fmla="*/ 7487 h 11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14" h="11290">
                    <a:moveTo>
                      <a:pt x="11200" y="7487"/>
                    </a:moveTo>
                    <a:cubicBezTo>
                      <a:pt x="12233" y="4535"/>
                      <a:pt x="10636" y="1310"/>
                      <a:pt x="7636" y="310"/>
                    </a:cubicBezTo>
                    <a:cubicBezTo>
                      <a:pt x="4636" y="-706"/>
                      <a:pt x="1346" y="858"/>
                      <a:pt x="314" y="3810"/>
                    </a:cubicBezTo>
                    <a:cubicBezTo>
                      <a:pt x="-718" y="6761"/>
                      <a:pt x="878" y="9987"/>
                      <a:pt x="3878" y="10987"/>
                    </a:cubicBezTo>
                    <a:cubicBezTo>
                      <a:pt x="6878" y="11987"/>
                      <a:pt x="10168" y="10438"/>
                      <a:pt x="11200" y="7487"/>
                    </a:cubicBezTo>
                    <a:lnTo>
                      <a:pt x="11200" y="7487"/>
                    </a:lnTo>
                    <a:close/>
                  </a:path>
                </a:pathLst>
              </a:custGeom>
              <a:solidFill>
                <a:srgbClr val="051C2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83FC4A6C-B177-BE0B-50ED-18C17AC07EB3}"/>
                  </a:ext>
                </a:extLst>
              </p:cNvPr>
              <p:cNvSpPr/>
              <p:nvPr/>
            </p:nvSpPr>
            <p:spPr>
              <a:xfrm>
                <a:off x="4630831" y="2795917"/>
                <a:ext cx="35356" cy="12009"/>
              </a:xfrm>
              <a:custGeom>
                <a:avLst/>
                <a:gdLst>
                  <a:gd name="connsiteX0" fmla="*/ 22953 w 35356"/>
                  <a:gd name="connsiteY0" fmla="*/ 12002 h 12009"/>
                  <a:gd name="connsiteX1" fmla="*/ 213 w 35356"/>
                  <a:gd name="connsiteY1" fmla="*/ 1325 h 12009"/>
                  <a:gd name="connsiteX2" fmla="*/ 261 w 35356"/>
                  <a:gd name="connsiteY2" fmla="*/ 213 h 12009"/>
                  <a:gd name="connsiteX3" fmla="*/ 1406 w 35356"/>
                  <a:gd name="connsiteY3" fmla="*/ 261 h 12009"/>
                  <a:gd name="connsiteX4" fmla="*/ 34066 w 35356"/>
                  <a:gd name="connsiteY4" fmla="*/ 6567 h 12009"/>
                  <a:gd name="connsiteX5" fmla="*/ 35211 w 35356"/>
                  <a:gd name="connsiteY5" fmla="*/ 6761 h 12009"/>
                  <a:gd name="connsiteX6" fmla="*/ 35017 w 35356"/>
                  <a:gd name="connsiteY6" fmla="*/ 7874 h 12009"/>
                  <a:gd name="connsiteX7" fmla="*/ 22969 w 35356"/>
                  <a:gd name="connsiteY7" fmla="*/ 12002 h 12009"/>
                  <a:gd name="connsiteX8" fmla="*/ 22969 w 35356"/>
                  <a:gd name="connsiteY8" fmla="*/ 12002 h 12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356" h="12009">
                    <a:moveTo>
                      <a:pt x="22953" y="12002"/>
                    </a:moveTo>
                    <a:cubicBezTo>
                      <a:pt x="10422" y="12325"/>
                      <a:pt x="342" y="1487"/>
                      <a:pt x="213" y="1325"/>
                    </a:cubicBezTo>
                    <a:cubicBezTo>
                      <a:pt x="-94" y="1003"/>
                      <a:pt x="-62" y="503"/>
                      <a:pt x="261" y="213"/>
                    </a:cubicBezTo>
                    <a:cubicBezTo>
                      <a:pt x="600" y="-94"/>
                      <a:pt x="1100" y="-62"/>
                      <a:pt x="1406" y="261"/>
                    </a:cubicBezTo>
                    <a:cubicBezTo>
                      <a:pt x="2067" y="1003"/>
                      <a:pt x="17808" y="17873"/>
                      <a:pt x="34066" y="6567"/>
                    </a:cubicBezTo>
                    <a:cubicBezTo>
                      <a:pt x="34420" y="6325"/>
                      <a:pt x="34936" y="6406"/>
                      <a:pt x="35211" y="6761"/>
                    </a:cubicBezTo>
                    <a:cubicBezTo>
                      <a:pt x="35469" y="7115"/>
                      <a:pt x="35372" y="7599"/>
                      <a:pt x="35017" y="7874"/>
                    </a:cubicBezTo>
                    <a:cubicBezTo>
                      <a:pt x="30904" y="10744"/>
                      <a:pt x="26808" y="11889"/>
                      <a:pt x="22969" y="12002"/>
                    </a:cubicBezTo>
                    <a:lnTo>
                      <a:pt x="22969" y="12002"/>
                    </a:lnTo>
                    <a:close/>
                  </a:path>
                </a:pathLst>
              </a:custGeom>
              <a:solidFill>
                <a:srgbClr val="051C2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3B3312C0-BA98-1B8A-0B36-DB72C08DDC2D}"/>
                  </a:ext>
                </a:extLst>
              </p:cNvPr>
              <p:cNvSpPr/>
              <p:nvPr/>
            </p:nvSpPr>
            <p:spPr>
              <a:xfrm>
                <a:off x="4648757" y="2758790"/>
                <a:ext cx="13867" cy="27193"/>
              </a:xfrm>
              <a:custGeom>
                <a:avLst/>
                <a:gdLst>
                  <a:gd name="connsiteX0" fmla="*/ 6366 w 13867"/>
                  <a:gd name="connsiteY0" fmla="*/ 27114 h 27193"/>
                  <a:gd name="connsiteX1" fmla="*/ 608 w 13867"/>
                  <a:gd name="connsiteY1" fmla="*/ 26517 h 27193"/>
                  <a:gd name="connsiteX2" fmla="*/ 28 w 13867"/>
                  <a:gd name="connsiteY2" fmla="*/ 25485 h 27193"/>
                  <a:gd name="connsiteX3" fmla="*/ 1092 w 13867"/>
                  <a:gd name="connsiteY3" fmla="*/ 24904 h 27193"/>
                  <a:gd name="connsiteX4" fmla="*/ 12091 w 13867"/>
                  <a:gd name="connsiteY4" fmla="*/ 21162 h 27193"/>
                  <a:gd name="connsiteX5" fmla="*/ 11124 w 13867"/>
                  <a:gd name="connsiteY5" fmla="*/ 583 h 27193"/>
                  <a:gd name="connsiteX6" fmla="*/ 12188 w 13867"/>
                  <a:gd name="connsiteY6" fmla="*/ 35 h 27193"/>
                  <a:gd name="connsiteX7" fmla="*/ 12753 w 13867"/>
                  <a:gd name="connsiteY7" fmla="*/ 1067 h 27193"/>
                  <a:gd name="connsiteX8" fmla="*/ 13785 w 13867"/>
                  <a:gd name="connsiteY8" fmla="*/ 20759 h 27193"/>
                  <a:gd name="connsiteX9" fmla="*/ 13833 w 13867"/>
                  <a:gd name="connsiteY9" fmla="*/ 21356 h 27193"/>
                  <a:gd name="connsiteX10" fmla="*/ 6398 w 13867"/>
                  <a:gd name="connsiteY10" fmla="*/ 27114 h 27193"/>
                  <a:gd name="connsiteX11" fmla="*/ 6398 w 13867"/>
                  <a:gd name="connsiteY11" fmla="*/ 27114 h 27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867" h="27193">
                    <a:moveTo>
                      <a:pt x="6366" y="27114"/>
                    </a:moveTo>
                    <a:cubicBezTo>
                      <a:pt x="4785" y="27307"/>
                      <a:pt x="2866" y="27162"/>
                      <a:pt x="608" y="26517"/>
                    </a:cubicBezTo>
                    <a:cubicBezTo>
                      <a:pt x="157" y="26388"/>
                      <a:pt x="-85" y="25920"/>
                      <a:pt x="28" y="25485"/>
                    </a:cubicBezTo>
                    <a:cubicBezTo>
                      <a:pt x="173" y="25049"/>
                      <a:pt x="640" y="24807"/>
                      <a:pt x="1092" y="24904"/>
                    </a:cubicBezTo>
                    <a:cubicBezTo>
                      <a:pt x="8946" y="27178"/>
                      <a:pt x="11559" y="22453"/>
                      <a:pt x="12091" y="21162"/>
                    </a:cubicBezTo>
                    <a:cubicBezTo>
                      <a:pt x="7640" y="11711"/>
                      <a:pt x="10979" y="1035"/>
                      <a:pt x="11124" y="583"/>
                    </a:cubicBezTo>
                    <a:cubicBezTo>
                      <a:pt x="11269" y="148"/>
                      <a:pt x="11737" y="-94"/>
                      <a:pt x="12188" y="35"/>
                    </a:cubicBezTo>
                    <a:cubicBezTo>
                      <a:pt x="12640" y="164"/>
                      <a:pt x="12882" y="631"/>
                      <a:pt x="12753" y="1067"/>
                    </a:cubicBezTo>
                    <a:cubicBezTo>
                      <a:pt x="12720" y="1180"/>
                      <a:pt x="9382" y="11824"/>
                      <a:pt x="13785" y="20759"/>
                    </a:cubicBezTo>
                    <a:cubicBezTo>
                      <a:pt x="13865" y="20953"/>
                      <a:pt x="13898" y="21162"/>
                      <a:pt x="13833" y="21356"/>
                    </a:cubicBezTo>
                    <a:cubicBezTo>
                      <a:pt x="13833" y="21469"/>
                      <a:pt x="12140" y="26436"/>
                      <a:pt x="6398" y="27114"/>
                    </a:cubicBezTo>
                    <a:lnTo>
                      <a:pt x="6398" y="27114"/>
                    </a:lnTo>
                    <a:close/>
                  </a:path>
                </a:pathLst>
              </a:custGeom>
              <a:solidFill>
                <a:srgbClr val="051C2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9C42C94-4C69-C804-F96B-C2B0AB9CF59F}"/>
                  </a:ext>
                </a:extLst>
              </p:cNvPr>
              <p:cNvSpPr/>
              <p:nvPr/>
            </p:nvSpPr>
            <p:spPr>
              <a:xfrm>
                <a:off x="4790461" y="2930099"/>
                <a:ext cx="56411" cy="55725"/>
              </a:xfrm>
              <a:custGeom>
                <a:avLst/>
                <a:gdLst>
                  <a:gd name="connsiteX0" fmla="*/ 3589 w 56411"/>
                  <a:gd name="connsiteY0" fmla="*/ 41569 h 55725"/>
                  <a:gd name="connsiteX1" fmla="*/ 912 w 56411"/>
                  <a:gd name="connsiteY1" fmla="*/ 31602 h 55725"/>
                  <a:gd name="connsiteX2" fmla="*/ 19895 w 56411"/>
                  <a:gd name="connsiteY2" fmla="*/ 7829 h 55725"/>
                  <a:gd name="connsiteX3" fmla="*/ 39571 w 56411"/>
                  <a:gd name="connsiteY3" fmla="*/ 2232 h 55725"/>
                  <a:gd name="connsiteX4" fmla="*/ 44603 w 56411"/>
                  <a:gd name="connsiteY4" fmla="*/ 1168 h 55725"/>
                  <a:gd name="connsiteX5" fmla="*/ 44603 w 56411"/>
                  <a:gd name="connsiteY5" fmla="*/ 1168 h 55725"/>
                  <a:gd name="connsiteX6" fmla="*/ 56409 w 56411"/>
                  <a:gd name="connsiteY6" fmla="*/ 7861 h 55725"/>
                  <a:gd name="connsiteX7" fmla="*/ 30830 w 56411"/>
                  <a:gd name="connsiteY7" fmla="*/ 55632 h 55725"/>
                  <a:gd name="connsiteX8" fmla="*/ 3573 w 56411"/>
                  <a:gd name="connsiteY8" fmla="*/ 41569 h 55725"/>
                  <a:gd name="connsiteX9" fmla="*/ 3573 w 56411"/>
                  <a:gd name="connsiteY9" fmla="*/ 41569 h 5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6411" h="55725">
                    <a:moveTo>
                      <a:pt x="3589" y="41569"/>
                    </a:moveTo>
                    <a:cubicBezTo>
                      <a:pt x="138" y="39472"/>
                      <a:pt x="-975" y="35118"/>
                      <a:pt x="912" y="31602"/>
                    </a:cubicBezTo>
                    <a:cubicBezTo>
                      <a:pt x="4750" y="24537"/>
                      <a:pt x="11718" y="13345"/>
                      <a:pt x="19895" y="7829"/>
                    </a:cubicBezTo>
                    <a:cubicBezTo>
                      <a:pt x="28604" y="1958"/>
                      <a:pt x="35926" y="1797"/>
                      <a:pt x="39571" y="2232"/>
                    </a:cubicBezTo>
                    <a:cubicBezTo>
                      <a:pt x="41345" y="2458"/>
                      <a:pt x="43103" y="2103"/>
                      <a:pt x="44603" y="1168"/>
                    </a:cubicBezTo>
                    <a:lnTo>
                      <a:pt x="44603" y="1168"/>
                    </a:lnTo>
                    <a:cubicBezTo>
                      <a:pt x="49861" y="-2058"/>
                      <a:pt x="56570" y="1797"/>
                      <a:pt x="56409" y="7861"/>
                    </a:cubicBezTo>
                    <a:cubicBezTo>
                      <a:pt x="56022" y="21892"/>
                      <a:pt x="51699" y="43488"/>
                      <a:pt x="30830" y="55632"/>
                    </a:cubicBezTo>
                    <a:cubicBezTo>
                      <a:pt x="28878" y="56778"/>
                      <a:pt x="12540" y="47085"/>
                      <a:pt x="3573" y="41569"/>
                    </a:cubicBezTo>
                    <a:lnTo>
                      <a:pt x="3573" y="41569"/>
                    </a:lnTo>
                    <a:close/>
                  </a:path>
                </a:pathLst>
              </a:custGeom>
              <a:solidFill>
                <a:srgbClr val="DAA97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1FB64E2D-554B-925D-B360-88500891BB2C}"/>
                  </a:ext>
                </a:extLst>
              </p:cNvPr>
              <p:cNvSpPr/>
              <p:nvPr/>
            </p:nvSpPr>
            <p:spPr>
              <a:xfrm>
                <a:off x="4783212" y="2865311"/>
                <a:ext cx="72656" cy="105250"/>
              </a:xfrm>
              <a:custGeom>
                <a:avLst/>
                <a:gdLst>
                  <a:gd name="connsiteX0" fmla="*/ 36417 w 72656"/>
                  <a:gd name="connsiteY0" fmla="*/ 427 h 105250"/>
                  <a:gd name="connsiteX1" fmla="*/ 64673 w 72656"/>
                  <a:gd name="connsiteY1" fmla="*/ 8426 h 105250"/>
                  <a:gd name="connsiteX2" fmla="*/ 72221 w 72656"/>
                  <a:gd name="connsiteY2" fmla="*/ 21829 h 105250"/>
                  <a:gd name="connsiteX3" fmla="*/ 49916 w 72656"/>
                  <a:gd name="connsiteY3" fmla="*/ 97421 h 105250"/>
                  <a:gd name="connsiteX4" fmla="*/ 36239 w 72656"/>
                  <a:gd name="connsiteY4" fmla="*/ 104824 h 105250"/>
                  <a:gd name="connsiteX5" fmla="*/ 7983 w 72656"/>
                  <a:gd name="connsiteY5" fmla="*/ 96825 h 105250"/>
                  <a:gd name="connsiteX6" fmla="*/ 435 w 72656"/>
                  <a:gd name="connsiteY6" fmla="*/ 83422 h 105250"/>
                  <a:gd name="connsiteX7" fmla="*/ 22740 w 72656"/>
                  <a:gd name="connsiteY7" fmla="*/ 7830 h 105250"/>
                  <a:gd name="connsiteX8" fmla="*/ 36417 w 72656"/>
                  <a:gd name="connsiteY8" fmla="*/ 427 h 105250"/>
                  <a:gd name="connsiteX9" fmla="*/ 36417 w 72656"/>
                  <a:gd name="connsiteY9" fmla="*/ 427 h 10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656" h="105250">
                    <a:moveTo>
                      <a:pt x="36417" y="427"/>
                    </a:moveTo>
                    <a:lnTo>
                      <a:pt x="64673" y="8426"/>
                    </a:lnTo>
                    <a:cubicBezTo>
                      <a:pt x="70512" y="10088"/>
                      <a:pt x="73915" y="16103"/>
                      <a:pt x="72221" y="21829"/>
                    </a:cubicBezTo>
                    <a:lnTo>
                      <a:pt x="49916" y="97421"/>
                    </a:lnTo>
                    <a:cubicBezTo>
                      <a:pt x="48223" y="103147"/>
                      <a:pt x="42094" y="106485"/>
                      <a:pt x="36239" y="104824"/>
                    </a:cubicBezTo>
                    <a:lnTo>
                      <a:pt x="7983" y="96825"/>
                    </a:lnTo>
                    <a:cubicBezTo>
                      <a:pt x="2145" y="95163"/>
                      <a:pt x="-1258" y="89148"/>
                      <a:pt x="435" y="83422"/>
                    </a:cubicBezTo>
                    <a:lnTo>
                      <a:pt x="22740" y="7830"/>
                    </a:lnTo>
                    <a:cubicBezTo>
                      <a:pt x="24418" y="2104"/>
                      <a:pt x="30530" y="-1234"/>
                      <a:pt x="36417" y="427"/>
                    </a:cubicBezTo>
                    <a:lnTo>
                      <a:pt x="36417" y="427"/>
                    </a:lnTo>
                    <a:close/>
                  </a:path>
                </a:pathLst>
              </a:custGeom>
              <a:solidFill>
                <a:srgbClr val="7F7F7F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97776676-4E55-E812-8A94-58FE034DF028}"/>
                  </a:ext>
                </a:extLst>
              </p:cNvPr>
              <p:cNvSpPr/>
              <p:nvPr/>
            </p:nvSpPr>
            <p:spPr>
              <a:xfrm>
                <a:off x="4835843" y="2913432"/>
                <a:ext cx="21941" cy="22221"/>
              </a:xfrm>
              <a:custGeom>
                <a:avLst/>
                <a:gdLst>
                  <a:gd name="connsiteX0" fmla="*/ 15995 w 21941"/>
                  <a:gd name="connsiteY0" fmla="*/ 22222 h 22221"/>
                  <a:gd name="connsiteX1" fmla="*/ 20059 w 21941"/>
                  <a:gd name="connsiteY1" fmla="*/ 20641 h 22221"/>
                  <a:gd name="connsiteX2" fmla="*/ 20333 w 21941"/>
                  <a:gd name="connsiteY2" fmla="*/ 12368 h 22221"/>
                  <a:gd name="connsiteX3" fmla="*/ 10317 w 21941"/>
                  <a:gd name="connsiteY3" fmla="*/ 1852 h 22221"/>
                  <a:gd name="connsiteX4" fmla="*/ 1882 w 21941"/>
                  <a:gd name="connsiteY4" fmla="*/ 1578 h 22221"/>
                  <a:gd name="connsiteX5" fmla="*/ 1608 w 21941"/>
                  <a:gd name="connsiteY5" fmla="*/ 9852 h 22221"/>
                  <a:gd name="connsiteX6" fmla="*/ 11624 w 21941"/>
                  <a:gd name="connsiteY6" fmla="*/ 20367 h 22221"/>
                  <a:gd name="connsiteX7" fmla="*/ 15995 w 21941"/>
                  <a:gd name="connsiteY7" fmla="*/ 22222 h 22221"/>
                  <a:gd name="connsiteX8" fmla="*/ 15995 w 21941"/>
                  <a:gd name="connsiteY8" fmla="*/ 22222 h 22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941" h="22221">
                    <a:moveTo>
                      <a:pt x="15995" y="22222"/>
                    </a:moveTo>
                    <a:cubicBezTo>
                      <a:pt x="17446" y="22222"/>
                      <a:pt x="18914" y="21706"/>
                      <a:pt x="20059" y="20641"/>
                    </a:cubicBezTo>
                    <a:cubicBezTo>
                      <a:pt x="22446" y="18432"/>
                      <a:pt x="22591" y="14738"/>
                      <a:pt x="20333" y="12368"/>
                    </a:cubicBezTo>
                    <a:lnTo>
                      <a:pt x="10317" y="1852"/>
                    </a:lnTo>
                    <a:cubicBezTo>
                      <a:pt x="8060" y="-503"/>
                      <a:pt x="4302" y="-632"/>
                      <a:pt x="1882" y="1578"/>
                    </a:cubicBezTo>
                    <a:cubicBezTo>
                      <a:pt x="-505" y="3787"/>
                      <a:pt x="-650" y="7481"/>
                      <a:pt x="1608" y="9852"/>
                    </a:cubicBezTo>
                    <a:lnTo>
                      <a:pt x="11624" y="20367"/>
                    </a:lnTo>
                    <a:cubicBezTo>
                      <a:pt x="12785" y="21593"/>
                      <a:pt x="14414" y="22222"/>
                      <a:pt x="15995" y="22222"/>
                    </a:cubicBezTo>
                    <a:lnTo>
                      <a:pt x="15995" y="22222"/>
                    </a:lnTo>
                    <a:close/>
                  </a:path>
                </a:pathLst>
              </a:custGeom>
              <a:solidFill>
                <a:srgbClr val="DAA97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473728B5-04D3-B74B-2B88-3A5B3B6A6D61}"/>
                  </a:ext>
                </a:extLst>
              </p:cNvPr>
              <p:cNvSpPr/>
              <p:nvPr/>
            </p:nvSpPr>
            <p:spPr>
              <a:xfrm>
                <a:off x="4832052" y="2923125"/>
                <a:ext cx="21941" cy="22221"/>
              </a:xfrm>
              <a:custGeom>
                <a:avLst/>
                <a:gdLst>
                  <a:gd name="connsiteX0" fmla="*/ 15995 w 21941"/>
                  <a:gd name="connsiteY0" fmla="*/ 22222 h 22221"/>
                  <a:gd name="connsiteX1" fmla="*/ 20059 w 21941"/>
                  <a:gd name="connsiteY1" fmla="*/ 20641 h 22221"/>
                  <a:gd name="connsiteX2" fmla="*/ 20333 w 21941"/>
                  <a:gd name="connsiteY2" fmla="*/ 12368 h 22221"/>
                  <a:gd name="connsiteX3" fmla="*/ 10317 w 21941"/>
                  <a:gd name="connsiteY3" fmla="*/ 1852 h 22221"/>
                  <a:gd name="connsiteX4" fmla="*/ 1882 w 21941"/>
                  <a:gd name="connsiteY4" fmla="*/ 1578 h 22221"/>
                  <a:gd name="connsiteX5" fmla="*/ 1608 w 21941"/>
                  <a:gd name="connsiteY5" fmla="*/ 9852 h 22221"/>
                  <a:gd name="connsiteX6" fmla="*/ 11624 w 21941"/>
                  <a:gd name="connsiteY6" fmla="*/ 20367 h 22221"/>
                  <a:gd name="connsiteX7" fmla="*/ 15995 w 21941"/>
                  <a:gd name="connsiteY7" fmla="*/ 22222 h 22221"/>
                  <a:gd name="connsiteX8" fmla="*/ 15995 w 21941"/>
                  <a:gd name="connsiteY8" fmla="*/ 22222 h 22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941" h="22221">
                    <a:moveTo>
                      <a:pt x="15995" y="22222"/>
                    </a:moveTo>
                    <a:cubicBezTo>
                      <a:pt x="17446" y="22222"/>
                      <a:pt x="18914" y="21706"/>
                      <a:pt x="20059" y="20641"/>
                    </a:cubicBezTo>
                    <a:cubicBezTo>
                      <a:pt x="22446" y="18432"/>
                      <a:pt x="22591" y="14738"/>
                      <a:pt x="20333" y="12368"/>
                    </a:cubicBezTo>
                    <a:lnTo>
                      <a:pt x="10317" y="1852"/>
                    </a:lnTo>
                    <a:cubicBezTo>
                      <a:pt x="8060" y="-503"/>
                      <a:pt x="4302" y="-632"/>
                      <a:pt x="1882" y="1578"/>
                    </a:cubicBezTo>
                    <a:cubicBezTo>
                      <a:pt x="-504" y="3787"/>
                      <a:pt x="-650" y="7481"/>
                      <a:pt x="1608" y="9852"/>
                    </a:cubicBezTo>
                    <a:lnTo>
                      <a:pt x="11624" y="20367"/>
                    </a:lnTo>
                    <a:cubicBezTo>
                      <a:pt x="12785" y="21593"/>
                      <a:pt x="14382" y="22222"/>
                      <a:pt x="15995" y="22222"/>
                    </a:cubicBezTo>
                    <a:lnTo>
                      <a:pt x="15995" y="22222"/>
                    </a:lnTo>
                    <a:close/>
                  </a:path>
                </a:pathLst>
              </a:custGeom>
              <a:solidFill>
                <a:srgbClr val="DAA97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4B13B07F-F0A3-EB76-5DC2-01905BC2C89A}"/>
                  </a:ext>
                </a:extLst>
              </p:cNvPr>
              <p:cNvSpPr/>
              <p:nvPr/>
            </p:nvSpPr>
            <p:spPr>
              <a:xfrm>
                <a:off x="4828020" y="2932092"/>
                <a:ext cx="21941" cy="22221"/>
              </a:xfrm>
              <a:custGeom>
                <a:avLst/>
                <a:gdLst>
                  <a:gd name="connsiteX0" fmla="*/ 15995 w 21941"/>
                  <a:gd name="connsiteY0" fmla="*/ 22222 h 22221"/>
                  <a:gd name="connsiteX1" fmla="*/ 20059 w 21941"/>
                  <a:gd name="connsiteY1" fmla="*/ 20641 h 22221"/>
                  <a:gd name="connsiteX2" fmla="*/ 20333 w 21941"/>
                  <a:gd name="connsiteY2" fmla="*/ 12368 h 22221"/>
                  <a:gd name="connsiteX3" fmla="*/ 10317 w 21941"/>
                  <a:gd name="connsiteY3" fmla="*/ 1852 h 22221"/>
                  <a:gd name="connsiteX4" fmla="*/ 1882 w 21941"/>
                  <a:gd name="connsiteY4" fmla="*/ 1578 h 22221"/>
                  <a:gd name="connsiteX5" fmla="*/ 1608 w 21941"/>
                  <a:gd name="connsiteY5" fmla="*/ 9852 h 22221"/>
                  <a:gd name="connsiteX6" fmla="*/ 11624 w 21941"/>
                  <a:gd name="connsiteY6" fmla="*/ 20367 h 22221"/>
                  <a:gd name="connsiteX7" fmla="*/ 15995 w 21941"/>
                  <a:gd name="connsiteY7" fmla="*/ 22222 h 22221"/>
                  <a:gd name="connsiteX8" fmla="*/ 15995 w 21941"/>
                  <a:gd name="connsiteY8" fmla="*/ 22222 h 22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941" h="22221">
                    <a:moveTo>
                      <a:pt x="15995" y="22222"/>
                    </a:moveTo>
                    <a:cubicBezTo>
                      <a:pt x="17446" y="22222"/>
                      <a:pt x="18914" y="21706"/>
                      <a:pt x="20059" y="20641"/>
                    </a:cubicBezTo>
                    <a:cubicBezTo>
                      <a:pt x="22446" y="18432"/>
                      <a:pt x="22591" y="14738"/>
                      <a:pt x="20333" y="12368"/>
                    </a:cubicBezTo>
                    <a:lnTo>
                      <a:pt x="10317" y="1852"/>
                    </a:lnTo>
                    <a:cubicBezTo>
                      <a:pt x="8060" y="-503"/>
                      <a:pt x="4302" y="-632"/>
                      <a:pt x="1882" y="1578"/>
                    </a:cubicBezTo>
                    <a:cubicBezTo>
                      <a:pt x="-504" y="3787"/>
                      <a:pt x="-650" y="7481"/>
                      <a:pt x="1608" y="9852"/>
                    </a:cubicBezTo>
                    <a:lnTo>
                      <a:pt x="11624" y="20367"/>
                    </a:lnTo>
                    <a:cubicBezTo>
                      <a:pt x="12817" y="21593"/>
                      <a:pt x="14414" y="22222"/>
                      <a:pt x="15995" y="22222"/>
                    </a:cubicBezTo>
                    <a:lnTo>
                      <a:pt x="15995" y="22222"/>
                    </a:lnTo>
                    <a:close/>
                  </a:path>
                </a:pathLst>
              </a:custGeom>
              <a:solidFill>
                <a:srgbClr val="DAA97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89BB4D17-355A-1775-CD18-7CED6C8CA5D7}"/>
                  </a:ext>
                </a:extLst>
              </p:cNvPr>
              <p:cNvSpPr/>
              <p:nvPr/>
            </p:nvSpPr>
            <p:spPr>
              <a:xfrm>
                <a:off x="4824623" y="2941752"/>
                <a:ext cx="17075" cy="18400"/>
              </a:xfrm>
              <a:custGeom>
                <a:avLst/>
                <a:gdLst>
                  <a:gd name="connsiteX0" fmla="*/ 13102 w 17075"/>
                  <a:gd name="connsiteY0" fmla="*/ 18400 h 18400"/>
                  <a:gd name="connsiteX1" fmla="*/ 15666 w 17075"/>
                  <a:gd name="connsiteY1" fmla="*/ 17465 h 18400"/>
                  <a:gd name="connsiteX2" fmla="*/ 16134 w 17075"/>
                  <a:gd name="connsiteY2" fmla="*/ 11981 h 18400"/>
                  <a:gd name="connsiteX3" fmla="*/ 7005 w 17075"/>
                  <a:gd name="connsiteY3" fmla="*/ 1385 h 18400"/>
                  <a:gd name="connsiteX4" fmla="*/ 1409 w 17075"/>
                  <a:gd name="connsiteY4" fmla="*/ 917 h 18400"/>
                  <a:gd name="connsiteX5" fmla="*/ 941 w 17075"/>
                  <a:gd name="connsiteY5" fmla="*/ 6401 h 18400"/>
                  <a:gd name="connsiteX6" fmla="*/ 10070 w 17075"/>
                  <a:gd name="connsiteY6" fmla="*/ 16997 h 18400"/>
                  <a:gd name="connsiteX7" fmla="*/ 13102 w 17075"/>
                  <a:gd name="connsiteY7" fmla="*/ 18384 h 18400"/>
                  <a:gd name="connsiteX8" fmla="*/ 13102 w 17075"/>
                  <a:gd name="connsiteY8" fmla="*/ 18384 h 18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075" h="18400">
                    <a:moveTo>
                      <a:pt x="13102" y="18400"/>
                    </a:moveTo>
                    <a:cubicBezTo>
                      <a:pt x="14021" y="18400"/>
                      <a:pt x="14908" y="18094"/>
                      <a:pt x="15666" y="17465"/>
                    </a:cubicBezTo>
                    <a:cubicBezTo>
                      <a:pt x="17344" y="16078"/>
                      <a:pt x="17553" y="13610"/>
                      <a:pt x="16134" y="11981"/>
                    </a:cubicBezTo>
                    <a:lnTo>
                      <a:pt x="7005" y="1385"/>
                    </a:lnTo>
                    <a:cubicBezTo>
                      <a:pt x="5586" y="-260"/>
                      <a:pt x="3086" y="-470"/>
                      <a:pt x="1409" y="917"/>
                    </a:cubicBezTo>
                    <a:cubicBezTo>
                      <a:pt x="-268" y="2304"/>
                      <a:pt x="-478" y="4772"/>
                      <a:pt x="941" y="6401"/>
                    </a:cubicBezTo>
                    <a:lnTo>
                      <a:pt x="10070" y="16997"/>
                    </a:lnTo>
                    <a:cubicBezTo>
                      <a:pt x="10844" y="17932"/>
                      <a:pt x="11957" y="18384"/>
                      <a:pt x="13102" y="18384"/>
                    </a:cubicBezTo>
                    <a:lnTo>
                      <a:pt x="13102" y="18384"/>
                    </a:lnTo>
                    <a:close/>
                  </a:path>
                </a:pathLst>
              </a:custGeom>
              <a:solidFill>
                <a:srgbClr val="DAA97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E31AF511-F322-3BF2-717C-AF3976A1CFE2}"/>
                  </a:ext>
                </a:extLst>
              </p:cNvPr>
              <p:cNvSpPr/>
              <p:nvPr/>
            </p:nvSpPr>
            <p:spPr>
              <a:xfrm>
                <a:off x="4616173" y="2740584"/>
                <a:ext cx="20450" cy="4773"/>
              </a:xfrm>
              <a:custGeom>
                <a:avLst/>
                <a:gdLst>
                  <a:gd name="connsiteX0" fmla="*/ 0 w 20450"/>
                  <a:gd name="connsiteY0" fmla="*/ 2951 h 4773"/>
                  <a:gd name="connsiteX1" fmla="*/ 20176 w 20450"/>
                  <a:gd name="connsiteY1" fmla="*/ 0 h 4773"/>
                  <a:gd name="connsiteX2" fmla="*/ 20450 w 20450"/>
                  <a:gd name="connsiteY2" fmla="*/ 1822 h 4773"/>
                  <a:gd name="connsiteX3" fmla="*/ 274 w 20450"/>
                  <a:gd name="connsiteY3" fmla="*/ 4774 h 4773"/>
                  <a:gd name="connsiteX4" fmla="*/ 0 w 20450"/>
                  <a:gd name="connsiteY4" fmla="*/ 2951 h 4773"/>
                  <a:gd name="connsiteX5" fmla="*/ 0 w 20450"/>
                  <a:gd name="connsiteY5" fmla="*/ 2951 h 4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450" h="4773">
                    <a:moveTo>
                      <a:pt x="0" y="2951"/>
                    </a:moveTo>
                    <a:lnTo>
                      <a:pt x="20176" y="0"/>
                    </a:lnTo>
                    <a:lnTo>
                      <a:pt x="20450" y="1822"/>
                    </a:lnTo>
                    <a:lnTo>
                      <a:pt x="274" y="4774"/>
                    </a:lnTo>
                    <a:lnTo>
                      <a:pt x="0" y="2951"/>
                    </a:lnTo>
                    <a:lnTo>
                      <a:pt x="0" y="2951"/>
                    </a:lnTo>
                    <a:close/>
                  </a:path>
                </a:pathLst>
              </a:custGeom>
              <a:solidFill>
                <a:srgbClr val="051C2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A1CC4B7D-66ED-71EF-74A2-292735C9AD12}"/>
                  </a:ext>
                </a:extLst>
              </p:cNvPr>
              <p:cNvSpPr/>
              <p:nvPr/>
            </p:nvSpPr>
            <p:spPr>
              <a:xfrm>
                <a:off x="4615899" y="2740342"/>
                <a:ext cx="20998" cy="5273"/>
              </a:xfrm>
              <a:custGeom>
                <a:avLst/>
                <a:gdLst>
                  <a:gd name="connsiteX0" fmla="*/ 20660 w 20998"/>
                  <a:gd name="connsiteY0" fmla="*/ 0 h 5273"/>
                  <a:gd name="connsiteX1" fmla="*/ 0 w 20998"/>
                  <a:gd name="connsiteY1" fmla="*/ 3032 h 5273"/>
                  <a:gd name="connsiteX2" fmla="*/ 339 w 20998"/>
                  <a:gd name="connsiteY2" fmla="*/ 5274 h 5273"/>
                  <a:gd name="connsiteX3" fmla="*/ 20999 w 20998"/>
                  <a:gd name="connsiteY3" fmla="*/ 2242 h 5273"/>
                  <a:gd name="connsiteX4" fmla="*/ 20660 w 20998"/>
                  <a:gd name="connsiteY4" fmla="*/ 0 h 5273"/>
                  <a:gd name="connsiteX5" fmla="*/ 20660 w 20998"/>
                  <a:gd name="connsiteY5" fmla="*/ 0 h 5273"/>
                  <a:gd name="connsiteX6" fmla="*/ 20273 w 20998"/>
                  <a:gd name="connsiteY6" fmla="*/ 516 h 5273"/>
                  <a:gd name="connsiteX7" fmla="*/ 20467 w 20998"/>
                  <a:gd name="connsiteY7" fmla="*/ 1887 h 5273"/>
                  <a:gd name="connsiteX8" fmla="*/ 726 w 20998"/>
                  <a:gd name="connsiteY8" fmla="*/ 4774 h 5273"/>
                  <a:gd name="connsiteX9" fmla="*/ 532 w 20998"/>
                  <a:gd name="connsiteY9" fmla="*/ 3403 h 5273"/>
                  <a:gd name="connsiteX10" fmla="*/ 20273 w 20998"/>
                  <a:gd name="connsiteY10" fmla="*/ 516 h 5273"/>
                  <a:gd name="connsiteX11" fmla="*/ 20273 w 20998"/>
                  <a:gd name="connsiteY11" fmla="*/ 516 h 5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998" h="5273">
                    <a:moveTo>
                      <a:pt x="20660" y="0"/>
                    </a:moveTo>
                    <a:lnTo>
                      <a:pt x="0" y="3032"/>
                    </a:lnTo>
                    <a:lnTo>
                      <a:pt x="339" y="5274"/>
                    </a:lnTo>
                    <a:lnTo>
                      <a:pt x="20999" y="2242"/>
                    </a:lnTo>
                    <a:lnTo>
                      <a:pt x="20660" y="0"/>
                    </a:lnTo>
                    <a:lnTo>
                      <a:pt x="20660" y="0"/>
                    </a:lnTo>
                    <a:close/>
                    <a:moveTo>
                      <a:pt x="20273" y="516"/>
                    </a:moveTo>
                    <a:lnTo>
                      <a:pt x="20467" y="1887"/>
                    </a:lnTo>
                    <a:lnTo>
                      <a:pt x="726" y="4774"/>
                    </a:lnTo>
                    <a:lnTo>
                      <a:pt x="532" y="3403"/>
                    </a:lnTo>
                    <a:lnTo>
                      <a:pt x="20273" y="516"/>
                    </a:lnTo>
                    <a:lnTo>
                      <a:pt x="20273" y="516"/>
                    </a:lnTo>
                    <a:close/>
                  </a:path>
                </a:pathLst>
              </a:custGeom>
              <a:solidFill>
                <a:srgbClr val="051C2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7B740F9-CE24-A795-411C-3BCAA52D76DA}"/>
                  </a:ext>
                </a:extLst>
              </p:cNvPr>
              <p:cNvSpPr/>
              <p:nvPr/>
            </p:nvSpPr>
            <p:spPr>
              <a:xfrm>
                <a:off x="4680621" y="2746826"/>
                <a:ext cx="13757" cy="5628"/>
              </a:xfrm>
              <a:custGeom>
                <a:avLst/>
                <a:gdLst>
                  <a:gd name="connsiteX0" fmla="*/ 0 w 13757"/>
                  <a:gd name="connsiteY0" fmla="*/ 1758 h 5628"/>
                  <a:gd name="connsiteX1" fmla="*/ 532 w 13757"/>
                  <a:gd name="connsiteY1" fmla="*/ 0 h 5628"/>
                  <a:gd name="connsiteX2" fmla="*/ 13757 w 13757"/>
                  <a:gd name="connsiteY2" fmla="*/ 3871 h 5628"/>
                  <a:gd name="connsiteX3" fmla="*/ 13225 w 13757"/>
                  <a:gd name="connsiteY3" fmla="*/ 5629 h 5628"/>
                  <a:gd name="connsiteX4" fmla="*/ 0 w 13757"/>
                  <a:gd name="connsiteY4" fmla="*/ 1758 h 5628"/>
                  <a:gd name="connsiteX5" fmla="*/ 0 w 13757"/>
                  <a:gd name="connsiteY5" fmla="*/ 1758 h 5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57" h="5628">
                    <a:moveTo>
                      <a:pt x="0" y="1758"/>
                    </a:moveTo>
                    <a:lnTo>
                      <a:pt x="532" y="0"/>
                    </a:lnTo>
                    <a:lnTo>
                      <a:pt x="13757" y="3871"/>
                    </a:lnTo>
                    <a:lnTo>
                      <a:pt x="13225" y="5629"/>
                    </a:lnTo>
                    <a:lnTo>
                      <a:pt x="0" y="1758"/>
                    </a:lnTo>
                    <a:lnTo>
                      <a:pt x="0" y="1758"/>
                    </a:lnTo>
                    <a:close/>
                  </a:path>
                </a:pathLst>
              </a:custGeom>
              <a:solidFill>
                <a:srgbClr val="051C2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C9E79DBC-FFC7-B96D-83D3-F706FF4C3ECE}"/>
                  </a:ext>
                </a:extLst>
              </p:cNvPr>
              <p:cNvSpPr/>
              <p:nvPr/>
            </p:nvSpPr>
            <p:spPr>
              <a:xfrm>
                <a:off x="4680331" y="2746567"/>
                <a:ext cx="14337" cy="6193"/>
              </a:xfrm>
              <a:custGeom>
                <a:avLst/>
                <a:gdLst>
                  <a:gd name="connsiteX0" fmla="*/ 661 w 14337"/>
                  <a:gd name="connsiteY0" fmla="*/ 0 h 6193"/>
                  <a:gd name="connsiteX1" fmla="*/ 0 w 14337"/>
                  <a:gd name="connsiteY1" fmla="*/ 2177 h 6193"/>
                  <a:gd name="connsiteX2" fmla="*/ 13677 w 14337"/>
                  <a:gd name="connsiteY2" fmla="*/ 6193 h 6193"/>
                  <a:gd name="connsiteX3" fmla="*/ 14338 w 14337"/>
                  <a:gd name="connsiteY3" fmla="*/ 4016 h 6193"/>
                  <a:gd name="connsiteX4" fmla="*/ 661 w 14337"/>
                  <a:gd name="connsiteY4" fmla="*/ 0 h 6193"/>
                  <a:gd name="connsiteX5" fmla="*/ 661 w 14337"/>
                  <a:gd name="connsiteY5" fmla="*/ 0 h 6193"/>
                  <a:gd name="connsiteX6" fmla="*/ 581 w 14337"/>
                  <a:gd name="connsiteY6" fmla="*/ 1887 h 6193"/>
                  <a:gd name="connsiteX7" fmla="*/ 968 w 14337"/>
                  <a:gd name="connsiteY7" fmla="*/ 581 h 6193"/>
                  <a:gd name="connsiteX8" fmla="*/ 13741 w 14337"/>
                  <a:gd name="connsiteY8" fmla="*/ 4322 h 6193"/>
                  <a:gd name="connsiteX9" fmla="*/ 13354 w 14337"/>
                  <a:gd name="connsiteY9" fmla="*/ 5629 h 6193"/>
                  <a:gd name="connsiteX10" fmla="*/ 581 w 14337"/>
                  <a:gd name="connsiteY10" fmla="*/ 1887 h 6193"/>
                  <a:gd name="connsiteX11" fmla="*/ 581 w 14337"/>
                  <a:gd name="connsiteY11" fmla="*/ 1887 h 6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337" h="6193">
                    <a:moveTo>
                      <a:pt x="661" y="0"/>
                    </a:moveTo>
                    <a:lnTo>
                      <a:pt x="0" y="2177"/>
                    </a:lnTo>
                    <a:lnTo>
                      <a:pt x="13677" y="6193"/>
                    </a:lnTo>
                    <a:lnTo>
                      <a:pt x="14338" y="4016"/>
                    </a:lnTo>
                    <a:lnTo>
                      <a:pt x="661" y="0"/>
                    </a:lnTo>
                    <a:lnTo>
                      <a:pt x="661" y="0"/>
                    </a:lnTo>
                    <a:close/>
                    <a:moveTo>
                      <a:pt x="581" y="1887"/>
                    </a:moveTo>
                    <a:lnTo>
                      <a:pt x="968" y="581"/>
                    </a:lnTo>
                    <a:lnTo>
                      <a:pt x="13741" y="4322"/>
                    </a:lnTo>
                    <a:lnTo>
                      <a:pt x="13354" y="5629"/>
                    </a:lnTo>
                    <a:lnTo>
                      <a:pt x="581" y="1887"/>
                    </a:lnTo>
                    <a:lnTo>
                      <a:pt x="581" y="1887"/>
                    </a:lnTo>
                    <a:close/>
                  </a:path>
                </a:pathLst>
              </a:custGeom>
              <a:solidFill>
                <a:srgbClr val="051C2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CFAE257-33FF-E310-2F57-C5314795A03A}"/>
                  </a:ext>
                </a:extLst>
              </p:cNvPr>
              <p:cNvSpPr/>
              <p:nvPr/>
            </p:nvSpPr>
            <p:spPr>
              <a:xfrm>
                <a:off x="4424979" y="2982506"/>
                <a:ext cx="168437" cy="226277"/>
              </a:xfrm>
              <a:custGeom>
                <a:avLst/>
                <a:gdLst>
                  <a:gd name="connsiteX0" fmla="*/ 63783 w 168437"/>
                  <a:gd name="connsiteY0" fmla="*/ 117639 h 226277"/>
                  <a:gd name="connsiteX1" fmla="*/ 72266 w 168437"/>
                  <a:gd name="connsiteY1" fmla="*/ 24708 h 226277"/>
                  <a:gd name="connsiteX2" fmla="*/ 8399 w 168437"/>
                  <a:gd name="connsiteY2" fmla="*/ 0 h 226277"/>
                  <a:gd name="connsiteX3" fmla="*/ 6592 w 168437"/>
                  <a:gd name="connsiteY3" fmla="*/ 127122 h 226277"/>
                  <a:gd name="connsiteX4" fmla="*/ 59912 w 168437"/>
                  <a:gd name="connsiteY4" fmla="*/ 201085 h 226277"/>
                  <a:gd name="connsiteX5" fmla="*/ 168438 w 168437"/>
                  <a:gd name="connsiteY5" fmla="*/ 226278 h 226277"/>
                  <a:gd name="connsiteX6" fmla="*/ 63783 w 168437"/>
                  <a:gd name="connsiteY6" fmla="*/ 117639 h 226277"/>
                  <a:gd name="connsiteX7" fmla="*/ 63783 w 168437"/>
                  <a:gd name="connsiteY7" fmla="*/ 117639 h 226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8437" h="226277">
                    <a:moveTo>
                      <a:pt x="63783" y="117639"/>
                    </a:moveTo>
                    <a:cubicBezTo>
                      <a:pt x="57912" y="91898"/>
                      <a:pt x="72266" y="24708"/>
                      <a:pt x="72266" y="24708"/>
                    </a:cubicBezTo>
                    <a:lnTo>
                      <a:pt x="8399" y="0"/>
                    </a:lnTo>
                    <a:cubicBezTo>
                      <a:pt x="8399" y="0"/>
                      <a:pt x="-9229" y="48868"/>
                      <a:pt x="6592" y="127122"/>
                    </a:cubicBezTo>
                    <a:cubicBezTo>
                      <a:pt x="12463" y="156136"/>
                      <a:pt x="34510" y="181119"/>
                      <a:pt x="59912" y="201085"/>
                    </a:cubicBezTo>
                    <a:cubicBezTo>
                      <a:pt x="93491" y="215391"/>
                      <a:pt x="130037" y="224181"/>
                      <a:pt x="168438" y="226278"/>
                    </a:cubicBezTo>
                    <a:cubicBezTo>
                      <a:pt x="143907" y="210714"/>
                      <a:pt x="70895" y="148717"/>
                      <a:pt x="63783" y="117639"/>
                    </a:cubicBezTo>
                    <a:lnTo>
                      <a:pt x="63783" y="117639"/>
                    </a:lnTo>
                    <a:close/>
                  </a:path>
                </a:pathLst>
              </a:custGeom>
              <a:solidFill>
                <a:srgbClr val="DAA97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FA5604B5-B76A-881E-900E-0F12B6C1A1FD}"/>
                </a:ext>
              </a:extLst>
            </p:cNvPr>
            <p:cNvSpPr/>
            <p:nvPr/>
          </p:nvSpPr>
          <p:spPr>
            <a:xfrm>
              <a:off x="5397597" y="3083236"/>
              <a:ext cx="265695" cy="127495"/>
            </a:xfrm>
            <a:custGeom>
              <a:avLst/>
              <a:gdLst>
                <a:gd name="connsiteX0" fmla="*/ 196725 w 249866"/>
                <a:gd name="connsiteY0" fmla="*/ 3375 h 119899"/>
                <a:gd name="connsiteX1" fmla="*/ 54959 w 249866"/>
                <a:gd name="connsiteY1" fmla="*/ 1423 h 119899"/>
                <a:gd name="connsiteX2" fmla="*/ 10 w 249866"/>
                <a:gd name="connsiteY2" fmla="*/ 70839 h 119899"/>
                <a:gd name="connsiteX3" fmla="*/ 38476 w 249866"/>
                <a:gd name="connsiteY3" fmla="*/ 112530 h 119899"/>
                <a:gd name="connsiteX4" fmla="*/ 249867 w 249866"/>
                <a:gd name="connsiteY4" fmla="*/ 93144 h 119899"/>
                <a:gd name="connsiteX5" fmla="*/ 196725 w 249866"/>
                <a:gd name="connsiteY5" fmla="*/ 3375 h 11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866" h="119899">
                  <a:moveTo>
                    <a:pt x="196725" y="3375"/>
                  </a:moveTo>
                  <a:cubicBezTo>
                    <a:pt x="180177" y="8503"/>
                    <a:pt x="135035" y="32002"/>
                    <a:pt x="54959" y="1423"/>
                  </a:cubicBezTo>
                  <a:cubicBezTo>
                    <a:pt x="34573" y="-6367"/>
                    <a:pt x="2010" y="17971"/>
                    <a:pt x="10" y="70839"/>
                  </a:cubicBezTo>
                  <a:cubicBezTo>
                    <a:pt x="-635" y="87692"/>
                    <a:pt x="29589" y="98482"/>
                    <a:pt x="38476" y="112530"/>
                  </a:cubicBezTo>
                  <a:cubicBezTo>
                    <a:pt x="46314" y="124948"/>
                    <a:pt x="249867" y="123658"/>
                    <a:pt x="249867" y="93144"/>
                  </a:cubicBezTo>
                  <a:cubicBezTo>
                    <a:pt x="249867" y="54985"/>
                    <a:pt x="217869" y="-3173"/>
                    <a:pt x="196725" y="3375"/>
                  </a:cubicBezTo>
                  <a:close/>
                </a:path>
              </a:pathLst>
            </a:custGeom>
            <a:solidFill>
              <a:srgbClr val="132957"/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3140AD62-2C86-CF3A-0208-407078D0D75A}"/>
                </a:ext>
              </a:extLst>
            </p:cNvPr>
            <p:cNvSpPr/>
            <p:nvPr/>
          </p:nvSpPr>
          <p:spPr>
            <a:xfrm>
              <a:off x="5428098" y="3173260"/>
              <a:ext cx="213726" cy="246666"/>
            </a:xfrm>
            <a:custGeom>
              <a:avLst/>
              <a:gdLst>
                <a:gd name="connsiteX0" fmla="*/ 100497 w 200993"/>
                <a:gd name="connsiteY0" fmla="*/ 25660 h 231970"/>
                <a:gd name="connsiteX1" fmla="*/ 20760 w 200993"/>
                <a:gd name="connsiteY1" fmla="*/ 2226 h 231970"/>
                <a:gd name="connsiteX2" fmla="*/ 245 w 200993"/>
                <a:gd name="connsiteY2" fmla="*/ 81705 h 231970"/>
                <a:gd name="connsiteX3" fmla="*/ 93530 w 200993"/>
                <a:gd name="connsiteY3" fmla="*/ 231890 h 231970"/>
                <a:gd name="connsiteX4" fmla="*/ 200749 w 200993"/>
                <a:gd name="connsiteY4" fmla="*/ 91301 h 231970"/>
                <a:gd name="connsiteX5" fmla="*/ 183412 w 200993"/>
                <a:gd name="connsiteY5" fmla="*/ 0 h 231970"/>
                <a:gd name="connsiteX6" fmla="*/ 100497 w 200993"/>
                <a:gd name="connsiteY6" fmla="*/ 25644 h 23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993" h="231970">
                  <a:moveTo>
                    <a:pt x="100497" y="25660"/>
                  </a:moveTo>
                  <a:cubicBezTo>
                    <a:pt x="70144" y="25660"/>
                    <a:pt x="42323" y="16854"/>
                    <a:pt x="20760" y="2226"/>
                  </a:cubicBezTo>
                  <a:cubicBezTo>
                    <a:pt x="9131" y="24724"/>
                    <a:pt x="1680" y="52029"/>
                    <a:pt x="245" y="81705"/>
                  </a:cubicBezTo>
                  <a:cubicBezTo>
                    <a:pt x="-3594" y="162007"/>
                    <a:pt x="38162" y="229245"/>
                    <a:pt x="93530" y="231890"/>
                  </a:cubicBezTo>
                  <a:cubicBezTo>
                    <a:pt x="148898" y="234535"/>
                    <a:pt x="196895" y="171603"/>
                    <a:pt x="200749" y="91301"/>
                  </a:cubicBezTo>
                  <a:cubicBezTo>
                    <a:pt x="202378" y="57190"/>
                    <a:pt x="195782" y="25450"/>
                    <a:pt x="183412" y="0"/>
                  </a:cubicBezTo>
                  <a:cubicBezTo>
                    <a:pt x="161429" y="15951"/>
                    <a:pt x="132366" y="25644"/>
                    <a:pt x="100497" y="25644"/>
                  </a:cubicBezTo>
                  <a:close/>
                </a:path>
              </a:pathLst>
            </a:custGeom>
            <a:solidFill>
              <a:srgbClr val="1B2156"/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C77950D2-EC39-E13F-3F19-02B8344BD026}"/>
                </a:ext>
              </a:extLst>
            </p:cNvPr>
            <p:cNvSpPr/>
            <p:nvPr/>
          </p:nvSpPr>
          <p:spPr>
            <a:xfrm>
              <a:off x="5472769" y="3353444"/>
              <a:ext cx="121337" cy="49697"/>
            </a:xfrm>
            <a:custGeom>
              <a:avLst/>
              <a:gdLst>
                <a:gd name="connsiteX0" fmla="*/ 55245 w 114108"/>
                <a:gd name="connsiteY0" fmla="*/ 14573 h 46736"/>
                <a:gd name="connsiteX1" fmla="*/ 5797 w 114108"/>
                <a:gd name="connsiteY1" fmla="*/ 3251 h 46736"/>
                <a:gd name="connsiteX2" fmla="*/ 426 w 114108"/>
                <a:gd name="connsiteY2" fmla="*/ 8444 h 46736"/>
                <a:gd name="connsiteX3" fmla="*/ 53358 w 114108"/>
                <a:gd name="connsiteY3" fmla="*/ 46700 h 46736"/>
                <a:gd name="connsiteX4" fmla="*/ 113661 w 114108"/>
                <a:gd name="connsiteY4" fmla="*/ 5718 h 46736"/>
                <a:gd name="connsiteX5" fmla="*/ 108178 w 114108"/>
                <a:gd name="connsiteY5" fmla="*/ 541 h 46736"/>
                <a:gd name="connsiteX6" fmla="*/ 55262 w 114108"/>
                <a:gd name="connsiteY6" fmla="*/ 14573 h 46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08" h="46736">
                  <a:moveTo>
                    <a:pt x="55245" y="14573"/>
                  </a:moveTo>
                  <a:cubicBezTo>
                    <a:pt x="38311" y="14202"/>
                    <a:pt x="18925" y="10089"/>
                    <a:pt x="5797" y="3251"/>
                  </a:cubicBezTo>
                  <a:cubicBezTo>
                    <a:pt x="2410" y="1493"/>
                    <a:pt x="-1267" y="5025"/>
                    <a:pt x="426" y="8444"/>
                  </a:cubicBezTo>
                  <a:cubicBezTo>
                    <a:pt x="11490" y="30814"/>
                    <a:pt x="30763" y="45861"/>
                    <a:pt x="53358" y="46700"/>
                  </a:cubicBezTo>
                  <a:cubicBezTo>
                    <a:pt x="78260" y="47619"/>
                    <a:pt x="100840" y="31072"/>
                    <a:pt x="113661" y="5718"/>
                  </a:cubicBezTo>
                  <a:cubicBezTo>
                    <a:pt x="115436" y="2219"/>
                    <a:pt x="111581" y="-1394"/>
                    <a:pt x="108178" y="541"/>
                  </a:cubicBezTo>
                  <a:cubicBezTo>
                    <a:pt x="91969" y="9767"/>
                    <a:pt x="76099" y="15040"/>
                    <a:pt x="55262" y="14573"/>
                  </a:cubicBezTo>
                  <a:close/>
                </a:path>
              </a:pathLst>
            </a:custGeom>
            <a:gradFill>
              <a:gsLst>
                <a:gs pos="0">
                  <a:srgbClr val="D9F7FF"/>
                </a:gs>
                <a:gs pos="50000">
                  <a:srgbClr val="ECFBFF"/>
                </a:gs>
                <a:gs pos="100000">
                  <a:srgbClr val="FFFFFF"/>
                </a:gs>
              </a:gsLst>
              <a:lin ang="5464747" scaled="1"/>
            </a:gra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F74BDD3-32A0-8128-93BE-DDD0C5748A20}"/>
                </a:ext>
              </a:extLst>
            </p:cNvPr>
            <p:cNvSpPr/>
            <p:nvPr/>
          </p:nvSpPr>
          <p:spPr>
            <a:xfrm>
              <a:off x="5339052" y="3070042"/>
              <a:ext cx="388782" cy="285289"/>
            </a:xfrm>
            <a:custGeom>
              <a:avLst/>
              <a:gdLst>
                <a:gd name="connsiteX0" fmla="*/ 348147 w 365620"/>
                <a:gd name="connsiteY0" fmla="*/ 21460 h 268292"/>
                <a:gd name="connsiteX1" fmla="*/ 270168 w 365620"/>
                <a:gd name="connsiteY1" fmla="*/ 20476 h 268292"/>
                <a:gd name="connsiteX2" fmla="*/ 181399 w 365620"/>
                <a:gd name="connsiteY2" fmla="*/ 42281 h 268292"/>
                <a:gd name="connsiteX3" fmla="*/ 17489 w 365620"/>
                <a:gd name="connsiteY3" fmla="*/ 21476 h 268292"/>
                <a:gd name="connsiteX4" fmla="*/ 9941 w 365620"/>
                <a:gd name="connsiteY4" fmla="*/ 96585 h 268292"/>
                <a:gd name="connsiteX5" fmla="*/ 42004 w 365620"/>
                <a:gd name="connsiteY5" fmla="*/ 86682 h 268292"/>
                <a:gd name="connsiteX6" fmla="*/ 61938 w 365620"/>
                <a:gd name="connsiteY6" fmla="*/ 132599 h 268292"/>
                <a:gd name="connsiteX7" fmla="*/ 85791 w 365620"/>
                <a:gd name="connsiteY7" fmla="*/ 234093 h 268292"/>
                <a:gd name="connsiteX8" fmla="*/ 280780 w 365620"/>
                <a:gd name="connsiteY8" fmla="*/ 230884 h 268292"/>
                <a:gd name="connsiteX9" fmla="*/ 302279 w 365620"/>
                <a:gd name="connsiteY9" fmla="*/ 147050 h 268292"/>
                <a:gd name="connsiteX10" fmla="*/ 322681 w 365620"/>
                <a:gd name="connsiteY10" fmla="*/ 86489 h 268292"/>
                <a:gd name="connsiteX11" fmla="*/ 355679 w 365620"/>
                <a:gd name="connsiteY11" fmla="*/ 96569 h 268292"/>
                <a:gd name="connsiteX12" fmla="*/ 348131 w 365620"/>
                <a:gd name="connsiteY12" fmla="*/ 21460 h 26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5620" h="268292">
                  <a:moveTo>
                    <a:pt x="348147" y="21460"/>
                  </a:moveTo>
                  <a:cubicBezTo>
                    <a:pt x="317601" y="-12990"/>
                    <a:pt x="301198" y="-394"/>
                    <a:pt x="270168" y="20476"/>
                  </a:cubicBezTo>
                  <a:cubicBezTo>
                    <a:pt x="255975" y="30201"/>
                    <a:pt x="216171" y="42281"/>
                    <a:pt x="181399" y="42281"/>
                  </a:cubicBezTo>
                  <a:cubicBezTo>
                    <a:pt x="92001" y="42297"/>
                    <a:pt x="61438" y="-31795"/>
                    <a:pt x="17489" y="21476"/>
                  </a:cubicBezTo>
                  <a:cubicBezTo>
                    <a:pt x="-2462" y="45507"/>
                    <a:pt x="-5848" y="77570"/>
                    <a:pt x="9941" y="96585"/>
                  </a:cubicBezTo>
                  <a:cubicBezTo>
                    <a:pt x="14537" y="102133"/>
                    <a:pt x="38972" y="87214"/>
                    <a:pt x="42004" y="86682"/>
                  </a:cubicBezTo>
                  <a:cubicBezTo>
                    <a:pt x="52890" y="84795"/>
                    <a:pt x="62502" y="119358"/>
                    <a:pt x="61938" y="132599"/>
                  </a:cubicBezTo>
                  <a:cubicBezTo>
                    <a:pt x="63035" y="167129"/>
                    <a:pt x="56180" y="211933"/>
                    <a:pt x="85791" y="234093"/>
                  </a:cubicBezTo>
                  <a:cubicBezTo>
                    <a:pt x="137821" y="279849"/>
                    <a:pt x="232751" y="280590"/>
                    <a:pt x="280780" y="230884"/>
                  </a:cubicBezTo>
                  <a:cubicBezTo>
                    <a:pt x="300989" y="209965"/>
                    <a:pt x="301473" y="167290"/>
                    <a:pt x="302279" y="147050"/>
                  </a:cubicBezTo>
                  <a:cubicBezTo>
                    <a:pt x="301505" y="130873"/>
                    <a:pt x="306472" y="87779"/>
                    <a:pt x="322681" y="86489"/>
                  </a:cubicBezTo>
                  <a:cubicBezTo>
                    <a:pt x="325068" y="86956"/>
                    <a:pt x="348905" y="104745"/>
                    <a:pt x="355679" y="96569"/>
                  </a:cubicBezTo>
                  <a:cubicBezTo>
                    <a:pt x="371469" y="77554"/>
                    <a:pt x="368082" y="45491"/>
                    <a:pt x="348131" y="21460"/>
                  </a:cubicBezTo>
                  <a:close/>
                </a:path>
              </a:pathLst>
            </a:custGeom>
            <a:solidFill>
              <a:srgbClr val="B3B3B3"/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89" name="Graphic 1033">
              <a:extLst>
                <a:ext uri="{FF2B5EF4-FFF2-40B4-BE49-F238E27FC236}">
                  <a16:creationId xmlns:a16="http://schemas.microsoft.com/office/drawing/2014/main" id="{B3C449BB-22A5-0884-1E99-26BA6509DB7C}"/>
                </a:ext>
              </a:extLst>
            </p:cNvPr>
            <p:cNvGrpSpPr/>
            <p:nvPr/>
          </p:nvGrpSpPr>
          <p:grpSpPr>
            <a:xfrm>
              <a:off x="5356251" y="3148723"/>
              <a:ext cx="354574" cy="66080"/>
              <a:chOff x="5300637" y="2932916"/>
              <a:chExt cx="333451" cy="62143"/>
            </a:xfrm>
            <a:solidFill>
              <a:srgbClr val="757575"/>
            </a:solidFill>
          </p:grpSpPr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34D9B546-B6C0-2DF5-1B8B-18AA14F1A7AE}"/>
                  </a:ext>
                </a:extLst>
              </p:cNvPr>
              <p:cNvSpPr/>
              <p:nvPr/>
            </p:nvSpPr>
            <p:spPr>
              <a:xfrm>
                <a:off x="5573375" y="2932916"/>
                <a:ext cx="60713" cy="62143"/>
              </a:xfrm>
              <a:custGeom>
                <a:avLst/>
                <a:gdLst>
                  <a:gd name="connsiteX0" fmla="*/ 60062 w 60713"/>
                  <a:gd name="connsiteY0" fmla="*/ 27187 h 62143"/>
                  <a:gd name="connsiteX1" fmla="*/ 35290 w 60713"/>
                  <a:gd name="connsiteY1" fmla="*/ 995 h 62143"/>
                  <a:gd name="connsiteX2" fmla="*/ 12678 w 60713"/>
                  <a:gd name="connsiteY2" fmla="*/ 12011 h 62143"/>
                  <a:gd name="connsiteX3" fmla="*/ 1 w 60713"/>
                  <a:gd name="connsiteY3" fmla="*/ 62121 h 62143"/>
                  <a:gd name="connsiteX4" fmla="*/ 33564 w 60713"/>
                  <a:gd name="connsiteY4" fmla="*/ 12495 h 62143"/>
                  <a:gd name="connsiteX5" fmla="*/ 60062 w 60713"/>
                  <a:gd name="connsiteY5" fmla="*/ 27187 h 62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713" h="62143">
                    <a:moveTo>
                      <a:pt x="60062" y="27187"/>
                    </a:moveTo>
                    <a:cubicBezTo>
                      <a:pt x="64465" y="27026"/>
                      <a:pt x="45482" y="4092"/>
                      <a:pt x="35290" y="995"/>
                    </a:cubicBezTo>
                    <a:cubicBezTo>
                      <a:pt x="20548" y="-3472"/>
                      <a:pt x="14807" y="8334"/>
                      <a:pt x="12678" y="12011"/>
                    </a:cubicBezTo>
                    <a:cubicBezTo>
                      <a:pt x="-386" y="34623"/>
                      <a:pt x="1" y="62121"/>
                      <a:pt x="1" y="62121"/>
                    </a:cubicBezTo>
                    <a:cubicBezTo>
                      <a:pt x="3662" y="63298"/>
                      <a:pt x="10597" y="17930"/>
                      <a:pt x="33564" y="12495"/>
                    </a:cubicBezTo>
                    <a:cubicBezTo>
                      <a:pt x="36789" y="11737"/>
                      <a:pt x="29709" y="28316"/>
                      <a:pt x="60062" y="27187"/>
                    </a:cubicBezTo>
                    <a:close/>
                  </a:path>
                </a:pathLst>
              </a:custGeom>
              <a:solidFill>
                <a:srgbClr val="757575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1FE0EA0-3AC9-02A5-49C7-5C5E68651050}"/>
                  </a:ext>
                </a:extLst>
              </p:cNvPr>
              <p:cNvSpPr/>
              <p:nvPr/>
            </p:nvSpPr>
            <p:spPr>
              <a:xfrm>
                <a:off x="5300637" y="2932916"/>
                <a:ext cx="60494" cy="62143"/>
              </a:xfrm>
              <a:custGeom>
                <a:avLst/>
                <a:gdLst>
                  <a:gd name="connsiteX0" fmla="*/ 432 w 60494"/>
                  <a:gd name="connsiteY0" fmla="*/ 27187 h 62143"/>
                  <a:gd name="connsiteX1" fmla="*/ 25205 w 60494"/>
                  <a:gd name="connsiteY1" fmla="*/ 995 h 62143"/>
                  <a:gd name="connsiteX2" fmla="*/ 47817 w 60494"/>
                  <a:gd name="connsiteY2" fmla="*/ 12011 h 62143"/>
                  <a:gd name="connsiteX3" fmla="*/ 60494 w 60494"/>
                  <a:gd name="connsiteY3" fmla="*/ 62121 h 62143"/>
                  <a:gd name="connsiteX4" fmla="*/ 28770 w 60494"/>
                  <a:gd name="connsiteY4" fmla="*/ 13043 h 62143"/>
                  <a:gd name="connsiteX5" fmla="*/ 432 w 60494"/>
                  <a:gd name="connsiteY5" fmla="*/ 27187 h 62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494" h="62143">
                    <a:moveTo>
                      <a:pt x="432" y="27187"/>
                    </a:moveTo>
                    <a:cubicBezTo>
                      <a:pt x="-3019" y="29929"/>
                      <a:pt x="15012" y="4092"/>
                      <a:pt x="25205" y="995"/>
                    </a:cubicBezTo>
                    <a:cubicBezTo>
                      <a:pt x="39946" y="-3472"/>
                      <a:pt x="45688" y="8334"/>
                      <a:pt x="47817" y="12011"/>
                    </a:cubicBezTo>
                    <a:cubicBezTo>
                      <a:pt x="60881" y="34623"/>
                      <a:pt x="60494" y="62121"/>
                      <a:pt x="60494" y="62121"/>
                    </a:cubicBezTo>
                    <a:cubicBezTo>
                      <a:pt x="56833" y="63298"/>
                      <a:pt x="51752" y="18478"/>
                      <a:pt x="28770" y="13043"/>
                    </a:cubicBezTo>
                    <a:cubicBezTo>
                      <a:pt x="25544" y="12285"/>
                      <a:pt x="9142" y="20252"/>
                      <a:pt x="432" y="27187"/>
                    </a:cubicBezTo>
                    <a:close/>
                  </a:path>
                </a:pathLst>
              </a:custGeom>
              <a:solidFill>
                <a:srgbClr val="757575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6405755-A3F4-2791-1959-56C968D45C44}"/>
                </a:ext>
              </a:extLst>
            </p:cNvPr>
            <p:cNvSpPr/>
            <p:nvPr/>
          </p:nvSpPr>
          <p:spPr>
            <a:xfrm>
              <a:off x="5393575" y="3024729"/>
              <a:ext cx="268890" cy="100477"/>
            </a:xfrm>
            <a:custGeom>
              <a:avLst/>
              <a:gdLst>
                <a:gd name="connsiteX0" fmla="*/ 181 w 252870"/>
                <a:gd name="connsiteY0" fmla="*/ 27962 h 94491"/>
                <a:gd name="connsiteX1" fmla="*/ 51259 w 252870"/>
                <a:gd name="connsiteY1" fmla="*/ 71540 h 94491"/>
                <a:gd name="connsiteX2" fmla="*/ 178961 w 252870"/>
                <a:gd name="connsiteY2" fmla="*/ 87314 h 94491"/>
                <a:gd name="connsiteX3" fmla="*/ 252586 w 252870"/>
                <a:gd name="connsiteY3" fmla="*/ 30220 h 94491"/>
                <a:gd name="connsiteX4" fmla="*/ 181 w 252870"/>
                <a:gd name="connsiteY4" fmla="*/ 27962 h 9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870" h="94491">
                  <a:moveTo>
                    <a:pt x="181" y="27962"/>
                  </a:moveTo>
                  <a:cubicBezTo>
                    <a:pt x="-2819" y="42752"/>
                    <a:pt x="32163" y="61380"/>
                    <a:pt x="51259" y="71540"/>
                  </a:cubicBezTo>
                  <a:cubicBezTo>
                    <a:pt x="67016" y="79927"/>
                    <a:pt x="118578" y="107361"/>
                    <a:pt x="178961" y="87314"/>
                  </a:cubicBezTo>
                  <a:cubicBezTo>
                    <a:pt x="209895" y="77040"/>
                    <a:pt x="256957" y="49735"/>
                    <a:pt x="252586" y="30220"/>
                  </a:cubicBezTo>
                  <a:cubicBezTo>
                    <a:pt x="243377" y="-10923"/>
                    <a:pt x="7568" y="-8471"/>
                    <a:pt x="181" y="27962"/>
                  </a:cubicBezTo>
                  <a:close/>
                </a:path>
              </a:pathLst>
            </a:custGeom>
            <a:solidFill>
              <a:srgbClr val="757575"/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754190F7-90DA-C445-38B9-8B9720D80A13}"/>
                </a:ext>
              </a:extLst>
            </p:cNvPr>
            <p:cNvSpPr/>
            <p:nvPr/>
          </p:nvSpPr>
          <p:spPr>
            <a:xfrm>
              <a:off x="5399057" y="3186052"/>
              <a:ext cx="292649" cy="215635"/>
            </a:xfrm>
            <a:custGeom>
              <a:avLst/>
              <a:gdLst>
                <a:gd name="connsiteX0" fmla="*/ 266429 w 275214"/>
                <a:gd name="connsiteY0" fmla="*/ 921 h 202788"/>
                <a:gd name="connsiteX1" fmla="*/ 256575 w 275214"/>
                <a:gd name="connsiteY1" fmla="*/ 67 h 202788"/>
                <a:gd name="connsiteX2" fmla="*/ 218480 w 275214"/>
                <a:gd name="connsiteY2" fmla="*/ 106657 h 202788"/>
                <a:gd name="connsiteX3" fmla="*/ 92875 w 275214"/>
                <a:gd name="connsiteY3" fmla="*/ 141188 h 202788"/>
                <a:gd name="connsiteX4" fmla="*/ 2428 w 275214"/>
                <a:gd name="connsiteY4" fmla="*/ 95819 h 202788"/>
                <a:gd name="connsiteX5" fmla="*/ 31830 w 275214"/>
                <a:gd name="connsiteY5" fmla="*/ 168299 h 202788"/>
                <a:gd name="connsiteX6" fmla="*/ 231657 w 275214"/>
                <a:gd name="connsiteY6" fmla="*/ 162283 h 202788"/>
                <a:gd name="connsiteX7" fmla="*/ 266429 w 275214"/>
                <a:gd name="connsiteY7" fmla="*/ 921 h 20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5214" h="202788">
                  <a:moveTo>
                    <a:pt x="266429" y="921"/>
                  </a:moveTo>
                  <a:cubicBezTo>
                    <a:pt x="286460" y="1454"/>
                    <a:pt x="267461" y="2953"/>
                    <a:pt x="256575" y="67"/>
                  </a:cubicBezTo>
                  <a:cubicBezTo>
                    <a:pt x="246834" y="-2530"/>
                    <a:pt x="243592" y="71530"/>
                    <a:pt x="218480" y="106657"/>
                  </a:cubicBezTo>
                  <a:cubicBezTo>
                    <a:pt x="197030" y="136672"/>
                    <a:pt x="144114" y="150332"/>
                    <a:pt x="92875" y="141188"/>
                  </a:cubicBezTo>
                  <a:cubicBezTo>
                    <a:pt x="36829" y="131188"/>
                    <a:pt x="30007" y="120140"/>
                    <a:pt x="2428" y="95819"/>
                  </a:cubicBezTo>
                  <a:cubicBezTo>
                    <a:pt x="-5684" y="88658"/>
                    <a:pt x="7138" y="144494"/>
                    <a:pt x="31830" y="168299"/>
                  </a:cubicBezTo>
                  <a:cubicBezTo>
                    <a:pt x="80037" y="214764"/>
                    <a:pt x="183418" y="215748"/>
                    <a:pt x="231657" y="162283"/>
                  </a:cubicBezTo>
                  <a:cubicBezTo>
                    <a:pt x="279138" y="109657"/>
                    <a:pt x="262107" y="792"/>
                    <a:pt x="266429" y="921"/>
                  </a:cubicBezTo>
                  <a:close/>
                </a:path>
              </a:pathLst>
            </a:custGeom>
            <a:solidFill>
              <a:srgbClr val="757575"/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5F4334B1-C0D7-9050-9CCD-4442CAE8E6E6}"/>
                </a:ext>
              </a:extLst>
            </p:cNvPr>
            <p:cNvSpPr/>
            <p:nvPr/>
          </p:nvSpPr>
          <p:spPr>
            <a:xfrm>
              <a:off x="5339052" y="3070042"/>
              <a:ext cx="388782" cy="285289"/>
            </a:xfrm>
            <a:custGeom>
              <a:avLst/>
              <a:gdLst>
                <a:gd name="connsiteX0" fmla="*/ 348147 w 365620"/>
                <a:gd name="connsiteY0" fmla="*/ 21460 h 268292"/>
                <a:gd name="connsiteX1" fmla="*/ 270168 w 365620"/>
                <a:gd name="connsiteY1" fmla="*/ 20476 h 268292"/>
                <a:gd name="connsiteX2" fmla="*/ 181399 w 365620"/>
                <a:gd name="connsiteY2" fmla="*/ 42281 h 268292"/>
                <a:gd name="connsiteX3" fmla="*/ 17489 w 365620"/>
                <a:gd name="connsiteY3" fmla="*/ 21476 h 268292"/>
                <a:gd name="connsiteX4" fmla="*/ 9941 w 365620"/>
                <a:gd name="connsiteY4" fmla="*/ 96585 h 268292"/>
                <a:gd name="connsiteX5" fmla="*/ 42004 w 365620"/>
                <a:gd name="connsiteY5" fmla="*/ 86682 h 268292"/>
                <a:gd name="connsiteX6" fmla="*/ 61938 w 365620"/>
                <a:gd name="connsiteY6" fmla="*/ 132599 h 268292"/>
                <a:gd name="connsiteX7" fmla="*/ 85791 w 365620"/>
                <a:gd name="connsiteY7" fmla="*/ 234093 h 268292"/>
                <a:gd name="connsiteX8" fmla="*/ 280780 w 365620"/>
                <a:gd name="connsiteY8" fmla="*/ 230884 h 268292"/>
                <a:gd name="connsiteX9" fmla="*/ 302279 w 365620"/>
                <a:gd name="connsiteY9" fmla="*/ 147050 h 268292"/>
                <a:gd name="connsiteX10" fmla="*/ 322681 w 365620"/>
                <a:gd name="connsiteY10" fmla="*/ 86489 h 268292"/>
                <a:gd name="connsiteX11" fmla="*/ 355679 w 365620"/>
                <a:gd name="connsiteY11" fmla="*/ 96569 h 268292"/>
                <a:gd name="connsiteX12" fmla="*/ 348131 w 365620"/>
                <a:gd name="connsiteY12" fmla="*/ 21460 h 26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5620" h="268292">
                  <a:moveTo>
                    <a:pt x="348147" y="21460"/>
                  </a:moveTo>
                  <a:cubicBezTo>
                    <a:pt x="317601" y="-12990"/>
                    <a:pt x="301198" y="-394"/>
                    <a:pt x="270168" y="20476"/>
                  </a:cubicBezTo>
                  <a:cubicBezTo>
                    <a:pt x="255975" y="30201"/>
                    <a:pt x="216171" y="42281"/>
                    <a:pt x="181399" y="42281"/>
                  </a:cubicBezTo>
                  <a:cubicBezTo>
                    <a:pt x="92001" y="42297"/>
                    <a:pt x="61438" y="-31795"/>
                    <a:pt x="17489" y="21476"/>
                  </a:cubicBezTo>
                  <a:cubicBezTo>
                    <a:pt x="-2462" y="45507"/>
                    <a:pt x="-5848" y="77570"/>
                    <a:pt x="9941" y="96585"/>
                  </a:cubicBezTo>
                  <a:cubicBezTo>
                    <a:pt x="14537" y="102133"/>
                    <a:pt x="38972" y="87214"/>
                    <a:pt x="42004" y="86682"/>
                  </a:cubicBezTo>
                  <a:cubicBezTo>
                    <a:pt x="52890" y="84795"/>
                    <a:pt x="62502" y="119358"/>
                    <a:pt x="61938" y="132599"/>
                  </a:cubicBezTo>
                  <a:cubicBezTo>
                    <a:pt x="63035" y="167129"/>
                    <a:pt x="56180" y="211933"/>
                    <a:pt x="85791" y="234093"/>
                  </a:cubicBezTo>
                  <a:cubicBezTo>
                    <a:pt x="137821" y="279849"/>
                    <a:pt x="232751" y="280590"/>
                    <a:pt x="280780" y="230884"/>
                  </a:cubicBezTo>
                  <a:cubicBezTo>
                    <a:pt x="300989" y="209965"/>
                    <a:pt x="301473" y="167290"/>
                    <a:pt x="302279" y="147050"/>
                  </a:cubicBezTo>
                  <a:cubicBezTo>
                    <a:pt x="301505" y="130873"/>
                    <a:pt x="306472" y="87779"/>
                    <a:pt x="322681" y="86489"/>
                  </a:cubicBezTo>
                  <a:cubicBezTo>
                    <a:pt x="325068" y="86956"/>
                    <a:pt x="348905" y="104745"/>
                    <a:pt x="355679" y="96569"/>
                  </a:cubicBezTo>
                  <a:cubicBezTo>
                    <a:pt x="371469" y="77554"/>
                    <a:pt x="368082" y="45491"/>
                    <a:pt x="348131" y="21460"/>
                  </a:cubicBezTo>
                  <a:close/>
                </a:path>
              </a:pathLst>
            </a:custGeom>
            <a:noFill/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93" name="Graphic 1033">
              <a:extLst>
                <a:ext uri="{FF2B5EF4-FFF2-40B4-BE49-F238E27FC236}">
                  <a16:creationId xmlns:a16="http://schemas.microsoft.com/office/drawing/2014/main" id="{44087379-4AC5-8D87-CB90-66DE239A6F41}"/>
                </a:ext>
              </a:extLst>
            </p:cNvPr>
            <p:cNvGrpSpPr/>
            <p:nvPr/>
          </p:nvGrpSpPr>
          <p:grpSpPr>
            <a:xfrm>
              <a:off x="5334226" y="2755976"/>
              <a:ext cx="398322" cy="380772"/>
              <a:chOff x="5279909" y="2563568"/>
              <a:chExt cx="374592" cy="358087"/>
            </a:xfrm>
          </p:grpSpPr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A85E6C81-18C1-1886-1386-1E33BDC76113}"/>
                  </a:ext>
                </a:extLst>
              </p:cNvPr>
              <p:cNvSpPr/>
              <p:nvPr/>
            </p:nvSpPr>
            <p:spPr>
              <a:xfrm>
                <a:off x="5315746" y="2653557"/>
                <a:ext cx="302998" cy="244840"/>
              </a:xfrm>
              <a:custGeom>
                <a:avLst/>
                <a:gdLst>
                  <a:gd name="connsiteX0" fmla="*/ 227374 w 302998"/>
                  <a:gd name="connsiteY0" fmla="*/ 16451 h 244840"/>
                  <a:gd name="connsiteX1" fmla="*/ 225455 w 302998"/>
                  <a:gd name="connsiteY1" fmla="*/ 15564 h 244840"/>
                  <a:gd name="connsiteX2" fmla="*/ 151507 w 302998"/>
                  <a:gd name="connsiteY2" fmla="*/ 0 h 244840"/>
                  <a:gd name="connsiteX3" fmla="*/ 77560 w 302998"/>
                  <a:gd name="connsiteY3" fmla="*/ 15564 h 244840"/>
                  <a:gd name="connsiteX4" fmla="*/ 75641 w 302998"/>
                  <a:gd name="connsiteY4" fmla="*/ 16467 h 244840"/>
                  <a:gd name="connsiteX5" fmla="*/ 19402 w 302998"/>
                  <a:gd name="connsiteY5" fmla="*/ 62448 h 244840"/>
                  <a:gd name="connsiteX6" fmla="*/ 0 w 302998"/>
                  <a:gd name="connsiteY6" fmla="*/ 122429 h 244840"/>
                  <a:gd name="connsiteX7" fmla="*/ 16467 w 302998"/>
                  <a:gd name="connsiteY7" fmla="*/ 177990 h 244840"/>
                  <a:gd name="connsiteX8" fmla="*/ 54207 w 302998"/>
                  <a:gd name="connsiteY8" fmla="*/ 216262 h 244840"/>
                  <a:gd name="connsiteX9" fmla="*/ 151491 w 302998"/>
                  <a:gd name="connsiteY9" fmla="*/ 244841 h 244840"/>
                  <a:gd name="connsiteX10" fmla="*/ 252647 w 302998"/>
                  <a:gd name="connsiteY10" fmla="*/ 213552 h 244840"/>
                  <a:gd name="connsiteX11" fmla="*/ 302999 w 302998"/>
                  <a:gd name="connsiteY11" fmla="*/ 122412 h 244840"/>
                  <a:gd name="connsiteX12" fmla="*/ 227358 w 302998"/>
                  <a:gd name="connsiteY12" fmla="*/ 16435 h 24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2998" h="244840">
                    <a:moveTo>
                      <a:pt x="227374" y="16451"/>
                    </a:moveTo>
                    <a:cubicBezTo>
                      <a:pt x="226745" y="16160"/>
                      <a:pt x="226100" y="15854"/>
                      <a:pt x="225455" y="15564"/>
                    </a:cubicBezTo>
                    <a:cubicBezTo>
                      <a:pt x="203585" y="5661"/>
                      <a:pt x="178361" y="0"/>
                      <a:pt x="151507" y="0"/>
                    </a:cubicBezTo>
                    <a:cubicBezTo>
                      <a:pt x="124654" y="0"/>
                      <a:pt x="99430" y="5661"/>
                      <a:pt x="77560" y="15564"/>
                    </a:cubicBezTo>
                    <a:cubicBezTo>
                      <a:pt x="76915" y="15854"/>
                      <a:pt x="76286" y="16160"/>
                      <a:pt x="75641" y="16467"/>
                    </a:cubicBezTo>
                    <a:cubicBezTo>
                      <a:pt x="52191" y="27450"/>
                      <a:pt x="32724" y="43352"/>
                      <a:pt x="19402" y="62448"/>
                    </a:cubicBezTo>
                    <a:cubicBezTo>
                      <a:pt x="7048" y="80173"/>
                      <a:pt x="0" y="100639"/>
                      <a:pt x="0" y="122429"/>
                    </a:cubicBezTo>
                    <a:cubicBezTo>
                      <a:pt x="0" y="142427"/>
                      <a:pt x="5935" y="161313"/>
                      <a:pt x="16467" y="177990"/>
                    </a:cubicBezTo>
                    <a:cubicBezTo>
                      <a:pt x="25773" y="192731"/>
                      <a:pt x="38659" y="205730"/>
                      <a:pt x="54207" y="216262"/>
                    </a:cubicBezTo>
                    <a:cubicBezTo>
                      <a:pt x="80528" y="234100"/>
                      <a:pt x="114461" y="244841"/>
                      <a:pt x="151491" y="244841"/>
                    </a:cubicBezTo>
                    <a:cubicBezTo>
                      <a:pt x="190376" y="244841"/>
                      <a:pt x="225826" y="233003"/>
                      <a:pt x="252647" y="213552"/>
                    </a:cubicBezTo>
                    <a:cubicBezTo>
                      <a:pt x="283548" y="191134"/>
                      <a:pt x="302999" y="158620"/>
                      <a:pt x="302999" y="122412"/>
                    </a:cubicBezTo>
                    <a:cubicBezTo>
                      <a:pt x="302999" y="77141"/>
                      <a:pt x="272581" y="37611"/>
                      <a:pt x="227358" y="16435"/>
                    </a:cubicBezTo>
                    <a:close/>
                  </a:path>
                </a:pathLst>
              </a:custGeom>
              <a:solidFill>
                <a:srgbClr val="B3B3B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00" name="Graphic 1033">
                <a:extLst>
                  <a:ext uri="{FF2B5EF4-FFF2-40B4-BE49-F238E27FC236}">
                    <a16:creationId xmlns:a16="http://schemas.microsoft.com/office/drawing/2014/main" id="{0078F81F-6C41-4E7B-FBE0-330708BB5303}"/>
                  </a:ext>
                </a:extLst>
              </p:cNvPr>
              <p:cNvGrpSpPr/>
              <p:nvPr/>
            </p:nvGrpSpPr>
            <p:grpSpPr>
              <a:xfrm>
                <a:off x="5456794" y="2563568"/>
                <a:ext cx="20902" cy="83360"/>
                <a:chOff x="5456794" y="2563568"/>
                <a:chExt cx="20902" cy="83360"/>
              </a:xfrm>
              <a:solidFill>
                <a:srgbClr val="B3B3B3"/>
              </a:solidFill>
            </p:grpSpPr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A0F6A8E0-93A6-C803-5F41-8031FD9F68B6}"/>
                    </a:ext>
                  </a:extLst>
                </p:cNvPr>
                <p:cNvSpPr/>
                <p:nvPr/>
              </p:nvSpPr>
              <p:spPr>
                <a:xfrm>
                  <a:off x="5465479" y="2579674"/>
                  <a:ext cx="3548" cy="67254"/>
                </a:xfrm>
                <a:custGeom>
                  <a:avLst/>
                  <a:gdLst>
                    <a:gd name="connsiteX0" fmla="*/ 0 w 3548"/>
                    <a:gd name="connsiteY0" fmla="*/ 0 h 67254"/>
                    <a:gd name="connsiteX1" fmla="*/ 3548 w 3548"/>
                    <a:gd name="connsiteY1" fmla="*/ 0 h 67254"/>
                    <a:gd name="connsiteX2" fmla="*/ 3548 w 3548"/>
                    <a:gd name="connsiteY2" fmla="*/ 67254 h 67254"/>
                    <a:gd name="connsiteX3" fmla="*/ 0 w 3548"/>
                    <a:gd name="connsiteY3" fmla="*/ 67254 h 67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48" h="67254">
                      <a:moveTo>
                        <a:pt x="0" y="0"/>
                      </a:moveTo>
                      <a:lnTo>
                        <a:pt x="3548" y="0"/>
                      </a:lnTo>
                      <a:lnTo>
                        <a:pt x="3548" y="67254"/>
                      </a:lnTo>
                      <a:lnTo>
                        <a:pt x="0" y="67254"/>
                      </a:lnTo>
                      <a:close/>
                    </a:path>
                  </a:pathLst>
                </a:custGeom>
                <a:solidFill>
                  <a:srgbClr val="B3B3B3"/>
                </a:solidFill>
                <a:ln w="16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: Shape 215">
                  <a:extLst>
                    <a:ext uri="{FF2B5EF4-FFF2-40B4-BE49-F238E27FC236}">
                      <a16:creationId xmlns:a16="http://schemas.microsoft.com/office/drawing/2014/main" id="{B24418AA-63FA-005C-DCC7-9AB2415D4EBF}"/>
                    </a:ext>
                  </a:extLst>
                </p:cNvPr>
                <p:cNvSpPr/>
                <p:nvPr/>
              </p:nvSpPr>
              <p:spPr>
                <a:xfrm rot="-1349998">
                  <a:off x="5456794" y="2563568"/>
                  <a:ext cx="20902" cy="20902"/>
                </a:xfrm>
                <a:custGeom>
                  <a:avLst/>
                  <a:gdLst>
                    <a:gd name="connsiteX0" fmla="*/ 20902 w 20902"/>
                    <a:gd name="connsiteY0" fmla="*/ 10451 h 20902"/>
                    <a:gd name="connsiteX1" fmla="*/ 10451 w 20902"/>
                    <a:gd name="connsiteY1" fmla="*/ 20902 h 20902"/>
                    <a:gd name="connsiteX2" fmla="*/ 0 w 20902"/>
                    <a:gd name="connsiteY2" fmla="*/ 10451 h 20902"/>
                    <a:gd name="connsiteX3" fmla="*/ 10451 w 20902"/>
                    <a:gd name="connsiteY3" fmla="*/ 0 h 20902"/>
                    <a:gd name="connsiteX4" fmla="*/ 20902 w 20902"/>
                    <a:gd name="connsiteY4" fmla="*/ 10451 h 20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02" h="20902">
                      <a:moveTo>
                        <a:pt x="20902" y="10451"/>
                      </a:moveTo>
                      <a:cubicBezTo>
                        <a:pt x="20902" y="16223"/>
                        <a:pt x="16223" y="20902"/>
                        <a:pt x="10451" y="20902"/>
                      </a:cubicBezTo>
                      <a:cubicBezTo>
                        <a:pt x="4679" y="20902"/>
                        <a:pt x="0" y="16223"/>
                        <a:pt x="0" y="10451"/>
                      </a:cubicBezTo>
                      <a:cubicBezTo>
                        <a:pt x="0" y="4679"/>
                        <a:pt x="4679" y="0"/>
                        <a:pt x="10451" y="0"/>
                      </a:cubicBezTo>
                      <a:cubicBezTo>
                        <a:pt x="16223" y="0"/>
                        <a:pt x="20902" y="4679"/>
                        <a:pt x="20902" y="10451"/>
                      </a:cubicBezTo>
                      <a:close/>
                    </a:path>
                  </a:pathLst>
                </a:custGeom>
                <a:solidFill>
                  <a:srgbClr val="B3B3B3"/>
                </a:solidFill>
                <a:ln w="16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FA456C21-0B40-49FF-E38B-ED97248FBFCC}"/>
                  </a:ext>
                </a:extLst>
              </p:cNvPr>
              <p:cNvSpPr/>
              <p:nvPr/>
            </p:nvSpPr>
            <p:spPr>
              <a:xfrm>
                <a:off x="5391129" y="2653557"/>
                <a:ext cx="152217" cy="78801"/>
              </a:xfrm>
              <a:custGeom>
                <a:avLst/>
                <a:gdLst>
                  <a:gd name="connsiteX0" fmla="*/ 76125 w 152217"/>
                  <a:gd name="connsiteY0" fmla="*/ 78802 h 78801"/>
                  <a:gd name="connsiteX1" fmla="*/ 152217 w 152217"/>
                  <a:gd name="connsiteY1" fmla="*/ 20967 h 78801"/>
                  <a:gd name="connsiteX2" fmla="*/ 151975 w 152217"/>
                  <a:gd name="connsiteY2" fmla="*/ 16451 h 78801"/>
                  <a:gd name="connsiteX3" fmla="*/ 150056 w 152217"/>
                  <a:gd name="connsiteY3" fmla="*/ 15564 h 78801"/>
                  <a:gd name="connsiteX4" fmla="*/ 76109 w 152217"/>
                  <a:gd name="connsiteY4" fmla="*/ 0 h 78801"/>
                  <a:gd name="connsiteX5" fmla="*/ 2161 w 152217"/>
                  <a:gd name="connsiteY5" fmla="*/ 15564 h 78801"/>
                  <a:gd name="connsiteX6" fmla="*/ 242 w 152217"/>
                  <a:gd name="connsiteY6" fmla="*/ 16467 h 78801"/>
                  <a:gd name="connsiteX7" fmla="*/ 0 w 152217"/>
                  <a:gd name="connsiteY7" fmla="*/ 20950 h 78801"/>
                  <a:gd name="connsiteX8" fmla="*/ 76092 w 152217"/>
                  <a:gd name="connsiteY8" fmla="*/ 78786 h 78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2217" h="78801">
                    <a:moveTo>
                      <a:pt x="76125" y="78802"/>
                    </a:moveTo>
                    <a:cubicBezTo>
                      <a:pt x="118155" y="78802"/>
                      <a:pt x="152217" y="52900"/>
                      <a:pt x="152217" y="20967"/>
                    </a:cubicBezTo>
                    <a:cubicBezTo>
                      <a:pt x="152217" y="19451"/>
                      <a:pt x="152136" y="17951"/>
                      <a:pt x="151975" y="16451"/>
                    </a:cubicBezTo>
                    <a:cubicBezTo>
                      <a:pt x="151346" y="16160"/>
                      <a:pt x="150701" y="15854"/>
                      <a:pt x="150056" y="15564"/>
                    </a:cubicBezTo>
                    <a:cubicBezTo>
                      <a:pt x="128186" y="5661"/>
                      <a:pt x="102962" y="0"/>
                      <a:pt x="76109" y="0"/>
                    </a:cubicBezTo>
                    <a:cubicBezTo>
                      <a:pt x="49255" y="0"/>
                      <a:pt x="24031" y="5661"/>
                      <a:pt x="2161" y="15564"/>
                    </a:cubicBezTo>
                    <a:cubicBezTo>
                      <a:pt x="1516" y="15854"/>
                      <a:pt x="887" y="16160"/>
                      <a:pt x="242" y="16467"/>
                    </a:cubicBezTo>
                    <a:cubicBezTo>
                      <a:pt x="97" y="17951"/>
                      <a:pt x="0" y="19434"/>
                      <a:pt x="0" y="20950"/>
                    </a:cubicBezTo>
                    <a:cubicBezTo>
                      <a:pt x="0" y="52900"/>
                      <a:pt x="34079" y="78786"/>
                      <a:pt x="76092" y="78786"/>
                    </a:cubicBezTo>
                    <a:close/>
                  </a:path>
                </a:pathLst>
              </a:custGeom>
              <a:solidFill>
                <a:srgbClr val="757575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62060653-DBF9-8AB5-4243-6A0BD4C64EA3}"/>
                  </a:ext>
                </a:extLst>
              </p:cNvPr>
              <p:cNvSpPr/>
              <p:nvPr/>
            </p:nvSpPr>
            <p:spPr>
              <a:xfrm>
                <a:off x="5353889" y="2751309"/>
                <a:ext cx="229631" cy="130363"/>
              </a:xfrm>
              <a:custGeom>
                <a:avLst/>
                <a:gdLst>
                  <a:gd name="connsiteX0" fmla="*/ 114816 w 229631"/>
                  <a:gd name="connsiteY0" fmla="*/ 130364 h 130363"/>
                  <a:gd name="connsiteX1" fmla="*/ 34498 w 229631"/>
                  <a:gd name="connsiteY1" fmla="*/ 110720 h 130363"/>
                  <a:gd name="connsiteX2" fmla="*/ 0 w 229631"/>
                  <a:gd name="connsiteY2" fmla="*/ 55448 h 130363"/>
                  <a:gd name="connsiteX3" fmla="*/ 115397 w 229631"/>
                  <a:gd name="connsiteY3" fmla="*/ 0 h 130363"/>
                  <a:gd name="connsiteX4" fmla="*/ 192537 w 229631"/>
                  <a:gd name="connsiteY4" fmla="*/ 12999 h 130363"/>
                  <a:gd name="connsiteX5" fmla="*/ 229632 w 229631"/>
                  <a:gd name="connsiteY5" fmla="*/ 55448 h 130363"/>
                  <a:gd name="connsiteX6" fmla="*/ 195134 w 229631"/>
                  <a:gd name="connsiteY6" fmla="*/ 110720 h 130363"/>
                  <a:gd name="connsiteX7" fmla="*/ 114816 w 229631"/>
                  <a:gd name="connsiteY7" fmla="*/ 130364 h 130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9631" h="130363">
                    <a:moveTo>
                      <a:pt x="114816" y="130364"/>
                    </a:moveTo>
                    <a:cubicBezTo>
                      <a:pt x="83769" y="130364"/>
                      <a:pt x="55239" y="123380"/>
                      <a:pt x="34498" y="110720"/>
                    </a:cubicBezTo>
                    <a:cubicBezTo>
                      <a:pt x="12257" y="97140"/>
                      <a:pt x="0" y="77512"/>
                      <a:pt x="0" y="55448"/>
                    </a:cubicBezTo>
                    <a:cubicBezTo>
                      <a:pt x="0" y="17354"/>
                      <a:pt x="59819" y="0"/>
                      <a:pt x="115397" y="0"/>
                    </a:cubicBezTo>
                    <a:cubicBezTo>
                      <a:pt x="144766" y="0"/>
                      <a:pt x="172168" y="4613"/>
                      <a:pt x="192537" y="12999"/>
                    </a:cubicBezTo>
                    <a:cubicBezTo>
                      <a:pt x="223197" y="25611"/>
                      <a:pt x="229632" y="43046"/>
                      <a:pt x="229632" y="55448"/>
                    </a:cubicBezTo>
                    <a:cubicBezTo>
                      <a:pt x="229632" y="77496"/>
                      <a:pt x="217375" y="97124"/>
                      <a:pt x="195134" y="110720"/>
                    </a:cubicBezTo>
                    <a:cubicBezTo>
                      <a:pt x="174393" y="123396"/>
                      <a:pt x="145863" y="130364"/>
                      <a:pt x="114816" y="130364"/>
                    </a:cubicBezTo>
                    <a:close/>
                  </a:path>
                </a:pathLst>
              </a:custGeom>
              <a:solidFill>
                <a:srgbClr val="757575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D6DFEF7B-6E94-B647-FD67-96E44A6045F0}"/>
                  </a:ext>
                </a:extLst>
              </p:cNvPr>
              <p:cNvSpPr/>
              <p:nvPr/>
            </p:nvSpPr>
            <p:spPr>
              <a:xfrm>
                <a:off x="5391177" y="2639977"/>
                <a:ext cx="152184" cy="87107"/>
              </a:xfrm>
              <a:custGeom>
                <a:avLst/>
                <a:gdLst>
                  <a:gd name="connsiteX0" fmla="*/ 151943 w 152184"/>
                  <a:gd name="connsiteY0" fmla="*/ 24757 h 87107"/>
                  <a:gd name="connsiteX1" fmla="*/ 151943 w 152184"/>
                  <a:gd name="connsiteY1" fmla="*/ 24660 h 87107"/>
                  <a:gd name="connsiteX2" fmla="*/ 142379 w 152184"/>
                  <a:gd name="connsiteY2" fmla="*/ 12322 h 87107"/>
                  <a:gd name="connsiteX3" fmla="*/ 76092 w 152184"/>
                  <a:gd name="connsiteY3" fmla="*/ 0 h 87107"/>
                  <a:gd name="connsiteX4" fmla="*/ 9806 w 152184"/>
                  <a:gd name="connsiteY4" fmla="*/ 12322 h 87107"/>
                  <a:gd name="connsiteX5" fmla="*/ 242 w 152184"/>
                  <a:gd name="connsiteY5" fmla="*/ 24676 h 87107"/>
                  <a:gd name="connsiteX6" fmla="*/ 242 w 152184"/>
                  <a:gd name="connsiteY6" fmla="*/ 24789 h 87107"/>
                  <a:gd name="connsiteX7" fmla="*/ 0 w 152184"/>
                  <a:gd name="connsiteY7" fmla="*/ 29273 h 87107"/>
                  <a:gd name="connsiteX8" fmla="*/ 76092 w 152184"/>
                  <a:gd name="connsiteY8" fmla="*/ 87108 h 87107"/>
                  <a:gd name="connsiteX9" fmla="*/ 152185 w 152184"/>
                  <a:gd name="connsiteY9" fmla="*/ 29273 h 87107"/>
                  <a:gd name="connsiteX10" fmla="*/ 151943 w 152184"/>
                  <a:gd name="connsiteY10" fmla="*/ 24757 h 8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2184" h="87107">
                    <a:moveTo>
                      <a:pt x="151943" y="24757"/>
                    </a:moveTo>
                    <a:cubicBezTo>
                      <a:pt x="151943" y="24757"/>
                      <a:pt x="151943" y="24692"/>
                      <a:pt x="151943" y="24660"/>
                    </a:cubicBezTo>
                    <a:cubicBezTo>
                      <a:pt x="151362" y="19080"/>
                      <a:pt x="147588" y="14370"/>
                      <a:pt x="142379" y="12322"/>
                    </a:cubicBezTo>
                    <a:cubicBezTo>
                      <a:pt x="122364" y="4435"/>
                      <a:pt x="99865" y="0"/>
                      <a:pt x="76092" y="0"/>
                    </a:cubicBezTo>
                    <a:cubicBezTo>
                      <a:pt x="52320" y="0"/>
                      <a:pt x="29821" y="4435"/>
                      <a:pt x="9806" y="12322"/>
                    </a:cubicBezTo>
                    <a:cubicBezTo>
                      <a:pt x="4597" y="14370"/>
                      <a:pt x="823" y="19096"/>
                      <a:pt x="242" y="24676"/>
                    </a:cubicBezTo>
                    <a:cubicBezTo>
                      <a:pt x="242" y="24708"/>
                      <a:pt x="242" y="24741"/>
                      <a:pt x="242" y="24789"/>
                    </a:cubicBezTo>
                    <a:cubicBezTo>
                      <a:pt x="97" y="26273"/>
                      <a:pt x="0" y="27756"/>
                      <a:pt x="0" y="29273"/>
                    </a:cubicBezTo>
                    <a:cubicBezTo>
                      <a:pt x="0" y="61222"/>
                      <a:pt x="34079" y="87108"/>
                      <a:pt x="76092" y="87108"/>
                    </a:cubicBezTo>
                    <a:cubicBezTo>
                      <a:pt x="118106" y="87108"/>
                      <a:pt x="152185" y="61206"/>
                      <a:pt x="152185" y="29273"/>
                    </a:cubicBezTo>
                    <a:cubicBezTo>
                      <a:pt x="152185" y="27756"/>
                      <a:pt x="152104" y="26257"/>
                      <a:pt x="151943" y="24757"/>
                    </a:cubicBezTo>
                    <a:close/>
                  </a:path>
                </a:pathLst>
              </a:custGeom>
              <a:solidFill>
                <a:srgbClr val="B3B3B3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04" name="Graphic 1033">
                <a:extLst>
                  <a:ext uri="{FF2B5EF4-FFF2-40B4-BE49-F238E27FC236}">
                    <a16:creationId xmlns:a16="http://schemas.microsoft.com/office/drawing/2014/main" id="{B54927C2-EB98-EF7F-B73E-6E5ECEAD7830}"/>
                  </a:ext>
                </a:extLst>
              </p:cNvPr>
              <p:cNvGrpSpPr/>
              <p:nvPr/>
            </p:nvGrpSpPr>
            <p:grpSpPr>
              <a:xfrm>
                <a:off x="5411353" y="2800710"/>
                <a:ext cx="114703" cy="47932"/>
                <a:chOff x="5411353" y="2800710"/>
                <a:chExt cx="114703" cy="47932"/>
              </a:xfrm>
            </p:grpSpPr>
            <p:grpSp>
              <p:nvGrpSpPr>
                <p:cNvPr id="207" name="Graphic 1033">
                  <a:extLst>
                    <a:ext uri="{FF2B5EF4-FFF2-40B4-BE49-F238E27FC236}">
                      <a16:creationId xmlns:a16="http://schemas.microsoft.com/office/drawing/2014/main" id="{7C838317-5BB6-EF60-7ECE-2778C72AE81E}"/>
                    </a:ext>
                  </a:extLst>
                </p:cNvPr>
                <p:cNvGrpSpPr/>
                <p:nvPr/>
              </p:nvGrpSpPr>
              <p:grpSpPr>
                <a:xfrm>
                  <a:off x="5411353" y="2800710"/>
                  <a:ext cx="39707" cy="47932"/>
                  <a:chOff x="5411353" y="2800710"/>
                  <a:chExt cx="39707" cy="47932"/>
                </a:xfrm>
              </p:grpSpPr>
              <p:sp>
                <p:nvSpPr>
                  <p:cNvPr id="212" name="Freeform: Shape 211">
                    <a:extLst>
                      <a:ext uri="{FF2B5EF4-FFF2-40B4-BE49-F238E27FC236}">
                        <a16:creationId xmlns:a16="http://schemas.microsoft.com/office/drawing/2014/main" id="{156F4252-FCAC-D165-B375-777BEA3254E6}"/>
                      </a:ext>
                    </a:extLst>
                  </p:cNvPr>
                  <p:cNvSpPr/>
                  <p:nvPr/>
                </p:nvSpPr>
                <p:spPr>
                  <a:xfrm>
                    <a:off x="5411353" y="2800710"/>
                    <a:ext cx="39707" cy="47932"/>
                  </a:xfrm>
                  <a:custGeom>
                    <a:avLst/>
                    <a:gdLst>
                      <a:gd name="connsiteX0" fmla="*/ 39707 w 39707"/>
                      <a:gd name="connsiteY0" fmla="*/ 23966 h 47932"/>
                      <a:gd name="connsiteX1" fmla="*/ 19854 w 39707"/>
                      <a:gd name="connsiteY1" fmla="*/ 47933 h 47932"/>
                      <a:gd name="connsiteX2" fmla="*/ 0 w 39707"/>
                      <a:gd name="connsiteY2" fmla="*/ 23966 h 47932"/>
                      <a:gd name="connsiteX3" fmla="*/ 19854 w 39707"/>
                      <a:gd name="connsiteY3" fmla="*/ 0 h 47932"/>
                      <a:gd name="connsiteX4" fmla="*/ 39707 w 39707"/>
                      <a:gd name="connsiteY4" fmla="*/ 23966 h 479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9707" h="47932">
                        <a:moveTo>
                          <a:pt x="39707" y="23966"/>
                        </a:moveTo>
                        <a:cubicBezTo>
                          <a:pt x="39707" y="37203"/>
                          <a:pt x="30819" y="47933"/>
                          <a:pt x="19854" y="47933"/>
                        </a:cubicBezTo>
                        <a:cubicBezTo>
                          <a:pt x="8889" y="47933"/>
                          <a:pt x="0" y="37203"/>
                          <a:pt x="0" y="23966"/>
                        </a:cubicBezTo>
                        <a:cubicBezTo>
                          <a:pt x="0" y="10730"/>
                          <a:pt x="8889" y="0"/>
                          <a:pt x="19854" y="0"/>
                        </a:cubicBezTo>
                        <a:cubicBezTo>
                          <a:pt x="30819" y="0"/>
                          <a:pt x="39707" y="10730"/>
                          <a:pt x="39707" y="23966"/>
                        </a:cubicBezTo>
                        <a:close/>
                      </a:path>
                    </a:pathLst>
                  </a:custGeom>
                  <a:solidFill>
                    <a:srgbClr val="162B57"/>
                  </a:solidFill>
                  <a:ln w="16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3" name="Freeform: Shape 212">
                    <a:extLst>
                      <a:ext uri="{FF2B5EF4-FFF2-40B4-BE49-F238E27FC236}">
                        <a16:creationId xmlns:a16="http://schemas.microsoft.com/office/drawing/2014/main" id="{348ACEC2-AF3F-FF66-6F52-2AF37E9D85C4}"/>
                      </a:ext>
                    </a:extLst>
                  </p:cNvPr>
                  <p:cNvSpPr/>
                  <p:nvPr/>
                </p:nvSpPr>
                <p:spPr>
                  <a:xfrm rot="-421200">
                    <a:off x="5426866" y="2813462"/>
                    <a:ext cx="15934" cy="15934"/>
                  </a:xfrm>
                  <a:custGeom>
                    <a:avLst/>
                    <a:gdLst>
                      <a:gd name="connsiteX0" fmla="*/ 15935 w 15934"/>
                      <a:gd name="connsiteY0" fmla="*/ 7967 h 15934"/>
                      <a:gd name="connsiteX1" fmla="*/ 7967 w 15934"/>
                      <a:gd name="connsiteY1" fmla="*/ 15935 h 15934"/>
                      <a:gd name="connsiteX2" fmla="*/ 0 w 15934"/>
                      <a:gd name="connsiteY2" fmla="*/ 7967 h 15934"/>
                      <a:gd name="connsiteX3" fmla="*/ 7967 w 15934"/>
                      <a:gd name="connsiteY3" fmla="*/ 0 h 15934"/>
                      <a:gd name="connsiteX4" fmla="*/ 15935 w 15934"/>
                      <a:gd name="connsiteY4" fmla="*/ 7967 h 159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934" h="15934">
                        <a:moveTo>
                          <a:pt x="15935" y="7967"/>
                        </a:moveTo>
                        <a:cubicBezTo>
                          <a:pt x="15935" y="12367"/>
                          <a:pt x="12367" y="15935"/>
                          <a:pt x="7967" y="15935"/>
                        </a:cubicBezTo>
                        <a:cubicBezTo>
                          <a:pt x="3567" y="15935"/>
                          <a:pt x="0" y="12367"/>
                          <a:pt x="0" y="7967"/>
                        </a:cubicBezTo>
                        <a:cubicBezTo>
                          <a:pt x="0" y="3567"/>
                          <a:pt x="3567" y="0"/>
                          <a:pt x="7967" y="0"/>
                        </a:cubicBezTo>
                        <a:cubicBezTo>
                          <a:pt x="12367" y="0"/>
                          <a:pt x="15935" y="3567"/>
                          <a:pt x="15935" y="796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6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" name="Freeform: Shape 213">
                    <a:extLst>
                      <a:ext uri="{FF2B5EF4-FFF2-40B4-BE49-F238E27FC236}">
                        <a16:creationId xmlns:a16="http://schemas.microsoft.com/office/drawing/2014/main" id="{9EBE4080-8BE3-9707-07FD-1818525EBF7D}"/>
                      </a:ext>
                    </a:extLst>
                  </p:cNvPr>
                  <p:cNvSpPr/>
                  <p:nvPr/>
                </p:nvSpPr>
                <p:spPr>
                  <a:xfrm>
                    <a:off x="5433129" y="2806089"/>
                    <a:ext cx="9832" cy="10643"/>
                  </a:xfrm>
                  <a:custGeom>
                    <a:avLst/>
                    <a:gdLst>
                      <a:gd name="connsiteX0" fmla="*/ 8916 w 9832"/>
                      <a:gd name="connsiteY0" fmla="*/ 10072 h 10643"/>
                      <a:gd name="connsiteX1" fmla="*/ 2062 w 9832"/>
                      <a:gd name="connsiteY1" fmla="*/ 7733 h 10643"/>
                      <a:gd name="connsiteX2" fmla="*/ 916 w 9832"/>
                      <a:gd name="connsiteY2" fmla="*/ 572 h 10643"/>
                      <a:gd name="connsiteX3" fmla="*/ 7771 w 9832"/>
                      <a:gd name="connsiteY3" fmla="*/ 2911 h 10643"/>
                      <a:gd name="connsiteX4" fmla="*/ 8916 w 9832"/>
                      <a:gd name="connsiteY4" fmla="*/ 10072 h 106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832" h="10643">
                        <a:moveTo>
                          <a:pt x="8916" y="10072"/>
                        </a:moveTo>
                        <a:cubicBezTo>
                          <a:pt x="7336" y="11394"/>
                          <a:pt x="4271" y="10346"/>
                          <a:pt x="2062" y="7733"/>
                        </a:cubicBezTo>
                        <a:cubicBezTo>
                          <a:pt x="-148" y="5104"/>
                          <a:pt x="-664" y="1911"/>
                          <a:pt x="916" y="572"/>
                        </a:cubicBezTo>
                        <a:cubicBezTo>
                          <a:pt x="2497" y="-750"/>
                          <a:pt x="5561" y="298"/>
                          <a:pt x="7771" y="2911"/>
                        </a:cubicBezTo>
                        <a:cubicBezTo>
                          <a:pt x="9980" y="5540"/>
                          <a:pt x="10497" y="8733"/>
                          <a:pt x="8916" y="10072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0000"/>
                    </a:srgbClr>
                  </a:solidFill>
                  <a:ln w="16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08" name="Graphic 1033">
                  <a:extLst>
                    <a:ext uri="{FF2B5EF4-FFF2-40B4-BE49-F238E27FC236}">
                      <a16:creationId xmlns:a16="http://schemas.microsoft.com/office/drawing/2014/main" id="{16FFD224-717D-8FED-4F06-467DA8382E12}"/>
                    </a:ext>
                  </a:extLst>
                </p:cNvPr>
                <p:cNvGrpSpPr/>
                <p:nvPr/>
              </p:nvGrpSpPr>
              <p:grpSpPr>
                <a:xfrm>
                  <a:off x="5486349" y="2800710"/>
                  <a:ext cx="39707" cy="47932"/>
                  <a:chOff x="5486349" y="2800710"/>
                  <a:chExt cx="39707" cy="47932"/>
                </a:xfrm>
              </p:grpSpPr>
              <p:sp>
                <p:nvSpPr>
                  <p:cNvPr id="209" name="Freeform: Shape 208">
                    <a:extLst>
                      <a:ext uri="{FF2B5EF4-FFF2-40B4-BE49-F238E27FC236}">
                        <a16:creationId xmlns:a16="http://schemas.microsoft.com/office/drawing/2014/main" id="{7200E579-74BE-3488-5741-5C07A9EB64B6}"/>
                      </a:ext>
                    </a:extLst>
                  </p:cNvPr>
                  <p:cNvSpPr/>
                  <p:nvPr/>
                </p:nvSpPr>
                <p:spPr>
                  <a:xfrm>
                    <a:off x="5486349" y="2800710"/>
                    <a:ext cx="39707" cy="47932"/>
                  </a:xfrm>
                  <a:custGeom>
                    <a:avLst/>
                    <a:gdLst>
                      <a:gd name="connsiteX0" fmla="*/ 39707 w 39707"/>
                      <a:gd name="connsiteY0" fmla="*/ 23966 h 47932"/>
                      <a:gd name="connsiteX1" fmla="*/ 19854 w 39707"/>
                      <a:gd name="connsiteY1" fmla="*/ 47933 h 47932"/>
                      <a:gd name="connsiteX2" fmla="*/ 0 w 39707"/>
                      <a:gd name="connsiteY2" fmla="*/ 23966 h 47932"/>
                      <a:gd name="connsiteX3" fmla="*/ 19854 w 39707"/>
                      <a:gd name="connsiteY3" fmla="*/ 0 h 47932"/>
                      <a:gd name="connsiteX4" fmla="*/ 39707 w 39707"/>
                      <a:gd name="connsiteY4" fmla="*/ 23966 h 479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9707" h="47932">
                        <a:moveTo>
                          <a:pt x="39707" y="23966"/>
                        </a:moveTo>
                        <a:cubicBezTo>
                          <a:pt x="39707" y="37203"/>
                          <a:pt x="30819" y="47933"/>
                          <a:pt x="19854" y="47933"/>
                        </a:cubicBezTo>
                        <a:cubicBezTo>
                          <a:pt x="8889" y="47933"/>
                          <a:pt x="0" y="37203"/>
                          <a:pt x="0" y="23966"/>
                        </a:cubicBezTo>
                        <a:cubicBezTo>
                          <a:pt x="0" y="10730"/>
                          <a:pt x="8889" y="0"/>
                          <a:pt x="19854" y="0"/>
                        </a:cubicBezTo>
                        <a:cubicBezTo>
                          <a:pt x="30819" y="0"/>
                          <a:pt x="39707" y="10730"/>
                          <a:pt x="39707" y="23966"/>
                        </a:cubicBezTo>
                        <a:close/>
                      </a:path>
                    </a:pathLst>
                  </a:custGeom>
                  <a:solidFill>
                    <a:srgbClr val="162B57"/>
                  </a:solidFill>
                  <a:ln w="16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0" name="Freeform: Shape 209">
                    <a:extLst>
                      <a:ext uri="{FF2B5EF4-FFF2-40B4-BE49-F238E27FC236}">
                        <a16:creationId xmlns:a16="http://schemas.microsoft.com/office/drawing/2014/main" id="{B7FA2A62-A7F2-1DBF-E684-971AD245A9D3}"/>
                      </a:ext>
                    </a:extLst>
                  </p:cNvPr>
                  <p:cNvSpPr/>
                  <p:nvPr/>
                </p:nvSpPr>
                <p:spPr>
                  <a:xfrm rot="-421200">
                    <a:off x="5501864" y="2813457"/>
                    <a:ext cx="15934" cy="15934"/>
                  </a:xfrm>
                  <a:custGeom>
                    <a:avLst/>
                    <a:gdLst>
                      <a:gd name="connsiteX0" fmla="*/ 15935 w 15934"/>
                      <a:gd name="connsiteY0" fmla="*/ 7967 h 15934"/>
                      <a:gd name="connsiteX1" fmla="*/ 7967 w 15934"/>
                      <a:gd name="connsiteY1" fmla="*/ 15935 h 15934"/>
                      <a:gd name="connsiteX2" fmla="*/ 0 w 15934"/>
                      <a:gd name="connsiteY2" fmla="*/ 7967 h 15934"/>
                      <a:gd name="connsiteX3" fmla="*/ 7967 w 15934"/>
                      <a:gd name="connsiteY3" fmla="*/ 0 h 15934"/>
                      <a:gd name="connsiteX4" fmla="*/ 15935 w 15934"/>
                      <a:gd name="connsiteY4" fmla="*/ 7967 h 159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934" h="15934">
                        <a:moveTo>
                          <a:pt x="15935" y="7967"/>
                        </a:moveTo>
                        <a:cubicBezTo>
                          <a:pt x="15935" y="12367"/>
                          <a:pt x="12367" y="15935"/>
                          <a:pt x="7967" y="15935"/>
                        </a:cubicBezTo>
                        <a:cubicBezTo>
                          <a:pt x="3567" y="15935"/>
                          <a:pt x="0" y="12367"/>
                          <a:pt x="0" y="7967"/>
                        </a:cubicBezTo>
                        <a:cubicBezTo>
                          <a:pt x="0" y="3567"/>
                          <a:pt x="3567" y="0"/>
                          <a:pt x="7967" y="0"/>
                        </a:cubicBezTo>
                        <a:cubicBezTo>
                          <a:pt x="12367" y="0"/>
                          <a:pt x="15935" y="3567"/>
                          <a:pt x="15935" y="796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6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1" name="Freeform: Shape 210">
                    <a:extLst>
                      <a:ext uri="{FF2B5EF4-FFF2-40B4-BE49-F238E27FC236}">
                        <a16:creationId xmlns:a16="http://schemas.microsoft.com/office/drawing/2014/main" id="{C30146AE-C441-0754-CD60-404A40265075}"/>
                      </a:ext>
                    </a:extLst>
                  </p:cNvPr>
                  <p:cNvSpPr/>
                  <p:nvPr/>
                </p:nvSpPr>
                <p:spPr>
                  <a:xfrm>
                    <a:off x="5508141" y="2806089"/>
                    <a:ext cx="9832" cy="10643"/>
                  </a:xfrm>
                  <a:custGeom>
                    <a:avLst/>
                    <a:gdLst>
                      <a:gd name="connsiteX0" fmla="*/ 8916 w 9832"/>
                      <a:gd name="connsiteY0" fmla="*/ 10072 h 10643"/>
                      <a:gd name="connsiteX1" fmla="*/ 2062 w 9832"/>
                      <a:gd name="connsiteY1" fmla="*/ 7733 h 10643"/>
                      <a:gd name="connsiteX2" fmla="*/ 916 w 9832"/>
                      <a:gd name="connsiteY2" fmla="*/ 572 h 10643"/>
                      <a:gd name="connsiteX3" fmla="*/ 7771 w 9832"/>
                      <a:gd name="connsiteY3" fmla="*/ 2911 h 10643"/>
                      <a:gd name="connsiteX4" fmla="*/ 8916 w 9832"/>
                      <a:gd name="connsiteY4" fmla="*/ 10072 h 106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832" h="10643">
                        <a:moveTo>
                          <a:pt x="8916" y="10072"/>
                        </a:moveTo>
                        <a:cubicBezTo>
                          <a:pt x="7335" y="11394"/>
                          <a:pt x="4271" y="10346"/>
                          <a:pt x="2062" y="7733"/>
                        </a:cubicBezTo>
                        <a:cubicBezTo>
                          <a:pt x="-148" y="5104"/>
                          <a:pt x="-664" y="1911"/>
                          <a:pt x="916" y="572"/>
                        </a:cubicBezTo>
                        <a:cubicBezTo>
                          <a:pt x="2497" y="-750"/>
                          <a:pt x="5561" y="298"/>
                          <a:pt x="7771" y="2911"/>
                        </a:cubicBezTo>
                        <a:cubicBezTo>
                          <a:pt x="9980" y="5540"/>
                          <a:pt x="10497" y="8733"/>
                          <a:pt x="8916" y="10072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60000"/>
                    </a:srgbClr>
                  </a:solidFill>
                  <a:ln w="161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878F3C6D-61A4-D48E-7A22-3C7698940B85}"/>
                  </a:ext>
                </a:extLst>
              </p:cNvPr>
              <p:cNvSpPr/>
              <p:nvPr/>
            </p:nvSpPr>
            <p:spPr>
              <a:xfrm>
                <a:off x="5452628" y="2839804"/>
                <a:ext cx="32137" cy="20499"/>
              </a:xfrm>
              <a:custGeom>
                <a:avLst/>
                <a:gdLst>
                  <a:gd name="connsiteX0" fmla="*/ 16076 w 32137"/>
                  <a:gd name="connsiteY0" fmla="*/ 20483 h 20499"/>
                  <a:gd name="connsiteX1" fmla="*/ 45 w 32137"/>
                  <a:gd name="connsiteY1" fmla="*/ 3468 h 20499"/>
                  <a:gd name="connsiteX2" fmla="*/ 1013 w 32137"/>
                  <a:gd name="connsiteY2" fmla="*/ 162 h 20499"/>
                  <a:gd name="connsiteX3" fmla="*/ 4222 w 32137"/>
                  <a:gd name="connsiteY3" fmla="*/ 1920 h 20499"/>
                  <a:gd name="connsiteX4" fmla="*/ 16093 w 32137"/>
                  <a:gd name="connsiteY4" fmla="*/ 6210 h 20499"/>
                  <a:gd name="connsiteX5" fmla="*/ 27963 w 32137"/>
                  <a:gd name="connsiteY5" fmla="*/ 1904 h 20499"/>
                  <a:gd name="connsiteX6" fmla="*/ 31172 w 32137"/>
                  <a:gd name="connsiteY6" fmla="*/ 307 h 20499"/>
                  <a:gd name="connsiteX7" fmla="*/ 32092 w 32137"/>
                  <a:gd name="connsiteY7" fmla="*/ 3484 h 20499"/>
                  <a:gd name="connsiteX8" fmla="*/ 16093 w 32137"/>
                  <a:gd name="connsiteY8" fmla="*/ 20499 h 20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137" h="20499">
                    <a:moveTo>
                      <a:pt x="16076" y="20483"/>
                    </a:moveTo>
                    <a:cubicBezTo>
                      <a:pt x="7932" y="20483"/>
                      <a:pt x="1239" y="13161"/>
                      <a:pt x="45" y="3468"/>
                    </a:cubicBezTo>
                    <a:cubicBezTo>
                      <a:pt x="-84" y="2387"/>
                      <a:pt x="13" y="775"/>
                      <a:pt x="1013" y="162"/>
                    </a:cubicBezTo>
                    <a:cubicBezTo>
                      <a:pt x="2190" y="-564"/>
                      <a:pt x="3674" y="1355"/>
                      <a:pt x="4222" y="1920"/>
                    </a:cubicBezTo>
                    <a:cubicBezTo>
                      <a:pt x="7142" y="4952"/>
                      <a:pt x="10674" y="6210"/>
                      <a:pt x="16093" y="6210"/>
                    </a:cubicBezTo>
                    <a:cubicBezTo>
                      <a:pt x="21512" y="6210"/>
                      <a:pt x="25318" y="4839"/>
                      <a:pt x="27963" y="1904"/>
                    </a:cubicBezTo>
                    <a:cubicBezTo>
                      <a:pt x="28769" y="1000"/>
                      <a:pt x="29769" y="-370"/>
                      <a:pt x="31172" y="307"/>
                    </a:cubicBezTo>
                    <a:cubicBezTo>
                      <a:pt x="32124" y="758"/>
                      <a:pt x="32221" y="2420"/>
                      <a:pt x="32092" y="3484"/>
                    </a:cubicBezTo>
                    <a:cubicBezTo>
                      <a:pt x="30882" y="13193"/>
                      <a:pt x="24221" y="20499"/>
                      <a:pt x="16093" y="20499"/>
                    </a:cubicBez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33F4180C-0399-31F1-2BB1-102C53001F71}"/>
                  </a:ext>
                </a:extLst>
              </p:cNvPr>
              <p:cNvSpPr/>
              <p:nvPr/>
            </p:nvSpPr>
            <p:spPr>
              <a:xfrm>
                <a:off x="5279909" y="2602649"/>
                <a:ext cx="374592" cy="319006"/>
              </a:xfrm>
              <a:custGeom>
                <a:avLst/>
                <a:gdLst>
                  <a:gd name="connsiteX0" fmla="*/ 8081 w 374592"/>
                  <a:gd name="connsiteY0" fmla="*/ 152821 h 319006"/>
                  <a:gd name="connsiteX1" fmla="*/ 13435 w 374592"/>
                  <a:gd name="connsiteY1" fmla="*/ 149805 h 319006"/>
                  <a:gd name="connsiteX2" fmla="*/ 13435 w 374592"/>
                  <a:gd name="connsiteY2" fmla="*/ 148853 h 319006"/>
                  <a:gd name="connsiteX3" fmla="*/ 31273 w 374592"/>
                  <a:gd name="connsiteY3" fmla="*/ 131242 h 319006"/>
                  <a:gd name="connsiteX4" fmla="*/ 31273 w 374592"/>
                  <a:gd name="connsiteY4" fmla="*/ 130080 h 319006"/>
                  <a:gd name="connsiteX5" fmla="*/ 43079 w 374592"/>
                  <a:gd name="connsiteY5" fmla="*/ 83018 h 319006"/>
                  <a:gd name="connsiteX6" fmla="*/ 50449 w 374592"/>
                  <a:gd name="connsiteY6" fmla="*/ 71084 h 319006"/>
                  <a:gd name="connsiteX7" fmla="*/ 50449 w 374592"/>
                  <a:gd name="connsiteY7" fmla="*/ 56907 h 319006"/>
                  <a:gd name="connsiteX8" fmla="*/ 70061 w 374592"/>
                  <a:gd name="connsiteY8" fmla="*/ 38182 h 319006"/>
                  <a:gd name="connsiteX9" fmla="*/ 121816 w 374592"/>
                  <a:gd name="connsiteY9" fmla="*/ 10523 h 319006"/>
                  <a:gd name="connsiteX10" fmla="*/ 185393 w 374592"/>
                  <a:gd name="connsiteY10" fmla="*/ 7 h 319006"/>
                  <a:gd name="connsiteX11" fmla="*/ 249131 w 374592"/>
                  <a:gd name="connsiteY11" fmla="*/ 9490 h 319006"/>
                  <a:gd name="connsiteX12" fmla="*/ 301338 w 374592"/>
                  <a:gd name="connsiteY12" fmla="*/ 36311 h 319006"/>
                  <a:gd name="connsiteX13" fmla="*/ 321208 w 374592"/>
                  <a:gd name="connsiteY13" fmla="*/ 54665 h 319006"/>
                  <a:gd name="connsiteX14" fmla="*/ 321450 w 374592"/>
                  <a:gd name="connsiteY14" fmla="*/ 68890 h 319006"/>
                  <a:gd name="connsiteX15" fmla="*/ 329030 w 374592"/>
                  <a:gd name="connsiteY15" fmla="*/ 80712 h 319006"/>
                  <a:gd name="connsiteX16" fmla="*/ 341610 w 374592"/>
                  <a:gd name="connsiteY16" fmla="*/ 127580 h 319006"/>
                  <a:gd name="connsiteX17" fmla="*/ 341610 w 374592"/>
                  <a:gd name="connsiteY17" fmla="*/ 128742 h 319006"/>
                  <a:gd name="connsiteX18" fmla="*/ 342304 w 374592"/>
                  <a:gd name="connsiteY18" fmla="*/ 128742 h 319006"/>
                  <a:gd name="connsiteX19" fmla="*/ 360706 w 374592"/>
                  <a:gd name="connsiteY19" fmla="*/ 146063 h 319006"/>
                  <a:gd name="connsiteX20" fmla="*/ 360706 w 374592"/>
                  <a:gd name="connsiteY20" fmla="*/ 147015 h 319006"/>
                  <a:gd name="connsiteX21" fmla="*/ 366125 w 374592"/>
                  <a:gd name="connsiteY21" fmla="*/ 149950 h 319006"/>
                  <a:gd name="connsiteX22" fmla="*/ 374366 w 374592"/>
                  <a:gd name="connsiteY22" fmla="*/ 163369 h 319006"/>
                  <a:gd name="connsiteX23" fmla="*/ 374592 w 374592"/>
                  <a:gd name="connsiteY23" fmla="*/ 191206 h 319006"/>
                  <a:gd name="connsiteX24" fmla="*/ 366560 w 374592"/>
                  <a:gd name="connsiteY24" fmla="*/ 204753 h 319006"/>
                  <a:gd name="connsiteX25" fmla="*/ 361206 w 374592"/>
                  <a:gd name="connsiteY25" fmla="*/ 207769 h 319006"/>
                  <a:gd name="connsiteX26" fmla="*/ 361206 w 374592"/>
                  <a:gd name="connsiteY26" fmla="*/ 208721 h 319006"/>
                  <a:gd name="connsiteX27" fmla="*/ 343094 w 374592"/>
                  <a:gd name="connsiteY27" fmla="*/ 226333 h 319006"/>
                  <a:gd name="connsiteX28" fmla="*/ 328433 w 374592"/>
                  <a:gd name="connsiteY28" fmla="*/ 226446 h 319006"/>
                  <a:gd name="connsiteX29" fmla="*/ 323805 w 374592"/>
                  <a:gd name="connsiteY29" fmla="*/ 224027 h 319006"/>
                  <a:gd name="connsiteX30" fmla="*/ 323127 w 374592"/>
                  <a:gd name="connsiteY30" fmla="*/ 139838 h 319006"/>
                  <a:gd name="connsiteX31" fmla="*/ 330320 w 374592"/>
                  <a:gd name="connsiteY31" fmla="*/ 129419 h 319006"/>
                  <a:gd name="connsiteX32" fmla="*/ 330320 w 374592"/>
                  <a:gd name="connsiteY32" fmla="*/ 127984 h 319006"/>
                  <a:gd name="connsiteX33" fmla="*/ 310273 w 374592"/>
                  <a:gd name="connsiteY33" fmla="*/ 70745 h 319006"/>
                  <a:gd name="connsiteX34" fmla="*/ 293984 w 374592"/>
                  <a:gd name="connsiteY34" fmla="*/ 65197 h 319006"/>
                  <a:gd name="connsiteX35" fmla="*/ 191490 w 374592"/>
                  <a:gd name="connsiteY35" fmla="*/ 21732 h 319006"/>
                  <a:gd name="connsiteX36" fmla="*/ 95850 w 374592"/>
                  <a:gd name="connsiteY36" fmla="*/ 50359 h 319006"/>
                  <a:gd name="connsiteX37" fmla="*/ 78028 w 374592"/>
                  <a:gd name="connsiteY37" fmla="*/ 66987 h 319006"/>
                  <a:gd name="connsiteX38" fmla="*/ 60207 w 374592"/>
                  <a:gd name="connsiteY38" fmla="*/ 73745 h 319006"/>
                  <a:gd name="connsiteX39" fmla="*/ 41530 w 374592"/>
                  <a:gd name="connsiteY39" fmla="*/ 130790 h 319006"/>
                  <a:gd name="connsiteX40" fmla="*/ 41530 w 374592"/>
                  <a:gd name="connsiteY40" fmla="*/ 131242 h 319006"/>
                  <a:gd name="connsiteX41" fmla="*/ 53062 w 374592"/>
                  <a:gd name="connsiteY41" fmla="*/ 139806 h 319006"/>
                  <a:gd name="connsiteX42" fmla="*/ 53739 w 374592"/>
                  <a:gd name="connsiteY42" fmla="*/ 223994 h 319006"/>
                  <a:gd name="connsiteX43" fmla="*/ 47949 w 374592"/>
                  <a:gd name="connsiteY43" fmla="*/ 228672 h 319006"/>
                  <a:gd name="connsiteX44" fmla="*/ 144396 w 374592"/>
                  <a:gd name="connsiteY44" fmla="*/ 300958 h 319006"/>
                  <a:gd name="connsiteX45" fmla="*/ 163943 w 374592"/>
                  <a:gd name="connsiteY45" fmla="*/ 287394 h 319006"/>
                  <a:gd name="connsiteX46" fmla="*/ 174910 w 374592"/>
                  <a:gd name="connsiteY46" fmla="*/ 287184 h 319006"/>
                  <a:gd name="connsiteX47" fmla="*/ 197602 w 374592"/>
                  <a:gd name="connsiteY47" fmla="*/ 302829 h 319006"/>
                  <a:gd name="connsiteX48" fmla="*/ 197602 w 374592"/>
                  <a:gd name="connsiteY48" fmla="*/ 302829 h 319006"/>
                  <a:gd name="connsiteX49" fmla="*/ 175216 w 374592"/>
                  <a:gd name="connsiteY49" fmla="*/ 318795 h 319006"/>
                  <a:gd name="connsiteX50" fmla="*/ 164249 w 374592"/>
                  <a:gd name="connsiteY50" fmla="*/ 319005 h 319006"/>
                  <a:gd name="connsiteX51" fmla="*/ 144444 w 374592"/>
                  <a:gd name="connsiteY51" fmla="*/ 305780 h 319006"/>
                  <a:gd name="connsiteX52" fmla="*/ 110914 w 374592"/>
                  <a:gd name="connsiteY52" fmla="*/ 298264 h 319006"/>
                  <a:gd name="connsiteX53" fmla="*/ 78319 w 374592"/>
                  <a:gd name="connsiteY53" fmla="*/ 279846 h 319006"/>
                  <a:gd name="connsiteX54" fmla="*/ 42579 w 374592"/>
                  <a:gd name="connsiteY54" fmla="*/ 228801 h 319006"/>
                  <a:gd name="connsiteX55" fmla="*/ 32289 w 374592"/>
                  <a:gd name="connsiteY55" fmla="*/ 228881 h 319006"/>
                  <a:gd name="connsiteX56" fmla="*/ 13887 w 374592"/>
                  <a:gd name="connsiteY56" fmla="*/ 211560 h 319006"/>
                  <a:gd name="connsiteX57" fmla="*/ 13887 w 374592"/>
                  <a:gd name="connsiteY57" fmla="*/ 210608 h 319006"/>
                  <a:gd name="connsiteX58" fmla="*/ 8468 w 374592"/>
                  <a:gd name="connsiteY58" fmla="*/ 207673 h 319006"/>
                  <a:gd name="connsiteX59" fmla="*/ 226 w 374592"/>
                  <a:gd name="connsiteY59" fmla="*/ 194254 h 319006"/>
                  <a:gd name="connsiteX60" fmla="*/ 1 w 374592"/>
                  <a:gd name="connsiteY60" fmla="*/ 166417 h 319006"/>
                  <a:gd name="connsiteX61" fmla="*/ 8032 w 374592"/>
                  <a:gd name="connsiteY61" fmla="*/ 152869 h 319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74592" h="319006">
                    <a:moveTo>
                      <a:pt x="8081" y="152821"/>
                    </a:moveTo>
                    <a:lnTo>
                      <a:pt x="13435" y="149805"/>
                    </a:lnTo>
                    <a:lnTo>
                      <a:pt x="13435" y="148853"/>
                    </a:lnTo>
                    <a:cubicBezTo>
                      <a:pt x="13355" y="139338"/>
                      <a:pt x="21354" y="131467"/>
                      <a:pt x="31273" y="131242"/>
                    </a:cubicBezTo>
                    <a:lnTo>
                      <a:pt x="31273" y="130080"/>
                    </a:lnTo>
                    <a:cubicBezTo>
                      <a:pt x="31128" y="113791"/>
                      <a:pt x="35111" y="97953"/>
                      <a:pt x="43079" y="83018"/>
                    </a:cubicBezTo>
                    <a:cubicBezTo>
                      <a:pt x="45272" y="78922"/>
                      <a:pt x="47740" y="74954"/>
                      <a:pt x="50449" y="71084"/>
                    </a:cubicBezTo>
                    <a:cubicBezTo>
                      <a:pt x="47014" y="67052"/>
                      <a:pt x="46466" y="61552"/>
                      <a:pt x="50449" y="56907"/>
                    </a:cubicBezTo>
                    <a:cubicBezTo>
                      <a:pt x="56175" y="50230"/>
                      <a:pt x="62739" y="43972"/>
                      <a:pt x="70061" y="38182"/>
                    </a:cubicBezTo>
                    <a:cubicBezTo>
                      <a:pt x="84980" y="26393"/>
                      <a:pt x="102398" y="17087"/>
                      <a:pt x="121816" y="10523"/>
                    </a:cubicBezTo>
                    <a:cubicBezTo>
                      <a:pt x="141928" y="3733"/>
                      <a:pt x="163330" y="184"/>
                      <a:pt x="185393" y="7"/>
                    </a:cubicBezTo>
                    <a:cubicBezTo>
                      <a:pt x="207456" y="-170"/>
                      <a:pt x="228907" y="3023"/>
                      <a:pt x="249131" y="9490"/>
                    </a:cubicBezTo>
                    <a:cubicBezTo>
                      <a:pt x="268663" y="15732"/>
                      <a:pt x="286226" y="24764"/>
                      <a:pt x="301338" y="36311"/>
                    </a:cubicBezTo>
                    <a:cubicBezTo>
                      <a:pt x="308741" y="41972"/>
                      <a:pt x="315386" y="48101"/>
                      <a:pt x="321208" y="54665"/>
                    </a:cubicBezTo>
                    <a:cubicBezTo>
                      <a:pt x="325288" y="59262"/>
                      <a:pt x="324837" y="64794"/>
                      <a:pt x="321450" y="68890"/>
                    </a:cubicBezTo>
                    <a:cubicBezTo>
                      <a:pt x="324240" y="72713"/>
                      <a:pt x="326772" y="76648"/>
                      <a:pt x="329030" y="80712"/>
                    </a:cubicBezTo>
                    <a:cubicBezTo>
                      <a:pt x="337239" y="95534"/>
                      <a:pt x="341481" y="111291"/>
                      <a:pt x="341610" y="127580"/>
                    </a:cubicBezTo>
                    <a:lnTo>
                      <a:pt x="341610" y="128742"/>
                    </a:lnTo>
                    <a:cubicBezTo>
                      <a:pt x="341610" y="128742"/>
                      <a:pt x="342304" y="128742"/>
                      <a:pt x="342304" y="128742"/>
                    </a:cubicBezTo>
                    <a:cubicBezTo>
                      <a:pt x="352351" y="128661"/>
                      <a:pt x="360625" y="136451"/>
                      <a:pt x="360706" y="146063"/>
                    </a:cubicBezTo>
                    <a:lnTo>
                      <a:pt x="360706" y="147015"/>
                    </a:lnTo>
                    <a:cubicBezTo>
                      <a:pt x="360706" y="147015"/>
                      <a:pt x="366125" y="149950"/>
                      <a:pt x="366125" y="149950"/>
                    </a:cubicBezTo>
                    <a:cubicBezTo>
                      <a:pt x="371189" y="152692"/>
                      <a:pt x="374334" y="157805"/>
                      <a:pt x="374366" y="163369"/>
                    </a:cubicBezTo>
                    <a:lnTo>
                      <a:pt x="374592" y="191206"/>
                    </a:lnTo>
                    <a:cubicBezTo>
                      <a:pt x="374640" y="196770"/>
                      <a:pt x="371576" y="201931"/>
                      <a:pt x="366560" y="204753"/>
                    </a:cubicBezTo>
                    <a:lnTo>
                      <a:pt x="361206" y="207769"/>
                    </a:lnTo>
                    <a:lnTo>
                      <a:pt x="361206" y="208721"/>
                    </a:lnTo>
                    <a:cubicBezTo>
                      <a:pt x="361286" y="218333"/>
                      <a:pt x="353142" y="226252"/>
                      <a:pt x="343094" y="226333"/>
                    </a:cubicBezTo>
                    <a:lnTo>
                      <a:pt x="328433" y="226446"/>
                    </a:lnTo>
                    <a:cubicBezTo>
                      <a:pt x="324563" y="226478"/>
                      <a:pt x="323837" y="227736"/>
                      <a:pt x="323805" y="224027"/>
                    </a:cubicBezTo>
                    <a:lnTo>
                      <a:pt x="323127" y="139838"/>
                    </a:lnTo>
                    <a:cubicBezTo>
                      <a:pt x="323095" y="136806"/>
                      <a:pt x="327450" y="130274"/>
                      <a:pt x="330320" y="129419"/>
                    </a:cubicBezTo>
                    <a:lnTo>
                      <a:pt x="330320" y="127984"/>
                    </a:lnTo>
                    <a:cubicBezTo>
                      <a:pt x="330159" y="108711"/>
                      <a:pt x="321805" y="86341"/>
                      <a:pt x="310273" y="70745"/>
                    </a:cubicBezTo>
                    <a:cubicBezTo>
                      <a:pt x="304967" y="70664"/>
                      <a:pt x="297000" y="68600"/>
                      <a:pt x="293984" y="65197"/>
                    </a:cubicBezTo>
                    <a:cubicBezTo>
                      <a:pt x="271421" y="39779"/>
                      <a:pt x="234229" y="22861"/>
                      <a:pt x="191490" y="21732"/>
                    </a:cubicBezTo>
                    <a:cubicBezTo>
                      <a:pt x="155492" y="20780"/>
                      <a:pt x="121526" y="30941"/>
                      <a:pt x="95850" y="50359"/>
                    </a:cubicBezTo>
                    <a:cubicBezTo>
                      <a:pt x="89092" y="55472"/>
                      <a:pt x="83141" y="61036"/>
                      <a:pt x="78028" y="66987"/>
                    </a:cubicBezTo>
                    <a:cubicBezTo>
                      <a:pt x="75045" y="70455"/>
                      <a:pt x="65561" y="73616"/>
                      <a:pt x="60207" y="73745"/>
                    </a:cubicBezTo>
                    <a:cubicBezTo>
                      <a:pt x="48901" y="89679"/>
                      <a:pt x="41385" y="111146"/>
                      <a:pt x="41530" y="130790"/>
                    </a:cubicBezTo>
                    <a:lnTo>
                      <a:pt x="41530" y="131242"/>
                    </a:lnTo>
                    <a:cubicBezTo>
                      <a:pt x="44901" y="131709"/>
                      <a:pt x="53046" y="136451"/>
                      <a:pt x="53062" y="139806"/>
                    </a:cubicBezTo>
                    <a:lnTo>
                      <a:pt x="53739" y="223994"/>
                    </a:lnTo>
                    <a:cubicBezTo>
                      <a:pt x="53772" y="227365"/>
                      <a:pt x="51320" y="228172"/>
                      <a:pt x="47949" y="228672"/>
                    </a:cubicBezTo>
                    <a:cubicBezTo>
                      <a:pt x="61126" y="268282"/>
                      <a:pt x="99059" y="296942"/>
                      <a:pt x="144396" y="300958"/>
                    </a:cubicBezTo>
                    <a:cubicBezTo>
                      <a:pt x="145605" y="292023"/>
                      <a:pt x="153863" y="287475"/>
                      <a:pt x="163943" y="287394"/>
                    </a:cubicBezTo>
                    <a:lnTo>
                      <a:pt x="174910" y="287184"/>
                    </a:lnTo>
                    <a:cubicBezTo>
                      <a:pt x="185877" y="287104"/>
                      <a:pt x="197505" y="292765"/>
                      <a:pt x="197602" y="302829"/>
                    </a:cubicBezTo>
                    <a:lnTo>
                      <a:pt x="197602" y="302829"/>
                    </a:lnTo>
                    <a:cubicBezTo>
                      <a:pt x="197683" y="312893"/>
                      <a:pt x="186183" y="318699"/>
                      <a:pt x="175216" y="318795"/>
                    </a:cubicBezTo>
                    <a:lnTo>
                      <a:pt x="164249" y="319005"/>
                    </a:lnTo>
                    <a:cubicBezTo>
                      <a:pt x="154169" y="319086"/>
                      <a:pt x="145799" y="314683"/>
                      <a:pt x="144444" y="305780"/>
                    </a:cubicBezTo>
                    <a:cubicBezTo>
                      <a:pt x="132896" y="304812"/>
                      <a:pt x="121639" y="302280"/>
                      <a:pt x="110914" y="298264"/>
                    </a:cubicBezTo>
                    <a:cubicBezTo>
                      <a:pt x="99027" y="293813"/>
                      <a:pt x="88060" y="287604"/>
                      <a:pt x="78319" y="279846"/>
                    </a:cubicBezTo>
                    <a:cubicBezTo>
                      <a:pt x="61336" y="266315"/>
                      <a:pt x="48885" y="248445"/>
                      <a:pt x="42579" y="228801"/>
                    </a:cubicBezTo>
                    <a:lnTo>
                      <a:pt x="32289" y="228881"/>
                    </a:lnTo>
                    <a:cubicBezTo>
                      <a:pt x="22241" y="228962"/>
                      <a:pt x="13968" y="221172"/>
                      <a:pt x="13887" y="211560"/>
                    </a:cubicBezTo>
                    <a:lnTo>
                      <a:pt x="13887" y="210608"/>
                    </a:lnTo>
                    <a:cubicBezTo>
                      <a:pt x="13887" y="210608"/>
                      <a:pt x="8468" y="207673"/>
                      <a:pt x="8468" y="207673"/>
                    </a:cubicBezTo>
                    <a:cubicBezTo>
                      <a:pt x="3404" y="204931"/>
                      <a:pt x="259" y="199818"/>
                      <a:pt x="226" y="194254"/>
                    </a:cubicBezTo>
                    <a:lnTo>
                      <a:pt x="1" y="166417"/>
                    </a:lnTo>
                    <a:cubicBezTo>
                      <a:pt x="-48" y="160853"/>
                      <a:pt x="3017" y="155692"/>
                      <a:pt x="8032" y="1528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94" name="Graphic 1033">
              <a:extLst>
                <a:ext uri="{FF2B5EF4-FFF2-40B4-BE49-F238E27FC236}">
                  <a16:creationId xmlns:a16="http://schemas.microsoft.com/office/drawing/2014/main" id="{E8D77F1A-23E5-7904-9E5B-1C51E29DD030}"/>
                </a:ext>
              </a:extLst>
            </p:cNvPr>
            <p:cNvGrpSpPr/>
            <p:nvPr/>
          </p:nvGrpSpPr>
          <p:grpSpPr>
            <a:xfrm>
              <a:off x="5294987" y="3144311"/>
              <a:ext cx="476930" cy="276799"/>
              <a:chOff x="5242995" y="2928767"/>
              <a:chExt cx="448516" cy="260308"/>
            </a:xfrm>
          </p:grpSpPr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5C63C606-C8C4-D5FC-C546-DEA7B0246F69}"/>
                  </a:ext>
                </a:extLst>
              </p:cNvPr>
              <p:cNvSpPr/>
              <p:nvPr/>
            </p:nvSpPr>
            <p:spPr>
              <a:xfrm>
                <a:off x="5242995" y="2928767"/>
                <a:ext cx="448516" cy="260308"/>
              </a:xfrm>
              <a:custGeom>
                <a:avLst/>
                <a:gdLst>
                  <a:gd name="connsiteX0" fmla="*/ 396765 w 448516"/>
                  <a:gd name="connsiteY0" fmla="*/ 260292 h 260308"/>
                  <a:gd name="connsiteX1" fmla="*/ 45140 w 448516"/>
                  <a:gd name="connsiteY1" fmla="*/ 260292 h 260308"/>
                  <a:gd name="connsiteX2" fmla="*/ 25334 w 448516"/>
                  <a:gd name="connsiteY2" fmla="*/ 244390 h 260308"/>
                  <a:gd name="connsiteX3" fmla="*/ 62 w 448516"/>
                  <a:gd name="connsiteY3" fmla="*/ 20305 h 260308"/>
                  <a:gd name="connsiteX4" fmla="*/ 19690 w 448516"/>
                  <a:gd name="connsiteY4" fmla="*/ 0 h 260308"/>
                  <a:gd name="connsiteX5" fmla="*/ 430230 w 448516"/>
                  <a:gd name="connsiteY5" fmla="*/ 1839 h 260308"/>
                  <a:gd name="connsiteX6" fmla="*/ 448326 w 448516"/>
                  <a:gd name="connsiteY6" fmla="*/ 22160 h 260308"/>
                  <a:gd name="connsiteX7" fmla="*/ 417296 w 448516"/>
                  <a:gd name="connsiteY7" fmla="*/ 244519 h 260308"/>
                  <a:gd name="connsiteX8" fmla="*/ 396765 w 448516"/>
                  <a:gd name="connsiteY8" fmla="*/ 260308 h 26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8516" h="260308">
                    <a:moveTo>
                      <a:pt x="396765" y="260292"/>
                    </a:moveTo>
                    <a:lnTo>
                      <a:pt x="45140" y="260292"/>
                    </a:lnTo>
                    <a:cubicBezTo>
                      <a:pt x="34882" y="260292"/>
                      <a:pt x="26028" y="253212"/>
                      <a:pt x="25334" y="244390"/>
                    </a:cubicBezTo>
                    <a:lnTo>
                      <a:pt x="62" y="20305"/>
                    </a:lnTo>
                    <a:cubicBezTo>
                      <a:pt x="-825" y="9096"/>
                      <a:pt x="7964" y="-48"/>
                      <a:pt x="19690" y="0"/>
                    </a:cubicBezTo>
                    <a:lnTo>
                      <a:pt x="430230" y="1839"/>
                    </a:lnTo>
                    <a:cubicBezTo>
                      <a:pt x="441778" y="1887"/>
                      <a:pt x="449875" y="11032"/>
                      <a:pt x="448326" y="22160"/>
                    </a:cubicBezTo>
                    <a:lnTo>
                      <a:pt x="417296" y="244519"/>
                    </a:lnTo>
                    <a:cubicBezTo>
                      <a:pt x="416070" y="253276"/>
                      <a:pt x="406893" y="260308"/>
                      <a:pt x="396765" y="260308"/>
                    </a:cubicBezTo>
                    <a:close/>
                  </a:path>
                </a:pathLst>
              </a:custGeom>
              <a:solidFill>
                <a:srgbClr val="CCCCCC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AFB8CA53-D4B8-1840-226C-7AEB0C3F6B1F}"/>
                  </a:ext>
                </a:extLst>
              </p:cNvPr>
              <p:cNvSpPr/>
              <p:nvPr/>
            </p:nvSpPr>
            <p:spPr>
              <a:xfrm>
                <a:off x="5435159" y="3046056"/>
                <a:ext cx="58484" cy="48114"/>
              </a:xfrm>
              <a:custGeom>
                <a:avLst/>
                <a:gdLst>
                  <a:gd name="connsiteX0" fmla="*/ 58431 w 58484"/>
                  <a:gd name="connsiteY0" fmla="*/ 25090 h 48114"/>
                  <a:gd name="connsiteX1" fmla="*/ 27917 w 58484"/>
                  <a:gd name="connsiteY1" fmla="*/ 48105 h 48114"/>
                  <a:gd name="connsiteX2" fmla="*/ 15 w 58484"/>
                  <a:gd name="connsiteY2" fmla="*/ 23687 h 48114"/>
                  <a:gd name="connsiteX3" fmla="*/ 30594 w 58484"/>
                  <a:gd name="connsiteY3" fmla="*/ 11 h 48114"/>
                  <a:gd name="connsiteX4" fmla="*/ 58431 w 58484"/>
                  <a:gd name="connsiteY4" fmla="*/ 25090 h 48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484" h="48114">
                    <a:moveTo>
                      <a:pt x="58431" y="25090"/>
                    </a:moveTo>
                    <a:cubicBezTo>
                      <a:pt x="57480" y="38251"/>
                      <a:pt x="43835" y="48476"/>
                      <a:pt x="27917" y="48105"/>
                    </a:cubicBezTo>
                    <a:cubicBezTo>
                      <a:pt x="11999" y="47734"/>
                      <a:pt x="-501" y="36880"/>
                      <a:pt x="15" y="23687"/>
                    </a:cubicBezTo>
                    <a:cubicBezTo>
                      <a:pt x="532" y="10301"/>
                      <a:pt x="14224" y="-392"/>
                      <a:pt x="30594" y="11"/>
                    </a:cubicBezTo>
                    <a:cubicBezTo>
                      <a:pt x="46948" y="414"/>
                      <a:pt x="59399" y="11720"/>
                      <a:pt x="58431" y="250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7D886590-DE82-AE93-A23D-505EFF5E5434}"/>
                  </a:ext>
                </a:extLst>
              </p:cNvPr>
              <p:cNvSpPr/>
              <p:nvPr/>
            </p:nvSpPr>
            <p:spPr>
              <a:xfrm>
                <a:off x="5242995" y="2928767"/>
                <a:ext cx="448516" cy="260308"/>
              </a:xfrm>
              <a:custGeom>
                <a:avLst/>
                <a:gdLst>
                  <a:gd name="connsiteX0" fmla="*/ 396765 w 448516"/>
                  <a:gd name="connsiteY0" fmla="*/ 260292 h 260308"/>
                  <a:gd name="connsiteX1" fmla="*/ 45140 w 448516"/>
                  <a:gd name="connsiteY1" fmla="*/ 260292 h 260308"/>
                  <a:gd name="connsiteX2" fmla="*/ 25334 w 448516"/>
                  <a:gd name="connsiteY2" fmla="*/ 244390 h 260308"/>
                  <a:gd name="connsiteX3" fmla="*/ 62 w 448516"/>
                  <a:gd name="connsiteY3" fmla="*/ 20305 h 260308"/>
                  <a:gd name="connsiteX4" fmla="*/ 19690 w 448516"/>
                  <a:gd name="connsiteY4" fmla="*/ 0 h 260308"/>
                  <a:gd name="connsiteX5" fmla="*/ 430230 w 448516"/>
                  <a:gd name="connsiteY5" fmla="*/ 1839 h 260308"/>
                  <a:gd name="connsiteX6" fmla="*/ 448326 w 448516"/>
                  <a:gd name="connsiteY6" fmla="*/ 22160 h 260308"/>
                  <a:gd name="connsiteX7" fmla="*/ 417296 w 448516"/>
                  <a:gd name="connsiteY7" fmla="*/ 244519 h 260308"/>
                  <a:gd name="connsiteX8" fmla="*/ 396765 w 448516"/>
                  <a:gd name="connsiteY8" fmla="*/ 260308 h 26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8516" h="260308">
                    <a:moveTo>
                      <a:pt x="396765" y="260292"/>
                    </a:moveTo>
                    <a:lnTo>
                      <a:pt x="45140" y="260292"/>
                    </a:lnTo>
                    <a:cubicBezTo>
                      <a:pt x="34882" y="260292"/>
                      <a:pt x="26028" y="253212"/>
                      <a:pt x="25334" y="244390"/>
                    </a:cubicBezTo>
                    <a:lnTo>
                      <a:pt x="62" y="20305"/>
                    </a:lnTo>
                    <a:cubicBezTo>
                      <a:pt x="-825" y="9096"/>
                      <a:pt x="7964" y="-48"/>
                      <a:pt x="19690" y="0"/>
                    </a:cubicBezTo>
                    <a:lnTo>
                      <a:pt x="430230" y="1839"/>
                    </a:lnTo>
                    <a:cubicBezTo>
                      <a:pt x="441778" y="1887"/>
                      <a:pt x="449875" y="11032"/>
                      <a:pt x="448326" y="22160"/>
                    </a:cubicBezTo>
                    <a:lnTo>
                      <a:pt x="417296" y="244519"/>
                    </a:lnTo>
                    <a:cubicBezTo>
                      <a:pt x="416070" y="253276"/>
                      <a:pt x="406893" y="260308"/>
                      <a:pt x="396765" y="260308"/>
                    </a:cubicBezTo>
                    <a:close/>
                  </a:path>
                </a:pathLst>
              </a:custGeom>
              <a:noFill/>
              <a:ln w="16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AB18A993-C947-A6E5-81DB-8A3E368E55EA}"/>
                </a:ext>
              </a:extLst>
            </p:cNvPr>
            <p:cNvSpPr/>
            <p:nvPr/>
          </p:nvSpPr>
          <p:spPr>
            <a:xfrm>
              <a:off x="5606390" y="3159815"/>
              <a:ext cx="150515" cy="102916"/>
            </a:xfrm>
            <a:custGeom>
              <a:avLst/>
              <a:gdLst>
                <a:gd name="connsiteX0" fmla="*/ 125622 w 141548"/>
                <a:gd name="connsiteY0" fmla="*/ 96769 h 96785"/>
                <a:gd name="connsiteX1" fmla="*/ 125493 w 141548"/>
                <a:gd name="connsiteY1" fmla="*/ 96769 h 96785"/>
                <a:gd name="connsiteX2" fmla="*/ 124267 w 141548"/>
                <a:gd name="connsiteY2" fmla="*/ 95237 h 96785"/>
                <a:gd name="connsiteX3" fmla="*/ 132380 w 141548"/>
                <a:gd name="connsiteY3" fmla="*/ 33788 h 96785"/>
                <a:gd name="connsiteX4" fmla="*/ 128670 w 141548"/>
                <a:gd name="connsiteY4" fmla="*/ 15128 h 96785"/>
                <a:gd name="connsiteX5" fmla="*/ 109720 w 141548"/>
                <a:gd name="connsiteY5" fmla="*/ 8935 h 96785"/>
                <a:gd name="connsiteX6" fmla="*/ 1355 w 141548"/>
                <a:gd name="connsiteY6" fmla="*/ 5887 h 96785"/>
                <a:gd name="connsiteX7" fmla="*/ 0 w 141548"/>
                <a:gd name="connsiteY7" fmla="*/ 4467 h 96785"/>
                <a:gd name="connsiteX8" fmla="*/ 0 w 141548"/>
                <a:gd name="connsiteY8" fmla="*/ 4467 h 96785"/>
                <a:gd name="connsiteX9" fmla="*/ 1387 w 141548"/>
                <a:gd name="connsiteY9" fmla="*/ 3080 h 96785"/>
                <a:gd name="connsiteX10" fmla="*/ 109849 w 141548"/>
                <a:gd name="connsiteY10" fmla="*/ 0 h 96785"/>
                <a:gd name="connsiteX11" fmla="*/ 137331 w 141548"/>
                <a:gd name="connsiteY11" fmla="*/ 7064 h 96785"/>
                <a:gd name="connsiteX12" fmla="*/ 141234 w 141548"/>
                <a:gd name="connsiteY12" fmla="*/ 27982 h 96785"/>
                <a:gd name="connsiteX13" fmla="*/ 139412 w 141548"/>
                <a:gd name="connsiteY13" fmla="*/ 39514 h 96785"/>
                <a:gd name="connsiteX14" fmla="*/ 127235 w 141548"/>
                <a:gd name="connsiteY14" fmla="*/ 95688 h 96785"/>
                <a:gd name="connsiteX15" fmla="*/ 125638 w 141548"/>
                <a:gd name="connsiteY15" fmla="*/ 96769 h 9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548" h="96785">
                  <a:moveTo>
                    <a:pt x="125622" y="96769"/>
                  </a:moveTo>
                  <a:lnTo>
                    <a:pt x="125493" y="96769"/>
                  </a:lnTo>
                  <a:cubicBezTo>
                    <a:pt x="124751" y="96640"/>
                    <a:pt x="124203" y="95978"/>
                    <a:pt x="124267" y="95237"/>
                  </a:cubicBezTo>
                  <a:lnTo>
                    <a:pt x="132380" y="33788"/>
                  </a:lnTo>
                  <a:cubicBezTo>
                    <a:pt x="133267" y="27773"/>
                    <a:pt x="132380" y="19402"/>
                    <a:pt x="128670" y="15128"/>
                  </a:cubicBezTo>
                  <a:cubicBezTo>
                    <a:pt x="124913" y="10822"/>
                    <a:pt x="116026" y="8999"/>
                    <a:pt x="109720" y="8935"/>
                  </a:cubicBezTo>
                  <a:lnTo>
                    <a:pt x="1355" y="5887"/>
                  </a:lnTo>
                  <a:cubicBezTo>
                    <a:pt x="581" y="5854"/>
                    <a:pt x="-16" y="5225"/>
                    <a:pt x="0" y="4467"/>
                  </a:cubicBezTo>
                  <a:lnTo>
                    <a:pt x="0" y="4467"/>
                  </a:lnTo>
                  <a:cubicBezTo>
                    <a:pt x="0" y="3709"/>
                    <a:pt x="613" y="3113"/>
                    <a:pt x="1387" y="3080"/>
                  </a:cubicBezTo>
                  <a:lnTo>
                    <a:pt x="109849" y="0"/>
                  </a:lnTo>
                  <a:cubicBezTo>
                    <a:pt x="119445" y="113"/>
                    <a:pt x="131428" y="306"/>
                    <a:pt x="137331" y="7064"/>
                  </a:cubicBezTo>
                  <a:cubicBezTo>
                    <a:pt x="141718" y="12096"/>
                    <a:pt x="141960" y="20305"/>
                    <a:pt x="141234" y="27982"/>
                  </a:cubicBezTo>
                  <a:cubicBezTo>
                    <a:pt x="140734" y="31159"/>
                    <a:pt x="139912" y="36337"/>
                    <a:pt x="139412" y="39514"/>
                  </a:cubicBezTo>
                  <a:lnTo>
                    <a:pt x="127235" y="95688"/>
                  </a:lnTo>
                  <a:cubicBezTo>
                    <a:pt x="127074" y="96398"/>
                    <a:pt x="126380" y="96882"/>
                    <a:pt x="125638" y="96769"/>
                  </a:cubicBezTo>
                  <a:close/>
                </a:path>
              </a:pathLst>
            </a:custGeom>
            <a:solidFill>
              <a:srgbClr val="FFFFFF"/>
            </a:solidFill>
            <a:ln w="16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45" name="TextBox 244"/>
          <p:cNvSpPr txBox="1"/>
          <p:nvPr/>
        </p:nvSpPr>
        <p:spPr>
          <a:xfrm>
            <a:off x="566928" y="694944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0679C3"/>
                </a:solidFill>
                <a:latin typeface="Arial"/>
              </a:rPr>
              <a:t>Two tracks over the same 8 weeks: growth, effectiveness, and efficiency levers, not a cost exercise alone</a:t>
            </a:r>
          </a:p>
        </p:txBody>
      </p:sp>
      <p:sp>
        <p:nvSpPr>
          <p:cNvPr id="246" name="ReviewSticky"/>
          <p:cNvSpPr/>
          <p:nvPr/>
        </p:nvSpPr>
        <p:spPr>
          <a:xfrm>
            <a:off x="9555480" y="18288"/>
            <a:ext cx="2606040" cy="105156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750">
                <a:solidFill>
                  <a:srgbClr val="000000"/>
                </a:solidFill>
                <a:latin typeface="Arial"/>
              </a:rPr>
              <a:t>MERGED: kept this page's table layout from the 07/28 pass; ported the sharpened copy. Objectives front-bolded; Approach bullets now mirror p3/p4 phase for phase; 'AA tool' named client-readably; 'business aligned business' typo fixed; outputs now commit to two domains (this file said 1-2 in one cell and two in another); en dashes removed; holistic-levers positioning added under the title.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5254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E28320B8-30E2-137C-6B2A-D2E0B22480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65645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84" imgH="486" progId="TCLayout.ActiveDocument.1">
                  <p:embed/>
                </p:oleObj>
              </mc:Choice>
              <mc:Fallback>
                <p:oleObj name="think-cell Slide" r:id="rId25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8320B8-30E2-137C-6B2A-D2E0B22480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355A034B-500C-084B-68A4-3ED874D0685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99383"/>
            <a:ext cx="11082528" cy="73152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1. Tech Productivity: </a:t>
            </a:r>
            <a:r>
              <a:rPr lang="en-US" dirty="0"/>
              <a:t>An 8-week assessment to identify and prioritize high-value technology opportunities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C29CD8-533F-D6B3-AF1D-62CDB1D9CD81}"/>
              </a:ext>
            </a:extLst>
          </p:cNvPr>
          <p:cNvSpPr txBox="1"/>
          <p:nvPr/>
        </p:nvSpPr>
        <p:spPr>
          <a:xfrm>
            <a:off x="1564747" y="2244818"/>
            <a:ext cx="1961958" cy="243143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br>
              <a:rPr lang="en-US" sz="1100" dirty="0"/>
            </a:br>
            <a:r>
              <a:rPr sz="1100" b="1"/>
              <a:t>Launch data requests</a:t>
            </a:r>
            <a:r>
              <a:rPr sz="1100" b="0"/>
              <a:t> and prep data for analysis (e.g., OPEX spend, IT taxonomies, workforce data)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Finalize stakeholders and logistics:</a:t>
            </a:r>
            <a:r>
              <a:rPr sz="1100" b="0"/>
              <a:t> meetings, workshops, and the steering committee calendar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Finalize surveys and respondents,</a:t>
            </a:r>
            <a:r>
              <a:rPr sz="1100" b="0"/>
              <a:t> ready to launch in week 1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Develop initial hypotheses</a:t>
            </a:r>
            <a:r>
              <a:rPr sz="1100" b="0"/>
              <a:t> on where value sits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3E7CB5-D2FD-F166-99F6-FCADEC7F0221}"/>
              </a:ext>
            </a:extLst>
          </p:cNvPr>
          <p:cNvSpPr txBox="1"/>
          <p:nvPr/>
        </p:nvSpPr>
        <p:spPr>
          <a:xfrm>
            <a:off x="3700706" y="2244818"/>
            <a:ext cx="2795882" cy="313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sz="1100" b="1"/>
              <a:t>Baseline technology spend</a:t>
            </a:r>
            <a:r>
              <a:rPr sz="1100" b="0"/>
              <a:t> across applications, infrastructure, cybersecurity, and internal and external labor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Assess and benchmark:</a:t>
            </a:r>
            <a:r>
              <a:rPr sz="1100" b="0"/>
              <a:t> cost and productivity (Tech Performance Assessment), delivery maturity (Technology Quotient), and engineering maturity (DVI)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Hold working sessions with technology leaders</a:t>
            </a:r>
            <a:r>
              <a:rPr sz="1100" b="0"/>
              <a:t> to refine benchmark results and build early hypotheses on levers, gaps, and value at stake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F08E2A-3B84-4E07-492E-099516C7FF25}"/>
              </a:ext>
            </a:extLst>
          </p:cNvPr>
          <p:cNvSpPr txBox="1"/>
          <p:nvPr/>
        </p:nvSpPr>
        <p:spPr>
          <a:xfrm>
            <a:off x="6692721" y="2244818"/>
            <a:ext cx="2292485" cy="22236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sz="1100" b="1"/>
              <a:t>Run detailed analyses and deep dives</a:t>
            </a:r>
            <a:r>
              <a:rPr sz="1100" b="0"/>
              <a:t> across all high-potential areas, e.g., infrastructure spend, vendor spend via line-by-line contract reviews, and developer productivity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Conduct 5-10 interviews</a:t>
            </a:r>
            <a:r>
              <a:rPr sz="1100" b="0"/>
              <a:t> with business and technology leaders to pressure test opportunity areas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Size each opportunity</a:t>
            </a:r>
            <a:r>
              <a:rPr sz="1100" b="0"/>
              <a:t> against addressable spend, with the actions to capture 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6D29F1-D0D3-CFB6-3BF7-A6B33B5DB9A5}"/>
              </a:ext>
            </a:extLst>
          </p:cNvPr>
          <p:cNvSpPr txBox="1"/>
          <p:nvPr/>
        </p:nvSpPr>
        <p:spPr>
          <a:xfrm>
            <a:off x="9181340" y="2244818"/>
            <a:ext cx="2301539" cy="258532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br>
              <a:rPr lang="en-US" sz="1100" dirty="0"/>
            </a:br>
            <a:br>
              <a:rPr lang="en-US" sz="1100" dirty="0"/>
            </a:br>
            <a:r>
              <a:rPr sz="1100" b="1"/>
              <a:t>Shape recommendations</a:t>
            </a:r>
            <a:r>
              <a:rPr sz="1100" b="0"/>
              <a:t> into go-forward initiatives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Detail the plan:</a:t>
            </a:r>
            <a:r>
              <a:rPr sz="1100" b="0"/>
              <a:t> initiatives to launch, estimated savings, potential owners, and high-level implementation implications (e.g., tooling)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Develop the high-level roadmap:</a:t>
            </a:r>
            <a:r>
              <a:rPr sz="1100" b="0"/>
              <a:t> sequencing and dependencies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3B33C0-F0E0-A9EE-C869-3117477B6648}"/>
              </a:ext>
            </a:extLst>
          </p:cNvPr>
          <p:cNvSpPr txBox="1"/>
          <p:nvPr/>
        </p:nvSpPr>
        <p:spPr>
          <a:xfrm>
            <a:off x="557397" y="2244818"/>
            <a:ext cx="794004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 dirty="0"/>
              <a:t>Activities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FAA6F1-0399-9F11-B426-256EA2BC9DCC}"/>
              </a:ext>
            </a:extLst>
          </p:cNvPr>
          <p:cNvSpPr txBox="1"/>
          <p:nvPr/>
        </p:nvSpPr>
        <p:spPr>
          <a:xfrm>
            <a:off x="557397" y="1418950"/>
            <a:ext cx="794004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 dirty="0"/>
              <a:t>Key Phases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9DFF73A-7886-16D1-8E22-2B7E92429474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501246" y="1331276"/>
            <a:ext cx="2264419" cy="857695"/>
            <a:chOff x="1498586" y="1710245"/>
            <a:chExt cx="2643004" cy="85769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4690234-CDAD-0276-2903-96C61ACCF9D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498586" y="1710245"/>
              <a:ext cx="2643004" cy="857695"/>
            </a:xfrm>
            <a:custGeom>
              <a:avLst/>
              <a:gdLst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  <a:gd name="csX0" fmla="*/ 0 w 1828800"/>
                <a:gd name="csY0" fmla="*/ 0 h 914400"/>
                <a:gd name="csX1" fmla="*/ 1721975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  <a:gd name="csX0" fmla="*/ 0 w 1828800"/>
                <a:gd name="csY0" fmla="*/ 0 h 914400"/>
                <a:gd name="csX1" fmla="*/ 1721975 w 1828800"/>
                <a:gd name="csY1" fmla="*/ 0 h 914400"/>
                <a:gd name="csX2" fmla="*/ 1828800 w 1828800"/>
                <a:gd name="csY2" fmla="*/ 457200 h 914400"/>
                <a:gd name="csX3" fmla="*/ 1721975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  <a:gd name="csX0" fmla="*/ 0 w 1828800"/>
                <a:gd name="csY0" fmla="*/ 0 h 914400"/>
                <a:gd name="csX1" fmla="*/ 1721975 w 1828800"/>
                <a:gd name="csY1" fmla="*/ 0 h 914400"/>
                <a:gd name="csX2" fmla="*/ 1828800 w 1828800"/>
                <a:gd name="csY2" fmla="*/ 457200 h 914400"/>
                <a:gd name="csX3" fmla="*/ 172197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1975 w 1828800"/>
                <a:gd name="csY1" fmla="*/ 0 h 914400"/>
                <a:gd name="csX2" fmla="*/ 1828800 w 1828800"/>
                <a:gd name="csY2" fmla="*/ 457200 h 914400"/>
                <a:gd name="csX3" fmla="*/ 172197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1975 w 1828800"/>
                <a:gd name="csY1" fmla="*/ 0 h 914400"/>
                <a:gd name="csX2" fmla="*/ 1828800 w 1828800"/>
                <a:gd name="csY2" fmla="*/ 457200 h 914400"/>
                <a:gd name="csX3" fmla="*/ 172197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1975" y="0"/>
                  </a:lnTo>
                  <a:lnTo>
                    <a:pt x="1828800" y="457200"/>
                  </a:lnTo>
                  <a:lnTo>
                    <a:pt x="1721975" y="914400"/>
                  </a:lnTo>
                  <a:lnTo>
                    <a:pt x="0" y="914400"/>
                  </a:lnTo>
                  <a:lnTo>
                    <a:pt x="0" y="457201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dirty="0" err="1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E8265DB-2803-2F9D-1A05-4649A6C40099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1562086" y="1769807"/>
              <a:ext cx="2425119" cy="73857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vert="horz" lIns="15240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Week 0 </a:t>
              </a:r>
              <a:br>
                <a:rPr lang="en-US" sz="1200" b="1" dirty="0"/>
              </a:br>
              <a:r>
                <a:rPr lang="en-US" sz="1200" b="1" dirty="0"/>
                <a:t>Prep work</a:t>
              </a:r>
              <a:br>
                <a:rPr lang="en-US" sz="1200" b="1" dirty="0"/>
              </a:br>
              <a:br>
                <a:rPr lang="en-US" sz="1200" b="1" dirty="0"/>
              </a:br>
              <a:endParaRPr lang="en-US" sz="1200" b="1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4783B7D-BA04-F928-A30F-BEC91AD89775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642447" y="1331276"/>
            <a:ext cx="2999474" cy="857695"/>
            <a:chOff x="4008957" y="1710245"/>
            <a:chExt cx="2643004" cy="857695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5B8F87D-9DC0-AD9E-DDF4-6F25602A76B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4008957" y="1710245"/>
              <a:ext cx="2643004" cy="857695"/>
            </a:xfrm>
            <a:custGeom>
              <a:avLst/>
              <a:gdLst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1974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1974 w 1828800"/>
                <a:gd name="csY1" fmla="*/ 0 h 914400"/>
                <a:gd name="csX2" fmla="*/ 1828800 w 1828800"/>
                <a:gd name="csY2" fmla="*/ 457200 h 914400"/>
                <a:gd name="csX3" fmla="*/ 172197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1974 w 1828800"/>
                <a:gd name="csY1" fmla="*/ 0 h 914400"/>
                <a:gd name="csX2" fmla="*/ 1828800 w 1828800"/>
                <a:gd name="csY2" fmla="*/ 457200 h 914400"/>
                <a:gd name="csX3" fmla="*/ 1721974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  <a:gd name="csX0" fmla="*/ 0 w 1828800"/>
                <a:gd name="csY0" fmla="*/ 0 h 914400"/>
                <a:gd name="csX1" fmla="*/ 1721974 w 1828800"/>
                <a:gd name="csY1" fmla="*/ 0 h 914400"/>
                <a:gd name="csX2" fmla="*/ 1828800 w 1828800"/>
                <a:gd name="csY2" fmla="*/ 457200 h 914400"/>
                <a:gd name="csX3" fmla="*/ 1721974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  <a:gd name="csX0" fmla="*/ 0 w 1828800"/>
                <a:gd name="csY0" fmla="*/ 0 h 914400"/>
                <a:gd name="csX1" fmla="*/ 1721974 w 1828800"/>
                <a:gd name="csY1" fmla="*/ 0 h 914400"/>
                <a:gd name="csX2" fmla="*/ 1828800 w 1828800"/>
                <a:gd name="csY2" fmla="*/ 457200 h 914400"/>
                <a:gd name="csX3" fmla="*/ 1721974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1974" y="0"/>
                  </a:lnTo>
                  <a:lnTo>
                    <a:pt x="1828800" y="457200"/>
                  </a:lnTo>
                  <a:lnTo>
                    <a:pt x="1721974" y="914400"/>
                  </a:lnTo>
                  <a:lnTo>
                    <a:pt x="0" y="914400"/>
                  </a:lnTo>
                  <a:lnTo>
                    <a:pt x="106825" y="457201"/>
                  </a:lnTo>
                  <a:close/>
                </a:path>
              </a:pathLst>
            </a:custGeom>
            <a:solidFill>
              <a:schemeClr val="accent1"/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19D3457-096C-E18C-580C-D13050FE5E11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4214142" y="1769807"/>
              <a:ext cx="2283434" cy="738571"/>
            </a:xfrm>
            <a:prstGeom prst="rect">
              <a:avLst/>
            </a:prstGeom>
          </p:spPr>
          <p:txBody>
            <a:bodyPr vert="horz" lIns="15240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solidFill>
                    <a:schemeClr val="bg1"/>
                  </a:solidFill>
                </a:rPr>
                <a:t>Weeks 1-2  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r>
                <a:rPr lang="en-US" sz="1200" b="1" dirty="0">
                  <a:solidFill>
                    <a:schemeClr val="bg1"/>
                  </a:solidFill>
                </a:rPr>
                <a:t>Establish spend baseline and compare with benchmarks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77E8394-7EC7-0782-CEBD-001A30B9D32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496588" y="1331276"/>
            <a:ext cx="2643004" cy="857695"/>
            <a:chOff x="6519328" y="1710245"/>
            <a:chExt cx="2643004" cy="857695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1D6C57A-0888-9F6D-0F69-E78B2EBDDAE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519328" y="1710245"/>
              <a:ext cx="2643004" cy="857695"/>
            </a:xfrm>
            <a:custGeom>
              <a:avLst/>
              <a:gdLst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1974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1974 w 1828800"/>
                <a:gd name="csY1" fmla="*/ 0 h 914400"/>
                <a:gd name="csX2" fmla="*/ 1828800 w 1828800"/>
                <a:gd name="csY2" fmla="*/ 457200 h 914400"/>
                <a:gd name="csX3" fmla="*/ 172197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1974 w 1828800"/>
                <a:gd name="csY1" fmla="*/ 0 h 914400"/>
                <a:gd name="csX2" fmla="*/ 1828800 w 1828800"/>
                <a:gd name="csY2" fmla="*/ 457200 h 914400"/>
                <a:gd name="csX3" fmla="*/ 1721974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  <a:gd name="csX0" fmla="*/ 0 w 1828800"/>
                <a:gd name="csY0" fmla="*/ 0 h 914400"/>
                <a:gd name="csX1" fmla="*/ 1721974 w 1828800"/>
                <a:gd name="csY1" fmla="*/ 0 h 914400"/>
                <a:gd name="csX2" fmla="*/ 1828800 w 1828800"/>
                <a:gd name="csY2" fmla="*/ 457200 h 914400"/>
                <a:gd name="csX3" fmla="*/ 1721974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  <a:gd name="csX0" fmla="*/ 0 w 1828800"/>
                <a:gd name="csY0" fmla="*/ 0 h 914400"/>
                <a:gd name="csX1" fmla="*/ 1721974 w 1828800"/>
                <a:gd name="csY1" fmla="*/ 0 h 914400"/>
                <a:gd name="csX2" fmla="*/ 1828800 w 1828800"/>
                <a:gd name="csY2" fmla="*/ 457200 h 914400"/>
                <a:gd name="csX3" fmla="*/ 1721974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1974" y="0"/>
                  </a:lnTo>
                  <a:lnTo>
                    <a:pt x="1828800" y="457200"/>
                  </a:lnTo>
                  <a:lnTo>
                    <a:pt x="1721974" y="914400"/>
                  </a:lnTo>
                  <a:lnTo>
                    <a:pt x="0" y="914400"/>
                  </a:lnTo>
                  <a:lnTo>
                    <a:pt x="106825" y="457201"/>
                  </a:lnTo>
                  <a:close/>
                </a:path>
              </a:pathLst>
            </a:custGeom>
            <a:solidFill>
              <a:schemeClr val="accent1"/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B2D6A97-7A5F-CE51-230A-C8A40F5497E4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6947242" y="1769807"/>
              <a:ext cx="2060705" cy="738571"/>
            </a:xfrm>
            <a:prstGeom prst="rect">
              <a:avLst/>
            </a:prstGeom>
          </p:spPr>
          <p:txBody>
            <a:bodyPr vert="horz" lIns="15240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solidFill>
                    <a:schemeClr val="bg1"/>
                  </a:solidFill>
                </a:rPr>
                <a:t>Weeks 3-6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r>
                <a:rPr lang="en-US" sz="1200" b="1" dirty="0">
                  <a:solidFill>
                    <a:schemeClr val="bg1"/>
                  </a:solidFill>
                </a:rPr>
                <a:t>Identify and detail high potential areas 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endParaRPr 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E8CA381-0E20-7291-3305-226ACDA0D2A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8994260" y="1331276"/>
            <a:ext cx="2643004" cy="857695"/>
            <a:chOff x="8991600" y="1710245"/>
            <a:chExt cx="2643004" cy="857695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7AFFE62-2FBC-298A-D019-A262AD44695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991600" y="1710245"/>
              <a:ext cx="2643004" cy="857695"/>
            </a:xfrm>
            <a:custGeom>
              <a:avLst/>
              <a:gdLst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4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4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4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105814 w 1828800"/>
                <a:gd name="csY5" fmla="*/ 457201 h 914400"/>
                <a:gd name="csX0" fmla="*/ 0 w 1828800"/>
                <a:gd name="csY0" fmla="*/ 0 h 914400"/>
                <a:gd name="csX1" fmla="*/ 1722986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108388 w 1828800"/>
                <a:gd name="csY5" fmla="*/ 457201 h 914400"/>
                <a:gd name="csX0" fmla="*/ 0 w 1828800"/>
                <a:gd name="csY0" fmla="*/ 0 h 914400"/>
                <a:gd name="csX1" fmla="*/ 1720412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1975 w 1828800"/>
                <a:gd name="csY1" fmla="*/ 0 h 914400"/>
                <a:gd name="csX2" fmla="*/ 1828800 w 1828800"/>
                <a:gd name="csY2" fmla="*/ 457200 h 914400"/>
                <a:gd name="csX3" fmla="*/ 1720412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1975 w 1828800"/>
                <a:gd name="csY1" fmla="*/ 0 h 914400"/>
                <a:gd name="csX2" fmla="*/ 1828800 w 1828800"/>
                <a:gd name="csY2" fmla="*/ 457200 h 914400"/>
                <a:gd name="csX3" fmla="*/ 172197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21975 w 1828800"/>
                <a:gd name="csY1" fmla="*/ 0 h 914400"/>
                <a:gd name="csX2" fmla="*/ 1828800 w 1828800"/>
                <a:gd name="csY2" fmla="*/ 457200 h 914400"/>
                <a:gd name="csX3" fmla="*/ 1721975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  <a:gd name="csX0" fmla="*/ 0 w 1828800"/>
                <a:gd name="csY0" fmla="*/ 0 h 914400"/>
                <a:gd name="csX1" fmla="*/ 1721975 w 1828800"/>
                <a:gd name="csY1" fmla="*/ 0 h 914400"/>
                <a:gd name="csX2" fmla="*/ 1828800 w 1828800"/>
                <a:gd name="csY2" fmla="*/ 457200 h 914400"/>
                <a:gd name="csX3" fmla="*/ 1721975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  <a:gd name="csX0" fmla="*/ 0 w 1828800"/>
                <a:gd name="csY0" fmla="*/ 0 h 914400"/>
                <a:gd name="csX1" fmla="*/ 1721975 w 1828800"/>
                <a:gd name="csY1" fmla="*/ 0 h 914400"/>
                <a:gd name="csX2" fmla="*/ 1828800 w 1828800"/>
                <a:gd name="csY2" fmla="*/ 457200 h 914400"/>
                <a:gd name="csX3" fmla="*/ 1721975 w 1828800"/>
                <a:gd name="csY3" fmla="*/ 914400 h 914400"/>
                <a:gd name="csX4" fmla="*/ 0 w 1828800"/>
                <a:gd name="csY4" fmla="*/ 914400 h 914400"/>
                <a:gd name="csX5" fmla="*/ 106825 w 1828800"/>
                <a:gd name="csY5" fmla="*/ 457201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1975" y="0"/>
                  </a:lnTo>
                  <a:lnTo>
                    <a:pt x="1828800" y="457200"/>
                  </a:lnTo>
                  <a:lnTo>
                    <a:pt x="1721975" y="914400"/>
                  </a:lnTo>
                  <a:lnTo>
                    <a:pt x="0" y="914400"/>
                  </a:lnTo>
                  <a:lnTo>
                    <a:pt x="106825" y="457201"/>
                  </a:lnTo>
                  <a:close/>
                </a:path>
              </a:pathLst>
            </a:custGeom>
            <a:solidFill>
              <a:schemeClr val="accent1"/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0989086-2786-F2E9-FDFB-064F27C1C52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9196785" y="1769807"/>
              <a:ext cx="2283434" cy="738571"/>
            </a:xfrm>
            <a:prstGeom prst="rect">
              <a:avLst/>
            </a:prstGeom>
          </p:spPr>
          <p:txBody>
            <a:bodyPr vert="horz" lIns="15240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solidFill>
                    <a:schemeClr val="bg1"/>
                  </a:solidFill>
                </a:rPr>
                <a:t>Weeks 7-8 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r>
                <a:rPr lang="en-US" sz="1200" b="1" dirty="0">
                  <a:solidFill>
                    <a:schemeClr val="bg1"/>
                  </a:solidFill>
                </a:rPr>
                <a:t>Prioritize initiatives and detail roadmap 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endParaRPr 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F442255-E21B-E54C-FEC1-A6E450B85E1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51162" y="5460197"/>
            <a:ext cx="750137" cy="18205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Deliverables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D6522-1260-C11D-AEAE-6F459E7400E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3700706" y="5463287"/>
            <a:ext cx="2725510" cy="871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>
                <a:cs typeface="Arial" panose="020B0604020202020204" pitchFamily="34" charset="0"/>
              </a:defRPr>
            </a:lvl2pPr>
            <a:lvl3pPr marL="512064" lvl="2" indent="-28346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0664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ct val="15000"/>
              </a:spcBef>
              <a:spcAft>
                <a:spcPts val="0"/>
              </a:spcAft>
            </a:pPr>
            <a:r>
              <a:rPr lang="en-US" sz="1100" dirty="0"/>
              <a:t>Peer-benchmarked technology cost baseline across software, hardware, labor, cloud etc.</a:t>
            </a:r>
          </a:p>
          <a:p>
            <a:pPr lvl="1">
              <a:spcBef>
                <a:spcPct val="15000"/>
              </a:spcBef>
              <a:spcAft>
                <a:spcPts val="0"/>
              </a:spcAft>
            </a:pPr>
            <a:r>
              <a:rPr lang="en-US" sz="1100" dirty="0"/>
              <a:t>Prioritized value-at-stake areas for detailed assessment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554889-66A1-9861-B292-DD3324B3EDA1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1367971" y="5460197"/>
            <a:ext cx="2098436" cy="104105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>
                <a:cs typeface="Arial" panose="020B0604020202020204" pitchFamily="34" charset="0"/>
              </a:defRPr>
            </a:lvl2pPr>
            <a:lvl3pPr marL="512064" lvl="2" indent="-28346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0664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ct val="15000"/>
              </a:spcBef>
              <a:spcAft>
                <a:spcPts val="0"/>
              </a:spcAft>
            </a:pPr>
            <a:r>
              <a:rPr lang="en-US" sz="1100" dirty="0"/>
              <a:t>Aligned scope, stakeholders, governance, and working cadence</a:t>
            </a:r>
          </a:p>
          <a:p>
            <a:pPr lvl="1">
              <a:spcBef>
                <a:spcPct val="15000"/>
              </a:spcBef>
              <a:spcAft>
                <a:spcPts val="0"/>
              </a:spcAft>
            </a:pPr>
            <a:r>
              <a:rPr lang="en-US" sz="1100" dirty="0"/>
              <a:t>Initial fact base, data requests, and opportunity hypothesis registry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8B562-612E-98B3-9062-E728AF05203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6641922" y="5435793"/>
            <a:ext cx="2258688" cy="7025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>
                <a:cs typeface="Arial" panose="020B0604020202020204" pitchFamily="34" charset="0"/>
              </a:defRPr>
            </a:lvl2pPr>
            <a:lvl3pPr marL="512064" lvl="2" indent="-28346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0664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ct val="15000"/>
              </a:spcBef>
              <a:spcAft>
                <a:spcPts val="0"/>
              </a:spcAft>
            </a:pPr>
            <a:r>
              <a:rPr lang="en-US" sz="1100" dirty="0"/>
              <a:t>Quantified business cases for priority optimization levers</a:t>
            </a:r>
          </a:p>
          <a:p>
            <a:pPr lvl="1">
              <a:spcBef>
                <a:spcPct val="15000"/>
              </a:spcBef>
              <a:spcAft>
                <a:spcPts val="0"/>
              </a:spcAft>
            </a:pPr>
            <a:r>
              <a:rPr lang="en-US" sz="1100" dirty="0"/>
              <a:t>Leadership-validated portfolio of optimization opportunities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4509B5-ABE4-D4B9-B34C-D628D6204EA6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9125647" y="5435793"/>
            <a:ext cx="2514427" cy="7025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>
                <a:cs typeface="Arial" panose="020B0604020202020204" pitchFamily="34" charset="0"/>
              </a:defRPr>
            </a:lvl2pPr>
            <a:lvl3pPr marL="512064" lvl="2" indent="-28346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0664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ct val="15000"/>
              </a:spcBef>
              <a:spcAft>
                <a:spcPts val="0"/>
              </a:spcAft>
            </a:pPr>
            <a:r>
              <a:rPr lang="en-US" sz="1100" dirty="0"/>
              <a:t>Prioritized and sequenced initiative portfolio with value potential</a:t>
            </a:r>
          </a:p>
          <a:p>
            <a:pPr lvl="1">
              <a:spcBef>
                <a:spcPct val="15000"/>
              </a:spcBef>
              <a:spcAft>
                <a:spcPts val="0"/>
              </a:spcAft>
            </a:pPr>
            <a:r>
              <a:rPr lang="en-US" sz="1100" dirty="0"/>
              <a:t>High-level roadmap with owners, dependencies, and Wave 1 actions</a:t>
            </a:r>
            <a:endParaRPr lang="en-US" sz="1100" dirty="0">
              <a:latin typeface="Arial" panose="020B0604020202020204" pitchFamily="34" charset="0"/>
            </a:endParaRPr>
          </a:p>
        </p:txBody>
      </p:sp>
      <p:pic>
        <p:nvPicPr>
          <p:cNvPr id="11" name="CustomIcon">
            <a:extLst>
              <a:ext uri="{FF2B5EF4-FFF2-40B4-BE49-F238E27FC236}">
                <a16:creationId xmlns:a16="http://schemas.microsoft.com/office/drawing/2014/main" id="{97657BCF-5CC1-9274-3672-B9B2EF397714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51926" y="5588880"/>
            <a:ext cx="414626" cy="49054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B0A368-2813-F18A-E396-85624DE2416C}"/>
              </a:ext>
            </a:extLst>
          </p:cNvPr>
          <p:cNvCxnSpPr>
            <a:cxnSpLocks/>
          </p:cNvCxnSpPr>
          <p:nvPr/>
        </p:nvCxnSpPr>
        <p:spPr>
          <a:xfrm>
            <a:off x="551162" y="5342644"/>
            <a:ext cx="11081764" cy="0"/>
          </a:xfrm>
          <a:prstGeom prst="line">
            <a:avLst/>
          </a:prstGeom>
          <a:ln w="6350" cap="flat">
            <a:solidFill>
              <a:schemeClr val="tx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3357CC-0FB2-70F2-B80F-0AB00D293A07}"/>
              </a:ext>
            </a:extLst>
          </p:cNvPr>
          <p:cNvCxnSpPr/>
          <p:nvPr/>
        </p:nvCxnSpPr>
        <p:spPr>
          <a:xfrm>
            <a:off x="6518719" y="2244818"/>
            <a:ext cx="0" cy="2726196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71ED74-7E5B-9730-0A62-3373E237D860}"/>
              </a:ext>
            </a:extLst>
          </p:cNvPr>
          <p:cNvCxnSpPr/>
          <p:nvPr/>
        </p:nvCxnSpPr>
        <p:spPr>
          <a:xfrm>
            <a:off x="9011686" y="2244818"/>
            <a:ext cx="0" cy="2726196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813813-B579-B2BA-F8EA-A3DCBC89B8DA}"/>
              </a:ext>
            </a:extLst>
          </p:cNvPr>
          <p:cNvCxnSpPr/>
          <p:nvPr/>
        </p:nvCxnSpPr>
        <p:spPr>
          <a:xfrm>
            <a:off x="3608455" y="2244818"/>
            <a:ext cx="0" cy="2726196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C9564F62-5BA6-0D31-7B25-B3B353D8FB28}"/>
              </a:ext>
            </a:extLst>
          </p:cNvPr>
          <p:cNvSpPr/>
          <p:nvPr/>
        </p:nvSpPr>
        <p:spPr>
          <a:xfrm flipV="1">
            <a:off x="3788690" y="1060052"/>
            <a:ext cx="216000" cy="165109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A03A09-AAA1-E90D-46D1-EEB57AA057AF}"/>
              </a:ext>
            </a:extLst>
          </p:cNvPr>
          <p:cNvSpPr txBox="1"/>
          <p:nvPr/>
        </p:nvSpPr>
        <p:spPr>
          <a:xfrm>
            <a:off x="3662652" y="877203"/>
            <a:ext cx="468077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SteerCo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D5415D69-DA66-2B4C-E8F7-2229934C8526}"/>
              </a:ext>
            </a:extLst>
          </p:cNvPr>
          <p:cNvSpPr/>
          <p:nvPr/>
        </p:nvSpPr>
        <p:spPr>
          <a:xfrm flipV="1">
            <a:off x="6340923" y="1060052"/>
            <a:ext cx="216000" cy="165109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598A83-73ED-9B71-2B1B-12AC0AB80FA5}"/>
              </a:ext>
            </a:extLst>
          </p:cNvPr>
          <p:cNvSpPr txBox="1"/>
          <p:nvPr/>
        </p:nvSpPr>
        <p:spPr>
          <a:xfrm>
            <a:off x="6214885" y="866346"/>
            <a:ext cx="468077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SteerCo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15075F23-BAA9-D7E9-3CF9-5433709EC76B}"/>
              </a:ext>
            </a:extLst>
          </p:cNvPr>
          <p:cNvSpPr/>
          <p:nvPr/>
        </p:nvSpPr>
        <p:spPr>
          <a:xfrm flipV="1">
            <a:off x="8900609" y="1060052"/>
            <a:ext cx="216000" cy="165109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F94DED-668A-8541-AE2F-BDFF2D89F8A8}"/>
              </a:ext>
            </a:extLst>
          </p:cNvPr>
          <p:cNvSpPr txBox="1"/>
          <p:nvPr/>
        </p:nvSpPr>
        <p:spPr>
          <a:xfrm>
            <a:off x="8767118" y="843781"/>
            <a:ext cx="468077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SteerCo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0846ADB7-9822-1F4E-3245-D7BA242ED46E}"/>
              </a:ext>
            </a:extLst>
          </p:cNvPr>
          <p:cNvSpPr/>
          <p:nvPr/>
        </p:nvSpPr>
        <p:spPr>
          <a:xfrm flipV="1">
            <a:off x="11352295" y="1067311"/>
            <a:ext cx="216000" cy="165109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491BC9-FABF-01CB-9558-E75CF0490001}"/>
              </a:ext>
            </a:extLst>
          </p:cNvPr>
          <p:cNvSpPr txBox="1"/>
          <p:nvPr/>
        </p:nvSpPr>
        <p:spPr>
          <a:xfrm>
            <a:off x="11248840" y="693744"/>
            <a:ext cx="480901" cy="30777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Final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Readout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6CC7CCA-92F3-AC75-C090-CDE999A221E0}"/>
              </a:ext>
            </a:extLst>
          </p:cNvPr>
          <p:cNvCxnSpPr/>
          <p:nvPr/>
        </p:nvCxnSpPr>
        <p:spPr>
          <a:xfrm>
            <a:off x="1363452" y="1335144"/>
            <a:ext cx="10273812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8A8BE05-14BE-A4F4-8560-A5766D78B566}"/>
              </a:ext>
            </a:extLst>
          </p:cNvPr>
          <p:cNvSpPr txBox="1"/>
          <p:nvPr/>
        </p:nvSpPr>
        <p:spPr>
          <a:xfrm>
            <a:off x="5950939" y="1236493"/>
            <a:ext cx="1033957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lang="en-US" sz="1600" dirty="0"/>
            </a:lvl2pPr>
            <a:lvl3pPr marL="512064" lvl="2" indent="-28346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—"/>
              <a:defRPr lang="en-US" sz="1600" dirty="0"/>
            </a:lvl3pPr>
            <a:lvl4pPr marL="740664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»"/>
              <a:defRPr lang="en-US" sz="1600" dirty="0"/>
            </a:lvl4pPr>
            <a:lvl5pPr marL="914400" lvl="4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en-US" sz="1200" b="1" dirty="0"/>
              <a:t>8 weeks</a:t>
            </a:r>
          </a:p>
        </p:txBody>
      </p:sp>
      <p:cxnSp>
        <p:nvCxnSpPr>
          <p:cNvPr id="38" name="GreyLineSeparatorDefaultVertical 42">
            <a:extLst>
              <a:ext uri="{FF2B5EF4-FFF2-40B4-BE49-F238E27FC236}">
                <a16:creationId xmlns:a16="http://schemas.microsoft.com/office/drawing/2014/main" id="{DEF77D9A-0D5B-E15A-2293-011D0EF3B2C6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>
            <a:off x="1363452" y="1269480"/>
            <a:ext cx="0" cy="125914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reyLineSeparatorDefaultVertical 42">
            <a:extLst>
              <a:ext uri="{FF2B5EF4-FFF2-40B4-BE49-F238E27FC236}">
                <a16:creationId xmlns:a16="http://schemas.microsoft.com/office/drawing/2014/main" id="{D8AB09D7-8B34-B259-5520-FFFEBD7E8A6C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11637264" y="1269480"/>
            <a:ext cx="0" cy="125914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AB4548D-E898-FEFC-6C6B-C44148EDB2B2}"/>
              </a:ext>
            </a:extLst>
          </p:cNvPr>
          <p:cNvCxnSpPr>
            <a:cxnSpLocks/>
          </p:cNvCxnSpPr>
          <p:nvPr/>
        </p:nvCxnSpPr>
        <p:spPr>
          <a:xfrm>
            <a:off x="3608455" y="5406887"/>
            <a:ext cx="0" cy="109436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E71542E-CCE0-780C-5943-6BDF7531E234}"/>
              </a:ext>
            </a:extLst>
          </p:cNvPr>
          <p:cNvCxnSpPr>
            <a:cxnSpLocks/>
          </p:cNvCxnSpPr>
          <p:nvPr/>
        </p:nvCxnSpPr>
        <p:spPr>
          <a:xfrm>
            <a:off x="6522258" y="5406887"/>
            <a:ext cx="0" cy="109436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DD0270B-F53B-3C84-7919-3BD0E9E09AF8}"/>
              </a:ext>
            </a:extLst>
          </p:cNvPr>
          <p:cNvCxnSpPr>
            <a:cxnSpLocks/>
          </p:cNvCxnSpPr>
          <p:nvPr/>
        </p:nvCxnSpPr>
        <p:spPr>
          <a:xfrm>
            <a:off x="8994260" y="5406887"/>
            <a:ext cx="0" cy="109436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CustomIcon">
            <a:extLst>
              <a:ext uri="{FF2B5EF4-FFF2-40B4-BE49-F238E27FC236}">
                <a16:creationId xmlns:a16="http://schemas.microsoft.com/office/drawing/2014/main" id="{8795A47F-CE4F-FA30-29C5-6150A43F5AAC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51162" y="2629172"/>
            <a:ext cx="414626" cy="490548"/>
          </a:xfrm>
          <a:prstGeom prst="rect">
            <a:avLst/>
          </a:prstGeom>
        </p:spPr>
      </p:pic>
      <p:sp>
        <p:nvSpPr>
          <p:cNvPr id="76" name="ReviewSticky"/>
          <p:cNvSpPr/>
          <p:nvPr/>
        </p:nvSpPr>
        <p:spPr>
          <a:xfrm>
            <a:off x="9555480" y="18288"/>
            <a:ext cx="2606040" cy="105156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750">
                <a:solidFill>
                  <a:srgbClr val="000000"/>
                </a:solidFill>
                <a:latin typeface="Arial"/>
              </a:rPr>
              <a:t>MERGED: kept the 07/28 layout (chevrons, SteerCos, deliverables row); replaced the pasted sticky text with client-ready copy. All of Megha's items are here; typos fixed ('to, pressure test', 'area/e.g.'); leads front-bolded; sub-bullets flattened. 'Execution roadmap' in the wks 7-8 deliverable -&gt; 'High-level roadmap' per Megha's own qualifier. Tech Debt Index deep dive NOT re-added, matching this file's asset list.</a:t>
            </a:r>
          </a:p>
        </p:txBody>
      </p:sp>
    </p:spTree>
    <p:extLst>
      <p:ext uri="{BB962C8B-B14F-4D97-AF65-F5344CB8AC3E}">
        <p14:creationId xmlns:p14="http://schemas.microsoft.com/office/powerpoint/2010/main" val="232725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055F571D-3C98-9714-D814-D4D6CAFE7B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447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84" imgH="486" progId="TCLayout.ActiveDocument.1">
                  <p:embed/>
                </p:oleObj>
              </mc:Choice>
              <mc:Fallback>
                <p:oleObj name="think-cell Slide" r:id="rId28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5F571D-3C98-9714-D814-D4D6CAFE7B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A5E5294-C7C9-CDBF-3F24-56C9BD1329FF}"/>
              </a:ext>
            </a:extLst>
          </p:cNvPr>
          <p:cNvSpPr txBox="1"/>
          <p:nvPr/>
        </p:nvSpPr>
        <p:spPr>
          <a:xfrm>
            <a:off x="1498586" y="2490785"/>
            <a:ext cx="1643917" cy="252376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sz="1100" b="1"/>
              <a:t>Inventory the business domains</a:t>
            </a:r>
            <a:r>
              <a:rPr sz="1100" b="0"/>
              <a:t> for impact sizing and prioritization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Collect available domain data:</a:t>
            </a:r>
            <a:r>
              <a:rPr sz="1100" b="0"/>
              <a:t> workforce and headcount, cost, volume, decision points, and hand-offs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Confirm stakeholders and logistics:</a:t>
            </a:r>
            <a:r>
              <a:rPr sz="1100" b="0"/>
              <a:t> meetings, workshops, and the steering committee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706E3-7BE0-60D2-77A2-FCE31724F01D}"/>
              </a:ext>
            </a:extLst>
          </p:cNvPr>
          <p:cNvSpPr txBox="1"/>
          <p:nvPr/>
        </p:nvSpPr>
        <p:spPr>
          <a:xfrm>
            <a:off x="3256851" y="2490785"/>
            <a:ext cx="2142332" cy="21852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sz="1100" b="1"/>
              <a:t>Confirm the domains in scope</a:t>
            </a:r>
            <a:r>
              <a:rPr sz="1100" b="0"/>
              <a:t> where material value is at stake, anchored in strategic priorities and value pools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Build a detailed baseline per domain:</a:t>
            </a:r>
            <a:r>
              <a:rPr sz="1100" b="0"/>
              <a:t> process flow, personnel, and performance (e.g., FTE utilization, SLA attainment)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Size the AI value at stake,</a:t>
            </a:r>
            <a:r>
              <a:rPr sz="1100" b="0"/>
              <a:t> using our sizing tool for an initial view by domain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96C5F2-A80A-1192-2F3B-4D5045779ADF}"/>
              </a:ext>
            </a:extLst>
          </p:cNvPr>
          <p:cNvSpPr txBox="1"/>
          <p:nvPr/>
        </p:nvSpPr>
        <p:spPr>
          <a:xfrm>
            <a:off x="5524144" y="2490785"/>
            <a:ext cx="2365462" cy="30315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br>
              <a:rPr lang="en-US" sz="1100" dirty="0">
                <a:cs typeface="+mn-cs"/>
              </a:rPr>
            </a:br>
            <a:r>
              <a:rPr sz="1100" b="1"/>
              <a:t>Validate the value at stake</a:t>
            </a:r>
            <a:r>
              <a:rPr sz="1100" b="0"/>
              <a:t> in working sessions with business, technology, finance, and functions leaders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Build the prioritization framework:</a:t>
            </a:r>
            <a:r>
              <a:rPr sz="1100" b="0"/>
              <a:t> value potential (cost), strategic readiness (data, talent), and feasibility (decision complexity, risk and regulatory scrutiny)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Score domains on a heatmap scorecard</a:t>
            </a:r>
            <a:r>
              <a:rPr sz="1100" b="0"/>
              <a:t> and select the two priority domains for reimagination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270185-1B37-FF35-F556-59EDF55C9786}"/>
              </a:ext>
            </a:extLst>
          </p:cNvPr>
          <p:cNvSpPr txBox="1"/>
          <p:nvPr/>
        </p:nvSpPr>
        <p:spPr>
          <a:xfrm>
            <a:off x="8046722" y="2490785"/>
            <a:ext cx="3436156" cy="16773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sz="1100" b="1"/>
              <a:t>Reimagine each process end to end</a:t>
            </a:r>
            <a:r>
              <a:rPr sz="1100" b="0"/>
              <a:t> with Celonis Process Intelligence: future-state journey, AI and non-AI solutions, roles of people and AI agents, and exception paths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Refine and finalize the blueprints</a:t>
            </a:r>
            <a:r>
              <a:rPr sz="1100" b="0"/>
              <a:t> in workshops with business leaders and subject matter experts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Define the supporting implications:</a:t>
            </a:r>
            <a:r>
              <a:rPr sz="1100" b="0"/>
              <a:t> talent, operating model, data, technology, and controls</a:t>
            </a:r>
          </a:p>
          <a:p>
            <a:pPr marL="0" indent="0">
              <a:spcBef>
                <a:spcPts val="600"/>
              </a:spcBef>
              <a:buNone/>
            </a:pPr>
            <a:r>
              <a:rPr sz="1100" b="1"/>
              <a:t>Consolidate across both domains,</a:t>
            </a:r>
            <a:r>
              <a:rPr sz="1100" b="0"/>
              <a:t> identifying reusable components and sequencing with Track 1 initiatives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65D3AF-10BC-B588-2CBA-FEE5814BD5BE}"/>
              </a:ext>
            </a:extLst>
          </p:cNvPr>
          <p:cNvSpPr txBox="1"/>
          <p:nvPr/>
        </p:nvSpPr>
        <p:spPr>
          <a:xfrm>
            <a:off x="554737" y="2490785"/>
            <a:ext cx="794004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/>
              <a:t>Activities</a:t>
            </a:r>
            <a:endParaRPr lang="en-US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E2EC0-2E6F-86D9-3185-A4377B341C97}"/>
              </a:ext>
            </a:extLst>
          </p:cNvPr>
          <p:cNvSpPr txBox="1"/>
          <p:nvPr/>
        </p:nvSpPr>
        <p:spPr>
          <a:xfrm>
            <a:off x="554737" y="1664917"/>
            <a:ext cx="794004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 dirty="0"/>
              <a:t>Key Phases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CAEB93F-9C29-235A-6C44-BEB97D57911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498586" y="1577243"/>
            <a:ext cx="1844599" cy="857695"/>
            <a:chOff x="1498586" y="1710245"/>
            <a:chExt cx="2142744" cy="857695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BF60505-3392-4012-5E10-984DE60AAA3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498586" y="1710245"/>
              <a:ext cx="2142744" cy="857695"/>
            </a:xfrm>
            <a:custGeom>
              <a:avLst/>
              <a:gdLst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97035" y="0"/>
                  </a:lnTo>
                  <a:lnTo>
                    <a:pt x="1828800" y="457200"/>
                  </a:lnTo>
                  <a:lnTo>
                    <a:pt x="1697035" y="914400"/>
                  </a:lnTo>
                  <a:lnTo>
                    <a:pt x="0" y="914400"/>
                  </a:lnTo>
                  <a:lnTo>
                    <a:pt x="0" y="457201"/>
                  </a:lnTo>
                  <a:close/>
                </a:path>
              </a:pathLst>
            </a:custGeom>
            <a:grpFill/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dirty="0" err="1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32469FB-958D-213C-88E5-E1A05A17AA1E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1562086" y="1769807"/>
              <a:ext cx="1924859" cy="738571"/>
            </a:xfrm>
            <a:prstGeom prst="rect">
              <a:avLst/>
            </a:prstGeom>
            <a:grpFill/>
          </p:spPr>
          <p:txBody>
            <a:bodyPr vert="horz" lIns="15240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/>
                <a:t>Week 0 </a:t>
              </a:r>
              <a:br>
                <a:rPr lang="en-US" sz="1200" b="1" dirty="0"/>
              </a:br>
              <a:r>
                <a:rPr lang="en-US" sz="1200" b="1" dirty="0"/>
                <a:t>Prep work</a:t>
              </a:r>
              <a:br>
                <a:rPr lang="en-US" sz="1200" b="1" dirty="0"/>
              </a:br>
              <a:br>
                <a:rPr lang="en-US" sz="1200" b="1" dirty="0"/>
              </a:br>
              <a:endParaRPr lang="en-US" sz="1200" b="1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CB4FB9F-0E67-A261-FCBE-4CADD346615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200400" y="1577243"/>
            <a:ext cx="2439914" cy="857695"/>
            <a:chOff x="3497569" y="1710245"/>
            <a:chExt cx="2142744" cy="857695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630C2D4-EDC6-D1EA-AA60-7D21E83438D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3497569" y="1710245"/>
              <a:ext cx="2142744" cy="857695"/>
            </a:xfrm>
            <a:custGeom>
              <a:avLst/>
              <a:gdLst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3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5333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7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82987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97035" y="0"/>
                  </a:lnTo>
                  <a:lnTo>
                    <a:pt x="1828800" y="457200"/>
                  </a:lnTo>
                  <a:lnTo>
                    <a:pt x="1697035" y="914400"/>
                  </a:lnTo>
                  <a:lnTo>
                    <a:pt x="0" y="914400"/>
                  </a:lnTo>
                  <a:lnTo>
                    <a:pt x="131765" y="457201"/>
                  </a:lnTo>
                  <a:close/>
                </a:path>
              </a:pathLst>
            </a:custGeom>
            <a:solidFill>
              <a:schemeClr val="accent1"/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0D06AB-7501-B4BD-CFC8-0DEF068FE405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3702754" y="1769807"/>
              <a:ext cx="1783174" cy="738571"/>
            </a:xfrm>
            <a:prstGeom prst="rect">
              <a:avLst/>
            </a:prstGeom>
          </p:spPr>
          <p:txBody>
            <a:bodyPr vert="horz" lIns="15240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solidFill>
                    <a:schemeClr val="bg1"/>
                  </a:solidFill>
                </a:rPr>
                <a:t>Weeks 1-2  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r>
                <a:rPr lang="en-US" sz="1200" b="1" dirty="0">
                  <a:solidFill>
                    <a:schemeClr val="bg1"/>
                  </a:solidFill>
                </a:rPr>
                <a:t>Establish baseline and size initial value at stake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6145487-EBF0-0606-FFAB-4DD8975843E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496553" y="1577243"/>
            <a:ext cx="2664435" cy="857695"/>
            <a:chOff x="5496552" y="1710245"/>
            <a:chExt cx="2142744" cy="857695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1988ABD-09DF-6906-04D2-46BAB8E810AD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496552" y="1710245"/>
              <a:ext cx="2142744" cy="857695"/>
            </a:xfrm>
            <a:custGeom>
              <a:avLst/>
              <a:gdLst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5 w 1828800"/>
                <a:gd name="csY1" fmla="*/ 0 h 914400"/>
                <a:gd name="csX2" fmla="*/ 1828800 w 1828800"/>
                <a:gd name="csY2" fmla="*/ 457200 h 914400"/>
                <a:gd name="csX3" fmla="*/ 1697035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97035" y="0"/>
                  </a:lnTo>
                  <a:lnTo>
                    <a:pt x="1828800" y="457200"/>
                  </a:lnTo>
                  <a:lnTo>
                    <a:pt x="1697035" y="914400"/>
                  </a:lnTo>
                  <a:lnTo>
                    <a:pt x="0" y="914400"/>
                  </a:lnTo>
                  <a:lnTo>
                    <a:pt x="131765" y="457201"/>
                  </a:lnTo>
                  <a:close/>
                </a:path>
              </a:pathLst>
            </a:custGeom>
            <a:solidFill>
              <a:schemeClr val="accent1"/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5DDF0B5-ABEF-9D89-8009-07587F476D27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5701737" y="1769807"/>
              <a:ext cx="1783174" cy="738571"/>
            </a:xfrm>
            <a:prstGeom prst="rect">
              <a:avLst/>
            </a:prstGeom>
          </p:spPr>
          <p:txBody>
            <a:bodyPr vert="horz" lIns="15240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solidFill>
                    <a:schemeClr val="bg1"/>
                  </a:solidFill>
                </a:rPr>
                <a:t>Weeks 3-4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r>
                <a:rPr lang="en-US" sz="1200" b="1" dirty="0">
                  <a:solidFill>
                    <a:schemeClr val="bg1"/>
                  </a:solidFill>
                </a:rPr>
                <a:t>Refine impact potential and prioritize domains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DA4612F-D4B1-9492-6B5A-14EBA57166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7986570" y="1577243"/>
            <a:ext cx="1821449" cy="857695"/>
            <a:chOff x="7495535" y="1710245"/>
            <a:chExt cx="2142744" cy="857695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C4038EC-F914-E096-F9A9-6F2329E18F6E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495535" y="1710245"/>
              <a:ext cx="2142744" cy="857695"/>
            </a:xfrm>
            <a:custGeom>
              <a:avLst/>
              <a:gdLst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149536 w 1828800"/>
                <a:gd name="csY5" fmla="*/ 457201 h 914400"/>
                <a:gd name="csX0" fmla="*/ 0 w 1828800"/>
                <a:gd name="csY0" fmla="*/ 0 h 914400"/>
                <a:gd name="csX1" fmla="*/ 1679265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7926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4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4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4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97034" y="0"/>
                  </a:lnTo>
                  <a:lnTo>
                    <a:pt x="1828800" y="457200"/>
                  </a:lnTo>
                  <a:lnTo>
                    <a:pt x="1697034" y="914400"/>
                  </a:lnTo>
                  <a:lnTo>
                    <a:pt x="0" y="914400"/>
                  </a:lnTo>
                  <a:lnTo>
                    <a:pt x="131765" y="457201"/>
                  </a:lnTo>
                  <a:close/>
                </a:path>
              </a:pathLst>
            </a:custGeom>
            <a:solidFill>
              <a:schemeClr val="accent1"/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26E0C07-011E-A3D3-4A9C-EE99CC50D4C0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7700720" y="1769807"/>
              <a:ext cx="1783174" cy="738571"/>
            </a:xfrm>
            <a:prstGeom prst="rect">
              <a:avLst/>
            </a:prstGeom>
          </p:spPr>
          <p:txBody>
            <a:bodyPr vert="horz" lIns="15240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solidFill>
                    <a:schemeClr val="bg1"/>
                  </a:solidFill>
                </a:rPr>
                <a:t>Weeks 5-6 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r>
                <a:rPr lang="en-US" sz="1200" b="1" dirty="0">
                  <a:solidFill>
                    <a:schemeClr val="bg1"/>
                  </a:solidFill>
                </a:rPr>
                <a:t>Reimagine 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r>
                <a:rPr lang="en-US" sz="1200" b="1" dirty="0">
                  <a:solidFill>
                    <a:schemeClr val="bg1"/>
                  </a:solidFill>
                </a:rPr>
                <a:t>domain 1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endParaRPr 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B1AA306-6160-AF45-8733-6BD3926EC74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9676783" y="1577243"/>
            <a:ext cx="1960480" cy="857695"/>
            <a:chOff x="9494520" y="1710245"/>
            <a:chExt cx="2142744" cy="857695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6E89290-0359-4D73-CF08-CCC262BB3B87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494520" y="1710245"/>
              <a:ext cx="2142744" cy="857695"/>
            </a:xfrm>
            <a:custGeom>
              <a:avLst/>
              <a:gdLst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664208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66420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0 h 914400"/>
                <a:gd name="csX0" fmla="*/ 0 w 1828800"/>
                <a:gd name="csY0" fmla="*/ 0 h 914400"/>
                <a:gd name="csX1" fmla="*/ 1728216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2821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67152 w 1828800"/>
                <a:gd name="csY5" fmla="*/ 457201 h 914400"/>
                <a:gd name="csX0" fmla="*/ 0 w 1828800"/>
                <a:gd name="csY0" fmla="*/ 0 h 914400"/>
                <a:gd name="csX1" fmla="*/ 1761648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61648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90515 w 1828800"/>
                <a:gd name="csY5" fmla="*/ 457201 h 914400"/>
                <a:gd name="csX0" fmla="*/ 0 w 1828800"/>
                <a:gd name="csY0" fmla="*/ 0 h 914400"/>
                <a:gd name="csX1" fmla="*/ 1738285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8285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93466 w 1828800"/>
                <a:gd name="csY5" fmla="*/ 457201 h 914400"/>
                <a:gd name="csX0" fmla="*/ 0 w 1828800"/>
                <a:gd name="csY0" fmla="*/ 0 h 914400"/>
                <a:gd name="csX1" fmla="*/ 1735334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53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95512 w 1828800"/>
                <a:gd name="csY5" fmla="*/ 457201 h 914400"/>
                <a:gd name="csX0" fmla="*/ 0 w 1828800"/>
                <a:gd name="csY0" fmla="*/ 0 h 914400"/>
                <a:gd name="csX1" fmla="*/ 1733288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4 w 1828800"/>
                <a:gd name="csY1" fmla="*/ 0 h 914400"/>
                <a:gd name="csX2" fmla="*/ 1828800 w 1828800"/>
                <a:gd name="csY2" fmla="*/ 457200 h 914400"/>
                <a:gd name="csX3" fmla="*/ 1733288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4 w 1828800"/>
                <a:gd name="csY1" fmla="*/ 0 h 914400"/>
                <a:gd name="csX2" fmla="*/ 1828800 w 1828800"/>
                <a:gd name="csY2" fmla="*/ 457200 h 914400"/>
                <a:gd name="csX3" fmla="*/ 1679264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4 w 1828800"/>
                <a:gd name="csY1" fmla="*/ 0 h 914400"/>
                <a:gd name="csX2" fmla="*/ 1828800 w 1828800"/>
                <a:gd name="csY2" fmla="*/ 457200 h 914400"/>
                <a:gd name="csX3" fmla="*/ 167926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4 w 1828800"/>
                <a:gd name="csY1" fmla="*/ 0 h 914400"/>
                <a:gd name="csX2" fmla="*/ 1828800 w 1828800"/>
                <a:gd name="csY2" fmla="*/ 457200 h 914400"/>
                <a:gd name="csX3" fmla="*/ 167926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4 w 1828800"/>
                <a:gd name="csY1" fmla="*/ 0 h 914400"/>
                <a:gd name="csX2" fmla="*/ 1828800 w 1828800"/>
                <a:gd name="csY2" fmla="*/ 457200 h 914400"/>
                <a:gd name="csX3" fmla="*/ 167926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79264 w 1828800"/>
                <a:gd name="csY1" fmla="*/ 0 h 914400"/>
                <a:gd name="csX2" fmla="*/ 1828800 w 1828800"/>
                <a:gd name="csY2" fmla="*/ 457200 h 914400"/>
                <a:gd name="csX3" fmla="*/ 1679264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4 w 1828800"/>
                <a:gd name="csY1" fmla="*/ 0 h 914400"/>
                <a:gd name="csX2" fmla="*/ 1828800 w 1828800"/>
                <a:gd name="csY2" fmla="*/ 457200 h 914400"/>
                <a:gd name="csX3" fmla="*/ 1679264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4 w 1828800"/>
                <a:gd name="csY1" fmla="*/ 0 h 914400"/>
                <a:gd name="csX2" fmla="*/ 1828800 w 1828800"/>
                <a:gd name="csY2" fmla="*/ 457200 h 914400"/>
                <a:gd name="csX3" fmla="*/ 1679264 w 1828800"/>
                <a:gd name="csY3" fmla="*/ 914400 h 914400"/>
                <a:gd name="csX4" fmla="*/ 0 w 1828800"/>
                <a:gd name="csY4" fmla="*/ 914400 h 914400"/>
                <a:gd name="csX5" fmla="*/ 149535 w 1828800"/>
                <a:gd name="csY5" fmla="*/ 457201 h 914400"/>
                <a:gd name="csX0" fmla="*/ 0 w 1828800"/>
                <a:gd name="csY0" fmla="*/ 0 h 914400"/>
                <a:gd name="csX1" fmla="*/ 1679264 w 1828800"/>
                <a:gd name="csY1" fmla="*/ 0 h 914400"/>
                <a:gd name="csX2" fmla="*/ 1828800 w 1828800"/>
                <a:gd name="csY2" fmla="*/ 457200 h 914400"/>
                <a:gd name="csX3" fmla="*/ 167926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7926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45813 w 1828800"/>
                <a:gd name="csY5" fmla="*/ 457201 h 914400"/>
                <a:gd name="csX0" fmla="*/ 0 w 1828800"/>
                <a:gd name="csY0" fmla="*/ 0 h 914400"/>
                <a:gd name="csX1" fmla="*/ 1682986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82986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0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  <a:gd name="csX0" fmla="*/ 0 w 1828800"/>
                <a:gd name="csY0" fmla="*/ 0 h 914400"/>
                <a:gd name="csX1" fmla="*/ 1697034 w 1828800"/>
                <a:gd name="csY1" fmla="*/ 0 h 914400"/>
                <a:gd name="csX2" fmla="*/ 1828800 w 1828800"/>
                <a:gd name="csY2" fmla="*/ 457200 h 914400"/>
                <a:gd name="csX3" fmla="*/ 1697034 w 1828800"/>
                <a:gd name="csY3" fmla="*/ 914400 h 914400"/>
                <a:gd name="csX4" fmla="*/ 0 w 1828800"/>
                <a:gd name="csY4" fmla="*/ 914400 h 914400"/>
                <a:gd name="csX5" fmla="*/ 131765 w 1828800"/>
                <a:gd name="csY5" fmla="*/ 457201 h 914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97034" y="0"/>
                  </a:lnTo>
                  <a:lnTo>
                    <a:pt x="1828800" y="457200"/>
                  </a:lnTo>
                  <a:lnTo>
                    <a:pt x="1697034" y="914400"/>
                  </a:lnTo>
                  <a:lnTo>
                    <a:pt x="0" y="914400"/>
                  </a:lnTo>
                  <a:lnTo>
                    <a:pt x="131765" y="457201"/>
                  </a:lnTo>
                  <a:close/>
                </a:path>
              </a:pathLst>
            </a:custGeom>
            <a:solidFill>
              <a:schemeClr val="accent1"/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936C8C1-6F92-F104-E5BA-BF872E0FDB14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9699705" y="1769807"/>
              <a:ext cx="1783174" cy="738571"/>
            </a:xfrm>
            <a:prstGeom prst="rect">
              <a:avLst/>
            </a:prstGeom>
          </p:spPr>
          <p:txBody>
            <a:bodyPr vert="horz" lIns="152400" tIns="0" rIns="0" bIns="0" rtlCol="0" anchor="ctr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sz="1400" b="1" dirty="0">
                  <a:solidFill>
                    <a:schemeClr val="bg1"/>
                  </a:solidFill>
                </a:rPr>
                <a:t>Weeks 7-8 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r>
                <a:rPr lang="en-US" sz="1200" b="1" dirty="0">
                  <a:solidFill>
                    <a:schemeClr val="bg1"/>
                  </a:solidFill>
                </a:rPr>
                <a:t>Reimagine 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r>
                <a:rPr lang="en-US" sz="1200" b="1" dirty="0">
                  <a:solidFill>
                    <a:schemeClr val="bg1"/>
                  </a:solidFill>
                </a:rPr>
                <a:t>domain 2</a:t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endParaRPr 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8" name="2. Slide Title">
            <a:extLst>
              <a:ext uri="{FF2B5EF4-FFF2-40B4-BE49-F238E27FC236}">
                <a16:creationId xmlns:a16="http://schemas.microsoft.com/office/drawing/2014/main" id="{0977CE7B-7744-BD44-678E-6C5CD549436F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2. AI-enabled Reimagination: </a:t>
            </a:r>
            <a:r>
              <a:rPr lang="en-US" dirty="0"/>
              <a:t>An 8-week approach to identify, prioritize, and redesign high-value business domains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77D9CB-AC93-83B9-7E96-C62213995D41}"/>
              </a:ext>
            </a:extLst>
          </p:cNvPr>
          <p:cNvCxnSpPr>
            <a:cxnSpLocks/>
          </p:cNvCxnSpPr>
          <p:nvPr/>
        </p:nvCxnSpPr>
        <p:spPr>
          <a:xfrm>
            <a:off x="5478306" y="2560704"/>
            <a:ext cx="0" cy="2726196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124AD8-0F6E-4A89-4656-B18B6DA8B196}"/>
              </a:ext>
            </a:extLst>
          </p:cNvPr>
          <p:cNvCxnSpPr>
            <a:cxnSpLocks/>
          </p:cNvCxnSpPr>
          <p:nvPr/>
        </p:nvCxnSpPr>
        <p:spPr>
          <a:xfrm>
            <a:off x="3211013" y="2560704"/>
            <a:ext cx="0" cy="2726196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F09648-49C9-D096-9837-164BDB1D6C06}"/>
              </a:ext>
            </a:extLst>
          </p:cNvPr>
          <p:cNvCxnSpPr>
            <a:cxnSpLocks/>
          </p:cNvCxnSpPr>
          <p:nvPr/>
        </p:nvCxnSpPr>
        <p:spPr>
          <a:xfrm>
            <a:off x="7968729" y="2490785"/>
            <a:ext cx="0" cy="2726196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D7F835-4A33-FDCF-1AEA-DAFC85FA8E2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1162" y="5690695"/>
            <a:ext cx="750137" cy="18205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Deliverables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728EAB-60B2-8092-FA9D-DD320450C62B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3304664" y="5637385"/>
            <a:ext cx="201548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>
                <a:cs typeface="Arial" panose="020B0604020202020204" pitchFamily="34" charset="0"/>
              </a:defRPr>
            </a:lvl2pPr>
            <a:lvl3pPr marL="512064" lvl="2" indent="-28346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0664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lvl="1" indent="-1714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100" dirty="0"/>
              <a:t>Current-state baselines across priority business domains</a:t>
            </a:r>
          </a:p>
          <a:p>
            <a:pPr marL="171450" lvl="1" indent="-1714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100" dirty="0"/>
              <a:t>Quantified AI value at stake across each domain</a:t>
            </a:r>
            <a:endParaRPr lang="en-US" sz="1100" dirty="0"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AFDD04-43CE-286C-E476-770A395FEDE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1367971" y="5633861"/>
            <a:ext cx="1716049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>
                <a:cs typeface="Arial" panose="020B0604020202020204" pitchFamily="34" charset="0"/>
              </a:defRPr>
            </a:lvl2pPr>
            <a:lvl3pPr marL="512064" lvl="2" indent="-28346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0664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lvl="1" indent="-1714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100" dirty="0"/>
              <a:t>Aligned domain inventory and initial fact base</a:t>
            </a:r>
          </a:p>
          <a:p>
            <a:pPr marL="171450" lvl="1" indent="-1714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100" dirty="0">
                <a:cs typeface="+mn-cs"/>
              </a:rPr>
              <a:t>Stakeholders and logistics 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C21B85-06C3-354D-7697-A4A72125850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5540788" y="5683738"/>
            <a:ext cx="2258688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>
                <a:cs typeface="Arial" panose="020B0604020202020204" pitchFamily="34" charset="0"/>
              </a:defRPr>
            </a:lvl2pPr>
            <a:lvl3pPr marL="512064" lvl="2" indent="-28346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0664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lvl="1" indent="-1714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100" dirty="0"/>
              <a:t>Value-feasibility framework and domain heatmap</a:t>
            </a:r>
          </a:p>
          <a:p>
            <a:pPr marL="171450" lvl="1" indent="-1714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100" dirty="0"/>
              <a:t>Executive selection of the two priority domains for end-to-end reimagination</a:t>
            </a:r>
            <a:endParaRPr lang="en-US" sz="1100" dirty="0"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285C0C-EE30-410C-A790-AA800BFE15B7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8046723" y="5666291"/>
            <a:ext cx="3593352" cy="58477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>
                <a:cs typeface="Arial" panose="020B0604020202020204" pitchFamily="34" charset="0"/>
              </a:defRPr>
            </a:lvl2pPr>
            <a:lvl3pPr marL="512064" lvl="2" indent="-28346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0664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lvl="1" indent="-1714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100" dirty="0"/>
              <a:t>Future-state process blueprints for selected domains</a:t>
            </a:r>
          </a:p>
          <a:p>
            <a:pPr marL="171450" lvl="1" indent="-1714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100" dirty="0"/>
              <a:t>Defined talent, operating model, data, and technology implications</a:t>
            </a:r>
            <a:endParaRPr lang="en-US" sz="1100" dirty="0">
              <a:cs typeface="+mn-cs"/>
            </a:endParaRPr>
          </a:p>
        </p:txBody>
      </p:sp>
      <p:pic>
        <p:nvPicPr>
          <p:cNvPr id="17" name="CustomIcon">
            <a:extLst>
              <a:ext uri="{FF2B5EF4-FFF2-40B4-BE49-F238E27FC236}">
                <a16:creationId xmlns:a16="http://schemas.microsoft.com/office/drawing/2014/main" id="{BDCF1864-F094-0640-E124-E9494CC3C46E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51926" y="5819378"/>
            <a:ext cx="414626" cy="490548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FD5CD8-D2BE-5E28-4028-B7C46018F093}"/>
              </a:ext>
            </a:extLst>
          </p:cNvPr>
          <p:cNvCxnSpPr>
            <a:cxnSpLocks/>
          </p:cNvCxnSpPr>
          <p:nvPr/>
        </p:nvCxnSpPr>
        <p:spPr>
          <a:xfrm>
            <a:off x="551162" y="5564829"/>
            <a:ext cx="11081764" cy="0"/>
          </a:xfrm>
          <a:prstGeom prst="line">
            <a:avLst/>
          </a:prstGeom>
          <a:ln w="6350" cap="flat">
            <a:solidFill>
              <a:schemeClr val="tx1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93529B-3E10-D759-5833-A29EB769C6D7}"/>
              </a:ext>
            </a:extLst>
          </p:cNvPr>
          <p:cNvCxnSpPr>
            <a:cxnSpLocks/>
          </p:cNvCxnSpPr>
          <p:nvPr/>
        </p:nvCxnSpPr>
        <p:spPr>
          <a:xfrm>
            <a:off x="3211013" y="5637385"/>
            <a:ext cx="0" cy="109436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15118F4-6628-6C9E-C1E0-0133B92A6C67}"/>
              </a:ext>
            </a:extLst>
          </p:cNvPr>
          <p:cNvCxnSpPr>
            <a:cxnSpLocks/>
          </p:cNvCxnSpPr>
          <p:nvPr/>
        </p:nvCxnSpPr>
        <p:spPr>
          <a:xfrm>
            <a:off x="5464517" y="5690695"/>
            <a:ext cx="0" cy="109436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12F928-9BB3-CEA8-5FFC-5D7DBB83238A}"/>
              </a:ext>
            </a:extLst>
          </p:cNvPr>
          <p:cNvCxnSpPr>
            <a:cxnSpLocks/>
          </p:cNvCxnSpPr>
          <p:nvPr/>
        </p:nvCxnSpPr>
        <p:spPr>
          <a:xfrm>
            <a:off x="7968729" y="5666291"/>
            <a:ext cx="0" cy="1094364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D8A0313-0E15-97C5-1264-35880888C6E0}"/>
              </a:ext>
            </a:extLst>
          </p:cNvPr>
          <p:cNvSpPr/>
          <p:nvPr/>
        </p:nvSpPr>
        <p:spPr>
          <a:xfrm flipV="1">
            <a:off x="3788690" y="1276183"/>
            <a:ext cx="216000" cy="165109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A20197-A1C1-6BB3-D69D-CDCEE1592AB3}"/>
              </a:ext>
            </a:extLst>
          </p:cNvPr>
          <p:cNvSpPr txBox="1"/>
          <p:nvPr/>
        </p:nvSpPr>
        <p:spPr>
          <a:xfrm>
            <a:off x="3662652" y="1067819"/>
            <a:ext cx="468077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SteerCo</a:t>
            </a: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4EEB19E-8EDA-6F00-2611-0C512729293F}"/>
              </a:ext>
            </a:extLst>
          </p:cNvPr>
          <p:cNvSpPr/>
          <p:nvPr/>
        </p:nvSpPr>
        <p:spPr>
          <a:xfrm flipV="1">
            <a:off x="6340923" y="1276183"/>
            <a:ext cx="216000" cy="165109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1740FC-C865-CE47-62E5-C30E93911687}"/>
              </a:ext>
            </a:extLst>
          </p:cNvPr>
          <p:cNvSpPr txBox="1"/>
          <p:nvPr/>
        </p:nvSpPr>
        <p:spPr>
          <a:xfrm>
            <a:off x="6214885" y="1067819"/>
            <a:ext cx="468077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SteerCo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56AAE149-562A-F22C-9CF6-8730D6153B55}"/>
              </a:ext>
            </a:extLst>
          </p:cNvPr>
          <p:cNvSpPr/>
          <p:nvPr/>
        </p:nvSpPr>
        <p:spPr>
          <a:xfrm flipV="1">
            <a:off x="8900609" y="1276183"/>
            <a:ext cx="216000" cy="165109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70C957-098B-164C-3050-655C44BC277E}"/>
              </a:ext>
            </a:extLst>
          </p:cNvPr>
          <p:cNvSpPr txBox="1"/>
          <p:nvPr/>
        </p:nvSpPr>
        <p:spPr>
          <a:xfrm>
            <a:off x="8774571" y="1067819"/>
            <a:ext cx="468077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SteerCo</a:t>
            </a: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B6596670-FDF9-BB14-2DB0-EDBA5D1B6D7E}"/>
              </a:ext>
            </a:extLst>
          </p:cNvPr>
          <p:cNvSpPr/>
          <p:nvPr/>
        </p:nvSpPr>
        <p:spPr>
          <a:xfrm flipV="1">
            <a:off x="11352295" y="1267258"/>
            <a:ext cx="216000" cy="165109"/>
          </a:xfrm>
          <a:prstGeom prst="triangle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D4DD97-8D7E-2623-7292-47FC96598ED4}"/>
              </a:ext>
            </a:extLst>
          </p:cNvPr>
          <p:cNvSpPr txBox="1"/>
          <p:nvPr/>
        </p:nvSpPr>
        <p:spPr>
          <a:xfrm>
            <a:off x="11226257" y="1058894"/>
            <a:ext cx="468077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SteerCo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2920DC-5315-E47C-5FAE-EF54AA7A2077}"/>
              </a:ext>
            </a:extLst>
          </p:cNvPr>
          <p:cNvCxnSpPr/>
          <p:nvPr/>
        </p:nvCxnSpPr>
        <p:spPr>
          <a:xfrm>
            <a:off x="1363452" y="1551275"/>
            <a:ext cx="10273812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60F091D-A205-722E-8708-8A8495A59DED}"/>
              </a:ext>
            </a:extLst>
          </p:cNvPr>
          <p:cNvSpPr txBox="1"/>
          <p:nvPr/>
        </p:nvSpPr>
        <p:spPr>
          <a:xfrm>
            <a:off x="5950939" y="1452624"/>
            <a:ext cx="1033957" cy="18466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lang="en-US" sz="1600" dirty="0"/>
            </a:lvl2pPr>
            <a:lvl3pPr marL="512064" lvl="2" indent="-28346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—"/>
              <a:defRPr lang="en-US" sz="1600" dirty="0"/>
            </a:lvl3pPr>
            <a:lvl4pPr marL="740664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»"/>
              <a:defRPr lang="en-US" sz="1600" dirty="0"/>
            </a:lvl4pPr>
            <a:lvl5pPr marL="914400" lvl="4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en-US" sz="1200" b="1" dirty="0"/>
              <a:t>8 weeks</a:t>
            </a:r>
          </a:p>
        </p:txBody>
      </p:sp>
      <p:cxnSp>
        <p:nvCxnSpPr>
          <p:cNvPr id="34" name="GreyLineSeparatorDefaultVertical 42">
            <a:extLst>
              <a:ext uri="{FF2B5EF4-FFF2-40B4-BE49-F238E27FC236}">
                <a16:creationId xmlns:a16="http://schemas.microsoft.com/office/drawing/2014/main" id="{A3FACBEC-E8BB-17D1-1605-C07F2F52F8C0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1363452" y="1485611"/>
            <a:ext cx="0" cy="125914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reyLineSeparatorDefaultVertical 42">
            <a:extLst>
              <a:ext uri="{FF2B5EF4-FFF2-40B4-BE49-F238E27FC236}">
                <a16:creationId xmlns:a16="http://schemas.microsoft.com/office/drawing/2014/main" id="{0375D36D-2D37-27CE-CF93-88DD93C3F9BC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>
          <a:xfrm>
            <a:off x="11637264" y="1485611"/>
            <a:ext cx="0" cy="125914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CustomIcon">
            <a:extLst>
              <a:ext uri="{FF2B5EF4-FFF2-40B4-BE49-F238E27FC236}">
                <a16:creationId xmlns:a16="http://schemas.microsoft.com/office/drawing/2014/main" id="{41A07E22-1D7D-8D09-09FB-DDD452726B73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51162" y="2838928"/>
            <a:ext cx="414626" cy="490548"/>
          </a:xfrm>
          <a:prstGeom prst="rect">
            <a:avLst/>
          </a:prstGeom>
        </p:spPr>
      </p:pic>
      <p:sp>
        <p:nvSpPr>
          <p:cNvPr id="129" name="ReviewSticky"/>
          <p:cNvSpPr/>
          <p:nvPr/>
        </p:nvSpPr>
        <p:spPr>
          <a:xfrm>
            <a:off x="9555480" y="18288"/>
            <a:ext cx="2606040" cy="105156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750">
                <a:solidFill>
                  <a:srgbClr val="000000"/>
                </a:solidFill>
                <a:latin typeface="Arial"/>
              </a:rPr>
              <a:t>MERGED: same treatment. 'hand-ffs' and other typos fixed; en dash removed; 'human and agent roles' -&gt; 'roles of people and AI agents' (nobody at Vanguard should read 'agent' as a service agent); AA tool named client-readably. The wks 5-8 box covers both reimagination phases as designed here, closing with a consolidate bullet linking to Track 1. Page commits to two domains; your sticky said 'identifies 1-2', say the word to restore the optionality.</a:t>
            </a:r>
          </a:p>
        </p:txBody>
      </p:sp>
    </p:spTree>
    <p:extLst>
      <p:ext uri="{BB962C8B-B14F-4D97-AF65-F5344CB8AC3E}">
        <p14:creationId xmlns:p14="http://schemas.microsoft.com/office/powerpoint/2010/main" val="793509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F624A3A-9E72-6513-54E6-0B6405AB9E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72350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9BF21FF-F2BD-A72F-B8D2-6D26A011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C298B-72CA-52D5-507B-FDF2425DF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viewSticky"/>
          <p:cNvSpPr/>
          <p:nvPr/>
        </p:nvSpPr>
        <p:spPr>
          <a:xfrm>
            <a:off x="9555480" y="18288"/>
            <a:ext cx="2606040" cy="86868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750">
                <a:solidFill>
                  <a:srgbClr val="000000"/>
                </a:solidFill>
                <a:latin typeface="Arial"/>
              </a:rPr>
              <a:t>CUT from this appendix: the 'Summary view of activities' page recycled from another client (it still said 'across GS' with a mid-November management-committee timeline). Recoverable from the 07/28 file if a re-skinned version is wanted.</a:t>
            </a:r>
          </a:p>
        </p:txBody>
      </p:sp>
    </p:spTree>
    <p:extLst>
      <p:ext uri="{BB962C8B-B14F-4D97-AF65-F5344CB8AC3E}">
        <p14:creationId xmlns:p14="http://schemas.microsoft.com/office/powerpoint/2010/main" val="922591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5A0F2A11-D17C-4CC8-A86B-A77F354093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6" name="Object 2" hidden="1">
                        <a:extLst>
                          <a:ext uri="{FF2B5EF4-FFF2-40B4-BE49-F238E27FC236}">
                            <a16:creationId xmlns:a16="http://schemas.microsoft.com/office/drawing/2014/main" id="{5A0F2A11-D17C-4CC8-A86B-A77F354093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549E1095-9094-45A4-855A-ABFE3F73268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91312"/>
            <a:ext cx="11082528" cy="10733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AU" dirty="0"/>
              <a:t>We deployed the Tech Performance assessment framework to cover all the important aspects within IT, then focused on client-relevant areas</a:t>
            </a:r>
          </a:p>
        </p:txBody>
      </p:sp>
      <p:sp>
        <p:nvSpPr>
          <p:cNvPr id="5" name="RectangleLegend1">
            <a:extLst>
              <a:ext uri="{FF2B5EF4-FFF2-40B4-BE49-F238E27FC236}">
                <a16:creationId xmlns:a16="http://schemas.microsoft.com/office/drawing/2014/main" id="{418AF7DA-1DB2-96C3-6F97-CE1109E5BC32}"/>
              </a:ext>
            </a:extLst>
          </p:cNvPr>
          <p:cNvSpPr/>
          <p:nvPr/>
        </p:nvSpPr>
        <p:spPr>
          <a:xfrm>
            <a:off x="7147001" y="1834384"/>
            <a:ext cx="2642457" cy="4215794"/>
          </a:xfrm>
          <a:prstGeom prst="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Legend1">
            <a:extLst>
              <a:ext uri="{FF2B5EF4-FFF2-40B4-BE49-F238E27FC236}">
                <a16:creationId xmlns:a16="http://schemas.microsoft.com/office/drawing/2014/main" id="{653905DF-EDCE-7768-D14F-15E51732D62E}"/>
              </a:ext>
            </a:extLst>
          </p:cNvPr>
          <p:cNvSpPr/>
          <p:nvPr/>
        </p:nvSpPr>
        <p:spPr>
          <a:xfrm>
            <a:off x="549845" y="1834384"/>
            <a:ext cx="4506483" cy="4215795"/>
          </a:xfrm>
          <a:prstGeom prst="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2D31C6E1-F8EB-4E32-ADE4-F0EDF8E88499}"/>
              </a:ext>
            </a:extLst>
          </p:cNvPr>
          <p:cNvSpPr txBox="1"/>
          <p:nvPr/>
        </p:nvSpPr>
        <p:spPr>
          <a:xfrm>
            <a:off x="554736" y="1605571"/>
            <a:ext cx="6373073" cy="18466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Tower view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(Spend, and FTEs)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563BAE7-1D43-4FF9-BE81-60A2D0AEC0BA}"/>
              </a:ext>
            </a:extLst>
          </p:cNvPr>
          <p:cNvSpPr txBox="1"/>
          <p:nvPr/>
        </p:nvSpPr>
        <p:spPr>
          <a:xfrm>
            <a:off x="7182333" y="1605571"/>
            <a:ext cx="4454931" cy="18466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Category view</a:t>
            </a:r>
            <a:r>
              <a:rPr kumimoji="0" lang="en-A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 (Spend)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2928B2-3413-40C3-A948-F2F5791907FE}"/>
              </a:ext>
            </a:extLst>
          </p:cNvPr>
          <p:cNvCxnSpPr>
            <a:cxnSpLocks/>
          </p:cNvCxnSpPr>
          <p:nvPr/>
        </p:nvCxnSpPr>
        <p:spPr>
          <a:xfrm>
            <a:off x="7046935" y="1581150"/>
            <a:ext cx="0" cy="4449226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64EA61A5-F4F6-4CFF-BB88-3CB6DEF015FE}"/>
              </a:ext>
            </a:extLst>
          </p:cNvPr>
          <p:cNvSpPr txBox="1"/>
          <p:nvPr/>
        </p:nvSpPr>
        <p:spPr>
          <a:xfrm>
            <a:off x="1722767" y="6047856"/>
            <a:ext cx="851623" cy="21544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+mn-cs"/>
              </a:rPr>
              <a:t>L0</a:t>
            </a: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 panose="020F0502020204030204" pitchFamily="34" charset="0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7F848B3-6097-4F2B-AFA8-07A7C21DA7A0}"/>
              </a:ext>
            </a:extLst>
          </p:cNvPr>
          <p:cNvSpPr txBox="1"/>
          <p:nvPr/>
        </p:nvSpPr>
        <p:spPr>
          <a:xfrm>
            <a:off x="3408654" y="6047856"/>
            <a:ext cx="851623" cy="21544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+mn-cs"/>
              </a:rPr>
              <a:t>L1</a:t>
            </a: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 panose="020F0502020204030204" pitchFamily="34" charset="0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2E70960-14BC-43F3-8377-4810712E9536}"/>
              </a:ext>
            </a:extLst>
          </p:cNvPr>
          <p:cNvSpPr txBox="1"/>
          <p:nvPr/>
        </p:nvSpPr>
        <p:spPr>
          <a:xfrm>
            <a:off x="5719346" y="6047856"/>
            <a:ext cx="851623" cy="21544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+mn-cs"/>
              </a:rPr>
              <a:t>L2</a:t>
            </a:r>
            <a:endParaRPr kumimoji="0" lang="en-A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 panose="020F0502020204030204" pitchFamily="34" charset="0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8777C7-C614-45FB-AD70-ED2853958A99}"/>
              </a:ext>
            </a:extLst>
          </p:cNvPr>
          <p:cNvSpPr/>
          <p:nvPr/>
        </p:nvSpPr>
        <p:spPr>
          <a:xfrm>
            <a:off x="1715573" y="2086673"/>
            <a:ext cx="885827" cy="264756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Applications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C9E3EF-3BB9-4510-9379-12A1733EB112}"/>
              </a:ext>
            </a:extLst>
          </p:cNvPr>
          <p:cNvSpPr/>
          <p:nvPr/>
        </p:nvSpPr>
        <p:spPr>
          <a:xfrm>
            <a:off x="1715573" y="3815850"/>
            <a:ext cx="885827" cy="264756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Infrastructure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08EA3D-9CD3-47DD-A931-4A6024AF4D6D}"/>
              </a:ext>
            </a:extLst>
          </p:cNvPr>
          <p:cNvSpPr/>
          <p:nvPr/>
        </p:nvSpPr>
        <p:spPr>
          <a:xfrm>
            <a:off x="1715572" y="4894182"/>
            <a:ext cx="3120606" cy="264756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Cybersecurity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F1C4C7-0C7A-493C-A6E8-2CD891F48640}"/>
              </a:ext>
            </a:extLst>
          </p:cNvPr>
          <p:cNvSpPr/>
          <p:nvPr/>
        </p:nvSpPr>
        <p:spPr>
          <a:xfrm>
            <a:off x="1715577" y="2655991"/>
            <a:ext cx="3120602" cy="264756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&amp; Analytics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CE5317-B86B-48A0-862C-82DAC746D34C}"/>
              </a:ext>
            </a:extLst>
          </p:cNvPr>
          <p:cNvSpPr/>
          <p:nvPr/>
        </p:nvSpPr>
        <p:spPr>
          <a:xfrm>
            <a:off x="1715572" y="5567791"/>
            <a:ext cx="3120602" cy="317073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Management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0F44857-8CF6-4303-8FBB-CE4E0C0509EB}"/>
              </a:ext>
            </a:extLst>
          </p:cNvPr>
          <p:cNvCxnSpPr>
            <a:stCxn id="10" idx="1"/>
            <a:endCxn id="13" idx="3"/>
          </p:cNvCxnSpPr>
          <p:nvPr/>
        </p:nvCxnSpPr>
        <p:spPr>
          <a:xfrm rot="10800000">
            <a:off x="1275678" y="3948230"/>
            <a:ext cx="439895" cy="1078331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84C54F4-F347-43BF-9C05-E00434796990}"/>
              </a:ext>
            </a:extLst>
          </p:cNvPr>
          <p:cNvSpPr/>
          <p:nvPr/>
        </p:nvSpPr>
        <p:spPr>
          <a:xfrm>
            <a:off x="3185643" y="2220285"/>
            <a:ext cx="1650535" cy="264756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Business Operations Applications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B864B9-E7FC-46CC-9D4D-86365E8107C0}"/>
              </a:ext>
            </a:extLst>
          </p:cNvPr>
          <p:cNvSpPr/>
          <p:nvPr/>
        </p:nvSpPr>
        <p:spPr>
          <a:xfrm>
            <a:off x="3185643" y="1908303"/>
            <a:ext cx="1650535" cy="267111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Corporate Functions Applications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EE5139-C126-40DA-A6B7-A6022440EE0B}"/>
              </a:ext>
            </a:extLst>
          </p:cNvPr>
          <p:cNvSpPr/>
          <p:nvPr/>
        </p:nvSpPr>
        <p:spPr>
          <a:xfrm>
            <a:off x="3185643" y="3631251"/>
            <a:ext cx="1650535" cy="264756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End User Services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F9A763-F69F-411F-9113-68AC47500A84}"/>
              </a:ext>
            </a:extLst>
          </p:cNvPr>
          <p:cNvSpPr/>
          <p:nvPr/>
        </p:nvSpPr>
        <p:spPr>
          <a:xfrm>
            <a:off x="3185643" y="4002325"/>
            <a:ext cx="1650535" cy="264756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 and Telecom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88DFBE-B52D-4F52-A8D0-A9167ED1D164}"/>
              </a:ext>
            </a:extLst>
          </p:cNvPr>
          <p:cNvSpPr/>
          <p:nvPr/>
        </p:nvSpPr>
        <p:spPr>
          <a:xfrm>
            <a:off x="3185643" y="3210390"/>
            <a:ext cx="1650535" cy="264756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Hosting &amp; Compute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8B2523-3675-46C2-8A32-D6F134E175B8}"/>
              </a:ext>
            </a:extLst>
          </p:cNvPr>
          <p:cNvSpPr/>
          <p:nvPr/>
        </p:nvSpPr>
        <p:spPr>
          <a:xfrm>
            <a:off x="554736" y="3744304"/>
            <a:ext cx="720941" cy="407849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Spend/ FTEs</a:t>
            </a:r>
            <a:endParaRPr kumimoji="0" lang="en-AU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AF0EA07-78F4-456F-A39A-8C3E1E807A12}"/>
              </a:ext>
            </a:extLst>
          </p:cNvPr>
          <p:cNvCxnSpPr>
            <a:stCxn id="162" idx="1"/>
            <a:endCxn id="10" idx="3"/>
          </p:cNvCxnSpPr>
          <p:nvPr/>
        </p:nvCxnSpPr>
        <p:spPr>
          <a:xfrm flipH="1" flipV="1">
            <a:off x="4836178" y="5026560"/>
            <a:ext cx="542601" cy="1"/>
          </a:xfrm>
          <a:prstGeom prst="line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6020149-5DEC-4F02-B200-4226497A2F18}"/>
              </a:ext>
            </a:extLst>
          </p:cNvPr>
          <p:cNvSpPr/>
          <p:nvPr/>
        </p:nvSpPr>
        <p:spPr>
          <a:xfrm>
            <a:off x="5374023" y="1910658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Run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4212EAE-BA69-4134-B642-AF2F449A6F51}"/>
              </a:ext>
            </a:extLst>
          </p:cNvPr>
          <p:cNvSpPr/>
          <p:nvPr/>
        </p:nvSpPr>
        <p:spPr>
          <a:xfrm>
            <a:off x="5374023" y="2063843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D8322A0-D6B3-4C21-B1C2-3FAFEC9E24C2}"/>
              </a:ext>
            </a:extLst>
          </p:cNvPr>
          <p:cNvSpPr/>
          <p:nvPr/>
        </p:nvSpPr>
        <p:spPr>
          <a:xfrm>
            <a:off x="5374023" y="2217028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Run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58CF4FA-0A80-445B-9A25-775A3074E2F7}"/>
              </a:ext>
            </a:extLst>
          </p:cNvPr>
          <p:cNvSpPr/>
          <p:nvPr/>
        </p:nvSpPr>
        <p:spPr>
          <a:xfrm>
            <a:off x="5374023" y="2370214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766F0B4-5508-4C8D-AC03-D130FAD70DB3}"/>
              </a:ext>
            </a:extLst>
          </p:cNvPr>
          <p:cNvSpPr/>
          <p:nvPr/>
        </p:nvSpPr>
        <p:spPr>
          <a:xfrm>
            <a:off x="5378779" y="5720041"/>
            <a:ext cx="1532758" cy="128543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Support functions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DDC5023-B57F-47C6-AE91-24E6EEF22284}"/>
              </a:ext>
            </a:extLst>
          </p:cNvPr>
          <p:cNvSpPr/>
          <p:nvPr/>
        </p:nvSpPr>
        <p:spPr>
          <a:xfrm>
            <a:off x="5378779" y="5882317"/>
            <a:ext cx="1532758" cy="128543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Enterprise Architecture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DD4716B-FFF6-40E6-8D0C-329EF2EB3126}"/>
              </a:ext>
            </a:extLst>
          </p:cNvPr>
          <p:cNvSpPr/>
          <p:nvPr/>
        </p:nvSpPr>
        <p:spPr>
          <a:xfrm>
            <a:off x="5378779" y="5395489"/>
            <a:ext cx="1532758" cy="128543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Governance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E1A2DCB-D3C2-43C1-836C-0CF6678867C5}"/>
              </a:ext>
            </a:extLst>
          </p:cNvPr>
          <p:cNvSpPr/>
          <p:nvPr/>
        </p:nvSpPr>
        <p:spPr>
          <a:xfrm>
            <a:off x="5378779" y="5557765"/>
            <a:ext cx="1532758" cy="128543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Vendor management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25B533E-0FEB-4F99-BE99-812951B3660E}"/>
              </a:ext>
            </a:extLst>
          </p:cNvPr>
          <p:cNvSpPr/>
          <p:nvPr/>
        </p:nvSpPr>
        <p:spPr>
          <a:xfrm>
            <a:off x="5374616" y="3027252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 Premise Hosting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C672E04-B515-4FA6-A4EE-082E6F3876D2}"/>
              </a:ext>
            </a:extLst>
          </p:cNvPr>
          <p:cNvSpPr/>
          <p:nvPr/>
        </p:nvSpPr>
        <p:spPr>
          <a:xfrm>
            <a:off x="5374616" y="3182230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AU" sz="800">
                <a:solidFill>
                  <a:schemeClr val="tx1"/>
                </a:solidFill>
                <a:latin typeface="Arial"/>
              </a:rPr>
              <a:t>On-Cloud Hosting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43F1602-1642-4AF3-A1D6-113E98AEA50C}"/>
              </a:ext>
            </a:extLst>
          </p:cNvPr>
          <p:cNvSpPr/>
          <p:nvPr/>
        </p:nvSpPr>
        <p:spPr>
          <a:xfrm>
            <a:off x="5374616" y="3337209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DevOps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35EBC97-AA2D-45CC-8E5D-52E67D082FE5}"/>
              </a:ext>
            </a:extLst>
          </p:cNvPr>
          <p:cNvSpPr/>
          <p:nvPr/>
        </p:nvSpPr>
        <p:spPr>
          <a:xfrm>
            <a:off x="5374616" y="3492188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Service Management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5E9BA4B-9347-478D-9782-4E781230456D}"/>
              </a:ext>
            </a:extLst>
          </p:cNvPr>
          <p:cNvCxnSpPr/>
          <p:nvPr/>
        </p:nvCxnSpPr>
        <p:spPr>
          <a:xfrm flipH="1">
            <a:off x="5137940" y="3106062"/>
            <a:ext cx="234646" cy="23"/>
          </a:xfrm>
          <a:prstGeom prst="line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D51440E5-BBB9-49B0-871F-5075EE3FFF09}"/>
              </a:ext>
            </a:extLst>
          </p:cNvPr>
          <p:cNvCxnSpPr/>
          <p:nvPr/>
        </p:nvCxnSpPr>
        <p:spPr>
          <a:xfrm flipH="1">
            <a:off x="5137940" y="3569050"/>
            <a:ext cx="234646" cy="23"/>
          </a:xfrm>
          <a:prstGeom prst="line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454C640-1A69-435B-AEE5-2CC388B1BC16}"/>
              </a:ext>
            </a:extLst>
          </p:cNvPr>
          <p:cNvCxnSpPr/>
          <p:nvPr/>
        </p:nvCxnSpPr>
        <p:spPr>
          <a:xfrm flipH="1">
            <a:off x="4836178" y="3343531"/>
            <a:ext cx="301762" cy="0"/>
          </a:xfrm>
          <a:prstGeom prst="line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DC0F433-ABF0-4FBA-8A9F-5629EDC2EC5D}"/>
              </a:ext>
            </a:extLst>
          </p:cNvPr>
          <p:cNvCxnSpPr/>
          <p:nvPr/>
        </p:nvCxnSpPr>
        <p:spPr>
          <a:xfrm flipH="1">
            <a:off x="5137940" y="3401246"/>
            <a:ext cx="234646" cy="23"/>
          </a:xfrm>
          <a:prstGeom prst="line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BC0A82A-568D-41AE-9B76-9E7F0C587130}"/>
              </a:ext>
            </a:extLst>
          </p:cNvPr>
          <p:cNvCxnSpPr>
            <a:stCxn id="31" idx="3"/>
            <a:endCxn id="77" idx="1"/>
          </p:cNvCxnSpPr>
          <p:nvPr/>
        </p:nvCxnSpPr>
        <p:spPr>
          <a:xfrm flipV="1">
            <a:off x="4836178" y="2276976"/>
            <a:ext cx="537844" cy="75688"/>
          </a:xfrm>
          <a:prstGeom prst="bentConnector3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1AC0CCC3-5EBE-4FA1-AE5E-AB11D250541E}"/>
              </a:ext>
            </a:extLst>
          </p:cNvPr>
          <p:cNvCxnSpPr>
            <a:stCxn id="31" idx="3"/>
            <a:endCxn id="78" idx="1"/>
          </p:cNvCxnSpPr>
          <p:nvPr/>
        </p:nvCxnSpPr>
        <p:spPr>
          <a:xfrm>
            <a:off x="4836178" y="2352663"/>
            <a:ext cx="537844" cy="77497"/>
          </a:xfrm>
          <a:prstGeom prst="bentConnector3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0EB36D8-A2D6-40C9-9AA1-D14FBFD9303A}"/>
              </a:ext>
            </a:extLst>
          </p:cNvPr>
          <p:cNvSpPr/>
          <p:nvPr/>
        </p:nvSpPr>
        <p:spPr>
          <a:xfrm>
            <a:off x="3185643" y="4445377"/>
            <a:ext cx="3738630" cy="21225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AU" sz="800">
                <a:solidFill>
                  <a:schemeClr val="tx1"/>
                </a:solidFill>
                <a:latin typeface="Arial"/>
              </a:rPr>
              <a:t>Application Operations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5DF452D-12E3-438D-820D-259E9543BB93}"/>
              </a:ext>
            </a:extLst>
          </p:cNvPr>
          <p:cNvSpPr/>
          <p:nvPr/>
        </p:nvSpPr>
        <p:spPr>
          <a:xfrm>
            <a:off x="5378779" y="4691365"/>
            <a:ext cx="1549030" cy="670391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Including spend for Identify, Protect, Detect, Respond, Recover, and Govern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0BE03B6-5A11-4D27-9134-09A3F6908411}"/>
              </a:ext>
            </a:extLst>
          </p:cNvPr>
          <p:cNvSpPr/>
          <p:nvPr/>
        </p:nvSpPr>
        <p:spPr>
          <a:xfrm>
            <a:off x="5374023" y="2872273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Platform &amp; Tools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2556D16A-0BD7-4AF7-A6C1-C5D1C859B33F}"/>
              </a:ext>
            </a:extLst>
          </p:cNvPr>
          <p:cNvSpPr/>
          <p:nvPr/>
        </p:nvSpPr>
        <p:spPr>
          <a:xfrm>
            <a:off x="5374023" y="2567701"/>
            <a:ext cx="1549030" cy="269488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Governance &amp; Architecture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1678C08-135F-4F3E-BFD2-64C4FFDB8C7D}"/>
              </a:ext>
            </a:extLst>
          </p:cNvPr>
          <p:cNvCxnSpPr>
            <a:stCxn id="13" idx="3"/>
            <a:endCxn id="8" idx="1"/>
          </p:cNvCxnSpPr>
          <p:nvPr/>
        </p:nvCxnSpPr>
        <p:spPr>
          <a:xfrm flipV="1">
            <a:off x="1275677" y="2219051"/>
            <a:ext cx="439896" cy="1729178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69E6E0C6-9A47-45D8-B6DF-A68CA68A0073}"/>
              </a:ext>
            </a:extLst>
          </p:cNvPr>
          <p:cNvCxnSpPr>
            <a:stCxn id="13" idx="3"/>
            <a:endCxn id="12" idx="1"/>
          </p:cNvCxnSpPr>
          <p:nvPr/>
        </p:nvCxnSpPr>
        <p:spPr>
          <a:xfrm>
            <a:off x="1275677" y="3948229"/>
            <a:ext cx="439895" cy="1778099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3E3DD38-62CB-47F4-9E95-B17DDA03DDB2}"/>
              </a:ext>
            </a:extLst>
          </p:cNvPr>
          <p:cNvCxnSpPr>
            <a:stCxn id="34" idx="3"/>
            <a:endCxn id="66" idx="1"/>
          </p:cNvCxnSpPr>
          <p:nvPr/>
        </p:nvCxnSpPr>
        <p:spPr>
          <a:xfrm flipV="1">
            <a:off x="4836178" y="1970606"/>
            <a:ext cx="537844" cy="71254"/>
          </a:xfrm>
          <a:prstGeom prst="bentConnector3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22A239B8-52A2-4ED7-AC8F-4D907E022657}"/>
              </a:ext>
            </a:extLst>
          </p:cNvPr>
          <p:cNvCxnSpPr/>
          <p:nvPr/>
        </p:nvCxnSpPr>
        <p:spPr>
          <a:xfrm>
            <a:off x="4836178" y="2037990"/>
            <a:ext cx="537844" cy="70494"/>
          </a:xfrm>
          <a:prstGeom prst="bentConnector3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03FCE79-272F-4EDB-A38B-7F804BBD3F57}"/>
              </a:ext>
            </a:extLst>
          </p:cNvPr>
          <p:cNvCxnSpPr/>
          <p:nvPr/>
        </p:nvCxnSpPr>
        <p:spPr>
          <a:xfrm flipH="1" flipV="1">
            <a:off x="5137940" y="3108090"/>
            <a:ext cx="0" cy="460960"/>
          </a:xfrm>
          <a:prstGeom prst="line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3CC55E1D-D7C6-4E73-A168-72F00C15013D}"/>
              </a:ext>
            </a:extLst>
          </p:cNvPr>
          <p:cNvCxnSpPr/>
          <p:nvPr/>
        </p:nvCxnSpPr>
        <p:spPr>
          <a:xfrm flipH="1">
            <a:off x="5137940" y="3264129"/>
            <a:ext cx="234646" cy="23"/>
          </a:xfrm>
          <a:prstGeom prst="line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4D628F85-D1F8-4A2F-832F-513469396454}"/>
              </a:ext>
            </a:extLst>
          </p:cNvPr>
          <p:cNvCxnSpPr>
            <a:stCxn id="9" idx="3"/>
            <a:endCxn id="42" idx="1"/>
          </p:cNvCxnSpPr>
          <p:nvPr/>
        </p:nvCxnSpPr>
        <p:spPr>
          <a:xfrm flipV="1">
            <a:off x="2601400" y="3342768"/>
            <a:ext cx="584243" cy="605460"/>
          </a:xfrm>
          <a:prstGeom prst="bentConnector3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DDFAD0D1-412F-47B0-B95E-CC130FB45DD6}"/>
              </a:ext>
            </a:extLst>
          </p:cNvPr>
          <p:cNvCxnSpPr>
            <a:stCxn id="9" idx="3"/>
            <a:endCxn id="41" idx="1"/>
          </p:cNvCxnSpPr>
          <p:nvPr/>
        </p:nvCxnSpPr>
        <p:spPr>
          <a:xfrm>
            <a:off x="2601400" y="3948228"/>
            <a:ext cx="584243" cy="186475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77B94473-75F9-4D85-88D1-6B2995CA8F1D}"/>
              </a:ext>
            </a:extLst>
          </p:cNvPr>
          <p:cNvCxnSpPr>
            <a:stCxn id="13" idx="3"/>
            <a:endCxn id="9" idx="1"/>
          </p:cNvCxnSpPr>
          <p:nvPr/>
        </p:nvCxnSpPr>
        <p:spPr>
          <a:xfrm flipV="1">
            <a:off x="1275677" y="3948228"/>
            <a:ext cx="439896" cy="1"/>
          </a:xfrm>
          <a:prstGeom prst="straightConnector1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AD4B0547-D050-4A90-8F04-8D11CB9A213C}"/>
              </a:ext>
            </a:extLst>
          </p:cNvPr>
          <p:cNvCxnSpPr>
            <a:stCxn id="9" idx="3"/>
            <a:endCxn id="133" idx="1"/>
          </p:cNvCxnSpPr>
          <p:nvPr/>
        </p:nvCxnSpPr>
        <p:spPr>
          <a:xfrm>
            <a:off x="2601400" y="3948228"/>
            <a:ext cx="584243" cy="603276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130422A7-F465-4738-B5B6-CBF4C01658B9}"/>
              </a:ext>
            </a:extLst>
          </p:cNvPr>
          <p:cNvCxnSpPr>
            <a:stCxn id="9" idx="3"/>
            <a:endCxn id="39" idx="1"/>
          </p:cNvCxnSpPr>
          <p:nvPr/>
        </p:nvCxnSpPr>
        <p:spPr>
          <a:xfrm flipV="1">
            <a:off x="2601400" y="3763629"/>
            <a:ext cx="584243" cy="184599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5FE02AC5-A5CB-4816-9A35-ECD7A9495984}"/>
              </a:ext>
            </a:extLst>
          </p:cNvPr>
          <p:cNvCxnSpPr>
            <a:stCxn id="8" idx="3"/>
            <a:endCxn id="31" idx="1"/>
          </p:cNvCxnSpPr>
          <p:nvPr/>
        </p:nvCxnSpPr>
        <p:spPr>
          <a:xfrm>
            <a:off x="2601400" y="2219050"/>
            <a:ext cx="584243" cy="133613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4F5C0CDE-F35D-4110-B13E-FE1A4089296A}"/>
              </a:ext>
            </a:extLst>
          </p:cNvPr>
          <p:cNvCxnSpPr>
            <a:stCxn id="8" idx="3"/>
            <a:endCxn id="34" idx="1"/>
          </p:cNvCxnSpPr>
          <p:nvPr/>
        </p:nvCxnSpPr>
        <p:spPr>
          <a:xfrm flipV="1">
            <a:off x="2601400" y="2041859"/>
            <a:ext cx="584243" cy="177192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7B99DE18-3327-421C-B804-CAA3725B7E7C}"/>
              </a:ext>
            </a:extLst>
          </p:cNvPr>
          <p:cNvCxnSpPr>
            <a:stCxn id="102" idx="1"/>
            <a:endCxn id="12" idx="3"/>
          </p:cNvCxnSpPr>
          <p:nvPr/>
        </p:nvCxnSpPr>
        <p:spPr>
          <a:xfrm rot="10800000" flipV="1">
            <a:off x="4836175" y="5459760"/>
            <a:ext cx="542605" cy="266567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: Elbow 197">
            <a:extLst>
              <a:ext uri="{FF2B5EF4-FFF2-40B4-BE49-F238E27FC236}">
                <a16:creationId xmlns:a16="http://schemas.microsoft.com/office/drawing/2014/main" id="{FC8F1594-19BA-4833-BA3E-77C45D3518F7}"/>
              </a:ext>
            </a:extLst>
          </p:cNvPr>
          <p:cNvCxnSpPr>
            <a:stCxn id="97" idx="1"/>
            <a:endCxn id="12" idx="3"/>
          </p:cNvCxnSpPr>
          <p:nvPr/>
        </p:nvCxnSpPr>
        <p:spPr>
          <a:xfrm rot="10800000">
            <a:off x="4836175" y="5726328"/>
            <a:ext cx="542605" cy="220261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: Elbow 203">
            <a:extLst>
              <a:ext uri="{FF2B5EF4-FFF2-40B4-BE49-F238E27FC236}">
                <a16:creationId xmlns:a16="http://schemas.microsoft.com/office/drawing/2014/main" id="{A7C50C22-E157-4EEA-AF94-E8704546299A}"/>
              </a:ext>
            </a:extLst>
          </p:cNvPr>
          <p:cNvCxnSpPr>
            <a:stCxn id="96" idx="1"/>
            <a:endCxn id="12" idx="3"/>
          </p:cNvCxnSpPr>
          <p:nvPr/>
        </p:nvCxnSpPr>
        <p:spPr>
          <a:xfrm rot="10800000">
            <a:off x="4836175" y="5726329"/>
            <a:ext cx="542605" cy="57985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: Elbow 205">
            <a:extLst>
              <a:ext uri="{FF2B5EF4-FFF2-40B4-BE49-F238E27FC236}">
                <a16:creationId xmlns:a16="http://schemas.microsoft.com/office/drawing/2014/main" id="{42D2440F-2997-4641-A0AF-A9D38B4DDF7B}"/>
              </a:ext>
            </a:extLst>
          </p:cNvPr>
          <p:cNvCxnSpPr>
            <a:stCxn id="103" idx="1"/>
            <a:endCxn id="12" idx="3"/>
          </p:cNvCxnSpPr>
          <p:nvPr/>
        </p:nvCxnSpPr>
        <p:spPr>
          <a:xfrm rot="10800000" flipV="1">
            <a:off x="4836175" y="5622037"/>
            <a:ext cx="542605" cy="104291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3062B53-7CA7-4721-9A8C-36C4DA474AF7}"/>
              </a:ext>
            </a:extLst>
          </p:cNvPr>
          <p:cNvCxnSpPr>
            <a:stCxn id="11" idx="3"/>
            <a:endCxn id="172" idx="1"/>
          </p:cNvCxnSpPr>
          <p:nvPr/>
        </p:nvCxnSpPr>
        <p:spPr>
          <a:xfrm flipV="1">
            <a:off x="4836178" y="2702445"/>
            <a:ext cx="537844" cy="85924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A45AA984-68F1-47A6-8258-05C35527B16E}"/>
              </a:ext>
            </a:extLst>
          </p:cNvPr>
          <p:cNvCxnSpPr>
            <a:stCxn id="13" idx="3"/>
            <a:endCxn id="11" idx="1"/>
          </p:cNvCxnSpPr>
          <p:nvPr/>
        </p:nvCxnSpPr>
        <p:spPr>
          <a:xfrm flipV="1">
            <a:off x="1275677" y="2788369"/>
            <a:ext cx="439900" cy="1159860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E323161-42FA-4E9D-AB1C-A3C015887FC6}"/>
              </a:ext>
            </a:extLst>
          </p:cNvPr>
          <p:cNvSpPr/>
          <p:nvPr/>
        </p:nvSpPr>
        <p:spPr>
          <a:xfrm>
            <a:off x="5378779" y="3647167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Helpdesk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454A380-7AF4-4BCE-BD29-6DF58C177372}"/>
              </a:ext>
            </a:extLst>
          </p:cNvPr>
          <p:cNvSpPr/>
          <p:nvPr/>
        </p:nvSpPr>
        <p:spPr>
          <a:xfrm>
            <a:off x="5378779" y="3802146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End User Computing 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D8D3FB5A-52A6-4D23-A852-792305FFD45D}"/>
              </a:ext>
            </a:extLst>
          </p:cNvPr>
          <p:cNvCxnSpPr>
            <a:stCxn id="39" idx="3"/>
            <a:endCxn id="167" idx="1"/>
          </p:cNvCxnSpPr>
          <p:nvPr/>
        </p:nvCxnSpPr>
        <p:spPr>
          <a:xfrm flipV="1">
            <a:off x="4836178" y="3707114"/>
            <a:ext cx="542600" cy="56515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2538B336-4B10-46D5-BB11-173CA8CB6849}"/>
              </a:ext>
            </a:extLst>
          </p:cNvPr>
          <p:cNvCxnSpPr>
            <a:stCxn id="39" idx="3"/>
            <a:endCxn id="168" idx="1"/>
          </p:cNvCxnSpPr>
          <p:nvPr/>
        </p:nvCxnSpPr>
        <p:spPr>
          <a:xfrm>
            <a:off x="4836178" y="3763629"/>
            <a:ext cx="542600" cy="98464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E41E9C2-5308-4C2F-8751-CC86B1A1D95D}"/>
              </a:ext>
            </a:extLst>
          </p:cNvPr>
          <p:cNvSpPr/>
          <p:nvPr/>
        </p:nvSpPr>
        <p:spPr>
          <a:xfrm>
            <a:off x="5375243" y="3957125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LAN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9060093-97A3-4AD0-A010-75EBD65BDAB6}"/>
              </a:ext>
            </a:extLst>
          </p:cNvPr>
          <p:cNvSpPr/>
          <p:nvPr/>
        </p:nvSpPr>
        <p:spPr>
          <a:xfrm>
            <a:off x="5375243" y="4112104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WAN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3AE55C1-21AD-4B77-ACEE-8C6190CB8809}"/>
              </a:ext>
            </a:extLst>
          </p:cNvPr>
          <p:cNvSpPr/>
          <p:nvPr/>
        </p:nvSpPr>
        <p:spPr>
          <a:xfrm>
            <a:off x="5378779" y="4267081"/>
            <a:ext cx="1549030" cy="119894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Mobile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824F993B-725D-407B-8565-AA9AC1B09046}"/>
              </a:ext>
            </a:extLst>
          </p:cNvPr>
          <p:cNvCxnSpPr>
            <a:stCxn id="41" idx="3"/>
            <a:endCxn id="177" idx="1"/>
          </p:cNvCxnSpPr>
          <p:nvPr/>
        </p:nvCxnSpPr>
        <p:spPr>
          <a:xfrm flipV="1">
            <a:off x="4836178" y="4017071"/>
            <a:ext cx="539065" cy="117632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8517A3E9-2D15-477E-A1E0-57B47E15D918}"/>
              </a:ext>
            </a:extLst>
          </p:cNvPr>
          <p:cNvCxnSpPr>
            <a:stCxn id="41" idx="3"/>
            <a:endCxn id="178" idx="1"/>
          </p:cNvCxnSpPr>
          <p:nvPr/>
        </p:nvCxnSpPr>
        <p:spPr>
          <a:xfrm>
            <a:off x="4836178" y="4134703"/>
            <a:ext cx="539065" cy="37347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17E522AC-BF27-4225-A732-1F828AC553BB}"/>
              </a:ext>
            </a:extLst>
          </p:cNvPr>
          <p:cNvCxnSpPr>
            <a:stCxn id="41" idx="3"/>
            <a:endCxn id="179" idx="1"/>
          </p:cNvCxnSpPr>
          <p:nvPr/>
        </p:nvCxnSpPr>
        <p:spPr>
          <a:xfrm>
            <a:off x="4836178" y="4134703"/>
            <a:ext cx="542600" cy="192325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: Elbow 193">
            <a:extLst>
              <a:ext uri="{FF2B5EF4-FFF2-40B4-BE49-F238E27FC236}">
                <a16:creationId xmlns:a16="http://schemas.microsoft.com/office/drawing/2014/main" id="{144AC542-B33B-473F-B747-3A61D6A02DB1}"/>
              </a:ext>
            </a:extLst>
          </p:cNvPr>
          <p:cNvCxnSpPr>
            <a:stCxn id="11" idx="3"/>
            <a:endCxn id="163" idx="1"/>
          </p:cNvCxnSpPr>
          <p:nvPr/>
        </p:nvCxnSpPr>
        <p:spPr>
          <a:xfrm>
            <a:off x="4836178" y="2788369"/>
            <a:ext cx="537844" cy="143851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001919FC-EBBD-4AD1-B2E1-D880974C23D6}"/>
              </a:ext>
            </a:extLst>
          </p:cNvPr>
          <p:cNvSpPr/>
          <p:nvPr/>
        </p:nvSpPr>
        <p:spPr>
          <a:xfrm>
            <a:off x="8550535" y="1915021"/>
            <a:ext cx="1153918" cy="303262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Hardware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94FD909-AACE-48B3-BAF5-9BF6CED72B5B}"/>
              </a:ext>
            </a:extLst>
          </p:cNvPr>
          <p:cNvSpPr/>
          <p:nvPr/>
        </p:nvSpPr>
        <p:spPr>
          <a:xfrm>
            <a:off x="8550535" y="3327988"/>
            <a:ext cx="1153918" cy="303262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Internal Labor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8E81651-2BD0-4F9A-AD0A-61F0DBF4A5BB}"/>
              </a:ext>
            </a:extLst>
          </p:cNvPr>
          <p:cNvSpPr/>
          <p:nvPr/>
        </p:nvSpPr>
        <p:spPr>
          <a:xfrm>
            <a:off x="8550535" y="4135732"/>
            <a:ext cx="1153918" cy="303262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External Contractors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E796FA4-240D-4B3C-8387-FF1B8F12B240}"/>
              </a:ext>
            </a:extLst>
          </p:cNvPr>
          <p:cNvSpPr/>
          <p:nvPr/>
        </p:nvSpPr>
        <p:spPr>
          <a:xfrm>
            <a:off x="8550535" y="2499116"/>
            <a:ext cx="1153918" cy="303262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Software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FD33CA4-9FC7-439D-9340-FD83361B5AAF}"/>
              </a:ext>
            </a:extLst>
          </p:cNvPr>
          <p:cNvSpPr/>
          <p:nvPr/>
        </p:nvSpPr>
        <p:spPr>
          <a:xfrm>
            <a:off x="8550535" y="5151648"/>
            <a:ext cx="1153918" cy="303262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Services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9" name="Straight Connector 122">
            <a:extLst>
              <a:ext uri="{FF2B5EF4-FFF2-40B4-BE49-F238E27FC236}">
                <a16:creationId xmlns:a16="http://schemas.microsoft.com/office/drawing/2014/main" id="{B5564641-FF5D-4C4D-9228-B7E288104936}"/>
              </a:ext>
            </a:extLst>
          </p:cNvPr>
          <p:cNvCxnSpPr>
            <a:stCxn id="92" idx="1"/>
            <a:endCxn id="110" idx="3"/>
          </p:cNvCxnSpPr>
          <p:nvPr/>
        </p:nvCxnSpPr>
        <p:spPr>
          <a:xfrm rot="10800000" flipV="1">
            <a:off x="8033957" y="2066652"/>
            <a:ext cx="516579" cy="1870798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125">
            <a:extLst>
              <a:ext uri="{FF2B5EF4-FFF2-40B4-BE49-F238E27FC236}">
                <a16:creationId xmlns:a16="http://schemas.microsoft.com/office/drawing/2014/main" id="{DD5AD648-1A6B-457C-B04A-5BCAEFC72C17}"/>
              </a:ext>
            </a:extLst>
          </p:cNvPr>
          <p:cNvCxnSpPr>
            <a:stCxn id="93" idx="1"/>
            <a:endCxn id="110" idx="3"/>
          </p:cNvCxnSpPr>
          <p:nvPr/>
        </p:nvCxnSpPr>
        <p:spPr>
          <a:xfrm rot="10800000" flipV="1">
            <a:off x="8033957" y="3479618"/>
            <a:ext cx="516579" cy="457831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26">
            <a:extLst>
              <a:ext uri="{FF2B5EF4-FFF2-40B4-BE49-F238E27FC236}">
                <a16:creationId xmlns:a16="http://schemas.microsoft.com/office/drawing/2014/main" id="{DAE67013-B3DE-4879-B057-5A19EAE1238C}"/>
              </a:ext>
            </a:extLst>
          </p:cNvPr>
          <p:cNvCxnSpPr>
            <a:stCxn id="95" idx="1"/>
            <a:endCxn id="110" idx="3"/>
          </p:cNvCxnSpPr>
          <p:nvPr/>
        </p:nvCxnSpPr>
        <p:spPr>
          <a:xfrm rot="10800000" flipV="1">
            <a:off x="8033957" y="2650746"/>
            <a:ext cx="516579" cy="1286703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28">
            <a:extLst>
              <a:ext uri="{FF2B5EF4-FFF2-40B4-BE49-F238E27FC236}">
                <a16:creationId xmlns:a16="http://schemas.microsoft.com/office/drawing/2014/main" id="{9A0CC4F5-3FE3-4CEE-8B54-A3C3D2D1084A}"/>
              </a:ext>
            </a:extLst>
          </p:cNvPr>
          <p:cNvCxnSpPr>
            <a:stCxn id="113" idx="1"/>
            <a:endCxn id="110" idx="3"/>
          </p:cNvCxnSpPr>
          <p:nvPr/>
        </p:nvCxnSpPr>
        <p:spPr>
          <a:xfrm rot="10800000">
            <a:off x="8033957" y="3937450"/>
            <a:ext cx="516579" cy="1870798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216">
            <a:extLst>
              <a:ext uri="{FF2B5EF4-FFF2-40B4-BE49-F238E27FC236}">
                <a16:creationId xmlns:a16="http://schemas.microsoft.com/office/drawing/2014/main" id="{F612D805-5DE9-481D-9791-598BA8D743A1}"/>
              </a:ext>
            </a:extLst>
          </p:cNvPr>
          <p:cNvCxnSpPr>
            <a:stCxn id="94" idx="1"/>
            <a:endCxn id="110" idx="3"/>
          </p:cNvCxnSpPr>
          <p:nvPr/>
        </p:nvCxnSpPr>
        <p:spPr>
          <a:xfrm rot="10800000">
            <a:off x="8033957" y="3937451"/>
            <a:ext cx="516579" cy="349913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3DB318F-E584-467F-BD67-B46E4EFBA8CD}"/>
              </a:ext>
            </a:extLst>
          </p:cNvPr>
          <p:cNvSpPr/>
          <p:nvPr/>
        </p:nvSpPr>
        <p:spPr>
          <a:xfrm>
            <a:off x="7182333" y="3778214"/>
            <a:ext cx="851623" cy="318471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Spend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FAFE831-8116-4EC0-B1A8-5F597E9A2058}"/>
              </a:ext>
            </a:extLst>
          </p:cNvPr>
          <p:cNvSpPr/>
          <p:nvPr/>
        </p:nvSpPr>
        <p:spPr>
          <a:xfrm>
            <a:off x="8550535" y="5656617"/>
            <a:ext cx="1153918" cy="303262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Other categories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DE03F76-0735-4F87-A7A4-ADE8C44F1D90}"/>
              </a:ext>
            </a:extLst>
          </p:cNvPr>
          <p:cNvSpPr/>
          <p:nvPr/>
        </p:nvSpPr>
        <p:spPr>
          <a:xfrm>
            <a:off x="10068394" y="2267072"/>
            <a:ext cx="1568869" cy="316058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SaaS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CEDF81-00D6-4E3E-85D1-8246AF290D87}"/>
              </a:ext>
            </a:extLst>
          </p:cNvPr>
          <p:cNvSpPr/>
          <p:nvPr/>
        </p:nvSpPr>
        <p:spPr>
          <a:xfrm>
            <a:off x="10068395" y="2688945"/>
            <a:ext cx="1568869" cy="316058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Non-SaaS Software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8" name="Straight Connector 122">
            <a:extLst>
              <a:ext uri="{FF2B5EF4-FFF2-40B4-BE49-F238E27FC236}">
                <a16:creationId xmlns:a16="http://schemas.microsoft.com/office/drawing/2014/main" id="{EB2BAFE9-D7E4-43AB-AA94-844DEB1A238F}"/>
              </a:ext>
            </a:extLst>
          </p:cNvPr>
          <p:cNvCxnSpPr>
            <a:stCxn id="95" idx="3"/>
            <a:endCxn id="116" idx="1"/>
          </p:cNvCxnSpPr>
          <p:nvPr/>
        </p:nvCxnSpPr>
        <p:spPr>
          <a:xfrm flipV="1">
            <a:off x="9704453" y="2425101"/>
            <a:ext cx="363941" cy="225646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22">
            <a:extLst>
              <a:ext uri="{FF2B5EF4-FFF2-40B4-BE49-F238E27FC236}">
                <a16:creationId xmlns:a16="http://schemas.microsoft.com/office/drawing/2014/main" id="{3DA92992-0B78-4F56-84A5-4114B883D48C}"/>
              </a:ext>
            </a:extLst>
          </p:cNvPr>
          <p:cNvCxnSpPr>
            <a:stCxn id="95" idx="3"/>
            <a:endCxn id="117" idx="1"/>
          </p:cNvCxnSpPr>
          <p:nvPr/>
        </p:nvCxnSpPr>
        <p:spPr>
          <a:xfrm>
            <a:off x="9704453" y="2650747"/>
            <a:ext cx="363942" cy="196227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E257731-A678-4B24-9091-FC9250B0826B}"/>
              </a:ext>
            </a:extLst>
          </p:cNvPr>
          <p:cNvSpPr/>
          <p:nvPr/>
        </p:nvSpPr>
        <p:spPr>
          <a:xfrm>
            <a:off x="10068393" y="3111366"/>
            <a:ext cx="1568869" cy="316058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High-Cost Location Internal Labor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FA7D2CD6-C563-4028-9654-265501B7D31A}"/>
              </a:ext>
            </a:extLst>
          </p:cNvPr>
          <p:cNvSpPr/>
          <p:nvPr/>
        </p:nvSpPr>
        <p:spPr>
          <a:xfrm>
            <a:off x="10068394" y="3541621"/>
            <a:ext cx="1568869" cy="316058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Low-Cost Location Internal Labor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7" name="Straight Connector 122">
            <a:extLst>
              <a:ext uri="{FF2B5EF4-FFF2-40B4-BE49-F238E27FC236}">
                <a16:creationId xmlns:a16="http://schemas.microsoft.com/office/drawing/2014/main" id="{77EB5154-F3A5-41FD-B00E-1EC9CABA7A33}"/>
              </a:ext>
            </a:extLst>
          </p:cNvPr>
          <p:cNvCxnSpPr>
            <a:stCxn id="93" idx="3"/>
            <a:endCxn id="131" idx="1"/>
          </p:cNvCxnSpPr>
          <p:nvPr/>
        </p:nvCxnSpPr>
        <p:spPr>
          <a:xfrm>
            <a:off x="9704453" y="3479619"/>
            <a:ext cx="363941" cy="220030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22">
            <a:extLst>
              <a:ext uri="{FF2B5EF4-FFF2-40B4-BE49-F238E27FC236}">
                <a16:creationId xmlns:a16="http://schemas.microsoft.com/office/drawing/2014/main" id="{A773802F-0305-4447-857F-EC35758E8BAB}"/>
              </a:ext>
            </a:extLst>
          </p:cNvPr>
          <p:cNvCxnSpPr>
            <a:stCxn id="93" idx="3"/>
            <a:endCxn id="125" idx="1"/>
          </p:cNvCxnSpPr>
          <p:nvPr/>
        </p:nvCxnSpPr>
        <p:spPr>
          <a:xfrm flipV="1">
            <a:off x="9704453" y="3269395"/>
            <a:ext cx="363940" cy="210224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EC7A335-0277-4A29-A985-95DB3D8D5797}"/>
              </a:ext>
            </a:extLst>
          </p:cNvPr>
          <p:cNvSpPr/>
          <p:nvPr/>
        </p:nvSpPr>
        <p:spPr>
          <a:xfrm>
            <a:off x="10068393" y="3928041"/>
            <a:ext cx="1568869" cy="316058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High-Cost Location External Contractors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B1B32C6-5499-4EFC-890E-09B46536C11F}"/>
              </a:ext>
            </a:extLst>
          </p:cNvPr>
          <p:cNvSpPr/>
          <p:nvPr/>
        </p:nvSpPr>
        <p:spPr>
          <a:xfrm>
            <a:off x="10068394" y="4319049"/>
            <a:ext cx="1568869" cy="316058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Low-Cost Location External Contractors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44" name="Straight Connector 122">
            <a:extLst>
              <a:ext uri="{FF2B5EF4-FFF2-40B4-BE49-F238E27FC236}">
                <a16:creationId xmlns:a16="http://schemas.microsoft.com/office/drawing/2014/main" id="{280EC990-A8BC-40F5-87FA-0A05FF2F260D}"/>
              </a:ext>
            </a:extLst>
          </p:cNvPr>
          <p:cNvCxnSpPr>
            <a:stCxn id="94" idx="3"/>
            <a:endCxn id="142" idx="1"/>
          </p:cNvCxnSpPr>
          <p:nvPr/>
        </p:nvCxnSpPr>
        <p:spPr>
          <a:xfrm>
            <a:off x="9704453" y="4287363"/>
            <a:ext cx="363941" cy="189714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22">
            <a:extLst>
              <a:ext uri="{FF2B5EF4-FFF2-40B4-BE49-F238E27FC236}">
                <a16:creationId xmlns:a16="http://schemas.microsoft.com/office/drawing/2014/main" id="{5B2599E8-5ED2-4F43-A437-63C268D1F3A8}"/>
              </a:ext>
            </a:extLst>
          </p:cNvPr>
          <p:cNvCxnSpPr>
            <a:stCxn id="94" idx="3"/>
            <a:endCxn id="141" idx="1"/>
          </p:cNvCxnSpPr>
          <p:nvPr/>
        </p:nvCxnSpPr>
        <p:spPr>
          <a:xfrm flipV="1">
            <a:off x="9704453" y="4086071"/>
            <a:ext cx="363940" cy="201293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3DEF44C-6336-451A-A20B-A3BC423B3D64}"/>
              </a:ext>
            </a:extLst>
          </p:cNvPr>
          <p:cNvSpPr/>
          <p:nvPr/>
        </p:nvSpPr>
        <p:spPr>
          <a:xfrm>
            <a:off x="10068393" y="4705469"/>
            <a:ext cx="1568869" cy="316058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Managed Services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329303B-D8E3-47DA-A38E-F0F2460E8C04}"/>
              </a:ext>
            </a:extLst>
          </p:cNvPr>
          <p:cNvSpPr/>
          <p:nvPr/>
        </p:nvSpPr>
        <p:spPr>
          <a:xfrm>
            <a:off x="10068393" y="5144332"/>
            <a:ext cx="1568869" cy="316058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Cloud non-SaaS Services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C2BA75B-6669-4AFD-91DA-FF9B72360D77}"/>
              </a:ext>
            </a:extLst>
          </p:cNvPr>
          <p:cNvSpPr/>
          <p:nvPr/>
        </p:nvSpPr>
        <p:spPr>
          <a:xfrm>
            <a:off x="10068393" y="5583195"/>
            <a:ext cx="1568869" cy="316058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AU" sz="8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&amp; Voice Services</a:t>
            </a:r>
            <a:endParaRPr kumimoji="0" lang="en-AU" sz="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54" name="Straight Connector 122">
            <a:extLst>
              <a:ext uri="{FF2B5EF4-FFF2-40B4-BE49-F238E27FC236}">
                <a16:creationId xmlns:a16="http://schemas.microsoft.com/office/drawing/2014/main" id="{F7623280-58D7-473E-9524-44D1CD989CF7}"/>
              </a:ext>
            </a:extLst>
          </p:cNvPr>
          <p:cNvCxnSpPr>
            <a:stCxn id="98" idx="3"/>
            <a:endCxn id="151" idx="1"/>
          </p:cNvCxnSpPr>
          <p:nvPr/>
        </p:nvCxnSpPr>
        <p:spPr>
          <a:xfrm flipV="1">
            <a:off x="9704453" y="4863499"/>
            <a:ext cx="363940" cy="439780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22">
            <a:extLst>
              <a:ext uri="{FF2B5EF4-FFF2-40B4-BE49-F238E27FC236}">
                <a16:creationId xmlns:a16="http://schemas.microsoft.com/office/drawing/2014/main" id="{8010F3B4-7072-442E-AD3D-C491FEF9C8E3}"/>
              </a:ext>
            </a:extLst>
          </p:cNvPr>
          <p:cNvCxnSpPr>
            <a:stCxn id="98" idx="3"/>
            <a:endCxn id="152" idx="1"/>
          </p:cNvCxnSpPr>
          <p:nvPr/>
        </p:nvCxnSpPr>
        <p:spPr>
          <a:xfrm flipV="1">
            <a:off x="9704453" y="5302362"/>
            <a:ext cx="363940" cy="917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22">
            <a:extLst>
              <a:ext uri="{FF2B5EF4-FFF2-40B4-BE49-F238E27FC236}">
                <a16:creationId xmlns:a16="http://schemas.microsoft.com/office/drawing/2014/main" id="{B010224E-04E0-4721-96E1-63DDEC093CB7}"/>
              </a:ext>
            </a:extLst>
          </p:cNvPr>
          <p:cNvCxnSpPr>
            <a:stCxn id="98" idx="3"/>
            <a:endCxn id="153" idx="1"/>
          </p:cNvCxnSpPr>
          <p:nvPr/>
        </p:nvCxnSpPr>
        <p:spPr>
          <a:xfrm>
            <a:off x="9704453" y="5303279"/>
            <a:ext cx="363940" cy="437946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28">
            <a:extLst>
              <a:ext uri="{FF2B5EF4-FFF2-40B4-BE49-F238E27FC236}">
                <a16:creationId xmlns:a16="http://schemas.microsoft.com/office/drawing/2014/main" id="{78127A22-6BFC-45C7-A976-8A794D1ACD46}"/>
              </a:ext>
            </a:extLst>
          </p:cNvPr>
          <p:cNvCxnSpPr>
            <a:stCxn id="98" idx="1"/>
            <a:endCxn id="110" idx="3"/>
          </p:cNvCxnSpPr>
          <p:nvPr/>
        </p:nvCxnSpPr>
        <p:spPr>
          <a:xfrm rot="10800000">
            <a:off x="8033957" y="3937451"/>
            <a:ext cx="516579" cy="1365829"/>
          </a:xfrm>
          <a:prstGeom prst="bentConnector3">
            <a:avLst>
              <a:gd name="adj1" fmla="val 50000"/>
            </a:avLst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5. Source">
            <a:extLst>
              <a:ext uri="{FF2B5EF4-FFF2-40B4-BE49-F238E27FC236}">
                <a16:creationId xmlns:a16="http://schemas.microsoft.com/office/drawing/2014/main" id="{4E17C990-F4D3-42D3-9037-7A2FACB1C31C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54735" y="6501669"/>
            <a:ext cx="7277861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t" anchorCtr="0">
            <a:spAutoFit/>
          </a:bodyPr>
          <a:lstStyle/>
          <a:p>
            <a:pPr defTabSz="913526">
              <a:tabLst>
                <a:tab pos="416270" algn="l"/>
              </a:tabLst>
            </a:pPr>
            <a:r>
              <a:rPr lang="en-AU" sz="800" dirty="0"/>
              <a:t>Source: McKinsey Tech Performance Diagnostic 2024</a:t>
            </a:r>
          </a:p>
        </p:txBody>
      </p:sp>
      <p:grpSp>
        <p:nvGrpSpPr>
          <p:cNvPr id="14" name="LegendBoxes">
            <a:extLst>
              <a:ext uri="{FF2B5EF4-FFF2-40B4-BE49-F238E27FC236}">
                <a16:creationId xmlns:a16="http://schemas.microsoft.com/office/drawing/2014/main" id="{CB617B3E-53A1-3B54-AD71-E09745F7A3E6}"/>
              </a:ext>
            </a:extLst>
          </p:cNvPr>
          <p:cNvGrpSpPr/>
          <p:nvPr/>
        </p:nvGrpSpPr>
        <p:grpSpPr>
          <a:xfrm>
            <a:off x="9666964" y="1274696"/>
            <a:ext cx="1956537" cy="172729"/>
            <a:chOff x="10836070" y="4365057"/>
            <a:chExt cx="1956537" cy="172729"/>
          </a:xfrm>
        </p:grpSpPr>
        <p:sp>
          <p:nvSpPr>
            <p:cNvPr id="19" name="RectangleLegend1">
              <a:extLst>
                <a:ext uri="{FF2B5EF4-FFF2-40B4-BE49-F238E27FC236}">
                  <a16:creationId xmlns:a16="http://schemas.microsoft.com/office/drawing/2014/main" id="{5F309A54-7A94-06C9-FE47-24433B500C04}"/>
                </a:ext>
              </a:extLst>
            </p:cNvPr>
            <p:cNvSpPr/>
            <p:nvPr/>
          </p:nvSpPr>
          <p:spPr>
            <a:xfrm>
              <a:off x="10836070" y="4365057"/>
              <a:ext cx="172729" cy="172729"/>
            </a:xfrm>
            <a:prstGeom prst="rect">
              <a:avLst/>
            </a:prstGeom>
            <a:solidFill>
              <a:srgbClr val="E6E6E6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Legend1">
              <a:extLst>
                <a:ext uri="{FF2B5EF4-FFF2-40B4-BE49-F238E27FC236}">
                  <a16:creationId xmlns:a16="http://schemas.microsoft.com/office/drawing/2014/main" id="{5F8D096E-5291-74EE-0364-61FC96ED1C8A}"/>
                </a:ext>
              </a:extLst>
            </p:cNvPr>
            <p:cNvSpPr txBox="1"/>
            <p:nvPr/>
          </p:nvSpPr>
          <p:spPr>
            <a:xfrm>
              <a:off x="11048540" y="4382172"/>
              <a:ext cx="1744067" cy="138499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+mn-ea"/>
                  <a:cs typeface="+mn-cs"/>
                </a:rPr>
                <a:t>Focus of the exercise at the Client</a:t>
              </a:r>
            </a:p>
          </p:txBody>
        </p:sp>
      </p:grpSp>
      <p:sp>
        <p:nvSpPr>
          <p:cNvPr id="21" name="3. Subtitle">
            <a:extLst>
              <a:ext uri="{FF2B5EF4-FFF2-40B4-BE49-F238E27FC236}">
                <a16:creationId xmlns:a16="http://schemas.microsoft.com/office/drawing/2014/main" id="{08D315EA-403B-9FEC-C10D-CB9804C1D738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207760"/>
            <a:ext cx="11082528" cy="2462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 anchorCtr="0">
            <a:spAutoFit/>
          </a:bodyPr>
          <a:lstStyle/>
          <a:p>
            <a:r>
              <a:rPr lang="en-AU" dirty="0"/>
              <a:t>Illustration of technology spend taxonomy</a:t>
            </a:r>
          </a:p>
        </p:txBody>
      </p:sp>
    </p:spTree>
    <p:extLst>
      <p:ext uri="{BB962C8B-B14F-4D97-AF65-F5344CB8AC3E}">
        <p14:creationId xmlns:p14="http://schemas.microsoft.com/office/powerpoint/2010/main" val="322487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F2DDFBC6-13AA-49AA-8241-AFD2E793ED0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395" imgH="396" progId="TCLayout.ActiveDocument.1">
                  <p:embed/>
                </p:oleObj>
              </mc:Choice>
              <mc:Fallback>
                <p:oleObj name="think-cell Slide" r:id="rId30" imgW="395" imgH="396" progId="TCLayout.ActiveDocument.1">
                  <p:embed/>
                  <p:pic>
                    <p:nvPicPr>
                      <p:cNvPr id="6" name="Object 2" hidden="1">
                        <a:extLst>
                          <a:ext uri="{FF2B5EF4-FFF2-40B4-BE49-F238E27FC236}">
                            <a16:creationId xmlns:a16="http://schemas.microsoft.com/office/drawing/2014/main" id="{F2DDFBC6-13AA-49AA-8241-AFD2E793ED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676A9354-50C3-48C6-8038-DD8C4D49DEC1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556102"/>
            <a:ext cx="11082528" cy="35779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/>
          <a:p>
            <a:pPr marL="392113"/>
            <a:r>
              <a:rPr lang="en-US" dirty="0"/>
              <a:t>Engineering efficiency: Baselining approach and data</a:t>
            </a:r>
          </a:p>
        </p:txBody>
      </p:sp>
      <p:sp>
        <p:nvSpPr>
          <p:cNvPr id="48" name="4. Footnote">
            <a:extLst>
              <a:ext uri="{FF2B5EF4-FFF2-40B4-BE49-F238E27FC236}">
                <a16:creationId xmlns:a16="http://schemas.microsoft.com/office/drawing/2014/main" id="{0CC04E0F-A080-4E20-B8B1-1E7DF2939C5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/>
          <a:p>
            <a:pPr marL="203200" marR="0" lvl="0" indent="-212725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ea typeface="+mn-ea"/>
                <a:cs typeface="Arial" panose="020B0604020202020204" pitchFamily="34" charset="0"/>
              </a:rPr>
              <a:t>1.	To be launched by McKinsey team to capture information that isn't currently tracked</a:t>
            </a:r>
          </a:p>
        </p:txBody>
      </p:sp>
      <p:sp>
        <p:nvSpPr>
          <p:cNvPr id="50" name="TrackerNumBlue 37">
            <a:extLst>
              <a:ext uri="{FF2B5EF4-FFF2-40B4-BE49-F238E27FC236}">
                <a16:creationId xmlns:a16="http://schemas.microsoft.com/office/drawing/2014/main" id="{0EB0D23C-6FF1-42DC-BA8B-BA433550EADA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549973" y="572114"/>
            <a:ext cx="325767" cy="325767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2E5E711-4B1D-2AF1-2BD4-25832697B6A3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556289" y="1690822"/>
            <a:ext cx="11082528" cy="0"/>
          </a:xfrm>
          <a:prstGeom prst="line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E91DF5-6734-48B8-AA91-7244B7ABC64A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554736" y="3385357"/>
            <a:ext cx="11082528" cy="0"/>
          </a:xfrm>
          <a:prstGeom prst="line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F654C22-4DD3-ECC4-B439-BC4B495CC5FF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554736" y="2532360"/>
            <a:ext cx="11082528" cy="0"/>
          </a:xfrm>
          <a:prstGeom prst="line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ACE925C-C5BD-4857-830F-C7C462AE1022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554736" y="5168224"/>
            <a:ext cx="11082528" cy="0"/>
          </a:xfrm>
          <a:prstGeom prst="line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B048C60-8183-2C8D-68F7-CC214088DC37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554736" y="1421138"/>
            <a:ext cx="1267986" cy="215444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C6D9C7-EF31-59AE-4FE5-8F99D7537BF3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7929852" y="1421138"/>
            <a:ext cx="3707412" cy="215444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Example Sources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D3EE5F0-6A1D-67BA-925D-FC706916F47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554736" y="1767091"/>
            <a:ext cx="1267986" cy="2154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Financials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7740D6-CE06-E49C-0FDE-D17B4D10F699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554736" y="3576107"/>
            <a:ext cx="866052" cy="2154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/>
              </a:rPr>
              <a:t>Engi-neering</a:t>
            </a:r>
            <a:r>
              <a:rPr lang="en-US" sz="1400" b="1" dirty="0">
                <a:solidFill>
                  <a:srgbClr val="000000"/>
                </a:solidFill>
                <a:latin typeface="Arial"/>
              </a:rPr>
              <a:t> routines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22FBD3-0B6C-B331-3A66-5864041CE4B5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7929852" y="3576107"/>
            <a:ext cx="3707412" cy="13388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Github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repositories, documentations on internal portals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Existing systems for Developers to log their effort estimates / story points (e.g., Jira, GitHub)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</a:rPr>
              <a:t>Dashboards reviewed at team / organization level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Surveys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to assess current engineering practices / measure the time spent 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EAAFB04-D496-4054-6AB5-837023BDAF6E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554736" y="2692498"/>
            <a:ext cx="1267986" cy="2154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Projects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74D6F4-EA3D-B716-9846-CF4A77F38AAA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7929852" y="2692498"/>
            <a:ext cx="37074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PPM system / outputs from any past review sessions to discuss prioritization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6ACDE7-6F85-4251-87AF-34481CCC2F08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554736" y="5315665"/>
            <a:ext cx="866052" cy="2154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en-US" sz="1400" b="1" dirty="0" err="1">
                <a:solidFill>
                  <a:srgbClr val="000000"/>
                </a:solidFill>
                <a:latin typeface="Arial"/>
              </a:rPr>
              <a:t>Organi-zation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CEF1D7-7FEF-4453-A9E5-38334E1C79AA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7929852" y="5315665"/>
            <a:ext cx="37074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HR data (typically a pull from HCM tool, with PII redacted)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091469-78FB-2037-89B4-AD8220A6EACD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>
          <a:xfrm>
            <a:off x="1958498" y="1421138"/>
            <a:ext cx="5835578" cy="215444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Dimension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73D5A-029B-E104-686B-165B014BBD71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>
          <a:xfrm>
            <a:off x="7929852" y="1767091"/>
            <a:ext cx="37074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Apptio / Anaplan / General Ledger / Any other existing CMBD resources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F6F42B-7609-E6FF-A8E8-3CC7873221AA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>
          <a:xfrm>
            <a:off x="1958498" y="1767091"/>
            <a:ext cx="5835578" cy="5539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Spend base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: IT Spend for last 2-3 years and projection for next year, for into various IT Towers (e.g., applications, infrastructure, management and governance), categories 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hardwar</a:t>
            </a:r>
            <a:r>
              <a:rPr lang="en-US" sz="1200" dirty="0">
                <a:solidFill>
                  <a:srgbClr val="000000"/>
                </a:solidFill>
                <a:latin typeface="Arial"/>
              </a:rPr>
              <a:t>e, software, etc.), with a view on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FTE / FTC / non-comp spend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450A165-BF8E-2A42-4748-67876403B0AD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>
          <a:xfrm>
            <a:off x="1958498" y="3576107"/>
            <a:ext cx="5835578" cy="144655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Existing tools and processes: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Documentations on CI/CD pipeline, existing tech stack / infrastructure / architecture, toolchain, recommended architecture patterns, resiliency tiers,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Effort tracking and backlog</a:t>
            </a:r>
            <a:r>
              <a:rPr lang="en-US" sz="1200" dirty="0">
                <a:solidFill>
                  <a:srgbClr val="000000"/>
                </a:solidFill>
                <a:latin typeface="Arial"/>
              </a:rPr>
              <a:t>: Tracking of development tasks through tools such as JIRA, </a:t>
            </a:r>
            <a:r>
              <a:rPr lang="en-US" sz="1200" dirty="0" err="1">
                <a:solidFill>
                  <a:srgbClr val="000000"/>
                </a:solidFill>
                <a:latin typeface="Arial"/>
              </a:rPr>
              <a:t>Gihub</a:t>
            </a:r>
            <a:endParaRPr lang="en-US" sz="1200" b="1" dirty="0">
              <a:solidFill>
                <a:srgbClr val="000000"/>
              </a:solidFill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Dashboards and metrics: </a:t>
            </a:r>
            <a:r>
              <a:rPr lang="en-US" sz="1200" dirty="0">
                <a:solidFill>
                  <a:srgbClr val="000000"/>
                </a:solidFill>
                <a:latin typeface="Arial"/>
              </a:rPr>
              <a:t>Existing metrics that are tracked such as MTTR / MTTD, change failure rate, % test automation, availability, resiliency, uptime, etc.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88C0E9C-41C8-71E8-70B4-EE123CB6E647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>
          <a:xfrm>
            <a:off x="1958498" y="2692498"/>
            <a:ext cx="5835578" cy="5539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Project portfolio strategy &amp; roadmap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highlighting investments outlook, projected outcomes, KPIs committed / business case established for projects, backlog of any deprioritized projects, etc.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E68B14-8892-4098-A939-192CC2BB88E2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>
          <a:xfrm>
            <a:off x="1958498" y="5315665"/>
            <a:ext cx="5835578" cy="81560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Role distribution: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No. of resources across different teams, role distribution (e.g., developer, architect, SRE), responsibility distribution (e.g., manager, individual contributor), progression levels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Location spread: </a:t>
            </a:r>
            <a:r>
              <a:rPr lang="en-US" sz="1200" dirty="0">
                <a:solidFill>
                  <a:srgbClr val="000000"/>
                </a:solidFill>
                <a:latin typeface="Arial"/>
              </a:rPr>
              <a:t>Distribution of resources across different geographies</a:t>
            </a:r>
          </a:p>
        </p:txBody>
      </p:sp>
      <p:sp>
        <p:nvSpPr>
          <p:cNvPr id="41" name="TrackerNumBlue 37">
            <a:extLst>
              <a:ext uri="{FF2B5EF4-FFF2-40B4-BE49-F238E27FC236}">
                <a16:creationId xmlns:a16="http://schemas.microsoft.com/office/drawing/2014/main" id="{1BFE44F7-BFEB-402A-A638-68AE28D59C48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>
          <a:xfrm>
            <a:off x="1543071" y="1789095"/>
            <a:ext cx="325767" cy="325767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</a:t>
            </a:r>
          </a:p>
        </p:txBody>
      </p:sp>
      <p:sp>
        <p:nvSpPr>
          <p:cNvPr id="52" name="TrackerNumBlue 37">
            <a:extLst>
              <a:ext uri="{FF2B5EF4-FFF2-40B4-BE49-F238E27FC236}">
                <a16:creationId xmlns:a16="http://schemas.microsoft.com/office/drawing/2014/main" id="{0E3A8E60-A132-4BAC-BE22-665BD3CD7C63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1543071" y="2683034"/>
            <a:ext cx="325767" cy="325767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</a:t>
            </a:r>
          </a:p>
        </p:txBody>
      </p:sp>
      <p:sp>
        <p:nvSpPr>
          <p:cNvPr id="53" name="TrackerNumBlue 37">
            <a:extLst>
              <a:ext uri="{FF2B5EF4-FFF2-40B4-BE49-F238E27FC236}">
                <a16:creationId xmlns:a16="http://schemas.microsoft.com/office/drawing/2014/main" id="{55E703D2-8062-43FF-B002-DCAC7C333661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>
          <a:xfrm>
            <a:off x="1543071" y="3553125"/>
            <a:ext cx="325767" cy="325767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</a:t>
            </a:r>
          </a:p>
        </p:txBody>
      </p:sp>
      <p:sp>
        <p:nvSpPr>
          <p:cNvPr id="54" name="TrackerNumBlue 37">
            <a:extLst>
              <a:ext uri="{FF2B5EF4-FFF2-40B4-BE49-F238E27FC236}">
                <a16:creationId xmlns:a16="http://schemas.microsoft.com/office/drawing/2014/main" id="{802A9DAE-9D11-43A4-8CE2-AFCC4DAFD17D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>
          <a:xfrm>
            <a:off x="1543071" y="5305321"/>
            <a:ext cx="325767" cy="325767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61320" y="128016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1">
                <a:solidFill>
                  <a:srgbClr val="63666A"/>
                </a:solidFill>
                <a:latin typeface="Arial"/>
              </a:rPr>
              <a:t>ILLUSTRATIVE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2318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F2DDFBC6-13AA-49AA-8241-AFD2E793ED0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3" imgW="395" imgH="396" progId="TCLayout.ActiveDocument.1">
                  <p:embed/>
                </p:oleObj>
              </mc:Choice>
              <mc:Fallback>
                <p:oleObj name="think-cell Slide" r:id="rId43" imgW="395" imgH="396" progId="TCLayout.ActiveDocument.1">
                  <p:embed/>
                  <p:pic>
                    <p:nvPicPr>
                      <p:cNvPr id="6" name="Object 2" hidden="1">
                        <a:extLst>
                          <a:ext uri="{FF2B5EF4-FFF2-40B4-BE49-F238E27FC236}">
                            <a16:creationId xmlns:a16="http://schemas.microsoft.com/office/drawing/2014/main" id="{F2DDFBC6-13AA-49AA-8241-AFD2E793ED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676A9354-50C3-48C6-8038-DD8C4D49DEC1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98311"/>
            <a:ext cx="11082528" cy="71558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/>
          <a:p>
            <a:pPr marL="392113"/>
            <a:r>
              <a:rPr lang="en-US" dirty="0"/>
              <a:t>Engineering efficiency: </a:t>
            </a:r>
            <a:br>
              <a:rPr lang="en-US" dirty="0"/>
            </a:br>
            <a:r>
              <a:rPr lang="en-US" dirty="0"/>
              <a:t>Benchmarking and opportunity identification (1/2)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062FA-0092-1FA2-AC8B-9CBB5D12B5E1}"/>
              </a:ext>
            </a:extLst>
          </p:cNvPr>
          <p:cNvSpPr txBox="1"/>
          <p:nvPr/>
        </p:nvSpPr>
        <p:spPr>
          <a:xfrm>
            <a:off x="-164387" y="955497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2E5E711-4B1D-2AF1-2BD4-25832697B6A3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554736" y="1503313"/>
            <a:ext cx="11082528" cy="0"/>
          </a:xfrm>
          <a:prstGeom prst="line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7A42B20-8762-4774-BD8D-88EB6089D446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549973" y="3100284"/>
            <a:ext cx="11082528" cy="0"/>
          </a:xfrm>
          <a:prstGeom prst="line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B048C60-8183-2C8D-68F7-CC214088DC37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54736" y="1288333"/>
            <a:ext cx="960555" cy="18466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3FEEEC-2793-49A2-B628-D4CF22F5613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54736" y="3147234"/>
            <a:ext cx="960555" cy="40626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Workforce Productivity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B4601BD-45CF-4822-93F1-AA111E6BD62C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1645259" y="4567190"/>
            <a:ext cx="9992005" cy="0"/>
          </a:xfrm>
          <a:prstGeom prst="line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C0665C0-FD1B-4598-9A38-02BBF9C12C95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1645259" y="5528239"/>
            <a:ext cx="9992005" cy="0"/>
          </a:xfrm>
          <a:prstGeom prst="line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4. Footnote">
            <a:extLst>
              <a:ext uri="{FF2B5EF4-FFF2-40B4-BE49-F238E27FC236}">
                <a16:creationId xmlns:a16="http://schemas.microsoft.com/office/drawing/2014/main" id="{45612205-891B-408C-A7FA-12F447EB297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46689" y="6429260"/>
            <a:ext cx="7278624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/>
          <a:p>
            <a:pPr marL="203200" marR="0" lvl="0" indent="-212725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ea typeface="+mn-ea"/>
                <a:cs typeface="Arial" panose="020B0604020202020204" pitchFamily="34" charset="0"/>
              </a:rPr>
              <a:t>1.	No. of projects to be assessed can be discussed and refined</a:t>
            </a:r>
          </a:p>
          <a:p>
            <a:pPr marL="203200" marR="0" lvl="0" indent="-212725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ea typeface="+mn-ea"/>
                <a:cs typeface="Arial" panose="020B0604020202020204" pitchFamily="34" charset="0"/>
              </a:rPr>
              <a:t>2.	Mean time to recover</a:t>
            </a:r>
          </a:p>
        </p:txBody>
      </p:sp>
      <p:sp>
        <p:nvSpPr>
          <p:cNvPr id="5" name="TrackerNumBlue 37">
            <a:extLst>
              <a:ext uri="{FF2B5EF4-FFF2-40B4-BE49-F238E27FC236}">
                <a16:creationId xmlns:a16="http://schemas.microsoft.com/office/drawing/2014/main" id="{8F2DC327-A3D7-4348-C478-B4003DDB347F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549973" y="572114"/>
            <a:ext cx="325767" cy="325767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C6D9C7-EF31-59AE-4FE5-8F99D7537BF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2965594" y="1288333"/>
            <a:ext cx="2235039" cy="18466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Metrics/ sources of insight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73D5A-029B-E104-686B-165B014BBD71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2965594" y="1556934"/>
            <a:ext cx="2235039" cy="3385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Arial"/>
              </a:rPr>
              <a:t>% portfolio spread 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across run vs </a:t>
            </a:r>
            <a:r>
              <a:rPr lang="en-US" sz="1100" dirty="0" err="1">
                <a:solidFill>
                  <a:srgbClr val="000000"/>
                </a:solidFill>
                <a:latin typeface="Arial"/>
              </a:rPr>
              <a:t>vs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 change vs regulatory projects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85EE17-8F75-4A50-B6BE-2FCAAD91C308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5330601" y="1288333"/>
            <a:ext cx="2494712" cy="18466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8510D-7B19-4C78-A40F-E6FC028AEB20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5330601" y="1556934"/>
            <a:ext cx="2494712" cy="3385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Categorize projects and investments into various growth cycles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E1B020-66D8-896E-FD24-1BC9F2252C66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7955280" y="1288333"/>
            <a:ext cx="3681984" cy="18466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Example outcomes (Not exhaustive)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09EDFD-3CB9-824E-9B72-326764D41438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7955280" y="1556934"/>
            <a:ext cx="3681984" cy="150810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1113" lvl="1" indent="0">
              <a:buNone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Reduce project spend by $XX through a range of levers:</a:t>
            </a:r>
          </a:p>
          <a:p>
            <a:pPr marL="236538" lvl="1">
              <a:buFont typeface="Arial" panose="020B0604020202020204" pitchFamily="34" charset="0"/>
              <a:buChar char="•"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Project prioritization matrix that allows for pausing/discontinuing non-strategic projects</a:t>
            </a:r>
          </a:p>
          <a:p>
            <a:pPr marL="236538" lvl="1">
              <a:buFont typeface="Arial" panose="020B0604020202020204" pitchFamily="34" charset="0"/>
              <a:buChar char="•"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Identifying projects where funding needs to be reduced / tighter expense management is needed</a:t>
            </a:r>
          </a:p>
          <a:p>
            <a:pPr marL="236538" lvl="1">
              <a:buFont typeface="Arial" panose="020B0604020202020204" pitchFamily="34" charset="0"/>
              <a:buChar char="•"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Assessing highest investment projects for spend management, and risk reduction </a:t>
            </a:r>
          </a:p>
          <a:p>
            <a:pPr marL="236538" lvl="1">
              <a:buFont typeface="Arial" panose="020B0604020202020204" pitchFamily="34" charset="0"/>
              <a:buChar char="•"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Optimizing overall project management approach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091469-78FB-2037-89B4-AD8220A6EACD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1645259" y="1288333"/>
            <a:ext cx="1190367" cy="18466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Lever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F6F42B-7609-E6FF-A8E8-3CC7873221AA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>
          <a:xfrm>
            <a:off x="1887396" y="1556934"/>
            <a:ext cx="948230" cy="3385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Project Prioritization</a:t>
            </a:r>
          </a:p>
        </p:txBody>
      </p:sp>
      <p:sp>
        <p:nvSpPr>
          <p:cNvPr id="14" name="TrackerAlphaBlue 14">
            <a:extLst>
              <a:ext uri="{FF2B5EF4-FFF2-40B4-BE49-F238E27FC236}">
                <a16:creationId xmlns:a16="http://schemas.microsoft.com/office/drawing/2014/main" id="{2BE6FD3D-55A5-DF33-7518-DEB542618D34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645259" y="1539239"/>
            <a:ext cx="204954" cy="204954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4B348A-FAD5-434D-9764-92A505DF6E1A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>
          <a:xfrm>
            <a:off x="2965594" y="2146134"/>
            <a:ext cx="2235039" cy="37702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ROI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/ Expense to Revenue ratio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Budgeted vs actual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investments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A53C2F-4196-4C52-A67E-6319D45C273A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>
          <a:xfrm>
            <a:off x="5330601" y="2146134"/>
            <a:ext cx="2494712" cy="88485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Analyze investments and actual/estimated returns per project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Conduct in-depth analysis of top 5</a:t>
            </a:r>
            <a:r>
              <a:rPr lang="en-US" sz="1100" baseline="30000" dirty="0">
                <a:solidFill>
                  <a:srgbClr val="000000"/>
                </a:solidFill>
                <a:latin typeface="Arial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 projects with highest investment (e.g., tracking against outcomes)</a:t>
            </a:r>
            <a:endParaRPr kumimoji="0" lang="en-US" sz="11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313538-F6C7-474D-8081-61D58C764EDB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>
          <a:xfrm>
            <a:off x="1887396" y="2146134"/>
            <a:ext cx="948230" cy="1692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Value capture</a:t>
            </a:r>
          </a:p>
        </p:txBody>
      </p:sp>
      <p:sp>
        <p:nvSpPr>
          <p:cNvPr id="16" name="TrackerAlphaBlue 14">
            <a:extLst>
              <a:ext uri="{FF2B5EF4-FFF2-40B4-BE49-F238E27FC236}">
                <a16:creationId xmlns:a16="http://schemas.microsoft.com/office/drawing/2014/main" id="{6224DB04-694A-50FE-33A5-BBE15F3FEE29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1645259" y="2119299"/>
            <a:ext cx="204954" cy="204954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68CD0F-DA95-4076-9DD8-F187F7180281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>
          <a:xfrm>
            <a:off x="2965594" y="3147234"/>
            <a:ext cx="2235039" cy="139268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Arial"/>
              </a:rPr>
              <a:t>DVI 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(Developer Velocity Index), a proprietary McKinsey tool that assesses development practices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Time spent analysis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inner loop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activities (e.g., coding, unit testing) vs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outer loop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activities (e.g., setting up production environments) which could be automated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C1F10F-0BD8-4077-B308-3ECF6D472864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>
          <a:xfrm>
            <a:off x="5330601" y="3147234"/>
            <a:ext cx="2494712" cy="126188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Launch a survey across developers from different BUs/teams to rate the current practices, and measure time spent on different activities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Compare results with benchmarks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Interview engineering leads to identify root case of challenges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8DCCDD-5591-46B1-A9D0-A290A223D9BB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>
          <a:xfrm>
            <a:off x="7955280" y="3147234"/>
            <a:ext cx="3681984" cy="130035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1113" lvl="1" indent="0">
              <a:buNone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Free up xx% developer capacity ($XX equivalent) by</a:t>
            </a:r>
          </a:p>
          <a:p>
            <a:pPr marL="236538" lvl="1">
              <a:buFont typeface="Arial" panose="020B0604020202020204" pitchFamily="34" charset="0"/>
              <a:buChar char="•"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Automating set up for production environments, where  developers are spending disproportionate time </a:t>
            </a:r>
          </a:p>
          <a:p>
            <a:pPr marL="236538" lvl="1">
              <a:buFont typeface="Arial" panose="020B0604020202020204" pitchFamily="34" charset="0"/>
              <a:buChar char="•"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Providing ample focused time to developers, avoiding context switch between initiatives or products</a:t>
            </a:r>
          </a:p>
          <a:p>
            <a:pPr marL="236538" lvl="1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Improving documentation and making it accessible across the organization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A82E00-2FF8-4237-A9C5-F25FEBB03A70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>
          <a:xfrm>
            <a:off x="1887396" y="3147234"/>
            <a:ext cx="948230" cy="5078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Engineering practices improvement</a:t>
            </a:r>
          </a:p>
        </p:txBody>
      </p:sp>
      <p:sp>
        <p:nvSpPr>
          <p:cNvPr id="17" name="TrackerAlphaBlue 14">
            <a:extLst>
              <a:ext uri="{FF2B5EF4-FFF2-40B4-BE49-F238E27FC236}">
                <a16:creationId xmlns:a16="http://schemas.microsoft.com/office/drawing/2014/main" id="{D99099E1-7C3B-456D-CF4B-4EBF46D80EE9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645259" y="3127551"/>
            <a:ext cx="204954" cy="204954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CC7589-A43C-49B9-9818-7FA4A2D30BAA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>
          <a:xfrm>
            <a:off x="2965594" y="4616114"/>
            <a:ext cx="2235039" cy="84638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ACCE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(Average contribution compared to expectation) to identify relative contribution of individual team members towards overall team output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34B9902-0370-43E1-886C-72C8E3B4E014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>
          <a:xfrm>
            <a:off x="5276134" y="4616114"/>
            <a:ext cx="2674670" cy="88485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Leverage data from JIRA/Git repos to laying out the contribution of each of </a:t>
            </a:r>
            <a:br>
              <a:rPr lang="en-US" sz="1100" dirty="0">
                <a:solidFill>
                  <a:srgbClr val="000000"/>
                </a:solidFill>
                <a:latin typeface="Arial"/>
              </a:rPr>
            </a:br>
            <a:r>
              <a:rPr lang="en-US" sz="1100" dirty="0">
                <a:solidFill>
                  <a:srgbClr val="000000"/>
                </a:solidFill>
                <a:latin typeface="Arial"/>
              </a:rPr>
              <a:t>the team members (anonymized)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Conduct interviews to identify underlying factors for underperformance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2C49785-767E-474C-8740-AD56A09588F4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>
          <a:xfrm>
            <a:off x="7955279" y="4616114"/>
            <a:ext cx="3746967" cy="88485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1113" lvl="1" indent="0">
              <a:buNone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Generate xx% more developer capacity ($XX equivalent) by</a:t>
            </a:r>
          </a:p>
          <a:p>
            <a:pPr marL="236538" lvl="1">
              <a:buFont typeface="Arial" panose="020B0604020202020204" pitchFamily="34" charset="0"/>
              <a:buChar char="•"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Identifying bottom quartile of contributors who are generating lower output vs team median; based on the tenure/motivation level of the team members, deploy appropriate methods to bring the overall team output up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19B96F-1375-4E7B-9F07-0506352016DE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>
          <a:xfrm>
            <a:off x="1887396" y="4616114"/>
            <a:ext cx="948230" cy="3385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Performance Optimization</a:t>
            </a:r>
          </a:p>
        </p:txBody>
      </p:sp>
      <p:sp>
        <p:nvSpPr>
          <p:cNvPr id="18" name="TrackerAlphaBlue 14">
            <a:extLst>
              <a:ext uri="{FF2B5EF4-FFF2-40B4-BE49-F238E27FC236}">
                <a16:creationId xmlns:a16="http://schemas.microsoft.com/office/drawing/2014/main" id="{9FFA8001-D2B1-5C47-6935-F389882640CD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1645259" y="4594457"/>
            <a:ext cx="204954" cy="204954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05F2EDD-8C0C-49FE-A9E7-DCF539079A2D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>
          <a:xfrm>
            <a:off x="2965594" y="5589114"/>
            <a:ext cx="2235039" cy="5078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DORA metrics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(e.g., release frequency, lead time to deploy, change failure rate, MTTR</a:t>
            </a:r>
            <a:r>
              <a:rPr kumimoji="0" lang="en-US" sz="11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sz="11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B433BB4-1ED2-41B0-9160-D89CFA8CB709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>
          <a:xfrm>
            <a:off x="5330601" y="5589114"/>
            <a:ext cx="2494712" cy="6771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Collect existing dashboards / metrics leveraged at team and organization level and compare against benchmarks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47F91E7-3223-4435-9357-6107C4A2D39D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>
          <a:xfrm>
            <a:off x="7955280" y="5589114"/>
            <a:ext cx="3681984" cy="54630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1113" lvl="1" indent="0">
              <a:buNone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Reduce defect rate in code by XX% through</a:t>
            </a:r>
          </a:p>
          <a:p>
            <a:pPr marL="236538" lvl="1">
              <a:buFont typeface="Arial" panose="020B0604020202020204" pitchFamily="34" charset="0"/>
              <a:buChar char="•"/>
              <a:defRPr/>
            </a:pP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Improving testing maturity, increasing unit testing coverage through automated testing tools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94C9343-6E71-414B-9F6B-D7A06C253DE2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>
          <a:xfrm>
            <a:off x="1887396" y="5589114"/>
            <a:ext cx="948230" cy="5078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Software development outcomes</a:t>
            </a:r>
          </a:p>
        </p:txBody>
      </p:sp>
      <p:sp>
        <p:nvSpPr>
          <p:cNvPr id="19" name="TrackerAlphaBlue 14">
            <a:extLst>
              <a:ext uri="{FF2B5EF4-FFF2-40B4-BE49-F238E27FC236}">
                <a16:creationId xmlns:a16="http://schemas.microsoft.com/office/drawing/2014/main" id="{6C4B0FB6-A62F-88FC-FBA2-100CAB5DD381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1645259" y="5555505"/>
            <a:ext cx="204954" cy="204954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2672C80-0FAE-DC5A-9AEE-A22B99553362}"/>
              </a:ext>
            </a:extLst>
          </p:cNvPr>
          <p:cNvSpPr txBox="1"/>
          <p:nvPr/>
        </p:nvSpPr>
        <p:spPr>
          <a:xfrm>
            <a:off x="554736" y="1556934"/>
            <a:ext cx="960555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b="1" dirty="0"/>
              <a:t>Demand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127E4-4801-A8B8-44D0-92B2575FCF3C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>
          <a:xfrm>
            <a:off x="554736" y="931477"/>
            <a:ext cx="960555" cy="18466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10" name="TrackerNumBlue 37">
            <a:extLst>
              <a:ext uri="{FF2B5EF4-FFF2-40B4-BE49-F238E27FC236}">
                <a16:creationId xmlns:a16="http://schemas.microsoft.com/office/drawing/2014/main" id="{8B23F403-2BF8-B2D0-E176-FF0928CBB02D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>
          <a:xfrm>
            <a:off x="549973" y="215258"/>
            <a:ext cx="325767" cy="325767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1320" y="128016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1">
                <a:solidFill>
                  <a:srgbClr val="63666A"/>
                </a:solidFill>
                <a:latin typeface="Arial"/>
              </a:rPr>
              <a:t>ILLUSTRATIVE</a:t>
            </a:r>
          </a:p>
        </p:txBody>
      </p:sp>
      <p:sp>
        <p:nvSpPr>
          <p:cNvPr id="94" name="ReviewSticky"/>
          <p:cNvSpPr/>
          <p:nvPr/>
        </p:nvSpPr>
        <p:spPr>
          <a:xfrm>
            <a:off x="9555480" y="320040"/>
            <a:ext cx="2606040" cy="868680"/>
          </a:xfrm>
          <a:prstGeom prst="rect">
            <a:avLst/>
          </a:prstGeom>
          <a:solidFill>
            <a:srgbClr val="FFF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750">
                <a:solidFill>
                  <a:srgbClr val="000000"/>
                </a:solidFill>
                <a:latin typeface="Arial"/>
              </a:rPr>
              <a:t>FLAG: the ACCE row ('identify bottom quartile of contributors') is sensitive in a client proposal; consider cutting the row or softening the language. $XX placeholders intentional? Page marked Illustrative.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651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F2DDFBC6-13AA-49AA-8241-AFD2E793ED0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395" imgH="396" progId="TCLayout.ActiveDocument.1">
                  <p:embed/>
                </p:oleObj>
              </mc:Choice>
              <mc:Fallback>
                <p:oleObj name="think-cell Slide" r:id="rId45" imgW="395" imgH="396" progId="TCLayout.ActiveDocument.1">
                  <p:embed/>
                  <p:pic>
                    <p:nvPicPr>
                      <p:cNvPr id="6" name="Object 2" hidden="1">
                        <a:extLst>
                          <a:ext uri="{FF2B5EF4-FFF2-40B4-BE49-F238E27FC236}">
                            <a16:creationId xmlns:a16="http://schemas.microsoft.com/office/drawing/2014/main" id="{F2DDFBC6-13AA-49AA-8241-AFD2E793ED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78062FA-0092-1FA2-AC8B-9CBB5D12B5E1}"/>
              </a:ext>
            </a:extLst>
          </p:cNvPr>
          <p:cNvSpPr txBox="1"/>
          <p:nvPr/>
        </p:nvSpPr>
        <p:spPr>
          <a:xfrm>
            <a:off x="-164387" y="955497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D3EE5F0-6A1D-67BA-925D-FC706916F474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554737" y="1320732"/>
            <a:ext cx="960555" cy="38295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Operating Model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F6F42B-7609-E6FF-A8E8-3CC7873221A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887396" y="1320732"/>
            <a:ext cx="948230" cy="1692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Org structure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73D5A-029B-E104-686B-165B014BBD71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965594" y="1320732"/>
            <a:ext cx="2235039" cy="88485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Arial"/>
              </a:rPr>
              <a:t>Role ratios 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such as PM: Developers, Architect: Developers</a:t>
            </a:r>
          </a:p>
          <a:p>
            <a:pPr>
              <a:spcBef>
                <a:spcPts val="0"/>
              </a:spcBef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Pyramid structure</a:t>
            </a:r>
            <a:r>
              <a:rPr lang="en-US" sz="1100" b="1" dirty="0">
                <a:solidFill>
                  <a:srgbClr val="000000"/>
                </a:solidFill>
                <a:latin typeface="Arial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Spans and layers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stacking the different tiers and management levels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8510D-7B19-4C78-A40F-E6FC028AEB20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330601" y="1320732"/>
            <a:ext cx="2494712" cy="6771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Measure the ratios across different business units/projects, as well as the org  and compare against best in class benchmarks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7A42B20-8762-4774-BD8D-88EB6089D446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549973" y="2883991"/>
            <a:ext cx="11082528" cy="0"/>
          </a:xfrm>
          <a:prstGeom prst="line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FC07B97-DB92-4CF2-9117-6CE2E1B3DE08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1645259" y="2218190"/>
            <a:ext cx="9992005" cy="0"/>
          </a:xfrm>
          <a:prstGeom prst="line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C43730-B56B-4777-86F9-B78E836344A4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549973" y="5225866"/>
            <a:ext cx="11082528" cy="0"/>
          </a:xfrm>
          <a:prstGeom prst="line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64E4843-EABF-A288-8B8B-860CD55022E8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554736" y="1267111"/>
            <a:ext cx="11082528" cy="0"/>
          </a:xfrm>
          <a:prstGeom prst="line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CAD63AA-9E4A-DA20-7294-CD7EC9E3F12A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554737" y="1052131"/>
            <a:ext cx="960555" cy="18466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EEE3C1-BDF4-64A3-552A-E9F424B2737A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2965594" y="1052131"/>
            <a:ext cx="2235039" cy="18466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Metrics/ sources of insight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47057-3203-C55E-3409-2A20BA90337D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5330601" y="1052131"/>
            <a:ext cx="2494712" cy="18466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EE2082-7E7F-3B6A-B72B-7A1D9F023E23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7955280" y="1052131"/>
            <a:ext cx="3681984" cy="18466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Example outcomes (Not exhaustive)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C778D7-18B6-24DF-6DF4-DF549AC58BC7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1645259" y="1052131"/>
            <a:ext cx="1190367" cy="18466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Lever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27A89A-5A24-2F12-7E26-B641A6B0FBDB}"/>
              </a:ext>
            </a:extLst>
          </p:cNvPr>
          <p:cNvSpPr txBox="1"/>
          <p:nvPr/>
        </p:nvSpPr>
        <p:spPr>
          <a:xfrm>
            <a:off x="7955280" y="1320732"/>
            <a:ext cx="3681984" cy="884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1100" dirty="0"/>
              <a:t>Identify $XX in opportunity by optimizing the span of controls / shifting the pyramid to be diamond shaped </a:t>
            </a:r>
          </a:p>
          <a:p>
            <a:pPr lvl="1"/>
            <a:r>
              <a:rPr lang="en-US" sz="1100" dirty="0"/>
              <a:t>Optimize productivity by balancing out the ratios within product squads (e.g., re-assigning developers from high concentration to low concentration areas)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313538-F6C7-474D-8081-61D58C764EDB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1887396" y="2292587"/>
            <a:ext cx="948230" cy="33855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Location mix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4B348A-FAD5-434D-9764-92A505DF6E1A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2965594" y="2292587"/>
            <a:ext cx="2235039" cy="54630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Onshore vs Offshore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mix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Arial"/>
              </a:rPr>
              <a:t>% Co-location 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/ distribution of teams across different locations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A53C2F-4196-4C52-A67E-6319D45C273A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5330601" y="2292587"/>
            <a:ext cx="2494712" cy="5078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Asses the spread of resources / teams / squads across different geographies, and compare with industry benchmarks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FB7C35-C83C-1902-05D9-E4CFAEA7C039}"/>
              </a:ext>
            </a:extLst>
          </p:cNvPr>
          <p:cNvSpPr txBox="1"/>
          <p:nvPr/>
        </p:nvSpPr>
        <p:spPr>
          <a:xfrm>
            <a:off x="7955280" y="2292587"/>
            <a:ext cx="3772122" cy="54630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1100" dirty="0"/>
              <a:t>Optimize $XX in costs by shifting the location mix towards low cost / medium cost geographies</a:t>
            </a:r>
          </a:p>
          <a:p>
            <a:pPr lvl="1"/>
            <a:r>
              <a:rPr lang="en-US" sz="1100" dirty="0"/>
              <a:t>Improve location proximity leading to better collaboration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3FEEEC-2793-49A2-B628-D4CF22F56132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>
          <a:xfrm>
            <a:off x="554737" y="2924121"/>
            <a:ext cx="960555" cy="369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Expense Management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A82E00-2FF8-4237-A9C5-F25FEBB03A70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>
          <a:xfrm>
            <a:off x="1887396" y="2924121"/>
            <a:ext cx="948230" cy="16927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FinOps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68CD0F-DA95-4076-9DD8-F187F7180281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>
          <a:xfrm>
            <a:off x="2965594" y="2924121"/>
            <a:ext cx="2235039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Total cost vs </a:t>
            </a:r>
            <a:r>
              <a:rPr lang="en-US" sz="1100" b="1" dirty="0">
                <a:solidFill>
                  <a:srgbClr val="000000"/>
                </a:solidFill>
                <a:latin typeface="Arial"/>
              </a:rPr>
              <a:t>cost of unused resources 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in the Cloud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Arial"/>
              </a:rPr>
              <a:t>Cloud cost per application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Arial"/>
              </a:rPr>
              <a:t>Auto-scaling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 through balancing load-consumption to avoid peaks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C1F10F-0BD8-4077-B308-3ECF6D472864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>
          <a:xfrm>
            <a:off x="5330601" y="2924121"/>
            <a:ext cx="2494712" cy="84638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Review 40 levers of cloud financial management across categories including: resource consumption, technical optimization, sourcing and procurement, policy management, etc.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607DA6-ABA9-8C34-9534-EE667682B766}"/>
              </a:ext>
            </a:extLst>
          </p:cNvPr>
          <p:cNvSpPr txBox="1"/>
          <p:nvPr/>
        </p:nvSpPr>
        <p:spPr>
          <a:xfrm>
            <a:off x="7955280" y="2924121"/>
            <a:ext cx="3681984" cy="8463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1100" dirty="0"/>
              <a:t>Reduce $XX in cloud costs by reducing double hosting, rationalizing redundancy across on-premise and cloud capabilities for non-prod environments (e.g., storage, compute), balancing out the consumption to avoid peaks with highest charge, etc.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A34D94-1A34-41D8-859C-AD99A0AF73FE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>
          <a:xfrm>
            <a:off x="554737" y="5266845"/>
            <a:ext cx="960555" cy="73866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Automation (including digitization and AI)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602E11-1E51-4883-89FC-74BB1E717880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>
          <a:xfrm>
            <a:off x="1887396" y="5266845"/>
            <a:ext cx="948230" cy="33855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Process streamlining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A78474-7933-4064-9EA1-FFB7105C4229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>
          <a:xfrm>
            <a:off x="2965594" y="5266845"/>
            <a:ext cx="2235039" cy="126188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Arial"/>
              </a:rPr>
              <a:t>% Build pipeline automated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 to speed up development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% test coverage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automated via ex</a:t>
            </a:r>
            <a:r>
              <a:rPr lang="en-US" sz="1100" dirty="0" err="1">
                <a:solidFill>
                  <a:srgbClr val="000000"/>
                </a:solidFill>
                <a:latin typeface="Arial"/>
              </a:rPr>
              <a:t>isting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 tools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% code generated, % documentation improved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through use of AI tools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F24C8F-ACA0-4090-ACC4-93BF9653C2A5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>
          <a:xfrm>
            <a:off x="5330601" y="5266845"/>
            <a:ext cx="2494712" cy="122341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Review the ‘Idea-to-live’ process end to end and identify opportunities for automating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Identify the use cased for accelerating code development through use of AI (e.g., code development, code refactoring, tech debt reduction)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CE1A12-2FDA-833C-0BD1-1C4F72FA5D31}"/>
              </a:ext>
            </a:extLst>
          </p:cNvPr>
          <p:cNvSpPr txBox="1"/>
          <p:nvPr/>
        </p:nvSpPr>
        <p:spPr>
          <a:xfrm>
            <a:off x="8007658" y="5266845"/>
            <a:ext cx="3629606" cy="11849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/>
              <a:t>Free up xx% in developer capacity ($XX equivalent) by</a:t>
            </a:r>
          </a:p>
          <a:p>
            <a:pPr lvl="1">
              <a:spcAft>
                <a:spcPts val="0"/>
              </a:spcAft>
            </a:pPr>
            <a:r>
              <a:rPr lang="en-US" sz="1100" dirty="0"/>
              <a:t>Automating the release pipeline</a:t>
            </a:r>
          </a:p>
          <a:p>
            <a:pPr lvl="1">
              <a:spcAft>
                <a:spcPts val="0"/>
              </a:spcAft>
            </a:pPr>
            <a:r>
              <a:rPr lang="en-US" sz="1100" dirty="0"/>
              <a:t>Self provisioning the access to tools developers need</a:t>
            </a:r>
          </a:p>
          <a:p>
            <a:pPr lvl="1">
              <a:spcAft>
                <a:spcPts val="0"/>
              </a:spcAft>
            </a:pPr>
            <a:r>
              <a:rPr lang="en-US" sz="1100" dirty="0"/>
              <a:t>Eliminating manual hand offs and setting up digital experiences instead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100" dirty="0"/>
              <a:t>Reduce xx% in coding time ($XX equivalent) by</a:t>
            </a:r>
          </a:p>
          <a:p>
            <a:pPr lvl="1">
              <a:spcAft>
                <a:spcPts val="0"/>
              </a:spcAft>
            </a:pPr>
            <a:r>
              <a:rPr lang="en-US" sz="1100" dirty="0"/>
              <a:t>Adopting AI tools, coaching on prompt engineering</a:t>
            </a:r>
          </a:p>
        </p:txBody>
      </p:sp>
      <p:sp>
        <p:nvSpPr>
          <p:cNvPr id="31" name="TrackerAlphaBlue 14">
            <a:extLst>
              <a:ext uri="{FF2B5EF4-FFF2-40B4-BE49-F238E27FC236}">
                <a16:creationId xmlns:a16="http://schemas.microsoft.com/office/drawing/2014/main" id="{A8FE5D54-550E-193F-A9E5-A7BC2582ACF2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1645259" y="1303037"/>
            <a:ext cx="204954" cy="204954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2" name="TrackerAlphaBlue 14">
            <a:extLst>
              <a:ext uri="{FF2B5EF4-FFF2-40B4-BE49-F238E27FC236}">
                <a16:creationId xmlns:a16="http://schemas.microsoft.com/office/drawing/2014/main" id="{3BDDF41B-537F-CF83-54B0-0D5221088CEC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645259" y="2292587"/>
            <a:ext cx="204954" cy="204954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3" name="TrackerAlphaBlue 14">
            <a:extLst>
              <a:ext uri="{FF2B5EF4-FFF2-40B4-BE49-F238E27FC236}">
                <a16:creationId xmlns:a16="http://schemas.microsoft.com/office/drawing/2014/main" id="{610BD99C-BE3C-2FB0-EE2D-20957643E82D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645259" y="2899751"/>
            <a:ext cx="204954" cy="204954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34" name="TrackerAlphaBlue 14">
            <a:extLst>
              <a:ext uri="{FF2B5EF4-FFF2-40B4-BE49-F238E27FC236}">
                <a16:creationId xmlns:a16="http://schemas.microsoft.com/office/drawing/2014/main" id="{F0D9E1FD-EE45-F58C-405A-CB93684BFA84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1645259" y="5241310"/>
            <a:ext cx="204954" cy="204954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D89E2701-900F-45B2-C5DE-B5A439335A3D}"/>
              </a:ext>
            </a:extLst>
          </p:cNvPr>
          <p:cNvSpPr>
            <a:spLocks noGrp="1"/>
          </p:cNvSpPr>
          <p:nvPr>
            <p:ph type="title"/>
            <p:custDataLst>
              <p:tags r:id="rId31"/>
            </p:custDataLst>
          </p:nvPr>
        </p:nvSpPr>
        <p:spPr>
          <a:xfrm>
            <a:off x="554736" y="198311"/>
            <a:ext cx="11082528" cy="71558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/>
          <a:p>
            <a:pPr marL="392113"/>
            <a:r>
              <a:rPr lang="en-US" dirty="0"/>
              <a:t>Engineering efficiency: </a:t>
            </a:r>
            <a:br>
              <a:rPr lang="en-US" dirty="0"/>
            </a:br>
            <a:r>
              <a:rPr lang="en-US" dirty="0"/>
              <a:t>Benchmarking and opportunity identification (2/2)</a:t>
            </a:r>
          </a:p>
        </p:txBody>
      </p:sp>
      <p:sp>
        <p:nvSpPr>
          <p:cNvPr id="21" name="TrackerNumBlue 37">
            <a:extLst>
              <a:ext uri="{FF2B5EF4-FFF2-40B4-BE49-F238E27FC236}">
                <a16:creationId xmlns:a16="http://schemas.microsoft.com/office/drawing/2014/main" id="{CE5B1042-DADC-A8AA-C891-DA7F66AC3278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>
          <a:xfrm>
            <a:off x="549973" y="572114"/>
            <a:ext cx="325767" cy="325767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</a:t>
            </a:r>
          </a:p>
        </p:txBody>
      </p:sp>
      <p:sp>
        <p:nvSpPr>
          <p:cNvPr id="25" name="TrackerNumBlue 37">
            <a:extLst>
              <a:ext uri="{FF2B5EF4-FFF2-40B4-BE49-F238E27FC236}">
                <a16:creationId xmlns:a16="http://schemas.microsoft.com/office/drawing/2014/main" id="{3CBAC6B9-6858-2928-404A-CE03EA4ECC1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>
          <a:xfrm>
            <a:off x="549973" y="215258"/>
            <a:ext cx="325767" cy="325767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0ADF83E-81E9-443B-84D5-CDE528DFC58B}"/>
              </a:ext>
            </a:extLst>
          </p:cNvPr>
          <p:cNvCxnSpPr>
            <a:cxnSpLocks/>
          </p:cNvCxnSpPr>
          <p:nvPr>
            <p:custDataLst>
              <p:tags r:id="rId34"/>
            </p:custDataLst>
          </p:nvPr>
        </p:nvCxnSpPr>
        <p:spPr>
          <a:xfrm>
            <a:off x="1645259" y="3870157"/>
            <a:ext cx="9992005" cy="0"/>
          </a:xfrm>
          <a:prstGeom prst="line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ED1772B-C8D5-4AB2-9361-49B09351F62D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>
          <a:xfrm>
            <a:off x="1887396" y="3944554"/>
            <a:ext cx="948230" cy="33855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Supplier management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E1A957-8EC0-4C5E-AE40-A61A22AC3FE1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>
          <a:xfrm>
            <a:off x="2965594" y="3944554"/>
            <a:ext cx="2235039" cy="71558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Vendor consolidation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across </a:t>
            </a:r>
            <a:r>
              <a:rPr lang="en-US" sz="1100" dirty="0">
                <a:solidFill>
                  <a:srgbClr val="000000"/>
                </a:solidFill>
                <a:latin typeface="Arial"/>
              </a:rPr>
              <a:t>software, hardware, infrastructure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Right-sizing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requirement for the specs needed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E26043-0CA4-413C-A046-E5C3204438B0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>
          <a:xfrm>
            <a:off x="5330601" y="3944554"/>
            <a:ext cx="2494712" cy="6771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Review the contracts to identify opportunities to negotiate better rates through consolidation, and to avoid consuming more than required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AB9B50-5F26-4721-905B-86572CF7A3C7}"/>
              </a:ext>
            </a:extLst>
          </p:cNvPr>
          <p:cNvSpPr txBox="1"/>
          <p:nvPr/>
        </p:nvSpPr>
        <p:spPr>
          <a:xfrm>
            <a:off x="7955280" y="3944554"/>
            <a:ext cx="3772122" cy="67710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1100" dirty="0"/>
              <a:t>Reduce $XX in vendor cost by consolidating the software vendors and renegotiating contracts; streamline the usage by identifying the requirements and avoiding paying for more than the required usage</a:t>
            </a:r>
          </a:p>
        </p:txBody>
      </p:sp>
      <p:sp>
        <p:nvSpPr>
          <p:cNvPr id="58" name="TrackerAlphaBlue 14">
            <a:extLst>
              <a:ext uri="{FF2B5EF4-FFF2-40B4-BE49-F238E27FC236}">
                <a16:creationId xmlns:a16="http://schemas.microsoft.com/office/drawing/2014/main" id="{D3BEAB4E-3440-4802-969D-1EA96EBB867F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1645259" y="3944554"/>
            <a:ext cx="204954" cy="204954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E0E0F40-E006-480C-B86A-296E4D9F6452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>
          <a:xfrm>
            <a:off x="1887396" y="4716649"/>
            <a:ext cx="948230" cy="33855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Demand management</a:t>
            </a:r>
          </a:p>
        </p:txBody>
      </p:sp>
      <p:sp>
        <p:nvSpPr>
          <p:cNvPr id="75" name="TrackerAlphaBlue 14">
            <a:extLst>
              <a:ext uri="{FF2B5EF4-FFF2-40B4-BE49-F238E27FC236}">
                <a16:creationId xmlns:a16="http://schemas.microsoft.com/office/drawing/2014/main" id="{B9CB5ABD-6B55-4E8B-8F7C-70B55581628E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1645259" y="4716649"/>
            <a:ext cx="204954" cy="204954"/>
          </a:xfrm>
          <a:prstGeom prst="ellipse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6CBB7C0-A539-4A7A-8A48-68C432C2108D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>
          <a:xfrm>
            <a:off x="2965594" y="4716649"/>
            <a:ext cx="2235039" cy="3385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Assessment and update of policies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(e.g., software, hardware)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7F8C1D9-14E5-4817-B705-83415DA06103}"/>
              </a:ext>
            </a:extLst>
          </p:cNvPr>
          <p:cNvCxnSpPr>
            <a:cxnSpLocks/>
          </p:cNvCxnSpPr>
          <p:nvPr>
            <p:custDataLst>
              <p:tags r:id="rId42"/>
            </p:custDataLst>
          </p:nvPr>
        </p:nvCxnSpPr>
        <p:spPr>
          <a:xfrm>
            <a:off x="1645259" y="4660135"/>
            <a:ext cx="9992005" cy="0"/>
          </a:xfrm>
          <a:prstGeom prst="line">
            <a:avLst/>
          </a:prstGeom>
          <a:ln w="6350" cap="flat">
            <a:solidFill>
              <a:srgbClr val="757575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3DD3F4E-0736-470B-9D10-B57852AF3FC4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>
          <a:xfrm>
            <a:off x="5330601" y="4736844"/>
            <a:ext cx="2494712" cy="5078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/>
              </a:rPr>
              <a:t>Review software and hardware spend by team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Review software and hardware policies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ABBE20-2C72-443E-8809-EB554DCE451C}"/>
              </a:ext>
            </a:extLst>
          </p:cNvPr>
          <p:cNvSpPr txBox="1"/>
          <p:nvPr/>
        </p:nvSpPr>
        <p:spPr>
          <a:xfrm>
            <a:off x="7955280" y="4736844"/>
            <a:ext cx="3772122" cy="50783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1100" dirty="0"/>
              <a:t>Reduce $xx in hardware and software by reducing the number of allowed software licenses and/ or the timeline to upgrade hardware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61320" y="128016"/>
            <a:ext cx="1417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1">
                <a:solidFill>
                  <a:srgbClr val="63666A"/>
                </a:solidFill>
                <a:latin typeface="Arial"/>
              </a:rPr>
              <a:t>ILLUSTRATIVE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62495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UNDODONOTDELETE" val="0"/>
  <p:tag name="TEMPLATELASTEDITED" val="2024-05-30 01:34 PM"/>
  <p:tag name="THINKCELLPRESENTATIONDONOTDELETE" val="&lt;?xml version=&quot;1.0&quot; encoding=&quot;UTF-16&quot; standalone=&quot;yes&quot;?&gt;&lt;root reqver=&quot;28224&quot;&gt;&lt;version val=&quot;3590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LINKEDPICTURESLINKREMOVED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hlT7lGQomWkE8tnMs3lw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21509523725233024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Defaul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DefaultVertical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DefaultVertical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.3"/>
  <p:tag name="2LEVEL" val="0.15"/>
  <p:tag name="3LEVEL" val="0.08"/>
  <p:tag name="4LEVEL" val="0.04"/>
  <p:tag name="5LEVEL" val="0.02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.3"/>
  <p:tag name="2LEVEL" val="0.15"/>
  <p:tag name="3LEVEL" val="0.08"/>
  <p:tag name="4LEVEL" val="0.04"/>
  <p:tag name="5LEVEL" val="0.02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.3"/>
  <p:tag name="2LEVEL" val="0.15"/>
  <p:tag name="3LEVEL" val="0.08"/>
  <p:tag name="4LEVEL" val="0.04"/>
  <p:tag name="5LEVEL" val="0.02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.3"/>
  <p:tag name="2LEVEL" val="0.15"/>
  <p:tag name="3LEVEL" val="0.08"/>
  <p:tag name="4LEVEL" val="0.04"/>
  <p:tag name="5LEVEL" val="0.02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DefaultVertical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DefaultVertical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.3"/>
  <p:tag name="2LEVEL" val="0.15"/>
  <p:tag name="3LEVEL" val="0.08"/>
  <p:tag name="4LEVEL" val="0.04"/>
  <p:tag name="5LEVEL" val="0.02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.3"/>
  <p:tag name="2LEVEL" val="0.15"/>
  <p:tag name="3LEVEL" val="0.08"/>
  <p:tag name="4LEVEL" val="0.04"/>
  <p:tag name="5LEVEL" val="0.0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.3"/>
  <p:tag name="2LEVEL" val="0.15"/>
  <p:tag name="3LEVEL" val="0.08"/>
  <p:tag name="4LEVEL" val="0.04"/>
  <p:tag name="5LEVEL" val="0.02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.3"/>
  <p:tag name="2LEVEL" val="0.15"/>
  <p:tag name="3LEVEL" val="0.08"/>
  <p:tag name="4LEVEL" val="0.04"/>
  <p:tag name="5LEVEL" val="0.02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DefaultVertical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DefaultVertical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10419390323421474819702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HEIGHT" val="19.38748"/>
  <p:tag name="TOP" val="110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10419390463321474813103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HEIGHT" val="19.38748"/>
  <p:tag name="TOP" val="110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HEIGHT" val="19.38748"/>
  <p:tag name="TOP" val="110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HEIGHT" val="19.38748"/>
  <p:tag name="TOP" val="110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10419390626721474813164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HEIGHT" val="19.38748"/>
  <p:tag name="TOP" val="110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HEIGHT" val="19.38748"/>
  <p:tag name="TOP" val="110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HEIGHT" val="19.38748"/>
  <p:tag name="TOP" val="110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HEIGHT" val="19.38748"/>
  <p:tag name="TOP" val="110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45"/>
  <p:tag name="WIDTH" val="276.6667"/>
  <p:tag name="TOP" val="139.3875"/>
  <p:tag name="HEIGHT" val="31.51608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HDiv"/>
  <p:tag name="MTNUMBER" val="0.659255057880308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.659255057880308"/>
  <p:tag name="LEFT" val="341.6667"/>
  <p:tag name="WIDTH" val="276.6667"/>
  <p:tag name="TOP" val="139.3875"/>
  <p:tag name="HEIGHT" val="31.51608"/>
  <p:tag name="1LEVEL" val="0"/>
  <p:tag name="2LEVEL" val="0"/>
  <p:tag name="3LEVEL" val="0"/>
  <p:tag name="4LEVEL" val="0"/>
  <p:tag name="5LEVEL" val="0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3930A782-7855-431F-B7AE-35B9494F4F2B}" vid="{DE15729B-A53C-4F17-8E30-E89302E1D290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3930A782-7855-431F-B7AE-35B9494F4F2B}" vid="{B1915C88-7403-4DE5-8BD1-7CFB569789DE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BFA73E-4A1C-4AB7-B670-51D8826D5DB2}">
  <we:reference id="5332053f-08b1-4ad5-b936-144d44d33f40" version="2.62.2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ca735a-14db-4567-a159-d67c2473f960">
      <Terms xmlns="http://schemas.microsoft.com/office/infopath/2007/PartnerControls"/>
    </lcf76f155ced4ddcb4097134ff3c332f>
    <TaxCatchAll xmlns="a97def03-4829-427a-a25e-2157731fbb0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B347756AEE8344BB28CD44EC2B7328" ma:contentTypeVersion="14" ma:contentTypeDescription="Create a new document." ma:contentTypeScope="" ma:versionID="7848285eb86c98fd3225cd5e062a9123">
  <xsd:schema xmlns:xsd="http://www.w3.org/2001/XMLSchema" xmlns:xs="http://www.w3.org/2001/XMLSchema" xmlns:p="http://schemas.microsoft.com/office/2006/metadata/properties" xmlns:ns2="c1ca735a-14db-4567-a159-d67c2473f960" xmlns:ns3="a97def03-4829-427a-a25e-2157731fbb05" targetNamespace="http://schemas.microsoft.com/office/2006/metadata/properties" ma:root="true" ma:fieldsID="b59c3fcbebbca2e69bd6f4f4a8da0cee" ns2:_="" ns3:_="">
    <xsd:import namespace="c1ca735a-14db-4567-a159-d67c2473f960"/>
    <xsd:import namespace="a97def03-4829-427a-a25e-2157731fbb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ca735a-14db-4567-a159-d67c2473f9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def03-4829-427a-a25e-2157731fbb0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42e6c6cb-bb7d-451c-b4ef-6310a7d27395}" ma:internalName="TaxCatchAll" ma:showField="CatchAllData" ma:web="a97def03-4829-427a-a25e-2157731fbb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customXml/itemProps3.xml><?xml version="1.0" encoding="utf-8"?>
<ds:datastoreItem xmlns:ds="http://schemas.openxmlformats.org/officeDocument/2006/customXml" ds:itemID="{F4E74280-4338-4575-9228-D65BD4AFFA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ca735a-14db-4567-a159-d67c2473f960"/>
    <ds:schemaRef ds:uri="a97def03-4829-427a-a25e-2157731fbb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947</TotalTime>
  <Words>2826</Words>
  <Application>Microsoft Office PowerPoint</Application>
  <PresentationFormat>Widescreen</PresentationFormat>
  <Paragraphs>387</Paragraphs>
  <Slides>10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Wingdings</vt:lpstr>
      <vt:lpstr>Calibri</vt:lpstr>
      <vt:lpstr>Segoe UI</vt:lpstr>
      <vt:lpstr>Georgia</vt:lpstr>
      <vt:lpstr>White</vt:lpstr>
      <vt:lpstr>Contrast</vt:lpstr>
      <vt:lpstr>think-cell Slide</vt:lpstr>
      <vt:lpstr>Vanguard- IDP Assessment</vt:lpstr>
      <vt:lpstr>Overview of our tech and AI productivity approach for Vanguard</vt:lpstr>
      <vt:lpstr>1. Tech Productivity: An 8-week assessment to identify and prioritize high-value technology opportunities,</vt:lpstr>
      <vt:lpstr>2. AI-enabled Reimagination: An 8-week approach to identify, prioritize, and redesign high-value business domains</vt:lpstr>
      <vt:lpstr>Appendix</vt:lpstr>
      <vt:lpstr>We deployed the Tech Performance assessment framework to cover all the important aspects within IT, then focused on client-relevant areas</vt:lpstr>
      <vt:lpstr>Summary view of activities   (Details of activities and deliverables  follow)</vt:lpstr>
      <vt:lpstr>Engineering efficiency: Baselining approach and data</vt:lpstr>
      <vt:lpstr>Engineering efficiency:  Benchmarking and opportunity identification (1/2)</vt:lpstr>
      <vt:lpstr>Engineering efficiency:  Benchmarking and opportunity identification (2/2)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Vamsidhar Kakani</dc:creator>
  <cp:keywords/>
  <dc:description/>
  <cp:lastModifiedBy>Vamsidhar Kakani</cp:lastModifiedBy>
  <cp:revision>5</cp:revision>
  <cp:lastPrinted>2018-10-30T20:37:12Z</cp:lastPrinted>
  <dcterms:created xsi:type="dcterms:W3CDTF">2026-07-27T20:30:31Z</dcterms:created>
  <dcterms:modified xsi:type="dcterms:W3CDTF">2026-07-28T14:18:33Z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0x010100F2B347756AEE8344BB28CD44EC2B7328</vt:lpwstr>
  </property>
  <property fmtid="{D5CDD505-2E9C-101B-9397-08002B2CF9AE}" pid="10" name="MSIP_Label_fec09dec-a9ce-4322-b578-b49052c992d8_Enabled">
    <vt:lpwstr>true</vt:lpwstr>
  </property>
  <property fmtid="{D5CDD505-2E9C-101B-9397-08002B2CF9AE}" pid="11" name="MSIP_Label_fec09dec-a9ce-4322-b578-b49052c992d8_SetDate">
    <vt:lpwstr>2026-06-01T18:59:52Z</vt:lpwstr>
  </property>
  <property fmtid="{D5CDD505-2E9C-101B-9397-08002B2CF9AE}" pid="12" name="MSIP_Label_fec09dec-a9ce-4322-b578-b49052c992d8_Method">
    <vt:lpwstr>Standard</vt:lpwstr>
  </property>
  <property fmtid="{D5CDD505-2E9C-101B-9397-08002B2CF9AE}" pid="13" name="MSIP_Label_fec09dec-a9ce-4322-b578-b49052c992d8_Name">
    <vt:lpwstr>Firm Confidential Information-SLV1</vt:lpwstr>
  </property>
  <property fmtid="{D5CDD505-2E9C-101B-9397-08002B2CF9AE}" pid="14" name="MSIP_Label_fec09dec-a9ce-4322-b578-b49052c992d8_SiteId">
    <vt:lpwstr>cc8936bc-9382-4fff-87cb-6f55999549e7</vt:lpwstr>
  </property>
  <property fmtid="{D5CDD505-2E9C-101B-9397-08002B2CF9AE}" pid="15" name="MSIP_Label_fec09dec-a9ce-4322-b578-b49052c992d8_ActionId">
    <vt:lpwstr>b2d4adc9-fc6a-437a-8263-96c4b9a66d0c</vt:lpwstr>
  </property>
  <property fmtid="{D5CDD505-2E9C-101B-9397-08002B2CF9AE}" pid="16" name="MSIP_Label_fec09dec-a9ce-4322-b578-b49052c992d8_ContentBits">
    <vt:lpwstr>0</vt:lpwstr>
  </property>
  <property fmtid="{D5CDD505-2E9C-101B-9397-08002B2CF9AE}" pid="17" name="MSIP_Label_fec09dec-a9ce-4322-b578-b49052c992d8_Tag">
    <vt:lpwstr>10, 3, 0, 1</vt:lpwstr>
  </property>
</Properties>
</file>