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Domain shifts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 NOTE: Megha's live edits applied on Option B (next page); if B is final, delete this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49377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3304" y="493776"/>
            <a:ext cx="12161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713232"/>
            <a:ext cx="3931920" cy="274320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13232"/>
            <a:ext cx="5522976" cy="274320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 and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042415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261872"/>
            <a:ext cx="11210544" cy="2267712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462272"/>
            <a:ext cx="11210544" cy="199339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225296"/>
            <a:ext cx="0" cy="5193792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37160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664208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57200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86460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335024"/>
            <a:ext cx="1591056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the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40817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335024"/>
            <a:ext cx="1591055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40817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03120" y="2066543"/>
            <a:ext cx="2386584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21408" y="213969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9704" y="2066543"/>
            <a:ext cx="1591055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07992" y="213969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98648" y="2798064"/>
            <a:ext cx="1591056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16936" y="287121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798064"/>
            <a:ext cx="1591055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87121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80759" y="2798064"/>
            <a:ext cx="2386584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9047" y="287121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103120" y="3639312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57784" y="345643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1" i="1">
                <a:solidFill>
                  <a:srgbClr val="63666A"/>
                </a:solidFill>
                <a:latin typeface="Arial"/>
              </a:rPr>
              <a:t>Joint workshops (TU + McKinsey)</a:t>
            </a:r>
          </a:p>
        </p:txBody>
      </p:sp>
      <p:sp>
        <p:nvSpPr>
          <p:cNvPr id="56" name="Diamond 55"/>
          <p:cNvSpPr/>
          <p:nvPr/>
        </p:nvSpPr>
        <p:spPr>
          <a:xfrm>
            <a:off x="3593592" y="3538728"/>
            <a:ext cx="201168" cy="201168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7" name="Diamond 56"/>
          <p:cNvSpPr/>
          <p:nvPr/>
        </p:nvSpPr>
        <p:spPr>
          <a:xfrm>
            <a:off x="4786883" y="3538728"/>
            <a:ext cx="201168" cy="201168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8" name="Diamond 57"/>
          <p:cNvSpPr/>
          <p:nvPr/>
        </p:nvSpPr>
        <p:spPr>
          <a:xfrm>
            <a:off x="5980175" y="3538728"/>
            <a:ext cx="201168" cy="201168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Diamond 58"/>
          <p:cNvSpPr/>
          <p:nvPr/>
        </p:nvSpPr>
        <p:spPr>
          <a:xfrm>
            <a:off x="8366760" y="3538728"/>
            <a:ext cx="201168" cy="201168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0" name="Diamond 59"/>
          <p:cNvSpPr/>
          <p:nvPr/>
        </p:nvSpPr>
        <p:spPr>
          <a:xfrm>
            <a:off x="11420856" y="3538728"/>
            <a:ext cx="201168" cy="201168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3803904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18288"/>
          <a:lstStyle/>
          <a:p>
            <a:pPr algn="l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1. Domain clustering + criteria</a:t>
            </a:r>
            <a:r>
              <a:rPr sz="750" b="0" i="0">
                <a:solidFill>
                  <a:srgbClr val="63666A"/>
                </a:solidFill>
                <a:latin typeface="Arial"/>
              </a:rPr>
              <a:t>  (wk 2, with CM1s)</a:t>
            </a:r>
          </a:p>
          <a:p>
            <a:pPr algn="l">
              <a:lnSpc>
                <a:spcPct val="90000"/>
              </a:lnSpc>
              <a:spcBef>
                <a:spcPts val="100"/>
              </a:spcBef>
            </a:pPr>
            <a:r>
              <a:rPr sz="750" b="0" i="0">
                <a:solidFill>
                  <a:srgbClr val="63666A"/>
                </a:solidFill>
                <a:latin typeface="Arial"/>
              </a:rPr>
              <a:t>Land the 10–15 candidate domains; agree criteria and weightings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79776" y="3803904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18288"/>
          <a:lstStyle/>
          <a:p>
            <a:pPr algn="l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2. Platform org series</a:t>
            </a:r>
            <a:r>
              <a:rPr sz="750" b="0" i="0">
                <a:solidFill>
                  <a:srgbClr val="63666A"/>
                </a:solidFill>
                <a:latin typeface="Arial"/>
              </a:rPr>
              <a:t>  (2–3 sessions, wks 3–5)</a:t>
            </a:r>
          </a:p>
          <a:p>
            <a:pPr algn="l">
              <a:lnSpc>
                <a:spcPct val="90000"/>
              </a:lnSpc>
              <a:spcBef>
                <a:spcPts val="100"/>
              </a:spcBef>
            </a:pPr>
            <a:r>
              <a:rPr sz="750" b="0" i="0">
                <a:solidFill>
                  <a:srgbClr val="63666A"/>
                </a:solidFill>
                <a:latin typeface="Arial"/>
              </a:rPr>
              <a:t>Archetypes, choices for TU, what makes sense; target structure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01768" y="3803904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18288"/>
          <a:lstStyle/>
          <a:p>
            <a:pPr algn="l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3. CM1 prioritization</a:t>
            </a:r>
            <a:r>
              <a:rPr sz="750" b="0" i="0">
                <a:solidFill>
                  <a:srgbClr val="63666A"/>
                </a:solidFill>
                <a:latin typeface="Arial"/>
              </a:rPr>
              <a:t>  (wk 5)</a:t>
            </a:r>
          </a:p>
          <a:p>
            <a:pPr algn="l">
              <a:lnSpc>
                <a:spcPct val="90000"/>
              </a:lnSpc>
              <a:spcBef>
                <a:spcPts val="100"/>
              </a:spcBef>
            </a:pPr>
            <a:r>
              <a:rPr sz="750" b="0" i="0">
                <a:solidFill>
                  <a:srgbClr val="63666A"/>
                </a:solidFill>
                <a:latin typeface="Arial"/>
              </a:rPr>
              <a:t>Commit to the 5–6 priority domains; owners and near-term roadmap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23760" y="3803904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18288"/>
          <a:lstStyle/>
          <a:p>
            <a:pPr algn="l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4. Domain shifts review</a:t>
            </a:r>
            <a:r>
              <a:rPr sz="750" b="0" i="0">
                <a:solidFill>
                  <a:srgbClr val="63666A"/>
                </a:solidFill>
                <a:latin typeface="Arial"/>
              </a:rPr>
              <a:t>  (wk 8)</a:t>
            </a:r>
          </a:p>
          <a:p>
            <a:pPr algn="l">
              <a:lnSpc>
                <a:spcPct val="90000"/>
              </a:lnSpc>
              <a:spcBef>
                <a:spcPts val="100"/>
              </a:spcBef>
            </a:pPr>
            <a:r>
              <a:rPr sz="750" b="0" i="0">
                <a:solidFill>
                  <a:srgbClr val="63666A"/>
                </a:solidFill>
                <a:latin typeface="Arial"/>
              </a:rPr>
              <a:t>Workforce and org shifts for domain #1; feed into SWP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45752" y="3803904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18288"/>
          <a:lstStyle/>
          <a:p>
            <a:pPr algn="l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5. Integrated org</a:t>
            </a:r>
            <a:r>
              <a:rPr sz="750" b="0" i="0">
                <a:solidFill>
                  <a:srgbClr val="63666A"/>
                </a:solidFill>
                <a:latin typeface="Arial"/>
              </a:rPr>
              <a:t>  (wk 12)</a:t>
            </a:r>
          </a:p>
          <a:p>
            <a:pPr algn="l">
              <a:lnSpc>
                <a:spcPct val="90000"/>
              </a:lnSpc>
              <a:spcBef>
                <a:spcPts val="100"/>
              </a:spcBef>
            </a:pPr>
            <a:r>
              <a:rPr sz="750" b="0" i="0">
                <a:solidFill>
                  <a:srgbClr val="63666A"/>
                </a:solidFill>
                <a:latin typeface="Arial"/>
              </a:rPr>
              <a:t>Align the blueprint: structure, skills, culture, footprint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535424"/>
            <a:ext cx="3977639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Function-by-function sessions: 3-year plans, automation potential, target job family architecture, roles, size and shape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60857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535424"/>
            <a:ext cx="3182111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99047" y="460857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103120" y="5266944"/>
            <a:ext cx="3977639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Archetype and design decisions via the workshop series (2); target structure, spans and layers (hygiene baseline)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21408" y="534009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671816" y="5266944"/>
            <a:ext cx="318211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690104" y="5340096"/>
            <a:ext cx="45720" cy="54864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7164324" y="3493008"/>
            <a:ext cx="0" cy="987552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5897880" y="4480560"/>
            <a:ext cx="1266444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897880" y="4480560"/>
            <a:ext cx="0" cy="9144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595360" y="301752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061F79"/>
                </a:solidFill>
                <a:latin typeface="Arial"/>
              </a:rPr>
              <a:t>Workforce shifts from the first domain feed strategic workforce planning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103120" y="6035040"/>
            <a:ext cx="9546336" cy="347472"/>
          </a:xfrm>
          <a:prstGeom prst="roundRect">
            <a:avLst>
              <a:gd name="adj" fmla="val 12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Track 2 outcome, end of week 12: the blueprint for the integrated org of the future </a:t>
            </a:r>
            <a:r>
              <a:rPr sz="900" b="0" i="0">
                <a:solidFill>
                  <a:srgbClr val="FFFFFF"/>
                </a:solidFill>
                <a:latin typeface="Arial"/>
              </a:rPr>
              <a:t>(fold in Track 1 domain shifts; converge structure, skills, culture, and footprint into one plan)</a:t>
            </a:r>
          </a:p>
        </p:txBody>
      </p:sp>
      <p:sp>
        <p:nvSpPr>
          <p:cNvPr id="79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WORKSHOPS UPGRADED: format changed to a numbered band; five workshops with detail, incl. the ones Megha called out (domain clustering with CM1s per her email step i, criteria, the 2–3 platform-org series, CM1 prioritization with owners + roadmap, domain shifts review, integrated org). Numbered diamonds on the timeline tie to the cards. Outcome band stays inside Track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