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551383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PER YOUR STEER: T1 steps are white cards again with your descriptors (e.g., baselines = current state incl. process flow, personnel, performance), same framing as the right side, still level with the T2 headers. Skills and Culture collapsed to ONE card each: they are macros with content inside, not columns of sub-workstreams (unlike org hygiene / location, which are true sub-categories of Org design).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" y="1444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1. AI initiative intake + domain clustering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Capture initiatives from every function; cluster into E2E domains where material value is at stake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" y="21305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2. Detailed domain baselines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Current state of each domain including process flow, personnel, performance (e.g., FTE utilization, SLA attainment)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" y="28163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3. Prioritization framework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Criteria and weightings agreed with leadership before any domain is scored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" y="35021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4. Heatmap scorecard + CM1 prioritization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Rank-order the domains on value, readiness, and feasibility; prioritize 5–6 with CM1s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41879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5. Value-backed roadmap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Sequenced path for the priority domains: reimagine, prove, scale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" y="4873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How roles, size, and shape change in the priority domains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95744" y="2048256"/>
            <a:ext cx="214884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Skills for the agentic organization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What TU needs across leaders, builders, and users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Sourcing: build, buy, or borrow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capability building 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3184" y="2048256"/>
            <a:ext cx="2148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Change capacity to sustain progress and productivity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89704" y="5166360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04004" y="3822191"/>
            <a:ext cx="0" cy="1344169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Domain shifts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 NOTE: Megha's live edits applied on Option B (next page); if B is final, delete this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3035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3304" y="530352"/>
            <a:ext cx="12161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749808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749808"/>
            <a:ext cx="5522976" cy="29260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 and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316736"/>
            <a:ext cx="11210544" cy="243230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89120"/>
            <a:ext cx="11210544" cy="2139696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42646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719072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9884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9145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426464"/>
            <a:ext cx="159105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the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499616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426464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499616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03120" y="2194560"/>
            <a:ext cx="23865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21408" y="2267712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89704" y="2194560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07992" y="2267712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98648" y="2962656"/>
            <a:ext cx="159105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16936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962656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80759" y="2962656"/>
            <a:ext cx="23865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9047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103120" y="3840480"/>
            <a:ext cx="9546336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57784" y="3767328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950208"/>
            <a:ext cx="1481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0" i="1">
                <a:solidFill>
                  <a:srgbClr val="63666A"/>
                </a:solidFill>
                <a:latin typeface="Arial"/>
              </a:rPr>
              <a:t>Joint TU + McKinsey team, working function by function</a:t>
            </a:r>
          </a:p>
        </p:txBody>
      </p:sp>
      <p:sp>
        <p:nvSpPr>
          <p:cNvPr id="57" name="Diamond 56"/>
          <p:cNvSpPr/>
          <p:nvPr/>
        </p:nvSpPr>
        <p:spPr>
          <a:xfrm>
            <a:off x="3621024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34640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Criteria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2: align prioritization criteria and weightings</a:t>
            </a:r>
          </a:p>
        </p:txBody>
      </p:sp>
      <p:sp>
        <p:nvSpPr>
          <p:cNvPr id="59" name="Diamond 58"/>
          <p:cNvSpPr/>
          <p:nvPr/>
        </p:nvSpPr>
        <p:spPr>
          <a:xfrm>
            <a:off x="6007607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12080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CM1 prioritization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5: commit to the 5–6 priority domains</a:t>
            </a:r>
          </a:p>
        </p:txBody>
      </p:sp>
      <p:sp>
        <p:nvSpPr>
          <p:cNvPr id="61" name="Diamond 60"/>
          <p:cNvSpPr/>
          <p:nvPr/>
        </p:nvSpPr>
        <p:spPr>
          <a:xfrm>
            <a:off x="8394192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598664" y="3968496"/>
            <a:ext cx="1828800" cy="475488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Domain shifts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8: review workforce and org shifts for priority domain #1</a:t>
            </a:r>
          </a:p>
        </p:txBody>
      </p:sp>
      <p:sp>
        <p:nvSpPr>
          <p:cNvPr id="63" name="Diamond 62"/>
          <p:cNvSpPr/>
          <p:nvPr/>
        </p:nvSpPr>
        <p:spPr>
          <a:xfrm>
            <a:off x="11448288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12096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Integrated org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12: align the integrated org blueprint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03120" y="4498848"/>
            <a:ext cx="39776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Function-by-function sessions: 3-year plans, automation potential, target job family architecture, roles, size and shape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21408" y="4572000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080759" y="4498848"/>
            <a:ext cx="3182111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99047" y="4572000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 in wks 1–5: archetypes, choices, what makes sense for TU; target structure, spans and layers (hygiene baseline)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58384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71816" y="5285232"/>
            <a:ext cx="318211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90104" y="5358384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7269480" y="3675887"/>
            <a:ext cx="0" cy="768097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5897880" y="4443984"/>
            <a:ext cx="13716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897880" y="4443984"/>
            <a:ext cx="0" cy="9144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95360" y="3200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061F79"/>
                </a:solidFill>
                <a:latin typeface="Arial"/>
              </a:rPr>
              <a:t>Workforce shifts from the first domain feed strategic workforce planning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103120" y="6089904"/>
            <a:ext cx="9546336" cy="365760"/>
          </a:xfrm>
          <a:prstGeom prst="roundRect">
            <a:avLst>
              <a:gd name="adj" fmla="val 12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Track 2 outcome, end of week 12: the blueprint for the integrated org of the future </a:t>
            </a:r>
            <a:r>
              <a:rPr sz="900" b="0" i="0">
                <a:solidFill>
                  <a:srgbClr val="FFFFFF"/>
                </a:solidFill>
                <a:latin typeface="Arial"/>
              </a:rPr>
              <a:t>(fold in Track 1 domain shifts; converge structure, skills, culture, and footprint into one plan)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13716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FULL REDO: shifts box moved to T1 bottom row, SWP to T2 top row, short connector between them; workshops now callout cards saying what each is; blueprint = outcome band below the plan (off the timeline); SWP = function-by-function sessions per your Slack; step 1 = enterprise-wide intake; joint-team note added; pilots stay out. Outcome band now sits INSIDE the Track 2 block (lane contains it, labeled 'Track 2 outcome'), not under both tracks. Wk-8 gate corrected: it reviews domain #1 workforce shifts (which end wk 8); the archetype is chosen in the wks 1–5 platform workshops, now pinned in the bar.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