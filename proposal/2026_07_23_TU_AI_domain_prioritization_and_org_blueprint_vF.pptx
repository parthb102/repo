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14"/>
  </p:notesMasterIdLst>
  <p:handoutMasterIdLst>
    <p:handoutMasterId r:id="rId15"/>
  </p:handoutMasterIdLst>
  <p:sldIdLst>
    <p:sldId id="281" r:id="rId6"/>
    <p:sldId id="283" r:id="rId7"/>
    <p:sldId id="3936" r:id="rId8"/>
    <p:sldId id="3934" r:id="rId9"/>
    <p:sldId id="3935" r:id="rId10"/>
    <p:sldId id="261" r:id="rId11"/>
    <p:sldId id="3937" r:id="rId24"/>
    <p:sldId id="265" r:id="rId12"/>
    <p:sldId id="280" r:id="rId13"/>
  </p:sldIdLst>
  <p:sldSz cx="12192000" cy="6858000"/>
  <p:notesSz cx="7102475" cy="9388475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79C3"/>
    <a:srgbClr val="2251FF"/>
    <a:srgbClr val="D0D0D0"/>
    <a:srgbClr val="051C2C"/>
    <a:srgbClr val="000000"/>
    <a:srgbClr val="7F7F7F"/>
    <a:srgbClr val="AFC3FF"/>
    <a:srgbClr val="0D3171"/>
    <a:srgbClr val="E6E6E6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57" autoAdjust="0"/>
  </p:normalViewPr>
  <p:slideViewPr>
    <p:cSldViewPr snapToGrid="0" snapToObjects="1">
      <p:cViewPr>
        <p:scale>
          <a:sx n="64" d="100"/>
          <a:sy n="64" d="100"/>
        </p:scale>
        <p:origin x="712" y="6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tags" Target="tags/tag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8/10/relationships/authors" Target="authors.xml"/><Relationship Id="rId24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th Bahl" userId="48e5a92e-1617-4ce2-9905-5cd7b6f06b36" providerId="ADAL" clId="{5F74A7CC-EE10-4A3B-900B-A893A2B36FDF}"/>
    <pc:docChg chg="modSld">
      <pc:chgData name="Parth Bahl" userId="48e5a92e-1617-4ce2-9905-5cd7b6f06b36" providerId="ADAL" clId="{5F74A7CC-EE10-4A3B-900B-A893A2B36FDF}" dt="2026-07-23T19:57:11.839" v="8" actId="1076"/>
      <pc:docMkLst>
        <pc:docMk/>
      </pc:docMkLst>
      <pc:sldChg chg="modSp mod">
        <pc:chgData name="Parth Bahl" userId="48e5a92e-1617-4ce2-9905-5cd7b6f06b36" providerId="ADAL" clId="{5F74A7CC-EE10-4A3B-900B-A893A2B36FDF}" dt="2026-07-23T19:56:07.373" v="0" actId="1076"/>
        <pc:sldMkLst>
          <pc:docMk/>
          <pc:sldMk cId="2966855924" sldId="283"/>
        </pc:sldMkLst>
        <pc:spChg chg="mod">
          <ac:chgData name="Parth Bahl" userId="48e5a92e-1617-4ce2-9905-5cd7b6f06b36" providerId="ADAL" clId="{5F74A7CC-EE10-4A3B-900B-A893A2B36FDF}" dt="2026-07-23T19:56:07.373" v="0" actId="1076"/>
          <ac:spMkLst>
            <pc:docMk/>
            <pc:sldMk cId="2966855924" sldId="283"/>
            <ac:spMk id="4" creationId="{8166B219-3946-4B47-8326-FA646736D209}"/>
          </ac:spMkLst>
        </pc:spChg>
      </pc:sldChg>
      <pc:sldChg chg="modSp mod">
        <pc:chgData name="Parth Bahl" userId="48e5a92e-1617-4ce2-9905-5cd7b6f06b36" providerId="ADAL" clId="{5F74A7CC-EE10-4A3B-900B-A893A2B36FDF}" dt="2026-07-23T19:57:11.839" v="8" actId="1076"/>
        <pc:sldMkLst>
          <pc:docMk/>
          <pc:sldMk cId="2659384629" sldId="3935"/>
        </pc:sldMkLst>
        <pc:spChg chg="mod">
          <ac:chgData name="Parth Bahl" userId="48e5a92e-1617-4ce2-9905-5cd7b6f06b36" providerId="ADAL" clId="{5F74A7CC-EE10-4A3B-900B-A893A2B36FDF}" dt="2026-07-23T19:57:11.839" v="8" actId="1076"/>
          <ac:spMkLst>
            <pc:docMk/>
            <pc:sldMk cId="2659384629" sldId="3935"/>
            <ac:spMk id="7" creationId="{99C87104-5DB6-FC10-4F31-5CAFADB41645}"/>
          </ac:spMkLst>
        </pc:spChg>
        <pc:spChg chg="mod">
          <ac:chgData name="Parth Bahl" userId="48e5a92e-1617-4ce2-9905-5cd7b6f06b36" providerId="ADAL" clId="{5F74A7CC-EE10-4A3B-900B-A893A2B36FDF}" dt="2026-07-23T19:57:01.693" v="4" actId="1076"/>
          <ac:spMkLst>
            <pc:docMk/>
            <pc:sldMk cId="2659384629" sldId="3935"/>
            <ac:spMk id="8" creationId="{D998B4FB-EB71-E498-3BE1-E710D790D414}"/>
          </ac:spMkLst>
        </pc:spChg>
      </pc:sldChg>
      <pc:sldChg chg="modSp mod">
        <pc:chgData name="Parth Bahl" userId="48e5a92e-1617-4ce2-9905-5cd7b6f06b36" providerId="ADAL" clId="{5F74A7CC-EE10-4A3B-900B-A893A2B36FDF}" dt="2026-07-23T19:56:44.785" v="1" actId="1076"/>
        <pc:sldMkLst>
          <pc:docMk/>
          <pc:sldMk cId="324714189" sldId="3936"/>
        </pc:sldMkLst>
        <pc:spChg chg="mod">
          <ac:chgData name="Parth Bahl" userId="48e5a92e-1617-4ce2-9905-5cd7b6f06b36" providerId="ADAL" clId="{5F74A7CC-EE10-4A3B-900B-A893A2B36FDF}" dt="2026-07-23T19:56:44.785" v="1" actId="1076"/>
          <ac:spMkLst>
            <pc:docMk/>
            <pc:sldMk cId="324714189" sldId="3936"/>
            <ac:spMk id="10" creationId="{E3736570-A7A2-B89F-3149-F5E83EF2BFF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23 July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23 July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06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CF53B-E3C3-335B-E2D7-5C01DA9A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D64EA0-EDF3-981B-721D-EA327CC7F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1936B-F4B7-E5D0-2815-A9D6A196E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88AB-190F-5FF8-2CC0-8AC7B7D71B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F34805-1F01-4BDA-A8CA-FCEA2B4BC8D0}" type="datetime3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July, 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19172-5AC6-BBB5-CC5B-7924998CF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9966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Relationship Id="rId9" Type="http://schemas.openxmlformats.org/officeDocument/2006/relationships/tags" Target="../tags/tag31.xml"/><Relationship Id="rId10" Type="http://schemas.openxmlformats.org/officeDocument/2006/relationships/slideMaster" Target="../slideMasters/slideMaster1.xml"/><Relationship Id="rId11" Type="http://schemas.openxmlformats.org/officeDocument/2006/relationships/image" Target="../media/image3.jpg"/><Relationship Id="rId12" Type="http://schemas.openxmlformats.org/officeDocument/2006/relationships/image" Target="../media/image4.png"/><Relationship Id="rId13" Type="http://schemas.openxmlformats.org/officeDocument/2006/relationships/oleObject" Target="../embeddings/oleObject2.bin"/><Relationship Id="rId14" Type="http://schemas.openxmlformats.org/officeDocument/2006/relationships/image" Target="../media/image5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3.bin"/><Relationship Id="rId10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6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5.bin"/><Relationship Id="rId10" Type="http://schemas.openxmlformats.org/officeDocument/2006/relationships/image" Target="../media/image6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tags" Target="../tags/tag64.xml"/><Relationship Id="rId6" Type="http://schemas.openxmlformats.org/officeDocument/2006/relationships/tags" Target="../tags/tag65.xml"/><Relationship Id="rId7" Type="http://schemas.openxmlformats.org/officeDocument/2006/relationships/tags" Target="../tags/tag66.xml"/><Relationship Id="rId8" Type="http://schemas.openxmlformats.org/officeDocument/2006/relationships/tags" Target="../tags/tag67.xml"/><Relationship Id="rId9" Type="http://schemas.openxmlformats.org/officeDocument/2006/relationships/tags" Target="../tags/tag68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6.bin"/><Relationship Id="rId1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tags" Target="../tags/tag77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7.bin"/><Relationship Id="rId12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tags" Target="../tags/tag80.xml"/><Relationship Id="rId4" Type="http://schemas.openxmlformats.org/officeDocument/2006/relationships/tags" Target="../tags/tag81.xml"/><Relationship Id="rId5" Type="http://schemas.openxmlformats.org/officeDocument/2006/relationships/tags" Target="../tags/tag82.xml"/><Relationship Id="rId6" Type="http://schemas.openxmlformats.org/officeDocument/2006/relationships/tags" Target="../tags/tag83.xml"/><Relationship Id="rId7" Type="http://schemas.openxmlformats.org/officeDocument/2006/relationships/tags" Target="../tags/tag84.xml"/><Relationship Id="rId8" Type="http://schemas.openxmlformats.org/officeDocument/2006/relationships/tags" Target="../tags/tag85.xml"/><Relationship Id="rId9" Type="http://schemas.openxmlformats.org/officeDocument/2006/relationships/tags" Target="../tags/tag86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tags" Target="../tags/tag88.xml"/><Relationship Id="rId3" Type="http://schemas.openxmlformats.org/officeDocument/2006/relationships/tags" Target="../tags/tag89.xml"/><Relationship Id="rId4" Type="http://schemas.openxmlformats.org/officeDocument/2006/relationships/tags" Target="../tags/tag90.xml"/><Relationship Id="rId5" Type="http://schemas.openxmlformats.org/officeDocument/2006/relationships/tags" Target="../tags/tag91.xml"/><Relationship Id="rId6" Type="http://schemas.openxmlformats.org/officeDocument/2006/relationships/tags" Target="../tags/tag92.xml"/><Relationship Id="rId7" Type="http://schemas.openxmlformats.org/officeDocument/2006/relationships/tags" Target="../tags/tag93.xml"/><Relationship Id="rId8" Type="http://schemas.openxmlformats.org/officeDocument/2006/relationships/tags" Target="../tags/tag94.xml"/><Relationship Id="rId9" Type="http://schemas.openxmlformats.org/officeDocument/2006/relationships/tags" Target="../tags/tag95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9.bin"/><Relationship Id="rId12" Type="http://schemas.openxmlformats.org/officeDocument/2006/relationships/image" Target="../media/image7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96.xml"/><Relationship Id="rId2" Type="http://schemas.openxmlformats.org/officeDocument/2006/relationships/tags" Target="../tags/tag97.xml"/><Relationship Id="rId3" Type="http://schemas.openxmlformats.org/officeDocument/2006/relationships/tags" Target="../tags/tag98.xml"/><Relationship Id="rId4" Type="http://schemas.openxmlformats.org/officeDocument/2006/relationships/tags" Target="../tags/tag99.xml"/><Relationship Id="rId5" Type="http://schemas.openxmlformats.org/officeDocument/2006/relationships/tags" Target="../tags/tag100.xml"/><Relationship Id="rId6" Type="http://schemas.openxmlformats.org/officeDocument/2006/relationships/tags" Target="../tags/tag101.xml"/><Relationship Id="rId7" Type="http://schemas.openxmlformats.org/officeDocument/2006/relationships/tags" Target="../tags/tag102.xml"/><Relationship Id="rId8" Type="http://schemas.openxmlformats.org/officeDocument/2006/relationships/tags" Target="../tags/tag103.xml"/><Relationship Id="rId9" Type="http://schemas.openxmlformats.org/officeDocument/2006/relationships/tags" Target="../tags/tag104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14.xml"/><Relationship Id="rId2" Type="http://schemas.openxmlformats.org/officeDocument/2006/relationships/tags" Target="../tags/tag115.xml"/><Relationship Id="rId3" Type="http://schemas.openxmlformats.org/officeDocument/2006/relationships/tags" Target="../tags/tag116.xml"/><Relationship Id="rId4" Type="http://schemas.openxmlformats.org/officeDocument/2006/relationships/tags" Target="../tags/tag11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3.jpg"/><Relationship Id="rId7" Type="http://schemas.openxmlformats.org/officeDocument/2006/relationships/oleObject" Target="../embeddings/oleObject10.bin"/><Relationship Id="rId8" Type="http://schemas.openxmlformats.org/officeDocument/2006/relationships/image" Target="../media/image5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slideMaster" Target="../slideMasters/slideMaster2.xml"/><Relationship Id="rId11" Type="http://schemas.openxmlformats.org/officeDocument/2006/relationships/image" Target="../media/image3.jpg"/><Relationship Id="rId12" Type="http://schemas.openxmlformats.org/officeDocument/2006/relationships/image" Target="../media/image4.png"/><Relationship Id="rId13" Type="http://schemas.openxmlformats.org/officeDocument/2006/relationships/oleObject" Target="../embeddings/oleObject12.bin"/><Relationship Id="rId14" Type="http://schemas.openxmlformats.org/officeDocument/2006/relationships/image" Target="../media/image5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tags" Target="../tags/tag154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3.bin"/><Relationship Id="rId10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55.xml"/><Relationship Id="rId2" Type="http://schemas.openxmlformats.org/officeDocument/2006/relationships/tags" Target="../tags/tag156.xml"/><Relationship Id="rId3" Type="http://schemas.openxmlformats.org/officeDocument/2006/relationships/tags" Target="../tags/tag157.xml"/><Relationship Id="rId4" Type="http://schemas.openxmlformats.org/officeDocument/2006/relationships/tags" Target="../tags/tag158.xml"/><Relationship Id="rId5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59.xml"/><Relationship Id="rId2" Type="http://schemas.openxmlformats.org/officeDocument/2006/relationships/tags" Target="../tags/tag160.xml"/><Relationship Id="rId3" Type="http://schemas.openxmlformats.org/officeDocument/2006/relationships/tags" Target="../tags/tag161.xml"/><Relationship Id="rId4" Type="http://schemas.openxmlformats.org/officeDocument/2006/relationships/tags" Target="../tags/tag162.xml"/><Relationship Id="rId5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63.x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ags" Target="../tags/tag168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14.bin"/><Relationship Id="rId9" Type="http://schemas.openxmlformats.org/officeDocument/2006/relationships/image" Target="../media/image6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169.xml"/><Relationship Id="rId2" Type="http://schemas.openxmlformats.org/officeDocument/2006/relationships/tags" Target="../tags/tag170.xml"/><Relationship Id="rId3" Type="http://schemas.openxmlformats.org/officeDocument/2006/relationships/tags" Target="../tags/tag171.xml"/><Relationship Id="rId4" Type="http://schemas.openxmlformats.org/officeDocument/2006/relationships/tags" Target="../tags/tag172.xml"/><Relationship Id="rId5" Type="http://schemas.openxmlformats.org/officeDocument/2006/relationships/tags" Target="../tags/tag173.xml"/><Relationship Id="rId6" Type="http://schemas.openxmlformats.org/officeDocument/2006/relationships/tags" Target="../tags/tag174.xml"/><Relationship Id="rId7" Type="http://schemas.openxmlformats.org/officeDocument/2006/relationships/tags" Target="../tags/tag175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5.bin"/><Relationship Id="rId10" Type="http://schemas.openxmlformats.org/officeDocument/2006/relationships/image" Target="../media/image6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176.xml"/><Relationship Id="rId2" Type="http://schemas.openxmlformats.org/officeDocument/2006/relationships/tags" Target="../tags/tag177.xml"/><Relationship Id="rId3" Type="http://schemas.openxmlformats.org/officeDocument/2006/relationships/tags" Target="../tags/tag178.xml"/><Relationship Id="rId4" Type="http://schemas.openxmlformats.org/officeDocument/2006/relationships/tags" Target="../tags/tag179.xml"/><Relationship Id="rId5" Type="http://schemas.openxmlformats.org/officeDocument/2006/relationships/tags" Target="../tags/tag180.xml"/><Relationship Id="rId6" Type="http://schemas.openxmlformats.org/officeDocument/2006/relationships/tags" Target="../tags/tag181.xml"/><Relationship Id="rId7" Type="http://schemas.openxmlformats.org/officeDocument/2006/relationships/tags" Target="../tags/tag182.xml"/><Relationship Id="rId8" Type="http://schemas.openxmlformats.org/officeDocument/2006/relationships/tags" Target="../tags/tag183.xml"/><Relationship Id="rId9" Type="http://schemas.openxmlformats.org/officeDocument/2006/relationships/tags" Target="../tags/tag184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7.bin"/><Relationship Id="rId12" Type="http://schemas.openxmlformats.org/officeDocument/2006/relationships/image" Target="../media/image1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tags" Target="../tags/tag201.xml"/><Relationship Id="rId9" Type="http://schemas.openxmlformats.org/officeDocument/2006/relationships/tags" Target="../tags/tag202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8.bin"/><Relationship Id="rId12" Type="http://schemas.openxmlformats.org/officeDocument/2006/relationships/image" Target="../media/image9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03.xml"/><Relationship Id="rId2" Type="http://schemas.openxmlformats.org/officeDocument/2006/relationships/tags" Target="../tags/tag204.xml"/><Relationship Id="rId3" Type="http://schemas.openxmlformats.org/officeDocument/2006/relationships/tags" Target="../tags/tag205.xml"/><Relationship Id="rId4" Type="http://schemas.openxmlformats.org/officeDocument/2006/relationships/tags" Target="../tags/tag206.xml"/><Relationship Id="rId5" Type="http://schemas.openxmlformats.org/officeDocument/2006/relationships/tags" Target="../tags/tag207.xml"/><Relationship Id="rId6" Type="http://schemas.openxmlformats.org/officeDocument/2006/relationships/tags" Target="../tags/tag208.xml"/><Relationship Id="rId7" Type="http://schemas.openxmlformats.org/officeDocument/2006/relationships/tags" Target="../tags/tag209.xml"/><Relationship Id="rId8" Type="http://schemas.openxmlformats.org/officeDocument/2006/relationships/tags" Target="../tags/tag210.xml"/><Relationship Id="rId9" Type="http://schemas.openxmlformats.org/officeDocument/2006/relationships/tags" Target="../tags/tag21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9.bin"/><Relationship Id="rId12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12.xml"/><Relationship Id="rId2" Type="http://schemas.openxmlformats.org/officeDocument/2006/relationships/tags" Target="../tags/tag213.xml"/><Relationship Id="rId3" Type="http://schemas.openxmlformats.org/officeDocument/2006/relationships/tags" Target="../tags/tag214.xml"/><Relationship Id="rId4" Type="http://schemas.openxmlformats.org/officeDocument/2006/relationships/tags" Target="../tags/tag215.xml"/><Relationship Id="rId5" Type="http://schemas.openxmlformats.org/officeDocument/2006/relationships/tags" Target="../tags/tag216.xml"/><Relationship Id="rId6" Type="http://schemas.openxmlformats.org/officeDocument/2006/relationships/tags" Target="../tags/tag217.xml"/><Relationship Id="rId7" Type="http://schemas.openxmlformats.org/officeDocument/2006/relationships/tags" Target="../tags/tag218.xml"/><Relationship Id="rId8" Type="http://schemas.openxmlformats.org/officeDocument/2006/relationships/tags" Target="../tags/tag219.xml"/><Relationship Id="rId9" Type="http://schemas.openxmlformats.org/officeDocument/2006/relationships/tags" Target="../tags/tag220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0.bin"/><Relationship Id="rId12" Type="http://schemas.openxmlformats.org/officeDocument/2006/relationships/image" Target="../media/image9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21.xml"/><Relationship Id="rId2" Type="http://schemas.openxmlformats.org/officeDocument/2006/relationships/tags" Target="../tags/tag222.xml"/><Relationship Id="rId3" Type="http://schemas.openxmlformats.org/officeDocument/2006/relationships/tags" Target="../tags/tag223.xml"/><Relationship Id="rId4" Type="http://schemas.openxmlformats.org/officeDocument/2006/relationships/tags" Target="../tags/tag224.xml"/><Relationship Id="rId5" Type="http://schemas.openxmlformats.org/officeDocument/2006/relationships/tags" Target="../tags/tag225.xml"/><Relationship Id="rId6" Type="http://schemas.openxmlformats.org/officeDocument/2006/relationships/tags" Target="../tags/tag226.xml"/><Relationship Id="rId7" Type="http://schemas.openxmlformats.org/officeDocument/2006/relationships/tags" Target="../tags/tag227.xml"/><Relationship Id="rId8" Type="http://schemas.openxmlformats.org/officeDocument/2006/relationships/tags" Target="../tags/tag228.xml"/><Relationship Id="rId9" Type="http://schemas.openxmlformats.org/officeDocument/2006/relationships/tags" Target="../tags/tag22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1.bin"/><Relationship Id="rId12" Type="http://schemas.openxmlformats.org/officeDocument/2006/relationships/image" Target="../media/image9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30.xml"/><Relationship Id="rId2" Type="http://schemas.openxmlformats.org/officeDocument/2006/relationships/tags" Target="../tags/tag231.xml"/><Relationship Id="rId3" Type="http://schemas.openxmlformats.org/officeDocument/2006/relationships/tags" Target="../tags/tag232.xml"/><Relationship Id="rId4" Type="http://schemas.openxmlformats.org/officeDocument/2006/relationships/tags" Target="../tags/tag233.xml"/><Relationship Id="rId5" Type="http://schemas.openxmlformats.org/officeDocument/2006/relationships/tags" Target="../tags/tag234.xml"/><Relationship Id="rId6" Type="http://schemas.openxmlformats.org/officeDocument/2006/relationships/tags" Target="../tags/tag235.xml"/><Relationship Id="rId7" Type="http://schemas.openxmlformats.org/officeDocument/2006/relationships/tags" Target="../tags/tag236.xml"/><Relationship Id="rId8" Type="http://schemas.openxmlformats.org/officeDocument/2006/relationships/tags" Target="../tags/tag237.xml"/><Relationship Id="rId9" Type="http://schemas.openxmlformats.org/officeDocument/2006/relationships/tags" Target="../tags/tag238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2.bin"/><Relationship Id="rId12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239.xml"/><Relationship Id="rId2" Type="http://schemas.openxmlformats.org/officeDocument/2006/relationships/tags" Target="../tags/tag240.xml"/><Relationship Id="rId3" Type="http://schemas.openxmlformats.org/officeDocument/2006/relationships/tags" Target="../tags/tag241.xml"/><Relationship Id="rId4" Type="http://schemas.openxmlformats.org/officeDocument/2006/relationships/tags" Target="../tags/tag242.xml"/><Relationship Id="rId5" Type="http://schemas.openxmlformats.org/officeDocument/2006/relationships/tags" Target="../tags/tag243.xml"/><Relationship Id="rId6" Type="http://schemas.openxmlformats.org/officeDocument/2006/relationships/tags" Target="../tags/tag244.xml"/><Relationship Id="rId7" Type="http://schemas.openxmlformats.org/officeDocument/2006/relationships/tags" Target="../tags/tag245.xml"/><Relationship Id="rId8" Type="http://schemas.openxmlformats.org/officeDocument/2006/relationships/tags" Target="../tags/tag246.xml"/><Relationship Id="rId9" Type="http://schemas.openxmlformats.org/officeDocument/2006/relationships/tags" Target="../tags/tag247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3.bin"/><Relationship Id="rId12" Type="http://schemas.openxmlformats.org/officeDocument/2006/relationships/image" Target="../media/image1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248.xml"/><Relationship Id="rId2" Type="http://schemas.openxmlformats.org/officeDocument/2006/relationships/tags" Target="../tags/tag249.xml"/><Relationship Id="rId3" Type="http://schemas.openxmlformats.org/officeDocument/2006/relationships/tags" Target="../tags/tag250.xml"/><Relationship Id="rId4" Type="http://schemas.openxmlformats.org/officeDocument/2006/relationships/tags" Target="../tags/tag251.xml"/><Relationship Id="rId5" Type="http://schemas.openxmlformats.org/officeDocument/2006/relationships/tags" Target="../tags/tag252.xml"/><Relationship Id="rId6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slideMaster" Target="../slideMasters/slideMaster2.xml"/><Relationship Id="rId6" Type="http://schemas.openxmlformats.org/officeDocument/2006/relationships/image" Target="../media/image3.jpg"/><Relationship Id="rId7" Type="http://schemas.openxmlformats.org/officeDocument/2006/relationships/oleObject" Target="../embeddings/oleObject24.bin"/><Relationship Id="rId8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artnership">
            <a:extLst>
              <a:ext uri="{FF2B5EF4-FFF2-40B4-BE49-F238E27FC236}">
                <a16:creationId xmlns:a16="http://schemas.microsoft.com/office/drawing/2014/main" id="{52B89695-D141-85AB-BEF2-DAF58FD754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238171" y="-8806"/>
            <a:ext cx="7953829" cy="6866806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CBBFD578-F950-EA3D-3920-76D96A09AA5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238171" y="-8806"/>
            <a:ext cx="7953829" cy="6866806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tags" Target="../tags/tag2.xml"/><Relationship Id="rId17" Type="http://schemas.openxmlformats.org/officeDocument/2006/relationships/tags" Target="../tags/tag3.xml"/><Relationship Id="rId18" Type="http://schemas.openxmlformats.org/officeDocument/2006/relationships/tags" Target="../tags/tag4.xml"/><Relationship Id="rId19" Type="http://schemas.openxmlformats.org/officeDocument/2006/relationships/tags" Target="../tags/tag5.xml"/><Relationship Id="rId20" Type="http://schemas.openxmlformats.org/officeDocument/2006/relationships/tags" Target="../tags/tag6.xml"/><Relationship Id="rId21" Type="http://schemas.openxmlformats.org/officeDocument/2006/relationships/tags" Target="../tags/tag7.xml"/><Relationship Id="rId22" Type="http://schemas.openxmlformats.org/officeDocument/2006/relationships/tags" Target="../tags/tag8.xml"/><Relationship Id="rId23" Type="http://schemas.openxmlformats.org/officeDocument/2006/relationships/tags" Target="../tags/tag9.xml"/><Relationship Id="rId24" Type="http://schemas.openxmlformats.org/officeDocument/2006/relationships/tags" Target="../tags/tag10.xml"/><Relationship Id="rId25" Type="http://schemas.openxmlformats.org/officeDocument/2006/relationships/tags" Target="../tags/tag11.xml"/><Relationship Id="rId26" Type="http://schemas.openxmlformats.org/officeDocument/2006/relationships/tags" Target="../tags/tag12.xml"/><Relationship Id="rId27" Type="http://schemas.openxmlformats.org/officeDocument/2006/relationships/tags" Target="../tags/tag13.xml"/><Relationship Id="rId28" Type="http://schemas.openxmlformats.org/officeDocument/2006/relationships/tags" Target="../tags/tag14.xml"/><Relationship Id="rId29" Type="http://schemas.openxmlformats.org/officeDocument/2006/relationships/tags" Target="../tags/tag15.xml"/><Relationship Id="rId30" Type="http://schemas.openxmlformats.org/officeDocument/2006/relationships/tags" Target="../tags/tag16.xml"/><Relationship Id="rId31" Type="http://schemas.openxmlformats.org/officeDocument/2006/relationships/tags" Target="../tags/tag17.xml"/><Relationship Id="rId32" Type="http://schemas.openxmlformats.org/officeDocument/2006/relationships/tags" Target="../tags/tag18.xml"/><Relationship Id="rId33" Type="http://schemas.openxmlformats.org/officeDocument/2006/relationships/tags" Target="../tags/tag19.xml"/><Relationship Id="rId34" Type="http://schemas.openxmlformats.org/officeDocument/2006/relationships/tags" Target="../tags/tag20.xml"/><Relationship Id="rId35" Type="http://schemas.openxmlformats.org/officeDocument/2006/relationships/tags" Target="../tags/tag21.xml"/><Relationship Id="rId36" Type="http://schemas.openxmlformats.org/officeDocument/2006/relationships/tags" Target="../tags/tag22.xml"/><Relationship Id="rId37" Type="http://schemas.openxmlformats.org/officeDocument/2006/relationships/oleObject" Target="../embeddings/oleObject1.bin"/><Relationship Id="rId38" Type="http://schemas.openxmlformats.org/officeDocument/2006/relationships/image" Target="../media/image1.emf"/><Relationship Id="rId39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theme" Target="../theme/theme2.xml"/><Relationship Id="rId19" Type="http://schemas.openxmlformats.org/officeDocument/2006/relationships/tags" Target="../tags/tag118.xml"/><Relationship Id="rId20" Type="http://schemas.openxmlformats.org/officeDocument/2006/relationships/tags" Target="../tags/tag119.xml"/><Relationship Id="rId21" Type="http://schemas.openxmlformats.org/officeDocument/2006/relationships/tags" Target="../tags/tag120.xml"/><Relationship Id="rId22" Type="http://schemas.openxmlformats.org/officeDocument/2006/relationships/tags" Target="../tags/tag121.xml"/><Relationship Id="rId23" Type="http://schemas.openxmlformats.org/officeDocument/2006/relationships/tags" Target="../tags/tag122.xml"/><Relationship Id="rId24" Type="http://schemas.openxmlformats.org/officeDocument/2006/relationships/tags" Target="../tags/tag123.xml"/><Relationship Id="rId25" Type="http://schemas.openxmlformats.org/officeDocument/2006/relationships/tags" Target="../tags/tag124.xml"/><Relationship Id="rId26" Type="http://schemas.openxmlformats.org/officeDocument/2006/relationships/tags" Target="../tags/tag125.xml"/><Relationship Id="rId27" Type="http://schemas.openxmlformats.org/officeDocument/2006/relationships/tags" Target="../tags/tag126.xml"/><Relationship Id="rId28" Type="http://schemas.openxmlformats.org/officeDocument/2006/relationships/tags" Target="../tags/tag127.xml"/><Relationship Id="rId29" Type="http://schemas.openxmlformats.org/officeDocument/2006/relationships/tags" Target="../tags/tag128.xml"/><Relationship Id="rId30" Type="http://schemas.openxmlformats.org/officeDocument/2006/relationships/tags" Target="../tags/tag129.xml"/><Relationship Id="rId31" Type="http://schemas.openxmlformats.org/officeDocument/2006/relationships/tags" Target="../tags/tag130.xml"/><Relationship Id="rId32" Type="http://schemas.openxmlformats.org/officeDocument/2006/relationships/tags" Target="../tags/tag131.xml"/><Relationship Id="rId33" Type="http://schemas.openxmlformats.org/officeDocument/2006/relationships/tags" Target="../tags/tag132.xml"/><Relationship Id="rId34" Type="http://schemas.openxmlformats.org/officeDocument/2006/relationships/tags" Target="../tags/tag133.xml"/><Relationship Id="rId35" Type="http://schemas.openxmlformats.org/officeDocument/2006/relationships/tags" Target="../tags/tag134.xml"/><Relationship Id="rId36" Type="http://schemas.openxmlformats.org/officeDocument/2006/relationships/tags" Target="../tags/tag135.xml"/><Relationship Id="rId37" Type="http://schemas.openxmlformats.org/officeDocument/2006/relationships/tags" Target="../tags/tag136.xml"/><Relationship Id="rId38" Type="http://schemas.openxmlformats.org/officeDocument/2006/relationships/tags" Target="../tags/tag137.xml"/><Relationship Id="rId39" Type="http://schemas.openxmlformats.org/officeDocument/2006/relationships/tags" Target="../tags/tag138.xml"/><Relationship Id="rId40" Type="http://schemas.openxmlformats.org/officeDocument/2006/relationships/oleObject" Target="../embeddings/oleObject11.bin"/><Relationship Id="rId41" Type="http://schemas.openxmlformats.org/officeDocument/2006/relationships/image" Target="../media/image5.emf"/><Relationship Id="rId42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61.xml"/><Relationship Id="rId2" Type="http://schemas.openxmlformats.org/officeDocument/2006/relationships/tags" Target="../tags/tag262.xml"/><Relationship Id="rId3" Type="http://schemas.openxmlformats.org/officeDocument/2006/relationships/tags" Target="../tags/tag263.xml"/><Relationship Id="rId4" Type="http://schemas.openxmlformats.org/officeDocument/2006/relationships/tags" Target="../tags/tag264.xml"/><Relationship Id="rId5" Type="http://schemas.openxmlformats.org/officeDocument/2006/relationships/tags" Target="../tags/tag26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Relationship Id="rId8" Type="http://schemas.openxmlformats.org/officeDocument/2006/relationships/oleObject" Target="../embeddings/oleObject25.bin"/><Relationship Id="rId9" Type="http://schemas.openxmlformats.org/officeDocument/2006/relationships/image" Target="../media/image7.emf"/><Relationship Id="rId10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66.xml"/><Relationship Id="rId2" Type="http://schemas.openxmlformats.org/officeDocument/2006/relationships/tags" Target="../tags/tag267.xml"/><Relationship Id="rId3" Type="http://schemas.openxmlformats.org/officeDocument/2006/relationships/tags" Target="../tags/tag268.xml"/><Relationship Id="rId4" Type="http://schemas.openxmlformats.org/officeDocument/2006/relationships/tags" Target="../tags/tag269.xml"/><Relationship Id="rId5" Type="http://schemas.openxmlformats.org/officeDocument/2006/relationships/tags" Target="../tags/tag270.xml"/><Relationship Id="rId6" Type="http://schemas.openxmlformats.org/officeDocument/2006/relationships/tags" Target="../tags/tag271.xml"/><Relationship Id="rId7" Type="http://schemas.openxmlformats.org/officeDocument/2006/relationships/tags" Target="../tags/tag272.xml"/><Relationship Id="rId8" Type="http://schemas.openxmlformats.org/officeDocument/2006/relationships/slideLayout" Target="../slideLayouts/slideLayout2.xml"/><Relationship Id="rId9" Type="http://schemas.openxmlformats.org/officeDocument/2006/relationships/oleObject" Target="../embeddings/oleObject26.bin"/><Relationship Id="rId10" Type="http://schemas.openxmlformats.org/officeDocument/2006/relationships/image" Target="../media/image11.emf"/><Relationship Id="rId11" Type="http://schemas.openxmlformats.org/officeDocument/2006/relationships/image" Target="../media/image12.svg"/><Relationship Id="rId12" Type="http://schemas.openxmlformats.org/officeDocument/2006/relationships/image" Target="../media/image13.svg"/><Relationship Id="rId13" Type="http://schemas.openxmlformats.org/officeDocument/2006/relationships/image" Target="../media/image14.svg"/><Relationship Id="rId14" Type="http://schemas.openxmlformats.org/officeDocument/2006/relationships/image" Target="../media/image15.svg"/><Relationship Id="rId15" Type="http://schemas.openxmlformats.org/officeDocument/2006/relationships/image" Target="../media/image1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73.xml"/><Relationship Id="rId2" Type="http://schemas.openxmlformats.org/officeDocument/2006/relationships/tags" Target="../tags/tag274.xml"/><Relationship Id="rId3" Type="http://schemas.openxmlformats.org/officeDocument/2006/relationships/tags" Target="../tags/tag275.xml"/><Relationship Id="rId4" Type="http://schemas.openxmlformats.org/officeDocument/2006/relationships/tags" Target="../tags/tag276.xml"/><Relationship Id="rId5" Type="http://schemas.openxmlformats.org/officeDocument/2006/relationships/tags" Target="../tags/tag277.xml"/><Relationship Id="rId6" Type="http://schemas.openxmlformats.org/officeDocument/2006/relationships/tags" Target="../tags/tag278.xml"/><Relationship Id="rId7" Type="http://schemas.openxmlformats.org/officeDocument/2006/relationships/tags" Target="../tags/tag279.xml"/><Relationship Id="rId8" Type="http://schemas.openxmlformats.org/officeDocument/2006/relationships/tags" Target="../tags/tag280.xml"/><Relationship Id="rId9" Type="http://schemas.openxmlformats.org/officeDocument/2006/relationships/tags" Target="../tags/tag281.xml"/><Relationship Id="rId10" Type="http://schemas.openxmlformats.org/officeDocument/2006/relationships/tags" Target="../tags/tag282.xml"/><Relationship Id="rId11" Type="http://schemas.openxmlformats.org/officeDocument/2006/relationships/tags" Target="../tags/tag283.xml"/><Relationship Id="rId12" Type="http://schemas.openxmlformats.org/officeDocument/2006/relationships/tags" Target="../tags/tag284.xml"/><Relationship Id="rId13" Type="http://schemas.openxmlformats.org/officeDocument/2006/relationships/tags" Target="../tags/tag285.xml"/><Relationship Id="rId14" Type="http://schemas.openxmlformats.org/officeDocument/2006/relationships/tags" Target="../tags/tag286.xml"/><Relationship Id="rId15" Type="http://schemas.openxmlformats.org/officeDocument/2006/relationships/tags" Target="../tags/tag287.xml"/><Relationship Id="rId16" Type="http://schemas.openxmlformats.org/officeDocument/2006/relationships/tags" Target="../tags/tag288.xml"/><Relationship Id="rId17" Type="http://schemas.openxmlformats.org/officeDocument/2006/relationships/tags" Target="../tags/tag289.xml"/><Relationship Id="rId18" Type="http://schemas.openxmlformats.org/officeDocument/2006/relationships/tags" Target="../tags/tag290.xml"/><Relationship Id="rId19" Type="http://schemas.openxmlformats.org/officeDocument/2006/relationships/slideLayout" Target="../slideLayouts/slideLayout2.xml"/><Relationship Id="rId20" Type="http://schemas.openxmlformats.org/officeDocument/2006/relationships/oleObject" Target="../embeddings/oleObject27.bin"/><Relationship Id="rId21" Type="http://schemas.openxmlformats.org/officeDocument/2006/relationships/image" Target="../media/image11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91.xml"/><Relationship Id="rId2" Type="http://schemas.openxmlformats.org/officeDocument/2006/relationships/tags" Target="../tags/tag292.xml"/><Relationship Id="rId3" Type="http://schemas.openxmlformats.org/officeDocument/2006/relationships/tags" Target="../tags/tag293.xml"/><Relationship Id="rId4" Type="http://schemas.openxmlformats.org/officeDocument/2006/relationships/tags" Target="../tags/tag294.xml"/><Relationship Id="rId5" Type="http://schemas.openxmlformats.org/officeDocument/2006/relationships/tags" Target="../tags/tag295.xml"/><Relationship Id="rId6" Type="http://schemas.openxmlformats.org/officeDocument/2006/relationships/tags" Target="../tags/tag296.xml"/><Relationship Id="rId7" Type="http://schemas.openxmlformats.org/officeDocument/2006/relationships/slideLayout" Target="../slideLayouts/slideLayout8.xml"/><Relationship Id="rId8" Type="http://schemas.openxmlformats.org/officeDocument/2006/relationships/oleObject" Target="../embeddings/oleObject28.bin"/><Relationship Id="rId9" Type="http://schemas.openxmlformats.org/officeDocument/2006/relationships/image" Target="../media/image9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97.xml"/><Relationship Id="rId2" Type="http://schemas.openxmlformats.org/officeDocument/2006/relationships/tags" Target="../tags/tag298.xml"/><Relationship Id="rId3" Type="http://schemas.openxmlformats.org/officeDocument/2006/relationships/tags" Target="../tags/tag299.xml"/><Relationship Id="rId4" Type="http://schemas.openxmlformats.org/officeDocument/2006/relationships/tags" Target="../tags/tag300.xml"/><Relationship Id="rId5" Type="http://schemas.openxmlformats.org/officeDocument/2006/relationships/tags" Target="../tags/tag301.xml"/><Relationship Id="rId6" Type="http://schemas.openxmlformats.org/officeDocument/2006/relationships/tags" Target="../tags/tag302.xml"/><Relationship Id="rId7" Type="http://schemas.openxmlformats.org/officeDocument/2006/relationships/tags" Target="../tags/tag303.xml"/><Relationship Id="rId8" Type="http://schemas.openxmlformats.org/officeDocument/2006/relationships/tags" Target="../tags/tag304.xml"/><Relationship Id="rId9" Type="http://schemas.openxmlformats.org/officeDocument/2006/relationships/tags" Target="../tags/tag305.xml"/><Relationship Id="rId10" Type="http://schemas.openxmlformats.org/officeDocument/2006/relationships/tags" Target="../tags/tag306.xml"/><Relationship Id="rId11" Type="http://schemas.openxmlformats.org/officeDocument/2006/relationships/tags" Target="../tags/tag307.xml"/><Relationship Id="rId12" Type="http://schemas.openxmlformats.org/officeDocument/2006/relationships/tags" Target="../tags/tag308.xml"/><Relationship Id="rId13" Type="http://schemas.openxmlformats.org/officeDocument/2006/relationships/tags" Target="../tags/tag309.xml"/><Relationship Id="rId14" Type="http://schemas.openxmlformats.org/officeDocument/2006/relationships/tags" Target="../tags/tag310.xml"/><Relationship Id="rId15" Type="http://schemas.openxmlformats.org/officeDocument/2006/relationships/tags" Target="../tags/tag311.xml"/><Relationship Id="rId16" Type="http://schemas.openxmlformats.org/officeDocument/2006/relationships/tags" Target="../tags/tag312.xml"/><Relationship Id="rId17" Type="http://schemas.openxmlformats.org/officeDocument/2006/relationships/slideLayout" Target="../slideLayouts/slideLayout2.xml"/><Relationship Id="rId18" Type="http://schemas.openxmlformats.org/officeDocument/2006/relationships/oleObject" Target="../embeddings/oleObject29.bin"/><Relationship Id="rId19" Type="http://schemas.openxmlformats.org/officeDocument/2006/relationships/image" Target="../media/image9.emf"/><Relationship Id="rId20" Type="http://schemas.openxmlformats.org/officeDocument/2006/relationships/image" Target="../media/image13.svg"/><Relationship Id="rId21" Type="http://schemas.openxmlformats.org/officeDocument/2006/relationships/image" Target="../media/image17.svg"/><Relationship Id="rId22" Type="http://schemas.openxmlformats.org/officeDocument/2006/relationships/image" Target="../media/image18.svg"/><Relationship Id="rId23" Type="http://schemas.openxmlformats.org/officeDocument/2006/relationships/image" Target="../media/image19.svg"/><Relationship Id="rId24" Type="http://schemas.openxmlformats.org/officeDocument/2006/relationships/image" Target="../media/image2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tags" Target="../tags/tag314.xml"/><Relationship Id="rId3" Type="http://schemas.openxmlformats.org/officeDocument/2006/relationships/tags" Target="../tags/tag315.xml"/><Relationship Id="rId4" Type="http://schemas.openxmlformats.org/officeDocument/2006/relationships/tags" Target="../tags/tag316.xml"/><Relationship Id="rId5" Type="http://schemas.openxmlformats.org/officeDocument/2006/relationships/tags" Target="../tags/tag317.xml"/><Relationship Id="rId6" Type="http://schemas.openxmlformats.org/officeDocument/2006/relationships/slideLayout" Target="../slideLayouts/slideLayout2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1.emf"/><Relationship Id="rId9" Type="http://schemas.openxmlformats.org/officeDocument/2006/relationships/image" Target="../media/image21.svg"/><Relationship Id="rId10" Type="http://schemas.openxmlformats.org/officeDocument/2006/relationships/image" Target="../media/image22.svg"/><Relationship Id="rId11" Type="http://schemas.openxmlformats.org/officeDocument/2006/relationships/image" Target="../media/image2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318.xml"/><Relationship Id="rId2" Type="http://schemas.openxmlformats.org/officeDocument/2006/relationships/tags" Target="../tags/tag319.xml"/><Relationship Id="rId3" Type="http://schemas.openxmlformats.org/officeDocument/2006/relationships/tags" Target="../tags/tag320.xml"/><Relationship Id="rId4" Type="http://schemas.openxmlformats.org/officeDocument/2006/relationships/tags" Target="../tags/tag321.xml"/><Relationship Id="rId5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7" Type="http://schemas.openxmlformats.org/officeDocument/2006/relationships/image" Target="../media/image24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322.xml"/><Relationship Id="rId2" Type="http://schemas.openxmlformats.org/officeDocument/2006/relationships/tags" Target="../tags/tag323.xml"/><Relationship Id="rId3" Type="http://schemas.openxmlformats.org/officeDocument/2006/relationships/tags" Target="../tags/tag324.xml"/><Relationship Id="rId4" Type="http://schemas.openxmlformats.org/officeDocument/2006/relationships/tags" Target="../tags/tag325.xml"/><Relationship Id="rId5" Type="http://schemas.openxmlformats.org/officeDocument/2006/relationships/tags" Target="../tags/tag326.xml"/><Relationship Id="rId6" Type="http://schemas.openxmlformats.org/officeDocument/2006/relationships/tags" Target="../tags/tag327.xml"/><Relationship Id="rId7" Type="http://schemas.openxmlformats.org/officeDocument/2006/relationships/tags" Target="../tags/tag328.xml"/><Relationship Id="rId8" Type="http://schemas.openxmlformats.org/officeDocument/2006/relationships/tags" Target="../tags/tag329.xml"/><Relationship Id="rId9" Type="http://schemas.openxmlformats.org/officeDocument/2006/relationships/tags" Target="../tags/tag330.xml"/><Relationship Id="rId10" Type="http://schemas.openxmlformats.org/officeDocument/2006/relationships/tags" Target="../tags/tag331.xml"/><Relationship Id="rId11" Type="http://schemas.openxmlformats.org/officeDocument/2006/relationships/tags" Target="../tags/tag332.xml"/><Relationship Id="rId12" Type="http://schemas.openxmlformats.org/officeDocument/2006/relationships/tags" Target="../tags/tag333.xml"/><Relationship Id="rId13" Type="http://schemas.openxmlformats.org/officeDocument/2006/relationships/tags" Target="../tags/tag334.xml"/><Relationship Id="rId14" Type="http://schemas.openxmlformats.org/officeDocument/2006/relationships/tags" Target="../tags/tag335.xml"/><Relationship Id="rId15" Type="http://schemas.openxmlformats.org/officeDocument/2006/relationships/tags" Target="../tags/tag336.xml"/><Relationship Id="rId16" Type="http://schemas.openxmlformats.org/officeDocument/2006/relationships/tags" Target="../tags/tag337.xml"/><Relationship Id="rId17" Type="http://schemas.openxmlformats.org/officeDocument/2006/relationships/tags" Target="../tags/tag338.xml"/><Relationship Id="rId18" Type="http://schemas.openxmlformats.org/officeDocument/2006/relationships/tags" Target="../tags/tag339.xml"/><Relationship Id="rId19" Type="http://schemas.openxmlformats.org/officeDocument/2006/relationships/tags" Target="../tags/tag340.xml"/><Relationship Id="rId20" Type="http://schemas.openxmlformats.org/officeDocument/2006/relationships/tags" Target="../tags/tag341.xml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2.xml"/><Relationship Id="rId23" Type="http://schemas.openxmlformats.org/officeDocument/2006/relationships/oleObject" Target="../embeddings/oleObject32.bin"/><Relationship Id="rId24" Type="http://schemas.openxmlformats.org/officeDocument/2006/relationships/image" Target="../media/image6.emf"/><Relationship Id="rId25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FC82A3A-0A2D-4C91-9164-E53833C359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40798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72" imgH="588" progId="TCLayout.ActiveDocument.1">
                  <p:embed/>
                </p:oleObj>
              </mc:Choice>
              <mc:Fallback>
                <p:oleObj name="think-cell Slide" r:id="rId8" imgW="572" imgH="588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FC82A3A-0A2D-4C91-9164-E53833C359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ckground" hidden="1">
            <a:extLst>
              <a:ext uri="{FF2B5EF4-FFF2-40B4-BE49-F238E27FC236}">
                <a16:creationId xmlns:a16="http://schemas.microsoft.com/office/drawing/2014/main" id="{108DE052-9238-470A-B7A3-D8EB461E3CE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4400" b="1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4" name="Documenttype">
            <a:extLst>
              <a:ext uri="{FF2B5EF4-FFF2-40B4-BE49-F238E27FC236}">
                <a16:creationId xmlns:a16="http://schemas.microsoft.com/office/drawing/2014/main" id="{7835DA42-CBF3-4299-9CD7-2662B8C52E8E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July 22, 2026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07EE703-C870-469C-8AF6-3299EC835F50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Discussion document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A5D4630-F7DD-45DE-8B28-13C4C3DDAD21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>
            <a:normAutofit/>
          </a:bodyPr>
          <a:lstStyle/>
          <a:p>
            <a:r>
              <a:rPr lang="en-US" dirty="0"/>
              <a:t>AI domain prioritization and org blueprint </a:t>
            </a: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8D51E193-B1E8-2A25-BE1D-03596C9C8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42" y="4895850"/>
            <a:ext cx="1862908" cy="493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viewSticky"/>
          <p:cNvSpPr/>
          <p:nvPr/>
        </p:nvSpPr>
        <p:spPr>
          <a:xfrm>
            <a:off x="10561320" y="36576"/>
            <a:ext cx="1600200" cy="27432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800">
                <a:solidFill>
                  <a:srgbClr val="000000"/>
                </a:solidFill>
                <a:latin typeface="Arial"/>
              </a:rPr>
              <a:t>No changes this turn</a:t>
            </a:r>
          </a:p>
        </p:txBody>
      </p:sp>
    </p:spTree>
    <p:extLst>
      <p:ext uri="{BB962C8B-B14F-4D97-AF65-F5344CB8AC3E}">
        <p14:creationId xmlns:p14="http://schemas.microsoft.com/office/powerpoint/2010/main" val="3015190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28F5-1095-0135-8943-AE2E69111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Object 2" hidden="1">
            <a:extLst>
              <a:ext uri="{FF2B5EF4-FFF2-40B4-BE49-F238E27FC236}">
                <a16:creationId xmlns:a16="http://schemas.microsoft.com/office/drawing/2014/main" id="{015E0E99-84EE-5540-B7A6-C42D47C89E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36326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28" imgH="428" progId="TCLayout.ActiveDocument.1">
                  <p:embed/>
                </p:oleObj>
              </mc:Choice>
              <mc:Fallback>
                <p:oleObj name="think-cell Slide" r:id="rId9" imgW="428" imgH="428" progId="TCLayout.ActiveDocument.1">
                  <p:embed/>
                  <p:pic>
                    <p:nvPicPr>
                      <p:cNvPr id="31" name="Object 2" hidden="1">
                        <a:extLst>
                          <a:ext uri="{FF2B5EF4-FFF2-40B4-BE49-F238E27FC236}">
                            <a16:creationId xmlns:a16="http://schemas.microsoft.com/office/drawing/2014/main" id="{015E0E99-84EE-5540-B7A6-C42D47C89E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04941565-BFF6-527C-DB0D-6F65E38AE70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en-US" dirty="0"/>
              <a:t>TU is at an inflection point to identify </a:t>
            </a:r>
            <a:r>
              <a:rPr lang="en-US" dirty="0">
                <a:solidFill>
                  <a:srgbClr val="000000"/>
                </a:solidFill>
              </a:rPr>
              <a:t>and focus where AI creates value and build the organization to deliver it</a:t>
            </a:r>
            <a:endParaRPr b="1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F8C83-C6EA-1407-195E-64F51419E49B}"/>
              </a:ext>
            </a:extLst>
          </p:cNvPr>
          <p:cNvSpPr txBox="1">
            <a:spLocks/>
          </p:cNvSpPr>
          <p:nvPr/>
        </p:nvSpPr>
        <p:spPr>
          <a:xfrm>
            <a:off x="557784" y="1093088"/>
            <a:ext cx="11082528" cy="5120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1600" dirty="0">
                <a:solidFill>
                  <a:srgbClr val="000000"/>
                </a:solidFill>
              </a:rPr>
              <a:t>TU has evolved from a credit bureau, to a product company, and now to a </a:t>
            </a:r>
            <a:r>
              <a:rPr lang="en-US" sz="1600" b="1" dirty="0">
                <a:solidFill>
                  <a:srgbClr val="000000"/>
                </a:solidFill>
              </a:rPr>
              <a:t>platform organization with “thin products on thick platforms“. It has also embarked on its AI journey</a:t>
            </a:r>
            <a:r>
              <a:rPr lang="en-US" sz="1600" dirty="0">
                <a:solidFill>
                  <a:srgbClr val="000000"/>
                </a:solidFill>
              </a:rPr>
              <a:t>, albeit still early in pockets. Two </a:t>
            </a:r>
            <a:r>
              <a:rPr lang="en-US" sz="1600" dirty="0"/>
              <a:t>tracks</a:t>
            </a:r>
            <a:r>
              <a:rPr lang="en-US" sz="1600" dirty="0">
                <a:solidFill>
                  <a:srgbClr val="E33B3B"/>
                </a:solidFill>
              </a:rPr>
              <a:t> </a:t>
            </a:r>
            <a:r>
              <a:rPr lang="en-US" sz="1600" dirty="0">
                <a:solidFill>
                  <a:srgbClr val="000000"/>
                </a:solidFill>
              </a:rPr>
              <a:t>follow from here: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0E5D85-AEDE-FFFF-D5D9-DA30DB421FBB}"/>
              </a:ext>
            </a:extLst>
          </p:cNvPr>
          <p:cNvSpPr txBox="1"/>
          <p:nvPr/>
        </p:nvSpPr>
        <p:spPr>
          <a:xfrm>
            <a:off x="612957" y="6332543"/>
            <a:ext cx="11082528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63666A"/>
                </a:solidFill>
                <a:latin typeface="Arial"/>
              </a:rPr>
              <a:t>1. </a:t>
            </a:r>
            <a:r>
              <a:rPr lang="en-US" sz="850" b="0" i="0" dirty="0">
                <a:solidFill>
                  <a:srgbClr val="63666A"/>
                </a:solidFill>
                <a:latin typeface="Arial"/>
              </a:rPr>
              <a:t>A domain is one unit of transformation (an end-to-end journey, workflow, or function reimagined as a whole, not use case by use case) that (i) holds a meaningful value pool, with material upside in revenue, cost, risk, or customer experience, and (ii) is big enough to matter and specific enough to own, with one accountable owner, a measurable baseline, and a sequenced roadmap.</a:t>
            </a:r>
            <a:endParaRPr sz="850" b="0" i="0" dirty="0">
              <a:solidFill>
                <a:srgbClr val="63666A"/>
              </a:solidFill>
              <a:latin typeface="Arial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BD6BC06-DC88-41F1-910B-B848E5DD50F4}"/>
              </a:ext>
            </a:extLst>
          </p:cNvPr>
          <p:cNvSpPr txBox="1"/>
          <p:nvPr/>
        </p:nvSpPr>
        <p:spPr>
          <a:xfrm>
            <a:off x="832104" y="1880921"/>
            <a:ext cx="11082528" cy="142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000000"/>
                </a:solidFill>
              </a:rPr>
              <a:t>Top-down identification and prioritization of key domains</a:t>
            </a:r>
            <a:r>
              <a:rPr lang="en-US" sz="1600" b="1" baseline="30000" dirty="0">
                <a:solidFill>
                  <a:srgbClr val="000000"/>
                </a:solidFill>
              </a:rPr>
              <a:t>1</a:t>
            </a:r>
            <a:r>
              <a:rPr lang="en-US" sz="1600" b="1" dirty="0">
                <a:solidFill>
                  <a:srgbClr val="000000"/>
                </a:solidFill>
              </a:rPr>
              <a:t> for AI-led reimagination</a:t>
            </a:r>
            <a:r>
              <a:rPr lang="en-US" sz="1600" dirty="0">
                <a:solidFill>
                  <a:srgbClr val="000000"/>
                </a:solidFill>
              </a:rPr>
              <a:t> that typically hold 40–50% of the enterprise value at stake. TU leadership has begun an inventory of AI initiatives; the next step is to cluster them into E2E domains and to assess, size, and prioritize where to focus</a:t>
            </a:r>
          </a:p>
          <a:p>
            <a:pPr marL="342900" indent="-342900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000000"/>
                </a:solidFill>
              </a:rPr>
              <a:t>Designing the organization of the future </a:t>
            </a:r>
            <a:r>
              <a:rPr lang="en-US" sz="1600" dirty="0">
                <a:solidFill>
                  <a:srgbClr val="000000"/>
                </a:solidFill>
              </a:rPr>
              <a:t>to solidify the new ways of working and keep pace with what it is becoming, a global-platforms company.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8CF6BE3-29A2-26B3-4313-66C66D94BB94}"/>
              </a:ext>
            </a:extLst>
          </p:cNvPr>
          <p:cNvSpPr txBox="1">
            <a:spLocks/>
          </p:cNvSpPr>
          <p:nvPr/>
        </p:nvSpPr>
        <p:spPr>
          <a:xfrm>
            <a:off x="557784" y="3566160"/>
            <a:ext cx="11082528" cy="854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600" b="1" dirty="0"/>
              <a:t>These are two mutually reinforcing tracks </a:t>
            </a:r>
            <a:r>
              <a:rPr lang="en-US" sz="1600" dirty="0"/>
              <a:t>- transform the highest value AI domains, reconfigure workforce (roles and skills) within those domains, and use this learning to continuously refine and evolve the future-ready workforce view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600" b="1" dirty="0"/>
              <a:t>Today we’ll align on the questions each track must answer </a:t>
            </a:r>
            <a:r>
              <a:rPr lang="en-US" sz="1600" dirty="0"/>
              <a:t>and the journey ahead for the next quarter (~3 months)  </a:t>
            </a:r>
          </a:p>
        </p:txBody>
      </p:sp>
      <p:sp>
        <p:nvSpPr>
          <p:cNvPr id="107" name="ReviewSticky"/>
          <p:cNvSpPr/>
          <p:nvPr/>
        </p:nvSpPr>
        <p:spPr>
          <a:xfrm>
            <a:off x="9555480" y="36576"/>
            <a:ext cx="2606040" cy="77724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800" b="0">
                <a:solidFill>
                  <a:srgbClr val="000000"/>
                </a:solidFill>
                <a:latin typeface="Arial"/>
              </a:rPr>
              <a:t>CHANGED: killed the five-front chips per your note; Track 2 sentence no longer says 'spans five fronts' (structure now lives on the new p3 placemat); interlock text moved up.</a:t>
            </a:r>
          </a:p>
        </p:txBody>
      </p:sp>
    </p:spTree>
    <p:extLst>
      <p:ext uri="{BB962C8B-B14F-4D97-AF65-F5344CB8AC3E}">
        <p14:creationId xmlns:p14="http://schemas.microsoft.com/office/powerpoint/2010/main" val="2966855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51A58C7-FD5D-B888-8A0F-7C280A0B8C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78900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428" imgH="428" progId="TCLayout.ActiveDocument.1">
                  <p:embed/>
                </p:oleObj>
              </mc:Choice>
              <mc:Fallback>
                <p:oleObj name="think-cell Slide" r:id="rId20" imgW="428" imgH="4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1A58C7-FD5D-B888-8A0F-7C280A0B8C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B50F98EA-8C01-2A67-5B77-C6DF5130314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t>One journey, two connected tracks: prioritize the AI domains and build the organization to deliver them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57784" y="932688"/>
            <a:ext cx="3931920" cy="40233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Track 1: AI domain prioritization and value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718304" y="932688"/>
            <a:ext cx="6903720" cy="402336"/>
          </a:xfrm>
          <a:prstGeom prst="rect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Track 2: Organization of the future</a:t>
            </a:r>
          </a:p>
        </p:txBody>
      </p:sp>
      <p:sp>
        <p:nvSpPr>
          <p:cNvPr id="8" name="Oval 7"/>
          <p:cNvSpPr/>
          <p:nvPr/>
        </p:nvSpPr>
        <p:spPr>
          <a:xfrm>
            <a:off x="4439412" y="96926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51FF"/>
                </a:solidFill>
                <a:latin typeface="Arial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8304" y="1444752"/>
            <a:ext cx="2148840" cy="475488"/>
          </a:xfrm>
          <a:prstGeom prst="rect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Org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5744" y="1444752"/>
            <a:ext cx="2148840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73184" y="1444752"/>
            <a:ext cx="2148840" cy="475488"/>
          </a:xfrm>
          <a:prstGeom prst="rect">
            <a:avLst/>
          </a:prstGeom>
          <a:solidFill>
            <a:srgbClr val="757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Culture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046720" y="4681728"/>
            <a:ext cx="237744" cy="219456"/>
          </a:xfrm>
          <a:prstGeom prst="downArrow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18304" y="4974336"/>
            <a:ext cx="6903720" cy="512064"/>
          </a:xfrm>
          <a:prstGeom prst="rect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Outcome: the integrated org of the future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Arial"/>
              </a:rPr>
              <a:t>structure, roles and skills, and global footprint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" y="551383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800" b="0" i="1">
                <a:solidFill>
                  <a:srgbClr val="63666A"/>
                </a:solidFill>
                <a:latin typeface="Arial"/>
              </a:rPr>
              <a:t>Workforce and org shifts in the priority domains feed the continuous refinement of the future-ready workforce view</a:t>
            </a:r>
          </a:p>
        </p:txBody>
      </p:sp>
      <p:sp>
        <p:nvSpPr>
          <p:cNvPr id="34" name="ReviewSticky"/>
          <p:cNvSpPr/>
          <p:nvPr/>
        </p:nvSpPr>
        <p:spPr>
          <a:xfrm>
            <a:off x="9555480" y="36576"/>
            <a:ext cx="2606040" cy="105156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000000"/>
                </a:solidFill>
                <a:latin typeface="Arial"/>
              </a:rPr>
              <a:t>PER YOUR STEER: T1 steps are white cards again with your descriptors (e.g., baselines = current state incl. process flow, personnel, performance), same framing as the right side, still level with the T2 headers. Skills and Culture collapsed to ONE card each: they are macros with content inside, not columns of sub-workstreams (unlike org hygiene / location, which are true sub-categories of Org design).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" y="5760720"/>
            <a:ext cx="11064240" cy="749808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852160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91440" indent="-91440">
              <a:lnSpc>
                <a:spcPct val="95000"/>
              </a:lnSpc>
            </a:pPr>
            <a:r>
              <a:rPr sz="800" b="0">
                <a:solidFill>
                  <a:srgbClr val="404040"/>
                </a:solidFill>
                <a:latin typeface="Arial"/>
              </a:rPr>
              <a:t>•  </a:t>
            </a:r>
            <a:r>
              <a:rPr sz="800" b="0">
                <a:solidFill>
                  <a:srgbClr val="404040"/>
                </a:solidFill>
                <a:latin typeface="Arial"/>
              </a:rPr>
              <a:t>Baselines: process flows, FTE utilization, SLAs</a:t>
            </a:r>
          </a:p>
          <a:p>
            <a:pPr marL="91440" indent="-91440">
              <a:lnSpc>
                <a:spcPct val="95000"/>
              </a:lnSpc>
            </a:pPr>
            <a:r>
              <a:rPr sz="800" b="0">
                <a:solidFill>
                  <a:srgbClr val="404040"/>
                </a:solidFill>
                <a:latin typeface="Arial"/>
              </a:rPr>
              <a:t>•  </a:t>
            </a:r>
            <a:r>
              <a:rPr sz="800" b="0">
                <a:solidFill>
                  <a:srgbClr val="404040"/>
                </a:solidFill>
                <a:latin typeface="Arial"/>
              </a:rPr>
              <a:t>Criteria: value, readiness, feasibility</a:t>
            </a:r>
          </a:p>
          <a:p>
            <a:pPr marL="91440" indent="-91440">
              <a:lnSpc>
                <a:spcPct val="95000"/>
              </a:lnSpc>
            </a:pPr>
            <a:r>
              <a:rPr sz="800" b="0">
                <a:solidFill>
                  <a:srgbClr val="404040"/>
                </a:solidFill>
                <a:latin typeface="Arial"/>
              </a:rPr>
              <a:t>•  </a:t>
            </a:r>
            <a:r>
              <a:rPr sz="800" b="0">
                <a:solidFill>
                  <a:srgbClr val="404040"/>
                </a:solidFill>
                <a:latin typeface="Arial"/>
              </a:rPr>
              <a:t>Sequence: reimagine, prove,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9744" y="5852160"/>
            <a:ext cx="20574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91440" indent="-91440">
              <a:lnSpc>
                <a:spcPct val="95000"/>
              </a:lnSpc>
            </a:pPr>
            <a:r>
              <a:rPr sz="800" b="0">
                <a:solidFill>
                  <a:srgbClr val="404040"/>
                </a:solidFill>
                <a:latin typeface="Arial"/>
              </a:rPr>
              <a:t>•  </a:t>
            </a:r>
            <a:r>
              <a:rPr sz="800" b="0">
                <a:solidFill>
                  <a:srgbClr val="404040"/>
                </a:solidFill>
                <a:latin typeface="Arial"/>
              </a:rPr>
              <a:t>Org archetypes and design choices</a:t>
            </a:r>
          </a:p>
          <a:p>
            <a:pPr marL="91440" indent="-91440">
              <a:lnSpc>
                <a:spcPct val="95000"/>
              </a:lnSpc>
            </a:pPr>
            <a:r>
              <a:rPr sz="800" b="0">
                <a:solidFill>
                  <a:srgbClr val="404040"/>
                </a:solidFill>
                <a:latin typeface="Arial"/>
              </a:rPr>
              <a:t>•  </a:t>
            </a:r>
            <a:r>
              <a:rPr sz="800" b="0">
                <a:solidFill>
                  <a:srgbClr val="404040"/>
                </a:solidFill>
                <a:latin typeface="Arial"/>
              </a:rPr>
              <a:t>3-yr talent plans by function, automation potential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7184" y="5852160"/>
            <a:ext cx="20574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91440" indent="-91440">
              <a:lnSpc>
                <a:spcPct val="95000"/>
              </a:lnSpc>
            </a:pPr>
            <a:r>
              <a:rPr sz="800" b="0">
                <a:solidFill>
                  <a:srgbClr val="404040"/>
                </a:solidFill>
                <a:latin typeface="Arial"/>
              </a:rPr>
              <a:t>•  </a:t>
            </a:r>
            <a:r>
              <a:rPr sz="800" b="0">
                <a:solidFill>
                  <a:srgbClr val="404040"/>
                </a:solidFill>
                <a:latin typeface="Arial"/>
              </a:rPr>
              <a:t>New roles: GenAI developers, prompt engineers</a:t>
            </a:r>
          </a:p>
          <a:p>
            <a:pPr marL="91440" indent="-91440">
              <a:lnSpc>
                <a:spcPct val="95000"/>
              </a:lnSpc>
            </a:pPr>
            <a:r>
              <a:rPr sz="800" b="0">
                <a:solidFill>
                  <a:srgbClr val="404040"/>
                </a:solidFill>
                <a:latin typeface="Arial"/>
              </a:rPr>
              <a:t>•  </a:t>
            </a:r>
            <a:r>
              <a:rPr sz="800" b="0">
                <a:solidFill>
                  <a:srgbClr val="404040"/>
                </a:solidFill>
                <a:latin typeface="Arial"/>
              </a:rPr>
              <a:t>Job family architecture for the AI era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4624" y="5852160"/>
            <a:ext cx="19659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91440" indent="-91440">
              <a:lnSpc>
                <a:spcPct val="95000"/>
              </a:lnSpc>
            </a:pPr>
            <a:r>
              <a:rPr sz="800" b="0">
                <a:solidFill>
                  <a:srgbClr val="404040"/>
                </a:solidFill>
                <a:latin typeface="Arial"/>
              </a:rPr>
              <a:t>•  </a:t>
            </a:r>
            <a:r>
              <a:rPr sz="800" b="0">
                <a:solidFill>
                  <a:srgbClr val="404040"/>
                </a:solidFill>
                <a:latin typeface="Arial"/>
              </a:rPr>
              <a:t>Operating-model shifts to bring it to life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18304" y="2048256"/>
            <a:ext cx="2148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061F79"/>
                </a:solidFill>
                <a:latin typeface="Arial"/>
              </a:rPr>
              <a:t>Org hygiene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Right-size spans, layers, and leadership density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18304" y="2779776"/>
            <a:ext cx="2148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061F79"/>
                </a:solidFill>
                <a:latin typeface="Arial"/>
              </a:rPr>
              <a:t>Platform org of the future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Structure for the platform era, not the product 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18304" y="3511296"/>
            <a:ext cx="2148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061F79"/>
                </a:solidFill>
                <a:latin typeface="Arial"/>
              </a:rPr>
              <a:t>Future-ready workforce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The AI-era workforce, with AI-ready skills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18304" y="4242816"/>
            <a:ext cx="2148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061F79"/>
                </a:solidFill>
                <a:latin typeface="Arial"/>
              </a:rPr>
              <a:t>Global location strategy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The footprint for the future workforce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" y="1444752"/>
            <a:ext cx="39319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2251FF"/>
                </a:solidFill>
                <a:latin typeface="Arial"/>
              </a:rPr>
              <a:t>1. AI initiative intake + domain clustering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Capture initiatives from every function; cluster into E2E domains where material value is at stake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" y="2130552"/>
            <a:ext cx="39319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2251FF"/>
                </a:solidFill>
                <a:latin typeface="Arial"/>
              </a:rPr>
              <a:t>2. Detailed domain baselines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Current state of each domain including process flow, personnel, performance (e.g., FTE utilization, SLA attainment)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" y="2816352"/>
            <a:ext cx="39319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2251FF"/>
                </a:solidFill>
                <a:latin typeface="Arial"/>
              </a:rPr>
              <a:t>3. Prioritization framework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Criteria and weightings agreed with leadership before any domain is scored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" y="3502152"/>
            <a:ext cx="39319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2251FF"/>
                </a:solidFill>
                <a:latin typeface="Arial"/>
              </a:rPr>
              <a:t>4. Heatmap scorecard + CM1 prioritization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Rank-order the domains on value, readiness, and feasibility; prioritize 5–6 with CM1s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" y="4187952"/>
            <a:ext cx="39319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2251FF"/>
                </a:solidFill>
                <a:latin typeface="Arial"/>
              </a:rPr>
              <a:t>5. Value-backed roadmap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Sequenced path for the priority domains: reimagine, prove, scale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784" y="4873752"/>
            <a:ext cx="39319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2251FF"/>
                </a:solidFill>
                <a:latin typeface="Arial"/>
              </a:rPr>
              <a:t>6. Top-down workforce and org shifts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How roles, size, and shape change in the priority domains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95744" y="2048256"/>
            <a:ext cx="2148840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061F79"/>
                </a:solidFill>
                <a:latin typeface="Arial"/>
              </a:rPr>
              <a:t>Skills for the agentic organization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What TU needs across leaders, builders, and users</a:t>
            </a:r>
          </a:p>
          <a:p>
            <a:pPr algn="ctr">
              <a:lnSpc>
                <a:spcPct val="95000"/>
              </a:lnSpc>
              <a:spcBef>
                <a:spcPts val="1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Sourcing: build, buy, or borrow</a:t>
            </a:r>
          </a:p>
          <a:p>
            <a:pPr algn="ctr">
              <a:lnSpc>
                <a:spcPct val="95000"/>
              </a:lnSpc>
              <a:spcBef>
                <a:spcPts val="1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The capability building plan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73184" y="2048256"/>
            <a:ext cx="21488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061F79"/>
                </a:solidFill>
                <a:latin typeface="Arial"/>
              </a:rPr>
              <a:t>Mindset and behavior shifts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To make the new organization work</a:t>
            </a:r>
          </a:p>
          <a:p>
            <a:pPr algn="ctr">
              <a:lnSpc>
                <a:spcPct val="95000"/>
              </a:lnSpc>
              <a:spcBef>
                <a:spcPts val="100"/>
              </a:spcBef>
            </a:pPr>
            <a:r>
              <a:rPr sz="850" b="0">
                <a:solidFill>
                  <a:srgbClr val="404040"/>
                </a:solidFill>
                <a:latin typeface="Arial"/>
              </a:rPr>
              <a:t>Change capacity to sustain progress and productivity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489704" y="5166360"/>
            <a:ext cx="114300" cy="0"/>
          </a:xfrm>
          <a:prstGeom prst="line">
            <a:avLst/>
          </a:prstGeom>
          <a:ln w="22225">
            <a:solidFill>
              <a:srgbClr val="2251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604004" y="3822191"/>
            <a:ext cx="0" cy="1344169"/>
          </a:xfrm>
          <a:prstGeom prst="line">
            <a:avLst/>
          </a:prstGeom>
          <a:ln w="22225">
            <a:solidFill>
              <a:srgbClr val="2251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604004" y="3822191"/>
            <a:ext cx="114300" cy="0"/>
          </a:xfrm>
          <a:prstGeom prst="line">
            <a:avLst/>
          </a:prstGeom>
          <a:ln w="22225">
            <a:solidFill>
              <a:srgbClr val="2251FF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14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CFFC8DC5-AC4B-4049-9085-CEA8848B29C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0877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CFFC8DC5-AC4B-4049-9085-CEA8848B29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2. Slide Title">
            <a:extLst>
              <a:ext uri="{FF2B5EF4-FFF2-40B4-BE49-F238E27FC236}">
                <a16:creationId xmlns:a16="http://schemas.microsoft.com/office/drawing/2014/main" id="{63BA0316-0D9C-4C75-A626-731C8CFBB6B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411564"/>
            <a:ext cx="3465576" cy="178895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dirty="0">
                <a:solidFill>
                  <a:srgbClr val="2251FF"/>
                </a:solidFill>
              </a:rPr>
              <a:t>Track 1: AI Domain prioritization and value roadmap -        </a:t>
            </a:r>
            <a:r>
              <a:rPr lang="en-US" dirty="0">
                <a:solidFill>
                  <a:srgbClr val="000000"/>
                </a:solidFill>
              </a:rPr>
              <a:t>Key questions to be answered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4160520" y="457200"/>
            <a:ext cx="7452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2251FF"/>
                </a:solidFill>
                <a:latin typeface="Arial"/>
              </a:rPr>
              <a:t>1. Identify and cluster domains bottom-up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61688" y="694944"/>
            <a:ext cx="72511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 i="0">
                <a:solidFill>
                  <a:srgbClr val="000000"/>
                </a:solidFill>
                <a:latin typeface="Arial"/>
              </a:rPr>
              <a:t>What AI initiatives and ideas are in flight or planned across every function (from the AI immersion and an org-wide intake), and how do they cluster into end-to-end domains?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61688" y="1051560"/>
            <a:ext cx="72511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 i="0">
                <a:solidFill>
                  <a:srgbClr val="000000"/>
                </a:solidFill>
                <a:latin typeface="Arial"/>
              </a:rPr>
              <a:t>Which 10–15 candidate domains, anchored in strategic priorities and value pools, hold material value at stake?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60520" y="1481328"/>
            <a:ext cx="7452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2251FF"/>
                </a:solidFill>
                <a:latin typeface="Arial"/>
              </a:rPr>
              <a:t>2. Establish detailed baselines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1719072"/>
            <a:ext cx="72511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 i="0">
                <a:solidFill>
                  <a:srgbClr val="000000"/>
                </a:solidFill>
                <a:latin typeface="Arial"/>
              </a:rPr>
              <a:t>How does each domain run today across people, process, and technology (process flows, headcount, FTE utilization, SLA attainment)?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61688" y="2075688"/>
            <a:ext cx="72511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 i="0">
                <a:solidFill>
                  <a:srgbClr val="000000"/>
                </a:solidFill>
                <a:latin typeface="Arial"/>
              </a:rPr>
              <a:t>Where are the highest-impact bottlenecks and value levers, and what future-state improvement is quantifiable?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0520" y="2505456"/>
            <a:ext cx="7452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2251FF"/>
                </a:solidFill>
                <a:latin typeface="Arial"/>
              </a:rPr>
              <a:t>3. Develop the prioritization framework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61688" y="2743200"/>
            <a:ext cx="7251192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 i="0">
                <a:solidFill>
                  <a:srgbClr val="000000"/>
                </a:solidFill>
                <a:latin typeface="Arial"/>
              </a:rPr>
              <a:t>What criteria and weightings should leadership agree before any domain is scored?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61688" y="2944368"/>
            <a:ext cx="725119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 i="0">
                <a:solidFill>
                  <a:srgbClr val="000000"/>
                </a:solidFill>
                <a:latin typeface="Arial"/>
              </a:rPr>
              <a:t>How will TU define value potential (revenue growth, cost reduction), strategic readiness (ways of working, foundational data), and feasibility (decision complexity, regulatory scrutiny, data input readiness, solution simplicity)?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60520" y="3529584"/>
            <a:ext cx="7452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2251FF"/>
                </a:solidFill>
                <a:latin typeface="Arial"/>
              </a:rPr>
              <a:t>4. Assess impact and prioritize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61688" y="3767328"/>
            <a:ext cx="72511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 i="0">
                <a:solidFill>
                  <a:srgbClr val="000000"/>
                </a:solidFill>
                <a:latin typeface="Arial"/>
              </a:rPr>
              <a:t>What share of each domain’s work can AI power (estimated against benchmarks), and what impact does that imply?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61688" y="4123944"/>
            <a:ext cx="72511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 i="0">
                <a:solidFill>
                  <a:srgbClr val="000000"/>
                </a:solidFill>
                <a:latin typeface="Arial"/>
              </a:rPr>
              <a:t>How do the domains rank-order on the heatmap scorecard, and which 5–6 big bets should TU pursue first?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60520" y="4553712"/>
            <a:ext cx="7452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2251FF"/>
                </a:solidFill>
                <a:latin typeface="Arial"/>
              </a:rPr>
              <a:t>5. Build the value-backed roadmap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61688" y="4791455"/>
            <a:ext cx="72511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 i="0">
                <a:solidFill>
                  <a:srgbClr val="000000"/>
                </a:solidFill>
                <a:latin typeface="Arial"/>
              </a:rPr>
              <a:t>In what sequence should TU execute the priority domains (reimagine, prove value, then scale), and with what owners, milestones (e.g., MVP launch), and enabling investments?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60520" y="5221223"/>
            <a:ext cx="7452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2251FF"/>
                </a:solidFill>
                <a:latin typeface="Arial"/>
              </a:rPr>
              <a:t>6. Top-down workforce and org shifts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61688" y="5458967"/>
            <a:ext cx="72511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 i="0">
                <a:solidFill>
                  <a:srgbClr val="000000"/>
                </a:solidFill>
                <a:latin typeface="Arial"/>
              </a:rPr>
              <a:t>How will the priority domains reshape the organization: which roles change or phase out, what skills are needed, and how do size and shape shift?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61688" y="5815583"/>
            <a:ext cx="72511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 i="0">
                <a:solidFill>
                  <a:srgbClr val="000000"/>
                </a:solidFill>
                <a:latin typeface="Arial"/>
              </a:rPr>
              <a:t>What workforce value do the shifts unlock, and how do they seed the future-ready workforce view (Track 2)?</a:t>
            </a:r>
          </a:p>
        </p:txBody>
      </p:sp>
      <p:sp>
        <p:nvSpPr>
          <p:cNvPr id="70" name="ReviewSticky"/>
          <p:cNvSpPr/>
          <p:nvPr/>
        </p:nvSpPr>
        <p:spPr>
          <a:xfrm>
            <a:off x="9555480" y="36576"/>
            <a:ext cx="2606040" cy="91440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800" b="0">
                <a:solidFill>
                  <a:srgbClr val="000000"/>
                </a:solidFill>
                <a:latin typeface="Arial"/>
              </a:rPr>
              <a:t>ENRICHED from the Jul 17 domain deck per Megha: value pools, people/process/tech baselines with SLA attainment, bottlenecks and value levers, criteria and weightings agreed before scoring, heatmap scorecard, share of work AI can power, reimagine-prove-scale roadmap with owners, milestones, enabling investments.</a:t>
            </a:r>
          </a:p>
        </p:txBody>
      </p:sp>
    </p:spTree>
    <p:extLst>
      <p:ext uri="{BB962C8B-B14F-4D97-AF65-F5344CB8AC3E}">
        <p14:creationId xmlns:p14="http://schemas.microsoft.com/office/powerpoint/2010/main" val="1305269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4C70F-8FDD-0AB6-63CC-2014BE989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DD3955BB-E040-C3F3-6F15-8CA9502C6A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1536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395" imgH="394" progId="TCLayout.ActiveDocument.1">
                  <p:embed/>
                </p:oleObj>
              </mc:Choice>
              <mc:Fallback>
                <p:oleObj name="think-cell Slide" r:id="rId18" imgW="395" imgH="394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DD3955BB-E040-C3F3-6F15-8CA9502C6A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2. Slide Title">
            <a:extLst>
              <a:ext uri="{FF2B5EF4-FFF2-40B4-BE49-F238E27FC236}">
                <a16:creationId xmlns:a16="http://schemas.microsoft.com/office/drawing/2014/main" id="{816D9AEF-20B7-74DF-8611-E28BD67D3AB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63141"/>
            <a:ext cx="11082528" cy="35779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dirty="0">
                <a:solidFill>
                  <a:srgbClr val="2251FF"/>
                </a:solidFill>
              </a:rPr>
              <a:t>Track 2: Org of the future - </a:t>
            </a:r>
            <a:r>
              <a:rPr lang="en-US" dirty="0">
                <a:solidFill>
                  <a:srgbClr val="000000"/>
                </a:solidFill>
              </a:rPr>
              <a:t>Key questions to be answered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889504" y="1060704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1.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What would a right-sized TU org look like</a:t>
            </a:r>
            <a:r>
              <a:rPr sz="1050" b="0" i="0">
                <a:solidFill>
                  <a:srgbClr val="000000"/>
                </a:solidFill>
                <a:latin typeface="Arial"/>
              </a:rPr>
              <a:t> (i.e., optimal spans, layers, and leadership density), and what value would it unlock?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" y="1060704"/>
            <a:ext cx="1920240" cy="365760"/>
          </a:xfrm>
          <a:prstGeom prst="rect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Org hygiene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889504" y="1499616"/>
            <a:ext cx="8732520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889504" y="1591056"/>
            <a:ext cx="8778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2.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What are the different org archetypes in platform companies</a:t>
            </a:r>
            <a:r>
              <a:rPr sz="1050" b="0" i="0">
                <a:solidFill>
                  <a:srgbClr val="000000"/>
                </a:solidFill>
                <a:latin typeface="Arial"/>
              </a:rPr>
              <a:t> (e.g., Adobe, Salesforce, Shopify)?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9504" y="1819656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3.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Which org archetype should TU adopt? What are the merits and de-merits of each model</a:t>
            </a:r>
            <a:r>
              <a:rPr sz="1050" b="0" i="0">
                <a:solidFill>
                  <a:srgbClr val="000000"/>
                </a:solidFill>
                <a:latin typeface="Arial"/>
              </a:rPr>
              <a:t>, and what will TU have to believe to select one?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9504" y="2221992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4.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What should be the size and composition of the product and platform teams?</a:t>
            </a:r>
            <a:r>
              <a:rPr sz="1050" b="0" i="0">
                <a:solidFill>
                  <a:srgbClr val="000000"/>
                </a:solidFill>
                <a:latin typeface="Arial"/>
              </a:rPr>
              <a:t> Where should key roles reside (e.g., Platform PM, Data Science / Analytics, UI/UX)?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89504" y="262432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5.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What are the operating/interaction model implications of the chosen model</a:t>
            </a:r>
            <a:r>
              <a:rPr sz="1050" b="0" i="0">
                <a:solidFill>
                  <a:srgbClr val="000000"/>
                </a:solidFill>
                <a:latin typeface="Arial"/>
              </a:rPr>
              <a:t> (e.g., product and platform-centric P&amp;L vs. USM/INTL P&amp;L, regional vs. global operating model)?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" y="1591056"/>
            <a:ext cx="1920240" cy="1399032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Platform org of the future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889504" y="3063240"/>
            <a:ext cx="8732520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889504" y="3154680"/>
            <a:ext cx="8778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6.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What are the 3-year business plans and talent demand</a:t>
            </a:r>
            <a:r>
              <a:rPr sz="1050" b="0" i="0">
                <a:solidFill>
                  <a:srgbClr val="000000"/>
                </a:solidFill>
                <a:latin typeface="Arial"/>
              </a:rPr>
              <a:t> for each business and function?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89504" y="338328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7.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How will AI reshape the talent demand</a:t>
            </a:r>
            <a:r>
              <a:rPr sz="1050" b="0" i="0">
                <a:solidFill>
                  <a:srgbClr val="000000"/>
                </a:solidFill>
                <a:latin typeface="Arial"/>
              </a:rPr>
              <a:t>? What size, shape, and skills will the workforce need? Which roles are reshaped, replaced, or net-new; built vs. bought?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7784" y="3154680"/>
            <a:ext cx="1920240" cy="5943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Future-ready workforce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889504" y="3822192"/>
            <a:ext cx="8732520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889504" y="3913632"/>
            <a:ext cx="8778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8.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Which roles sit where</a:t>
            </a:r>
            <a:r>
              <a:rPr sz="1050" b="0" i="0">
                <a:solidFill>
                  <a:srgbClr val="000000"/>
                </a:solidFill>
                <a:latin typeface="Arial"/>
              </a:rPr>
              <a:t>, and what moves now vs. later?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89504" y="4142232"/>
            <a:ext cx="8778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9.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Where will TU access AI-era talent</a:t>
            </a:r>
            <a:r>
              <a:rPr sz="1050" b="0" i="0">
                <a:solidFill>
                  <a:srgbClr val="000000"/>
                </a:solidFill>
                <a:latin typeface="Arial"/>
              </a:rPr>
              <a:t>, and what must its global hubs become?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7784" y="3913632"/>
            <a:ext cx="1920240" cy="42062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Global location strategy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889504" y="4407408"/>
            <a:ext cx="8732520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889504" y="4498848"/>
            <a:ext cx="8778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10.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What skills will TU need to enable the agentic organization</a:t>
            </a:r>
            <a:r>
              <a:rPr sz="1050" b="0" i="0">
                <a:solidFill>
                  <a:srgbClr val="000000"/>
                </a:solidFill>
                <a:latin typeface="Arial"/>
              </a:rPr>
              <a:t> (e.g., across leaders, builders, and users)?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89504" y="4727448"/>
            <a:ext cx="8778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11.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Where will TU source these skills</a:t>
            </a:r>
            <a:r>
              <a:rPr sz="1050" b="0" i="0">
                <a:solidFill>
                  <a:srgbClr val="000000"/>
                </a:solidFill>
                <a:latin typeface="Arial"/>
              </a:rPr>
              <a:t> (build, buy, or borrow), and what is the capability-building plan for the organization?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7784" y="4498848"/>
            <a:ext cx="1920240" cy="420624"/>
          </a:xfrm>
          <a:prstGeom prst="rect">
            <a:avLst/>
          </a:prstGeom>
          <a:solidFill>
            <a:srgbClr val="0B4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889504" y="4992624"/>
            <a:ext cx="8732520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889504" y="5084064"/>
            <a:ext cx="8778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12.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What mindset and behavior shifts</a:t>
            </a:r>
            <a:r>
              <a:rPr sz="1050" b="0" i="0">
                <a:solidFill>
                  <a:srgbClr val="000000"/>
                </a:solidFill>
                <a:latin typeface="Arial"/>
              </a:rPr>
              <a:t> does the new organization demand?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89504" y="5312664"/>
            <a:ext cx="8778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Arial"/>
              </a:rPr>
              <a:t>13.	</a:t>
            </a:r>
            <a:r>
              <a:rPr sz="1050" b="1" i="0">
                <a:solidFill>
                  <a:srgbClr val="000000"/>
                </a:solidFill>
                <a:latin typeface="Arial"/>
              </a:rPr>
              <a:t>What is TU’s capacity to absorb change</a:t>
            </a:r>
            <a:r>
              <a:rPr sz="1050" b="0" i="0">
                <a:solidFill>
                  <a:srgbClr val="000000"/>
                </a:solidFill>
                <a:latin typeface="Arial"/>
              </a:rPr>
              <a:t>, and how should the work be sequenced to sustain progress and productivity?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7784" y="5084064"/>
            <a:ext cx="1920240" cy="420624"/>
          </a:xfrm>
          <a:prstGeom prst="rect">
            <a:avLst/>
          </a:prstGeom>
          <a:solidFill>
            <a:srgbClr val="757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Culture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" y="5943600"/>
            <a:ext cx="11192256" cy="42062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0000"/>
              </a:lnSpc>
            </a:pPr>
            <a:r>
              <a:rPr sz="1200" b="1" i="1">
                <a:solidFill>
                  <a:srgbClr val="000000"/>
                </a:solidFill>
                <a:latin typeface="Arial"/>
              </a:rPr>
              <a:t>The answers to these questions will help us determine the complete value case, and the 90-day plan to mobilize</a:t>
            </a:r>
          </a:p>
        </p:txBody>
      </p:sp>
      <p:sp>
        <p:nvSpPr>
          <p:cNvPr id="78" name="ReviewSticky"/>
          <p:cNvSpPr/>
          <p:nvPr/>
        </p:nvSpPr>
        <p:spPr>
          <a:xfrm>
            <a:off x="9555480" y="36576"/>
            <a:ext cx="2606040" cy="91440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RESTYLED to your mockup: left category chips + numbered questions with bold leads and group dividers; your value-case band at the bottom (integrated-org output now lives on p3). Skills kept as its own group (Q10–11) to stay consistent with p3 and Megha's macro structure; fixed the 'platform and product and platform teams' typo.</a:t>
            </a:r>
          </a:p>
        </p:txBody>
      </p:sp>
    </p:spTree>
    <p:extLst>
      <p:ext uri="{BB962C8B-B14F-4D97-AF65-F5344CB8AC3E}">
        <p14:creationId xmlns:p14="http://schemas.microsoft.com/office/powerpoint/2010/main" val="2659384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Object 2" hidden="1">
            <a:extLst>
              <a:ext uri="{FF2B5EF4-FFF2-40B4-BE49-F238E27FC236}">
                <a16:creationId xmlns:a16="http://schemas.microsoft.com/office/drawing/2014/main" id="{8781AE29-C0AF-537A-2347-DA45C1358C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85343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8" imgH="428" progId="TCLayout.ActiveDocument.1">
                  <p:embed/>
                </p:oleObj>
              </mc:Choice>
              <mc:Fallback>
                <p:oleObj name="think-cell Slide" r:id="rId7" imgW="428" imgH="428" progId="TCLayout.ActiveDocument.1">
                  <p:embed/>
                  <p:pic>
                    <p:nvPicPr>
                      <p:cNvPr id="63" name="Object 2" hidden="1">
                        <a:extLst>
                          <a:ext uri="{FF2B5EF4-FFF2-40B4-BE49-F238E27FC236}">
                            <a16:creationId xmlns:a16="http://schemas.microsoft.com/office/drawing/2014/main" id="{8781AE29-C0AF-537A-2347-DA45C1358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736" y="201168"/>
            <a:ext cx="11082528" cy="357790"/>
          </a:xfrm>
        </p:spPr>
        <p:txBody>
          <a:bodyPr vert="horz">
            <a:spAutoFit/>
          </a:bodyPr>
          <a:lstStyle/>
          <a:p>
            <a:r>
              <a:rPr lang="en-US" b="1" dirty="0"/>
              <a:t>Journey ahead: a front-loaded 12-week plan across the two tracks</a:t>
            </a:r>
            <a:endParaRPr b="1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0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7886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2652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7418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2184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6950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1716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6481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1248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6013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0780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5545" y="983567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12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97886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92652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7418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82184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76950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71716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66481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61248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56013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0780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845545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</p:cNvCxnSpPr>
          <p:nvPr/>
        </p:nvCxnSpPr>
        <p:spPr>
          <a:xfrm>
            <a:off x="11640312" y="1221311"/>
            <a:ext cx="0" cy="4535424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57784" y="2139696"/>
            <a:ext cx="1417320" cy="7694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50" b="1" i="0" u="none" strike="noStrike" cap="none" spc="0" normalizeH="0" baseline="0">
                <a:ln>
                  <a:noFill/>
                </a:ln>
                <a:solidFill>
                  <a:srgbClr val="2251FF"/>
                </a:solidFill>
                <a:effectLst/>
                <a:uLnTx/>
                <a:uFillTx/>
                <a:latin typeface="Arial"/>
              </a:defRPr>
            </a:lvl1pPr>
          </a:lstStyle>
          <a:p>
            <a:r>
              <a:rPr lang="en-US" dirty="0"/>
              <a:t>Track 1:                        AI Domain prioritization and value roadmap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7784" y="3858768"/>
            <a:ext cx="11082527" cy="0"/>
          </a:xfrm>
          <a:prstGeom prst="line">
            <a:avLst/>
          </a:prstGeom>
          <a:ln w="9525">
            <a:solidFill>
              <a:srgbClr val="D0D3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57784" y="4114800"/>
            <a:ext cx="1417320" cy="16093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7784" y="4636008"/>
            <a:ext cx="141732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679C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Track 2: Organization of the future</a:t>
            </a:r>
          </a:p>
        </p:txBody>
      </p:sp>
      <p:pic>
        <p:nvPicPr>
          <p:cNvPr id="71" name="CustomIcon">
            <a:extLst>
              <a:ext uri="{FF2B5EF4-FFF2-40B4-BE49-F238E27FC236}">
                <a16:creationId xmlns:a16="http://schemas.microsoft.com/office/drawing/2014/main" id="{9EAFEFED-4C80-0212-7BF4-A43FE813D85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8744" y="1700784"/>
            <a:ext cx="390144" cy="390144"/>
          </a:xfrm>
          <a:prstGeom prst="rect">
            <a:avLst/>
          </a:prstGeom>
        </p:spPr>
      </p:pic>
      <p:pic>
        <p:nvPicPr>
          <p:cNvPr id="72" name="CustomIcon">
            <a:extLst>
              <a:ext uri="{FF2B5EF4-FFF2-40B4-BE49-F238E27FC236}">
                <a16:creationId xmlns:a16="http://schemas.microsoft.com/office/drawing/2014/main" id="{D13D7905-DB86-B0FC-CE8E-2E44E76A472B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744" y="4142232"/>
            <a:ext cx="390144" cy="390144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EC0CA52-F181-0CDB-E8F3-2530A66AE750}"/>
              </a:ext>
            </a:extLst>
          </p:cNvPr>
          <p:cNvSpPr txBox="1"/>
          <p:nvPr/>
        </p:nvSpPr>
        <p:spPr>
          <a:xfrm>
            <a:off x="2103120" y="779106"/>
            <a:ext cx="79476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Aug ‘26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55759C6-0F59-0939-C090-960AA1697728}"/>
              </a:ext>
            </a:extLst>
          </p:cNvPr>
          <p:cNvSpPr txBox="1"/>
          <p:nvPr/>
        </p:nvSpPr>
        <p:spPr>
          <a:xfrm>
            <a:off x="10845546" y="779106"/>
            <a:ext cx="9938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End of Oct’26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103120" y="1298448"/>
            <a:ext cx="1591056" cy="768096"/>
          </a:xfrm>
          <a:prstGeom prst="roundRect">
            <a:avLst>
              <a:gd name="adj" fmla="val 1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Inventory AI initiatives and ideas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Operationalize an enterprise-wide intake; cluster into E2E domains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694176" y="1298448"/>
            <a:ext cx="1591055" cy="768096"/>
          </a:xfrm>
          <a:prstGeom prst="roundRect">
            <a:avLst>
              <a:gd name="adj" fmla="val 1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Assess impact, readiness, feasibility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Score each domain on the agreed criteria; size the share of work AI can power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080759" y="1298448"/>
            <a:ext cx="2386584" cy="768096"/>
          </a:xfrm>
          <a:prstGeom prst="roundRect">
            <a:avLst>
              <a:gd name="adj" fmla="val 1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Detail workforce and org shifts for priority domain #1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Roles that change, skills needed, size and shape, value unlocked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67344" y="1298448"/>
            <a:ext cx="3172968" cy="768096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9525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Mobilize lighthouse pilots in the first big bets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061F79"/>
                </a:solidFill>
                <a:latin typeface="Arial"/>
              </a:rPr>
              <a:t>Teams, owners, milestones, value tracking; pilots run 12–14 weeks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103120" y="2139696"/>
            <a:ext cx="2386584" cy="768096"/>
          </a:xfrm>
          <a:prstGeom prst="roundRect">
            <a:avLst>
              <a:gd name="adj" fmla="val 1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Establish detailed baselines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Process flows, headcount, FTE utilization, SLA attainment; bottlenecks and value levers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89704" y="2139696"/>
            <a:ext cx="1591055" cy="768096"/>
          </a:xfrm>
          <a:prstGeom prst="roundRect">
            <a:avLst>
              <a:gd name="adj" fmla="val 1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Rank domains on the heatmap scorecard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Commit to the 5–6 big bets on value, readiness, feasibility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898648" y="2980944"/>
            <a:ext cx="1591056" cy="768096"/>
          </a:xfrm>
          <a:prstGeom prst="roundRect">
            <a:avLst>
              <a:gd name="adj" fmla="val 1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Align the prioritization framework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Criteria and weightings agreed with leadership before scoring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489704" y="2980944"/>
            <a:ext cx="1591055" cy="768096"/>
          </a:xfrm>
          <a:prstGeom prst="roundRect">
            <a:avLst>
              <a:gd name="adj" fmla="val 1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Build the value-backed roadmap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Sequence: reimagine, prove, scale; owners and enabling investments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7784" y="376732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50" b="1" i="1">
                <a:solidFill>
                  <a:srgbClr val="63666A"/>
                </a:solidFill>
                <a:latin typeface="Arial"/>
              </a:rPr>
              <a:t>Joint workshops</a:t>
            </a:r>
          </a:p>
        </p:txBody>
      </p:sp>
      <p:sp>
        <p:nvSpPr>
          <p:cNvPr id="92" name="Diamond 91"/>
          <p:cNvSpPr/>
          <p:nvPr/>
        </p:nvSpPr>
        <p:spPr>
          <a:xfrm>
            <a:off x="3621024" y="3785615"/>
            <a:ext cx="146304" cy="146304"/>
          </a:xfrm>
          <a:prstGeom prst="diamond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39312" y="3950208"/>
            <a:ext cx="16916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50" b="0" i="0">
                <a:solidFill>
                  <a:srgbClr val="061F79"/>
                </a:solidFill>
                <a:latin typeface="Arial"/>
              </a:rPr>
              <a:t>Framework workshop</a:t>
            </a:r>
          </a:p>
        </p:txBody>
      </p:sp>
      <p:sp>
        <p:nvSpPr>
          <p:cNvPr id="94" name="Diamond 93"/>
          <p:cNvSpPr/>
          <p:nvPr/>
        </p:nvSpPr>
        <p:spPr>
          <a:xfrm>
            <a:off x="6007607" y="3785615"/>
            <a:ext cx="146304" cy="146304"/>
          </a:xfrm>
          <a:prstGeom prst="diamond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25896" y="3950208"/>
            <a:ext cx="16916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50" b="0" i="0">
                <a:solidFill>
                  <a:srgbClr val="061F79"/>
                </a:solidFill>
                <a:latin typeface="Arial"/>
              </a:rPr>
              <a:t>CM1 prioritization workshop</a:t>
            </a:r>
          </a:p>
        </p:txBody>
      </p:sp>
      <p:sp>
        <p:nvSpPr>
          <p:cNvPr id="96" name="Diamond 95"/>
          <p:cNvSpPr/>
          <p:nvPr/>
        </p:nvSpPr>
        <p:spPr>
          <a:xfrm>
            <a:off x="8394192" y="3785615"/>
            <a:ext cx="146304" cy="146304"/>
          </a:xfrm>
          <a:prstGeom prst="diamond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12480" y="3950208"/>
            <a:ext cx="16916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50" b="0" i="0">
                <a:solidFill>
                  <a:srgbClr val="061F79"/>
                </a:solidFill>
                <a:latin typeface="Arial"/>
              </a:rPr>
              <a:t>Org design workshop</a:t>
            </a:r>
          </a:p>
        </p:txBody>
      </p:sp>
      <p:sp>
        <p:nvSpPr>
          <p:cNvPr id="98" name="Diamond 97"/>
          <p:cNvSpPr/>
          <p:nvPr/>
        </p:nvSpPr>
        <p:spPr>
          <a:xfrm>
            <a:off x="11448288" y="3785615"/>
            <a:ext cx="146304" cy="146304"/>
          </a:xfrm>
          <a:prstGeom prst="diamond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966960" y="3950208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061F79"/>
                </a:solidFill>
                <a:latin typeface="Arial"/>
              </a:rPr>
              <a:t>Integrated org workshop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103120" y="4114800"/>
            <a:ext cx="3977639" cy="768096"/>
          </a:xfrm>
          <a:prstGeom prst="roundRect">
            <a:avLst>
              <a:gd name="adj" fmla="val 1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Design the platform org of the future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2–3 leadership workshops: archetypes, choices, what makes sense for TU; target structure, spans and layers (hygiene baseline)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080759" y="4114800"/>
            <a:ext cx="5559552" cy="768096"/>
          </a:xfrm>
          <a:prstGeom prst="roundRect">
            <a:avLst>
              <a:gd name="adj" fmla="val 10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Integrate the org of the future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Converge structure, skills, culture, and footprint into one integrated blueprint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103120" y="4956048"/>
            <a:ext cx="3977639" cy="768096"/>
          </a:xfrm>
          <a:prstGeom prst="roundRect">
            <a:avLst>
              <a:gd name="adj" fmla="val 1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Launch strategic workforce planning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3-year talent demand, AI automation potential, job family architecture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80759" y="4956048"/>
            <a:ext cx="3182111" cy="768096"/>
          </a:xfrm>
          <a:prstGeom prst="roundRect">
            <a:avLst>
              <a:gd name="adj" fmla="val 1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Refresh the global location strategy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Which roles sit where; what moves first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262872" y="4956048"/>
            <a:ext cx="2377440" cy="768096"/>
          </a:xfrm>
          <a:prstGeom prst="roundRect">
            <a:avLst>
              <a:gd name="adj" fmla="val 1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Build the skills and culture plan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FFFFFF"/>
                </a:solidFill>
                <a:latin typeface="Arial"/>
              </a:rPr>
              <a:t>Sourcing and upskilling; mindset and behavior shifts</a:t>
            </a:r>
          </a:p>
        </p:txBody>
      </p:sp>
      <p:sp>
        <p:nvSpPr>
          <p:cNvPr id="107" name="ReviewSticky"/>
          <p:cNvSpPr/>
          <p:nvPr/>
        </p:nvSpPr>
        <p:spPr>
          <a:xfrm>
            <a:off x="9555480" y="36576"/>
            <a:ext cx="2606040" cy="141732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000000"/>
                </a:solidFill>
                <a:latin typeface="Arial"/>
              </a:rPr>
              <a:t>OPTION A (workplan view). PER YOUR STEER: original box structure kept (not consolidated), front-loaded (domains wks 1–5, domain #1 workforce shifts wks 6–8, platform org + SWP wks 1–5); commentary now inside each box; workshops added as phase events (incl. CM1 prioritization); bottom outcomes row and band killed per Megha (covered on placemat and p5). Platform-org workshops (2–3, per Megha) now noted in-box within wks 1–5. UPDATE: linkage arrow removed and integrate-bar reworded (integrated org = Track 2 outcome only, per Megha); step 1 now operationalizes the enterprise-wide intake. NOTE: Megha's live edits applied on Option B (next page); if B is final, delete this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Journey ahead: a front-loaded 12-week plan across the two tracks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2103120" y="5669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1" i="0">
                <a:solidFill>
                  <a:srgbClr val="63666A"/>
                </a:solidFill>
                <a:latin typeface="Arial"/>
              </a:rPr>
              <a:t>Aug ‘26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566928"/>
            <a:ext cx="12161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3666A"/>
                </a:solidFill>
                <a:latin typeface="Arial"/>
              </a:rPr>
              <a:t>End of Oct ‘26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804672"/>
            <a:ext cx="3922776" cy="310896"/>
          </a:xfrm>
          <a:prstGeom prst="roundRect">
            <a:avLst>
              <a:gd name="adj" fmla="val 50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Weeks 1–5: prioritize the domains, design the platform org, launch SWP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624" y="804672"/>
            <a:ext cx="5504688" cy="310896"/>
          </a:xfrm>
          <a:prstGeom prst="roundRect">
            <a:avLst>
              <a:gd name="adj" fmla="val 5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Weeks 6–12: detail domain #1 workforce shifts, integrate the org of the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1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6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3928" y="1188720"/>
            <a:ext cx="7955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Wk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463040"/>
            <a:ext cx="11210544" cy="2487168"/>
          </a:xfrm>
          <a:prstGeom prst="rect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370832"/>
            <a:ext cx="11210544" cy="1719072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103120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98648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94176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89704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285231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80759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76288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71816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67344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62872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58400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853928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649455" y="1408176"/>
            <a:ext cx="0" cy="46817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57784" y="157276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TRACK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" y="1865376"/>
            <a:ext cx="14447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AI domain prioritization and value roadmap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" y="448056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TRACK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" y="4773168"/>
            <a:ext cx="14447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Organization of the future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1572768"/>
            <a:ext cx="159105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Inventory AI initiatives and ideas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>
                <a:solidFill>
                  <a:srgbClr val="63666A"/>
                </a:solidFill>
                <a:latin typeface="Arial"/>
              </a:rPr>
              <a:t>Operationalize the enterprise-wide intake mechanism; cluster into E2E domains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21408" y="1655064"/>
            <a:ext cx="45720" cy="566928"/>
          </a:xfrm>
          <a:prstGeom prst="roundRect">
            <a:avLst>
              <a:gd name="adj" fmla="val 8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694176" y="1572768"/>
            <a:ext cx="159105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Assess impact, readiness, feasibility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63666A"/>
                </a:solidFill>
                <a:latin typeface="Arial"/>
              </a:rPr>
              <a:t>Score each domain on the agreed criteria; size the share of work AI can power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12463" y="1655064"/>
            <a:ext cx="45720" cy="566928"/>
          </a:xfrm>
          <a:prstGeom prst="roundRect">
            <a:avLst>
              <a:gd name="adj" fmla="val 8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80759" y="1572768"/>
            <a:ext cx="238658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Detail workforce and org shifts for priority domain #1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63666A"/>
                </a:solidFill>
                <a:latin typeface="Arial"/>
              </a:rPr>
              <a:t>Roles that change, skills needed, size and shape, value unlocked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9047" y="1655064"/>
            <a:ext cx="45720" cy="566928"/>
          </a:xfrm>
          <a:prstGeom prst="roundRect">
            <a:avLst>
              <a:gd name="adj" fmla="val 8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103120" y="2377440"/>
            <a:ext cx="238658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Establish detailed baselines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63666A"/>
                </a:solidFill>
                <a:latin typeface="Arial"/>
              </a:rPr>
              <a:t>Process flows, headcount, FTE utilization, SLA attainment; bottlenecks and value levers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21408" y="2459736"/>
            <a:ext cx="45720" cy="566928"/>
          </a:xfrm>
          <a:prstGeom prst="roundRect">
            <a:avLst>
              <a:gd name="adj" fmla="val 8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489704" y="2377440"/>
            <a:ext cx="159105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Rank domains on the heatmap scorecard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63666A"/>
                </a:solidFill>
                <a:latin typeface="Arial"/>
              </a:rPr>
              <a:t>Commit to the 5–6 big bets on value, readiness, feasibility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07992" y="2459736"/>
            <a:ext cx="45720" cy="566928"/>
          </a:xfrm>
          <a:prstGeom prst="roundRect">
            <a:avLst>
              <a:gd name="adj" fmla="val 8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898648" y="3182112"/>
            <a:ext cx="159105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Align the prioritization framework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63666A"/>
                </a:solidFill>
                <a:latin typeface="Arial"/>
              </a:rPr>
              <a:t>Criteria and weightings agreed with leadership before scoring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16936" y="3264408"/>
            <a:ext cx="45720" cy="566928"/>
          </a:xfrm>
          <a:prstGeom prst="roundRect">
            <a:avLst>
              <a:gd name="adj" fmla="val 8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489704" y="3182112"/>
            <a:ext cx="159105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Build the value-backed roadmap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63666A"/>
                </a:solidFill>
                <a:latin typeface="Arial"/>
              </a:rPr>
              <a:t>Sequence: reimagine, prove, scale; owners and enabling investments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07992" y="3264408"/>
            <a:ext cx="45720" cy="566928"/>
          </a:xfrm>
          <a:prstGeom prst="roundRect">
            <a:avLst>
              <a:gd name="adj" fmla="val 8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103120" y="4114800"/>
            <a:ext cx="9537192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57784" y="404164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50" b="1" i="1">
                <a:solidFill>
                  <a:srgbClr val="63666A"/>
                </a:solidFill>
                <a:latin typeface="Arial"/>
              </a:rPr>
              <a:t>Joint workshops</a:t>
            </a:r>
          </a:p>
        </p:txBody>
      </p:sp>
      <p:sp>
        <p:nvSpPr>
          <p:cNvPr id="58" name="Diamond 57"/>
          <p:cNvSpPr/>
          <p:nvPr/>
        </p:nvSpPr>
        <p:spPr>
          <a:xfrm>
            <a:off x="3621024" y="4041648"/>
            <a:ext cx="146304" cy="146304"/>
          </a:xfrm>
          <a:prstGeom prst="diamond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iamond 59"/>
          <p:cNvSpPr/>
          <p:nvPr/>
        </p:nvSpPr>
        <p:spPr>
          <a:xfrm>
            <a:off x="6007607" y="4041648"/>
            <a:ext cx="146304" cy="146304"/>
          </a:xfrm>
          <a:prstGeom prst="diamond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81344" y="4206240"/>
            <a:ext cx="16916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50" b="0" i="0">
                <a:solidFill>
                  <a:srgbClr val="061F79"/>
                </a:solidFill>
                <a:latin typeface="Arial"/>
              </a:rPr>
              <a:t>CM1 prioritization workshop</a:t>
            </a:r>
          </a:p>
        </p:txBody>
      </p:sp>
      <p:sp>
        <p:nvSpPr>
          <p:cNvPr id="62" name="Diamond 61"/>
          <p:cNvSpPr/>
          <p:nvPr/>
        </p:nvSpPr>
        <p:spPr>
          <a:xfrm>
            <a:off x="8394192" y="4041648"/>
            <a:ext cx="146304" cy="146304"/>
          </a:xfrm>
          <a:prstGeom prst="diamond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11448288" y="4041648"/>
            <a:ext cx="146304" cy="146304"/>
          </a:xfrm>
          <a:prstGeom prst="diamond">
            <a:avLst/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103120" y="4480560"/>
            <a:ext cx="3977639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Design the platform org of the future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63666A"/>
                </a:solidFill>
                <a:latin typeface="Arial"/>
              </a:rPr>
              <a:t>2–3 leadership workshops: archetypes, choices, what makes sense for TU; target structure, spans and layers (hygiene baseline)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121408" y="4562856"/>
            <a:ext cx="45720" cy="566928"/>
          </a:xfrm>
          <a:prstGeom prst="roundRect">
            <a:avLst>
              <a:gd name="adj" fmla="val 8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103120" y="5285232"/>
            <a:ext cx="3977639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Launch strategic workforce planning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>
                <a:solidFill>
                  <a:srgbClr val="63666A"/>
                </a:solidFill>
                <a:latin typeface="Arial"/>
              </a:rPr>
              <a:t>3-year talent demand, AI automation potential, target job family architecture, roles, size and shape of the org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121408" y="5367528"/>
            <a:ext cx="45720" cy="566928"/>
          </a:xfrm>
          <a:prstGeom prst="roundRect">
            <a:avLst>
              <a:gd name="adj" fmla="val 8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080759" y="4480560"/>
            <a:ext cx="3182111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Refresh the global location strategy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63666A"/>
                </a:solidFill>
                <a:latin typeface="Arial"/>
              </a:rPr>
              <a:t>Which roles sit where; what moves first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9047" y="4562856"/>
            <a:ext cx="45720" cy="566928"/>
          </a:xfrm>
          <a:prstGeom prst="roundRect">
            <a:avLst>
              <a:gd name="adj" fmla="val 8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671816" y="5285232"/>
            <a:ext cx="31821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bIns="36576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61F79"/>
                </a:solidFill>
                <a:latin typeface="Arial"/>
              </a:rPr>
              <a:t>Build the skills and culture plan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800" b="0" i="0">
                <a:solidFill>
                  <a:srgbClr val="63666A"/>
                </a:solidFill>
                <a:latin typeface="Arial"/>
              </a:rPr>
              <a:t>Sourcing and upskilling; mindset and behavior shifts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690104" y="5367528"/>
            <a:ext cx="45720" cy="566928"/>
          </a:xfrm>
          <a:prstGeom prst="roundRect">
            <a:avLst>
              <a:gd name="adj" fmla="val 8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viewSticky"/>
          <p:cNvSpPr/>
          <p:nvPr/>
        </p:nvSpPr>
        <p:spPr>
          <a:xfrm>
            <a:off x="9555480" y="36576"/>
            <a:ext cx="2606040" cy="109728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750">
                <a:solidFill>
                  <a:srgbClr val="000000"/>
                </a:solidFill>
                <a:latin typeface="Arial"/>
              </a:rPr>
              <a:t>MEGHA'S LIVE EDITS applied: pilots bar removed; 'integrate the org' off the timeline as the Blueprint outcome box (her wording); location strategy 4 wks (6–9) on row 1, overlapping skills+culture (wks 8–11); dashed link = domain shifts feed SWP; workshop labels clarified; her red text cleaned into intake and SWP bars.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927080" y="4443984"/>
            <a:ext cx="1216152" cy="1645920"/>
          </a:xfrm>
          <a:prstGeom prst="roundRect">
            <a:avLst>
              <a:gd name="adj" fmla="val 6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73152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Blueprint: integrate the org of the future</a:t>
            </a:r>
          </a:p>
          <a:p>
            <a:pPr>
              <a:lnSpc>
                <a:spcPct val="95000"/>
              </a:lnSpc>
              <a:spcBef>
                <a:spcPts val="400"/>
              </a:spcBef>
            </a:pPr>
            <a:r>
              <a:rPr sz="800" b="0">
                <a:solidFill>
                  <a:srgbClr val="FFFFFF"/>
                </a:solidFill>
                <a:latin typeface="Arial"/>
              </a:rPr>
              <a:t>Fold in Track 1 domain shifts; converge structure, skills, culture, and footprint into one blueprint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080760" y="2340864"/>
            <a:ext cx="0" cy="2907792"/>
          </a:xfrm>
          <a:prstGeom prst="line">
            <a:avLst/>
          </a:prstGeom>
          <a:ln w="19050">
            <a:solidFill>
              <a:srgbClr val="2251F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263640" y="327355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800" i="1">
                <a:solidFill>
                  <a:srgbClr val="061F79"/>
                </a:solidFill>
                <a:latin typeface="Arial"/>
              </a:rPr>
              <a:t>Domain workforce shifts feed strategic workforce planning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39312" y="4206240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750">
                <a:solidFill>
                  <a:srgbClr val="061F79"/>
                </a:solidFill>
                <a:latin typeface="Arial"/>
              </a:rPr>
              <a:t>Align prioritization criteria and weightings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0" y="4206240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750">
                <a:solidFill>
                  <a:srgbClr val="061F79"/>
                </a:solidFill>
                <a:latin typeface="Arial"/>
              </a:rPr>
              <a:t>Choose the org archetype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93808" y="420624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750">
                <a:solidFill>
                  <a:srgbClr val="061F79"/>
                </a:solidFill>
                <a:latin typeface="Arial"/>
              </a:rPr>
              <a:t>Align the integrated org blueprint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090FB3AC-E34B-30B9-F23B-7D759C92706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09327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4" imgH="405" progId="TCLayout.ActiveDocument.1">
                  <p:embed/>
                </p:oleObj>
              </mc:Choice>
              <mc:Fallback>
                <p:oleObj name="think-cell Slide" r:id="rId6" imgW="404" imgH="405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090FB3AC-E34B-30B9-F23B-7D759C9270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0AF50648-A519-BEC9-A0CD-8A8212027B9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en-US" dirty="0"/>
              <a:t>Appendix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2901DE5B-D6BC-8A32-7C00-B006A553D995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34777898-D986-99A7-29C2-A90E9DC584F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viewSticky"/>
          <p:cNvSpPr/>
          <p:nvPr/>
        </p:nvSpPr>
        <p:spPr>
          <a:xfrm>
            <a:off x="10561320" y="36576"/>
            <a:ext cx="1600200" cy="27432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800">
                <a:solidFill>
                  <a:srgbClr val="000000"/>
                </a:solidFill>
                <a:latin typeface="Arial"/>
              </a:rPr>
              <a:t>No changes this turn</a:t>
            </a:r>
          </a:p>
        </p:txBody>
      </p:sp>
    </p:spTree>
    <p:extLst>
      <p:ext uri="{BB962C8B-B14F-4D97-AF65-F5344CB8AC3E}">
        <p14:creationId xmlns:p14="http://schemas.microsoft.com/office/powerpoint/2010/main" val="126989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3B75-E45E-72D6-D534-6281C1673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" hidden="1">
            <a:extLst>
              <a:ext uri="{FF2B5EF4-FFF2-40B4-BE49-F238E27FC236}">
                <a16:creationId xmlns:a16="http://schemas.microsoft.com/office/drawing/2014/main" id="{79B6A942-7E7E-5937-0B88-F0063CDA709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98419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395" imgH="396" progId="TCLayout.ActiveDocument.1">
                  <p:embed/>
                </p:oleObj>
              </mc:Choice>
              <mc:Fallback>
                <p:oleObj name="think-cell Slide" r:id="rId23" imgW="395" imgH="396" progId="TCLayout.ActiveDocument.1">
                  <p:embed/>
                  <p:pic>
                    <p:nvPicPr>
                      <p:cNvPr id="8" name="Object 2" hidden="1">
                        <a:extLst>
                          <a:ext uri="{FF2B5EF4-FFF2-40B4-BE49-F238E27FC236}">
                            <a16:creationId xmlns:a16="http://schemas.microsoft.com/office/drawing/2014/main" id="{79B6A942-7E7E-5937-0B88-F0063CDA70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">
            <a:extLst>
              <a:ext uri="{FF2B5EF4-FFF2-40B4-BE49-F238E27FC236}">
                <a16:creationId xmlns:a16="http://schemas.microsoft.com/office/drawing/2014/main" id="{9675B713-DF89-E6FE-206C-43414202239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1D1C1AB0-89EC-2EC4-05EC-7DB9AE6DA4A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363" name="2. Slide Title">
            <a:extLst>
              <a:ext uri="{FF2B5EF4-FFF2-40B4-BE49-F238E27FC236}">
                <a16:creationId xmlns:a16="http://schemas.microsoft.com/office/drawing/2014/main" id="{3DD49E0E-9840-01D2-98EB-8B3EED16995A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/>
          <a:lstStyle/>
          <a:p>
            <a:r>
              <a:rPr lang="en-US">
                <a:solidFill>
                  <a:schemeClr val="accent3"/>
                </a:solidFill>
              </a:rPr>
              <a:t>Identify high-value domains: </a:t>
            </a:r>
            <a:r>
              <a:rPr lang="en-US"/>
              <a:t>End-to-end workflows with clear potential to demonstrate impact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B68C46C6-C93D-2091-091A-DD5B3E87A528}"/>
              </a:ext>
            </a:extLst>
          </p:cNvPr>
          <p:cNvSpPr txBox="1">
            <a:spLocks/>
          </p:cNvSpPr>
          <p:nvPr/>
        </p:nvSpPr>
        <p:spPr>
          <a:xfrm>
            <a:off x="6538430" y="3727699"/>
            <a:ext cx="2882397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25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Balance of E2E impact, leadership excitement, and achievable results in 6-12 m</a:t>
            </a:r>
            <a:r>
              <a:rPr lang="en-US" sz="1400" kern="0" dirty="0">
                <a:latin typeface="Arial"/>
              </a:rPr>
              <a:t>o.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3861F0F-384F-0E3D-4F6A-42F407AEA32C}"/>
              </a:ext>
            </a:extLst>
          </p:cNvPr>
          <p:cNvSpPr txBox="1">
            <a:spLocks/>
          </p:cNvSpPr>
          <p:nvPr/>
        </p:nvSpPr>
        <p:spPr>
          <a:xfrm>
            <a:off x="4049906" y="3727699"/>
            <a:ext cx="2125785" cy="86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25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Too many domains, data sets, and stakeholders to be able to get to meaningful impact quickly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321CEA6-6BAC-7B3D-6C8C-C607E24C914D}"/>
              </a:ext>
            </a:extLst>
          </p:cNvPr>
          <p:cNvSpPr txBox="1">
            <a:spLocks/>
          </p:cNvSpPr>
          <p:nvPr/>
        </p:nvSpPr>
        <p:spPr>
          <a:xfrm>
            <a:off x="9909779" y="3727699"/>
            <a:ext cx="1932531" cy="86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25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Too niche to demonstrate material impact and no data and technical synergies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1019F75-2140-1449-912E-2D8E59FE4FF6}"/>
              </a:ext>
            </a:extLst>
          </p:cNvPr>
          <p:cNvSpPr txBox="1">
            <a:spLocks/>
          </p:cNvSpPr>
          <p:nvPr/>
        </p:nvSpPr>
        <p:spPr>
          <a:xfrm>
            <a:off x="4049906" y="2976164"/>
            <a:ext cx="2125785" cy="7078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Entire enterprise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Too big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A096BE4-EA4A-2D68-9430-7C1467A75194}"/>
              </a:ext>
            </a:extLst>
          </p:cNvPr>
          <p:cNvSpPr txBox="1">
            <a:spLocks/>
          </p:cNvSpPr>
          <p:nvPr/>
        </p:nvSpPr>
        <p:spPr>
          <a:xfrm>
            <a:off x="6538430" y="3206997"/>
            <a:ext cx="2882397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E2E domain –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Just right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754506E4-B667-E3D0-A9DA-292B270AF832}"/>
              </a:ext>
            </a:extLst>
          </p:cNvPr>
          <p:cNvSpPr txBox="1">
            <a:spLocks/>
          </p:cNvSpPr>
          <p:nvPr/>
        </p:nvSpPr>
        <p:spPr>
          <a:xfrm>
            <a:off x="9909780" y="3114664"/>
            <a:ext cx="1756846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Use case – </a:t>
            </a:r>
            <a:br>
              <a:rPr kumimoji="0" 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Too small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1E8CC98-7686-057A-F669-30516F6E951E}"/>
              </a:ext>
            </a:extLst>
          </p:cNvPr>
          <p:cNvSpPr>
            <a:spLocks/>
          </p:cNvSpPr>
          <p:nvPr/>
        </p:nvSpPr>
        <p:spPr>
          <a:xfrm>
            <a:off x="4049906" y="1301615"/>
            <a:ext cx="1756847" cy="1605629"/>
          </a:xfrm>
          <a:prstGeom prst="rect">
            <a:avLst/>
          </a:prstGeom>
          <a:solidFill>
            <a:schemeClr val="accent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64137625-8984-8659-F295-4D8A056D8791}"/>
              </a:ext>
            </a:extLst>
          </p:cNvPr>
          <p:cNvSpPr/>
          <p:nvPr/>
        </p:nvSpPr>
        <p:spPr>
          <a:xfrm>
            <a:off x="7725607" y="1301616"/>
            <a:ext cx="577320" cy="527230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7A54794-7B45-DADF-441E-79AE4FA582C4}"/>
              </a:ext>
            </a:extLst>
          </p:cNvPr>
          <p:cNvSpPr/>
          <p:nvPr/>
        </p:nvSpPr>
        <p:spPr>
          <a:xfrm>
            <a:off x="7135843" y="1840816"/>
            <a:ext cx="577320" cy="527230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8D63EADB-F1D0-951D-EE54-1C91E6177DDC}"/>
              </a:ext>
            </a:extLst>
          </p:cNvPr>
          <p:cNvSpPr/>
          <p:nvPr/>
        </p:nvSpPr>
        <p:spPr>
          <a:xfrm>
            <a:off x="7725892" y="1840470"/>
            <a:ext cx="577320" cy="527230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3559C809-BC75-9628-92CD-E232FAF0F213}"/>
              </a:ext>
            </a:extLst>
          </p:cNvPr>
          <p:cNvSpPr/>
          <p:nvPr/>
        </p:nvSpPr>
        <p:spPr>
          <a:xfrm>
            <a:off x="7135843" y="1301616"/>
            <a:ext cx="577320" cy="527230"/>
          </a:xfrm>
          <a:prstGeom prst="rect">
            <a:avLst/>
          </a:prstGeom>
          <a:solidFill>
            <a:schemeClr val="accent3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AB20E9F-B8B9-A653-3326-7C8AAFD6A0B1}"/>
              </a:ext>
            </a:extLst>
          </p:cNvPr>
          <p:cNvSpPr/>
          <p:nvPr/>
        </p:nvSpPr>
        <p:spPr>
          <a:xfrm>
            <a:off x="8315370" y="1301616"/>
            <a:ext cx="577320" cy="527230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47045591-70E4-8FA6-7F6D-3FB9C7FBC10C}"/>
              </a:ext>
            </a:extLst>
          </p:cNvPr>
          <p:cNvSpPr/>
          <p:nvPr/>
        </p:nvSpPr>
        <p:spPr>
          <a:xfrm>
            <a:off x="8315370" y="1840470"/>
            <a:ext cx="577320" cy="527230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B8375C5-9538-E615-5ACD-0D8E5B4D16D9}"/>
              </a:ext>
            </a:extLst>
          </p:cNvPr>
          <p:cNvSpPr/>
          <p:nvPr/>
        </p:nvSpPr>
        <p:spPr>
          <a:xfrm>
            <a:off x="7135843" y="2376940"/>
            <a:ext cx="577320" cy="527230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BD9AA7A0-4B0C-53C2-D4C1-E48D8A075D92}"/>
              </a:ext>
            </a:extLst>
          </p:cNvPr>
          <p:cNvSpPr/>
          <p:nvPr/>
        </p:nvSpPr>
        <p:spPr>
          <a:xfrm>
            <a:off x="7725892" y="2376940"/>
            <a:ext cx="577320" cy="527230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B7BE9FD9-2844-386A-C2A6-4853BACF79DA}"/>
              </a:ext>
            </a:extLst>
          </p:cNvPr>
          <p:cNvSpPr/>
          <p:nvPr/>
        </p:nvSpPr>
        <p:spPr>
          <a:xfrm>
            <a:off x="8315370" y="2376940"/>
            <a:ext cx="577320" cy="527230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05E524DA-56D7-0A19-A3F8-2E18ABBC2EF8}"/>
              </a:ext>
            </a:extLst>
          </p:cNvPr>
          <p:cNvSpPr/>
          <p:nvPr/>
        </p:nvSpPr>
        <p:spPr>
          <a:xfrm>
            <a:off x="10085933" y="1462799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822A042-1942-8983-0980-556760ADA929}"/>
              </a:ext>
            </a:extLst>
          </p:cNvPr>
          <p:cNvSpPr/>
          <p:nvPr/>
        </p:nvSpPr>
        <p:spPr>
          <a:xfrm>
            <a:off x="10085933" y="1301615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4D338033-E942-3FF7-0E50-EFB775165B2B}"/>
              </a:ext>
            </a:extLst>
          </p:cNvPr>
          <p:cNvSpPr/>
          <p:nvPr/>
        </p:nvSpPr>
        <p:spPr>
          <a:xfrm>
            <a:off x="10085933" y="1785168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6A77D376-D876-45B9-556D-3C89AE08C88A}"/>
              </a:ext>
            </a:extLst>
          </p:cNvPr>
          <p:cNvSpPr/>
          <p:nvPr/>
        </p:nvSpPr>
        <p:spPr>
          <a:xfrm>
            <a:off x="10085933" y="1623984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1A2D6FB9-B37C-EF9A-AED2-34BC399A8F19}"/>
              </a:ext>
            </a:extLst>
          </p:cNvPr>
          <p:cNvSpPr/>
          <p:nvPr/>
        </p:nvSpPr>
        <p:spPr>
          <a:xfrm>
            <a:off x="10085933" y="2107537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D4A2981F-CB12-792D-2142-39B6D4F754ED}"/>
              </a:ext>
            </a:extLst>
          </p:cNvPr>
          <p:cNvSpPr/>
          <p:nvPr/>
        </p:nvSpPr>
        <p:spPr>
          <a:xfrm>
            <a:off x="10085933" y="1946352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7C4039AA-543F-63B7-673D-53DF92B219E1}"/>
              </a:ext>
            </a:extLst>
          </p:cNvPr>
          <p:cNvSpPr/>
          <p:nvPr/>
        </p:nvSpPr>
        <p:spPr>
          <a:xfrm>
            <a:off x="10085933" y="242990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7317E06E-E5B1-9A82-ECB9-38EC7E0E8DC2}"/>
              </a:ext>
            </a:extLst>
          </p:cNvPr>
          <p:cNvSpPr/>
          <p:nvPr/>
        </p:nvSpPr>
        <p:spPr>
          <a:xfrm>
            <a:off x="10085933" y="226872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57677F55-57CF-D0A4-9DA7-1782597D6FD1}"/>
              </a:ext>
            </a:extLst>
          </p:cNvPr>
          <p:cNvSpPr/>
          <p:nvPr/>
        </p:nvSpPr>
        <p:spPr>
          <a:xfrm>
            <a:off x="10085933" y="275227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B4E5287E-7FBD-4F5C-FD0F-00FEA8C442B3}"/>
              </a:ext>
            </a:extLst>
          </p:cNvPr>
          <p:cNvSpPr/>
          <p:nvPr/>
        </p:nvSpPr>
        <p:spPr>
          <a:xfrm>
            <a:off x="10085933" y="259109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FC168D1C-28FF-7823-9CC8-A00C84E89B95}"/>
              </a:ext>
            </a:extLst>
          </p:cNvPr>
          <p:cNvSpPr/>
          <p:nvPr/>
        </p:nvSpPr>
        <p:spPr>
          <a:xfrm>
            <a:off x="9909780" y="1462799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97BCB58D-128A-FC69-8193-3CF6FE448CD2}"/>
              </a:ext>
            </a:extLst>
          </p:cNvPr>
          <p:cNvSpPr/>
          <p:nvPr/>
        </p:nvSpPr>
        <p:spPr>
          <a:xfrm>
            <a:off x="9909780" y="1301615"/>
            <a:ext cx="171470" cy="154967"/>
          </a:xfrm>
          <a:prstGeom prst="rect">
            <a:avLst/>
          </a:prstGeom>
          <a:solidFill>
            <a:schemeClr val="accent2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5492F869-5800-492D-095C-4FFE66A6416F}"/>
              </a:ext>
            </a:extLst>
          </p:cNvPr>
          <p:cNvSpPr/>
          <p:nvPr/>
        </p:nvSpPr>
        <p:spPr>
          <a:xfrm>
            <a:off x="9909780" y="1785168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065BF2DE-486E-8BF8-6AE2-DB86E5D4248B}"/>
              </a:ext>
            </a:extLst>
          </p:cNvPr>
          <p:cNvSpPr/>
          <p:nvPr/>
        </p:nvSpPr>
        <p:spPr>
          <a:xfrm>
            <a:off x="9909780" y="1623984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5351A0E5-7111-DA1B-83B3-B41D58528198}"/>
              </a:ext>
            </a:extLst>
          </p:cNvPr>
          <p:cNvSpPr/>
          <p:nvPr/>
        </p:nvSpPr>
        <p:spPr>
          <a:xfrm>
            <a:off x="9909780" y="2107537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7350559-75D4-DDF6-2BDD-CEAD9B6094B3}"/>
              </a:ext>
            </a:extLst>
          </p:cNvPr>
          <p:cNvSpPr/>
          <p:nvPr/>
        </p:nvSpPr>
        <p:spPr>
          <a:xfrm>
            <a:off x="9909780" y="1946352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319CE67E-E214-6F1C-80CD-39B1530C6362}"/>
              </a:ext>
            </a:extLst>
          </p:cNvPr>
          <p:cNvSpPr/>
          <p:nvPr/>
        </p:nvSpPr>
        <p:spPr>
          <a:xfrm>
            <a:off x="9909780" y="242990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825D0880-069B-A112-9D63-7579B840C889}"/>
              </a:ext>
            </a:extLst>
          </p:cNvPr>
          <p:cNvSpPr/>
          <p:nvPr/>
        </p:nvSpPr>
        <p:spPr>
          <a:xfrm>
            <a:off x="9909780" y="226872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BA18B62-88D2-3E25-EBCB-B7C571635A45}"/>
              </a:ext>
            </a:extLst>
          </p:cNvPr>
          <p:cNvSpPr/>
          <p:nvPr/>
        </p:nvSpPr>
        <p:spPr>
          <a:xfrm>
            <a:off x="9909780" y="275227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69FCB4EE-D602-849B-A2D9-6849824C1F2D}"/>
              </a:ext>
            </a:extLst>
          </p:cNvPr>
          <p:cNvSpPr/>
          <p:nvPr/>
        </p:nvSpPr>
        <p:spPr>
          <a:xfrm>
            <a:off x="9909780" y="259109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26C69276-6D28-0E36-4063-BA4ACD1AF8DE}"/>
              </a:ext>
            </a:extLst>
          </p:cNvPr>
          <p:cNvSpPr/>
          <p:nvPr/>
        </p:nvSpPr>
        <p:spPr>
          <a:xfrm>
            <a:off x="10438238" y="1462799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A5DE53D3-1635-EF13-C0A6-2C7C46619220}"/>
              </a:ext>
            </a:extLst>
          </p:cNvPr>
          <p:cNvSpPr/>
          <p:nvPr/>
        </p:nvSpPr>
        <p:spPr>
          <a:xfrm>
            <a:off x="10438238" y="1301615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4B44ECE7-3DE5-0526-7133-581945FC4CB5}"/>
              </a:ext>
            </a:extLst>
          </p:cNvPr>
          <p:cNvSpPr/>
          <p:nvPr/>
        </p:nvSpPr>
        <p:spPr>
          <a:xfrm>
            <a:off x="10438238" y="1785168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78288B84-1754-F5CD-B1B2-A6CF36AA861A}"/>
              </a:ext>
            </a:extLst>
          </p:cNvPr>
          <p:cNvSpPr/>
          <p:nvPr/>
        </p:nvSpPr>
        <p:spPr>
          <a:xfrm>
            <a:off x="10438238" y="1623984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8EE61FC3-4AA4-3765-AC20-4F9BFFF8218E}"/>
              </a:ext>
            </a:extLst>
          </p:cNvPr>
          <p:cNvSpPr/>
          <p:nvPr/>
        </p:nvSpPr>
        <p:spPr>
          <a:xfrm>
            <a:off x="10438238" y="2107537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3C1A75CF-25AB-BEB1-BE6E-CBDF77A466EB}"/>
              </a:ext>
            </a:extLst>
          </p:cNvPr>
          <p:cNvSpPr/>
          <p:nvPr/>
        </p:nvSpPr>
        <p:spPr>
          <a:xfrm>
            <a:off x="10438238" y="1946352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FFDF2E7D-DE7A-57A8-CDE2-20FF8D01459B}"/>
              </a:ext>
            </a:extLst>
          </p:cNvPr>
          <p:cNvSpPr/>
          <p:nvPr/>
        </p:nvSpPr>
        <p:spPr>
          <a:xfrm>
            <a:off x="10438238" y="242990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CC9F75AE-7E83-F1F7-F2FD-850A1881A651}"/>
              </a:ext>
            </a:extLst>
          </p:cNvPr>
          <p:cNvSpPr/>
          <p:nvPr/>
        </p:nvSpPr>
        <p:spPr>
          <a:xfrm>
            <a:off x="10438238" y="226872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B3E3B357-150E-CC7E-CFB6-987EC1F5B40E}"/>
              </a:ext>
            </a:extLst>
          </p:cNvPr>
          <p:cNvSpPr/>
          <p:nvPr/>
        </p:nvSpPr>
        <p:spPr>
          <a:xfrm>
            <a:off x="10438238" y="275227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F9D56768-1159-E21C-7280-CABD238B88B8}"/>
              </a:ext>
            </a:extLst>
          </p:cNvPr>
          <p:cNvSpPr/>
          <p:nvPr/>
        </p:nvSpPr>
        <p:spPr>
          <a:xfrm>
            <a:off x="10438238" y="259109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F7C19A52-E402-4989-D602-22A98955BE6E}"/>
              </a:ext>
            </a:extLst>
          </p:cNvPr>
          <p:cNvSpPr/>
          <p:nvPr/>
        </p:nvSpPr>
        <p:spPr>
          <a:xfrm>
            <a:off x="10262085" y="1462799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8DF1FEC8-9208-8A50-DD8D-63026BDB56D8}"/>
              </a:ext>
            </a:extLst>
          </p:cNvPr>
          <p:cNvSpPr/>
          <p:nvPr/>
        </p:nvSpPr>
        <p:spPr>
          <a:xfrm>
            <a:off x="10262085" y="1301615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4E9D3C0A-5E87-CBCE-1BFB-A1C0A9D4BF3F}"/>
              </a:ext>
            </a:extLst>
          </p:cNvPr>
          <p:cNvSpPr/>
          <p:nvPr/>
        </p:nvSpPr>
        <p:spPr>
          <a:xfrm>
            <a:off x="10262085" y="1785168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089E2BDB-8728-ED0E-E86F-4B0D67259464}"/>
              </a:ext>
            </a:extLst>
          </p:cNvPr>
          <p:cNvSpPr/>
          <p:nvPr/>
        </p:nvSpPr>
        <p:spPr>
          <a:xfrm>
            <a:off x="10262085" y="1623984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E6179D89-3EAE-5AA3-E4D1-B810416C8AA3}"/>
              </a:ext>
            </a:extLst>
          </p:cNvPr>
          <p:cNvSpPr/>
          <p:nvPr/>
        </p:nvSpPr>
        <p:spPr>
          <a:xfrm>
            <a:off x="10262085" y="2107537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6692ED7B-2092-7BA0-7927-9A3E2FFFA2BB}"/>
              </a:ext>
            </a:extLst>
          </p:cNvPr>
          <p:cNvSpPr/>
          <p:nvPr/>
        </p:nvSpPr>
        <p:spPr>
          <a:xfrm>
            <a:off x="10262085" y="1946352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3138200D-D3CE-5A61-A2D7-1442B1FB96D0}"/>
              </a:ext>
            </a:extLst>
          </p:cNvPr>
          <p:cNvSpPr/>
          <p:nvPr/>
        </p:nvSpPr>
        <p:spPr>
          <a:xfrm>
            <a:off x="10262085" y="242990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7DD1331A-485A-967B-F646-1D9EDEE75187}"/>
              </a:ext>
            </a:extLst>
          </p:cNvPr>
          <p:cNvSpPr/>
          <p:nvPr/>
        </p:nvSpPr>
        <p:spPr>
          <a:xfrm>
            <a:off x="10262085" y="226872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BA9A5F53-98C2-D63A-2454-C764AD0B66DB}"/>
              </a:ext>
            </a:extLst>
          </p:cNvPr>
          <p:cNvSpPr/>
          <p:nvPr/>
        </p:nvSpPr>
        <p:spPr>
          <a:xfrm>
            <a:off x="10262085" y="275227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D47BE987-AC58-D8A3-BD19-FAA0FF0DD3E1}"/>
              </a:ext>
            </a:extLst>
          </p:cNvPr>
          <p:cNvSpPr/>
          <p:nvPr/>
        </p:nvSpPr>
        <p:spPr>
          <a:xfrm>
            <a:off x="10262085" y="259109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FC8698D7-9C49-8ED9-E0D0-537737953994}"/>
              </a:ext>
            </a:extLst>
          </p:cNvPr>
          <p:cNvSpPr/>
          <p:nvPr/>
        </p:nvSpPr>
        <p:spPr>
          <a:xfrm>
            <a:off x="10790543" y="1462799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A24711F0-67B7-E95E-4952-C64DC762221D}"/>
              </a:ext>
            </a:extLst>
          </p:cNvPr>
          <p:cNvSpPr/>
          <p:nvPr/>
        </p:nvSpPr>
        <p:spPr>
          <a:xfrm>
            <a:off x="10790543" y="1301615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DFDF3F4-7814-6C29-4C12-C42B85C67326}"/>
              </a:ext>
            </a:extLst>
          </p:cNvPr>
          <p:cNvSpPr/>
          <p:nvPr/>
        </p:nvSpPr>
        <p:spPr>
          <a:xfrm>
            <a:off x="10790543" y="1785168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8819BFEF-B463-5ECA-4BF4-3F798A99B59D}"/>
              </a:ext>
            </a:extLst>
          </p:cNvPr>
          <p:cNvSpPr/>
          <p:nvPr/>
        </p:nvSpPr>
        <p:spPr>
          <a:xfrm>
            <a:off x="10790543" y="1623984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38DADF2-A4E0-AEAF-2A58-1DEBD62AE51D}"/>
              </a:ext>
            </a:extLst>
          </p:cNvPr>
          <p:cNvSpPr/>
          <p:nvPr/>
        </p:nvSpPr>
        <p:spPr>
          <a:xfrm>
            <a:off x="10790543" y="2107537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FEF41135-20B9-F72D-A069-E0090D919A14}"/>
              </a:ext>
            </a:extLst>
          </p:cNvPr>
          <p:cNvSpPr/>
          <p:nvPr/>
        </p:nvSpPr>
        <p:spPr>
          <a:xfrm>
            <a:off x="10790543" y="1946352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4E36DCDE-BBC3-D6F4-C4C5-02F341F0D666}"/>
              </a:ext>
            </a:extLst>
          </p:cNvPr>
          <p:cNvSpPr/>
          <p:nvPr/>
        </p:nvSpPr>
        <p:spPr>
          <a:xfrm>
            <a:off x="10790543" y="242990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D0E92541-7852-1798-1CAD-625A2B16034B}"/>
              </a:ext>
            </a:extLst>
          </p:cNvPr>
          <p:cNvSpPr/>
          <p:nvPr/>
        </p:nvSpPr>
        <p:spPr>
          <a:xfrm>
            <a:off x="10790543" y="226872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B3D06AA5-1239-996C-27EB-65834C307611}"/>
              </a:ext>
            </a:extLst>
          </p:cNvPr>
          <p:cNvSpPr/>
          <p:nvPr/>
        </p:nvSpPr>
        <p:spPr>
          <a:xfrm>
            <a:off x="10790543" y="275227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261DBFE4-83FE-0C3A-AE04-65A38E10E48A}"/>
              </a:ext>
            </a:extLst>
          </p:cNvPr>
          <p:cNvSpPr/>
          <p:nvPr/>
        </p:nvSpPr>
        <p:spPr>
          <a:xfrm>
            <a:off x="10790543" y="259109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ACF9CDC7-037D-106F-4EBD-499E38F49371}"/>
              </a:ext>
            </a:extLst>
          </p:cNvPr>
          <p:cNvSpPr/>
          <p:nvPr/>
        </p:nvSpPr>
        <p:spPr>
          <a:xfrm>
            <a:off x="10614391" y="1462799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648ED808-0797-3663-523B-29F117191F2F}"/>
              </a:ext>
            </a:extLst>
          </p:cNvPr>
          <p:cNvSpPr/>
          <p:nvPr/>
        </p:nvSpPr>
        <p:spPr>
          <a:xfrm>
            <a:off x="10614391" y="1301615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9FA929AB-07BB-60B1-B61D-E5427A26161A}"/>
              </a:ext>
            </a:extLst>
          </p:cNvPr>
          <p:cNvSpPr/>
          <p:nvPr/>
        </p:nvSpPr>
        <p:spPr>
          <a:xfrm>
            <a:off x="10614391" y="1785168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8154E391-AECD-2A22-689C-60DFEAA999D7}"/>
              </a:ext>
            </a:extLst>
          </p:cNvPr>
          <p:cNvSpPr/>
          <p:nvPr/>
        </p:nvSpPr>
        <p:spPr>
          <a:xfrm>
            <a:off x="10614391" y="1623984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0A3E04FD-A2DA-48E4-C20C-2BB3D560C7EE}"/>
              </a:ext>
            </a:extLst>
          </p:cNvPr>
          <p:cNvSpPr/>
          <p:nvPr/>
        </p:nvSpPr>
        <p:spPr>
          <a:xfrm>
            <a:off x="10614391" y="2107537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1F6517F5-8A00-10D4-464F-80B8005D55BB}"/>
              </a:ext>
            </a:extLst>
          </p:cNvPr>
          <p:cNvSpPr/>
          <p:nvPr/>
        </p:nvSpPr>
        <p:spPr>
          <a:xfrm>
            <a:off x="10614391" y="1946352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9695F544-F067-2AE2-F998-CE6258CC9221}"/>
              </a:ext>
            </a:extLst>
          </p:cNvPr>
          <p:cNvSpPr/>
          <p:nvPr/>
        </p:nvSpPr>
        <p:spPr>
          <a:xfrm>
            <a:off x="10614391" y="242990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889FAA1D-9C3B-2164-88BD-4737D570A1E4}"/>
              </a:ext>
            </a:extLst>
          </p:cNvPr>
          <p:cNvSpPr/>
          <p:nvPr/>
        </p:nvSpPr>
        <p:spPr>
          <a:xfrm>
            <a:off x="10614391" y="226872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1734EED7-4BD9-A0E4-10DE-BC3476BB2708}"/>
              </a:ext>
            </a:extLst>
          </p:cNvPr>
          <p:cNvSpPr/>
          <p:nvPr/>
        </p:nvSpPr>
        <p:spPr>
          <a:xfrm>
            <a:off x="10614391" y="275227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554576F1-25D0-7FD0-8518-41E259DF831C}"/>
              </a:ext>
            </a:extLst>
          </p:cNvPr>
          <p:cNvSpPr/>
          <p:nvPr/>
        </p:nvSpPr>
        <p:spPr>
          <a:xfrm>
            <a:off x="10614391" y="259109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1F92386C-F03D-7DBD-3068-D7617786DA6F}"/>
              </a:ext>
            </a:extLst>
          </p:cNvPr>
          <p:cNvSpPr/>
          <p:nvPr/>
        </p:nvSpPr>
        <p:spPr>
          <a:xfrm>
            <a:off x="11142849" y="1462799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F98C0950-54CF-878A-688E-6BF1318BFB99}"/>
              </a:ext>
            </a:extLst>
          </p:cNvPr>
          <p:cNvSpPr/>
          <p:nvPr/>
        </p:nvSpPr>
        <p:spPr>
          <a:xfrm>
            <a:off x="11142849" y="1301615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C2BBF5F2-D40C-9E6C-2B8E-AC62F7C505C6}"/>
              </a:ext>
            </a:extLst>
          </p:cNvPr>
          <p:cNvSpPr/>
          <p:nvPr/>
        </p:nvSpPr>
        <p:spPr>
          <a:xfrm>
            <a:off x="11142849" y="1785168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DC696449-E78B-B79F-BAA4-74377D7FF848}"/>
              </a:ext>
            </a:extLst>
          </p:cNvPr>
          <p:cNvSpPr/>
          <p:nvPr/>
        </p:nvSpPr>
        <p:spPr>
          <a:xfrm>
            <a:off x="11142849" y="1623984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9EFB562-7392-DFA6-52CB-74E6CB182E34}"/>
              </a:ext>
            </a:extLst>
          </p:cNvPr>
          <p:cNvSpPr/>
          <p:nvPr/>
        </p:nvSpPr>
        <p:spPr>
          <a:xfrm>
            <a:off x="11142849" y="2107537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9E659404-ECF1-AE86-3197-B94EF8A220C7}"/>
              </a:ext>
            </a:extLst>
          </p:cNvPr>
          <p:cNvSpPr/>
          <p:nvPr/>
        </p:nvSpPr>
        <p:spPr>
          <a:xfrm>
            <a:off x="11142849" y="1946352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DFAC1EDE-BB16-1D42-D628-8D67EDBFF9FB}"/>
              </a:ext>
            </a:extLst>
          </p:cNvPr>
          <p:cNvSpPr/>
          <p:nvPr/>
        </p:nvSpPr>
        <p:spPr>
          <a:xfrm>
            <a:off x="11142849" y="242990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8A5D4BF4-29FF-FDD4-F0B3-7ED8D45A5631}"/>
              </a:ext>
            </a:extLst>
          </p:cNvPr>
          <p:cNvSpPr/>
          <p:nvPr/>
        </p:nvSpPr>
        <p:spPr>
          <a:xfrm>
            <a:off x="11142849" y="226872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F49501A2-2882-808C-51F1-FCD2F79AE5D1}"/>
              </a:ext>
            </a:extLst>
          </p:cNvPr>
          <p:cNvSpPr/>
          <p:nvPr/>
        </p:nvSpPr>
        <p:spPr>
          <a:xfrm>
            <a:off x="11142849" y="275227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ACABC2E5-71A5-89FE-02CC-DFC051782E84}"/>
              </a:ext>
            </a:extLst>
          </p:cNvPr>
          <p:cNvSpPr/>
          <p:nvPr/>
        </p:nvSpPr>
        <p:spPr>
          <a:xfrm>
            <a:off x="11142849" y="259109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F1D26DE7-9195-0EE9-95F2-1CF5F409FB6D}"/>
              </a:ext>
            </a:extLst>
          </p:cNvPr>
          <p:cNvSpPr/>
          <p:nvPr/>
        </p:nvSpPr>
        <p:spPr>
          <a:xfrm>
            <a:off x="10966696" y="1462799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F52A440A-2692-EA74-F561-FEA9A44E267C}"/>
              </a:ext>
            </a:extLst>
          </p:cNvPr>
          <p:cNvSpPr/>
          <p:nvPr/>
        </p:nvSpPr>
        <p:spPr>
          <a:xfrm>
            <a:off x="10966696" y="1301615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861E08E1-D386-7F43-7CFF-6541D4781384}"/>
              </a:ext>
            </a:extLst>
          </p:cNvPr>
          <p:cNvSpPr/>
          <p:nvPr/>
        </p:nvSpPr>
        <p:spPr>
          <a:xfrm>
            <a:off x="10966696" y="1785168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80B2C2D5-53CA-B789-60DA-83FF5F9D8B4F}"/>
              </a:ext>
            </a:extLst>
          </p:cNvPr>
          <p:cNvSpPr/>
          <p:nvPr/>
        </p:nvSpPr>
        <p:spPr>
          <a:xfrm>
            <a:off x="10966696" y="1623984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306A3594-D812-CE95-3A87-8001E29B0A82}"/>
              </a:ext>
            </a:extLst>
          </p:cNvPr>
          <p:cNvSpPr/>
          <p:nvPr/>
        </p:nvSpPr>
        <p:spPr>
          <a:xfrm>
            <a:off x="10966696" y="2107537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FE94D71E-D7F3-AC51-2F30-AF67C5491669}"/>
              </a:ext>
            </a:extLst>
          </p:cNvPr>
          <p:cNvSpPr/>
          <p:nvPr/>
        </p:nvSpPr>
        <p:spPr>
          <a:xfrm>
            <a:off x="10966696" y="1946352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7A18C81B-4E83-0754-1BC8-7E9EDBFE1EF0}"/>
              </a:ext>
            </a:extLst>
          </p:cNvPr>
          <p:cNvSpPr/>
          <p:nvPr/>
        </p:nvSpPr>
        <p:spPr>
          <a:xfrm>
            <a:off x="10966696" y="242990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B00A012C-EE44-4BCD-70AE-7D87BC3A9429}"/>
              </a:ext>
            </a:extLst>
          </p:cNvPr>
          <p:cNvSpPr/>
          <p:nvPr/>
        </p:nvSpPr>
        <p:spPr>
          <a:xfrm>
            <a:off x="10966696" y="226872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09347E07-A740-2B4B-C39D-4905DF3CDEFD}"/>
              </a:ext>
            </a:extLst>
          </p:cNvPr>
          <p:cNvSpPr/>
          <p:nvPr/>
        </p:nvSpPr>
        <p:spPr>
          <a:xfrm>
            <a:off x="10966696" y="275227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891E7D7C-BED7-A306-3951-269E911C15A5}"/>
              </a:ext>
            </a:extLst>
          </p:cNvPr>
          <p:cNvSpPr/>
          <p:nvPr/>
        </p:nvSpPr>
        <p:spPr>
          <a:xfrm>
            <a:off x="10966696" y="259109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02ABC7F0-FEA0-AFAC-1418-D1A0EAFEE2B5}"/>
              </a:ext>
            </a:extLst>
          </p:cNvPr>
          <p:cNvSpPr/>
          <p:nvPr/>
        </p:nvSpPr>
        <p:spPr>
          <a:xfrm>
            <a:off x="11495157" y="1462799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14344E72-377B-D417-36DA-A76308844278}"/>
              </a:ext>
            </a:extLst>
          </p:cNvPr>
          <p:cNvSpPr/>
          <p:nvPr/>
        </p:nvSpPr>
        <p:spPr>
          <a:xfrm>
            <a:off x="11495157" y="1301615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7AE7BA98-367D-9F98-6373-82D937C35C92}"/>
              </a:ext>
            </a:extLst>
          </p:cNvPr>
          <p:cNvSpPr/>
          <p:nvPr/>
        </p:nvSpPr>
        <p:spPr>
          <a:xfrm>
            <a:off x="11495157" y="1785168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338120AD-8ADF-3975-17B6-5A24A534F6AE}"/>
              </a:ext>
            </a:extLst>
          </p:cNvPr>
          <p:cNvSpPr/>
          <p:nvPr/>
        </p:nvSpPr>
        <p:spPr>
          <a:xfrm>
            <a:off x="11495157" y="1623984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92835911-28CB-3D48-856B-4569D6095923}"/>
              </a:ext>
            </a:extLst>
          </p:cNvPr>
          <p:cNvSpPr/>
          <p:nvPr/>
        </p:nvSpPr>
        <p:spPr>
          <a:xfrm>
            <a:off x="11495157" y="2107537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FFFC6853-60DE-4DEE-00A6-DC91A86DE527}"/>
              </a:ext>
            </a:extLst>
          </p:cNvPr>
          <p:cNvSpPr/>
          <p:nvPr/>
        </p:nvSpPr>
        <p:spPr>
          <a:xfrm>
            <a:off x="11495157" y="1946352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22BDFFD8-18A8-B5D2-84EB-0341B0C4D8B6}"/>
              </a:ext>
            </a:extLst>
          </p:cNvPr>
          <p:cNvSpPr/>
          <p:nvPr/>
        </p:nvSpPr>
        <p:spPr>
          <a:xfrm>
            <a:off x="11495157" y="242990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6E23CEB-3110-7B98-DF81-5866634B6622}"/>
              </a:ext>
            </a:extLst>
          </p:cNvPr>
          <p:cNvSpPr/>
          <p:nvPr/>
        </p:nvSpPr>
        <p:spPr>
          <a:xfrm>
            <a:off x="11495157" y="226872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55D1E8D1-E55A-529C-4139-75FF5A4C0D7A}"/>
              </a:ext>
            </a:extLst>
          </p:cNvPr>
          <p:cNvSpPr/>
          <p:nvPr/>
        </p:nvSpPr>
        <p:spPr>
          <a:xfrm>
            <a:off x="11495157" y="275227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95EDC1C6-5653-C6B9-300A-96E96EABDB73}"/>
              </a:ext>
            </a:extLst>
          </p:cNvPr>
          <p:cNvSpPr/>
          <p:nvPr/>
        </p:nvSpPr>
        <p:spPr>
          <a:xfrm>
            <a:off x="11495157" y="259109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CC8043CF-9984-54E9-2C88-27764BB713C5}"/>
              </a:ext>
            </a:extLst>
          </p:cNvPr>
          <p:cNvSpPr/>
          <p:nvPr/>
        </p:nvSpPr>
        <p:spPr>
          <a:xfrm>
            <a:off x="11319002" y="1462799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55562093-F70F-4808-8C18-6A69AE16F88B}"/>
              </a:ext>
            </a:extLst>
          </p:cNvPr>
          <p:cNvSpPr/>
          <p:nvPr/>
        </p:nvSpPr>
        <p:spPr>
          <a:xfrm>
            <a:off x="11319002" y="1301615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86298B-0DE5-1F28-190D-F3AACC0B76D7}"/>
              </a:ext>
            </a:extLst>
          </p:cNvPr>
          <p:cNvSpPr/>
          <p:nvPr/>
        </p:nvSpPr>
        <p:spPr>
          <a:xfrm>
            <a:off x="11319002" y="1785168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76CB8666-D601-4341-3B0B-F4876A17EF7F}"/>
              </a:ext>
            </a:extLst>
          </p:cNvPr>
          <p:cNvSpPr/>
          <p:nvPr/>
        </p:nvSpPr>
        <p:spPr>
          <a:xfrm>
            <a:off x="11319002" y="1623984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F4B89495-C60B-9DA6-CF6F-A50DBB6E4777}"/>
              </a:ext>
            </a:extLst>
          </p:cNvPr>
          <p:cNvSpPr/>
          <p:nvPr/>
        </p:nvSpPr>
        <p:spPr>
          <a:xfrm>
            <a:off x="11319002" y="2107537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73FAF358-C20A-5B04-F02F-9418B66B1D8B}"/>
              </a:ext>
            </a:extLst>
          </p:cNvPr>
          <p:cNvSpPr/>
          <p:nvPr/>
        </p:nvSpPr>
        <p:spPr>
          <a:xfrm>
            <a:off x="11319002" y="1946352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7DAFC6A0-17D2-601D-6CB8-CA8B6CDDDF80}"/>
              </a:ext>
            </a:extLst>
          </p:cNvPr>
          <p:cNvSpPr/>
          <p:nvPr/>
        </p:nvSpPr>
        <p:spPr>
          <a:xfrm>
            <a:off x="11319002" y="242990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E633EE3-19E8-C120-CFDF-815DF0970132}"/>
              </a:ext>
            </a:extLst>
          </p:cNvPr>
          <p:cNvSpPr/>
          <p:nvPr/>
        </p:nvSpPr>
        <p:spPr>
          <a:xfrm>
            <a:off x="11319002" y="226872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F72CB5BE-2148-7F39-7942-160839D0A709}"/>
              </a:ext>
            </a:extLst>
          </p:cNvPr>
          <p:cNvSpPr/>
          <p:nvPr/>
        </p:nvSpPr>
        <p:spPr>
          <a:xfrm>
            <a:off x="11319002" y="2752276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02A2A91A-6889-0975-C59C-E9573A14EEAE}"/>
              </a:ext>
            </a:extLst>
          </p:cNvPr>
          <p:cNvSpPr/>
          <p:nvPr/>
        </p:nvSpPr>
        <p:spPr>
          <a:xfrm>
            <a:off x="11319002" y="2591091"/>
            <a:ext cx="171470" cy="154967"/>
          </a:xfrm>
          <a:prstGeom prst="rect">
            <a:avLst/>
          </a:prstGeom>
          <a:solidFill>
            <a:schemeClr val="tx1"/>
          </a:solidFill>
          <a:ln w="317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DA85D54B-BDF7-463B-685A-DF503823E8DD}"/>
              </a:ext>
            </a:extLst>
          </p:cNvPr>
          <p:cNvSpPr txBox="1">
            <a:spLocks/>
          </p:cNvSpPr>
          <p:nvPr/>
        </p:nvSpPr>
        <p:spPr>
          <a:xfrm>
            <a:off x="614816" y="1173606"/>
            <a:ext cx="2523145" cy="246221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sz="1400" baseline="0">
                <a:latin typeface="+mn-lt"/>
              </a:defRPr>
            </a:lvl1pPr>
            <a:lvl2pPr marL="193675" lvl="1" indent="-192088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sz="1400" baseline="0">
                <a:latin typeface="+mn-lt"/>
              </a:defRPr>
            </a:lvl2pPr>
            <a:lvl3pPr marL="457200" lvl="2" indent="-261938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sz="1400" baseline="0">
                <a:latin typeface="+mn-lt"/>
              </a:defRPr>
            </a:lvl3pPr>
            <a:lvl4pPr marL="614363" lvl="3" indent="-155575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sz="1400" baseline="0">
                <a:latin typeface="+mn-lt"/>
              </a:defRPr>
            </a:lvl4pPr>
            <a:lvl5pPr marL="749808" lvl="4" indent="-130175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sz="1400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587" marR="0" lvl="1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25000"/>
              <a:buFont typeface="Arial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What is a domain?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30" name="LineBasicStrong 49">
            <a:extLst>
              <a:ext uri="{FF2B5EF4-FFF2-40B4-BE49-F238E27FC236}">
                <a16:creationId xmlns:a16="http://schemas.microsoft.com/office/drawing/2014/main" id="{57AFCC21-1EB3-9474-5979-1D0C1F1FF066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14815" y="1490552"/>
            <a:ext cx="2523145" cy="0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5788;p659">
            <a:extLst>
              <a:ext uri="{FF2B5EF4-FFF2-40B4-BE49-F238E27FC236}">
                <a16:creationId xmlns:a16="http://schemas.microsoft.com/office/drawing/2014/main" id="{9CD7527F-575B-0B37-A2E2-35E86C1C01C4}"/>
              </a:ext>
            </a:extLst>
          </p:cNvPr>
          <p:cNvSpPr>
            <a:spLocks/>
          </p:cNvSpPr>
          <p:nvPr/>
        </p:nvSpPr>
        <p:spPr>
          <a:xfrm>
            <a:off x="4049906" y="6146029"/>
            <a:ext cx="7868039" cy="303777"/>
          </a:xfrm>
          <a:prstGeom prst="roundRect">
            <a:avLst/>
          </a:prstGeom>
          <a:solidFill>
            <a:schemeClr val="accent3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domain can have multiple business units or functions depending on the org structure of the enterprise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78828F-5BAD-BC62-6BF0-04BE56622041}"/>
              </a:ext>
            </a:extLst>
          </p:cNvPr>
          <p:cNvSpPr/>
          <p:nvPr/>
        </p:nvSpPr>
        <p:spPr>
          <a:xfrm>
            <a:off x="6342419" y="1194224"/>
            <a:ext cx="3343694" cy="4889519"/>
          </a:xfrm>
          <a:prstGeom prst="rect">
            <a:avLst/>
          </a:prstGeom>
          <a:noFill/>
          <a:ln w="19050" cap="sq">
            <a:solidFill>
              <a:schemeClr val="accent2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477792-F2FE-BC7D-158A-47F916818021}"/>
              </a:ext>
            </a:extLst>
          </p:cNvPr>
          <p:cNvSpPr txBox="1"/>
          <p:nvPr/>
        </p:nvSpPr>
        <p:spPr>
          <a:xfrm>
            <a:off x="6342419" y="957765"/>
            <a:ext cx="954333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i="1" u="none" strike="noStrike" kern="1200" cap="none" spc="0" normalizeH="0" baseline="0" noProof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Recommended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D5452CA-B433-4D68-9042-24C1E03103F1}"/>
              </a:ext>
            </a:extLst>
          </p:cNvPr>
          <p:cNvCxnSpPr>
            <a:cxnSpLocks/>
          </p:cNvCxnSpPr>
          <p:nvPr/>
        </p:nvCxnSpPr>
        <p:spPr>
          <a:xfrm>
            <a:off x="3612618" y="1173606"/>
            <a:ext cx="0" cy="4910137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15E623-BF77-9BC3-F89D-7F7FE0E0CB31}"/>
              </a:ext>
            </a:extLst>
          </p:cNvPr>
          <p:cNvSpPr txBox="1">
            <a:spLocks/>
          </p:cNvSpPr>
          <p:nvPr/>
        </p:nvSpPr>
        <p:spPr>
          <a:xfrm>
            <a:off x="630319" y="1611681"/>
            <a:ext cx="2622036" cy="4739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One unit of transformation </a:t>
            </a:r>
            <a:r>
              <a:rPr lang="en-US" dirty="0"/>
              <a:t>— an end-to-end journey, workflow, or function reimagined as a whole, not use case by use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 meaningful value pool </a:t>
            </a:r>
            <a:r>
              <a:rPr lang="en-US" dirty="0"/>
              <a:t>— material upside in revenue, cost, risk, or customer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Big enough to matter, specific enough to own </a:t>
            </a:r>
            <a:r>
              <a:rPr lang="en-US" dirty="0"/>
              <a:t>— one accountable owner, a measurable baseline, a sequence able roadmap</a:t>
            </a:r>
          </a:p>
        </p:txBody>
      </p:sp>
      <p:grpSp>
        <p:nvGrpSpPr>
          <p:cNvPr id="24" name="ThreeChevronBlue 24">
            <a:extLst>
              <a:ext uri="{FF2B5EF4-FFF2-40B4-BE49-F238E27FC236}">
                <a16:creationId xmlns:a16="http://schemas.microsoft.com/office/drawing/2014/main" id="{CD12F1A1-9A4A-2D02-B750-BE893E5B187F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3414504" y="2915895"/>
            <a:ext cx="396228" cy="396228"/>
            <a:chOff x="1016000" y="1016000"/>
            <a:chExt cx="396228" cy="39622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B89488F-FFE0-CF35-15BF-53662FF69DEE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88F4EBE7-DA6B-9FE6-63D9-C5B5AE2641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33147E1-C22C-077F-C436-CDAF4329E9C5}"/>
              </a:ext>
            </a:extLst>
          </p:cNvPr>
          <p:cNvSpPr txBox="1">
            <a:spLocks/>
          </p:cNvSpPr>
          <p:nvPr/>
        </p:nvSpPr>
        <p:spPr>
          <a:xfrm>
            <a:off x="6538430" y="4674934"/>
            <a:ext cx="2882397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Examples</a:t>
            </a:r>
          </a:p>
        </p:txBody>
      </p:sp>
      <p:cxnSp>
        <p:nvCxnSpPr>
          <p:cNvPr id="46" name="LineBasicStrong 49">
            <a:extLst>
              <a:ext uri="{FF2B5EF4-FFF2-40B4-BE49-F238E27FC236}">
                <a16:creationId xmlns:a16="http://schemas.microsoft.com/office/drawing/2014/main" id="{2959AB0F-1901-884B-E89D-389ED65804A2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6538431" y="4643150"/>
            <a:ext cx="2882397" cy="0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F0A9BBB4-05BD-1EAF-B08E-94E1EC22D2B2}"/>
              </a:ext>
            </a:extLst>
          </p:cNvPr>
          <p:cNvGrpSpPr/>
          <p:nvPr/>
        </p:nvGrpSpPr>
        <p:grpSpPr>
          <a:xfrm>
            <a:off x="6500331" y="5020149"/>
            <a:ext cx="1249617" cy="185928"/>
            <a:chOff x="6500331" y="5020149"/>
            <a:chExt cx="1249617" cy="185928"/>
          </a:xfrm>
        </p:grpSpPr>
        <p:sp>
          <p:nvSpPr>
            <p:cNvPr id="47" name="TrackerNumBlue 47">
              <a:extLst>
                <a:ext uri="{FF2B5EF4-FFF2-40B4-BE49-F238E27FC236}">
                  <a16:creationId xmlns:a16="http://schemas.microsoft.com/office/drawing/2014/main" id="{4A1EBD4D-57BD-CCBA-005F-DF9AAAC1411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500331" y="5020149"/>
              <a:ext cx="185928" cy="185928"/>
            </a:xfrm>
            <a:prstGeom prst="ellipse">
              <a:avLst/>
            </a:prstGeom>
            <a:solidFill>
              <a:schemeClr val="accent3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99F19E1-123F-1A03-3B57-136F24F09D4A}"/>
                </a:ext>
              </a:extLst>
            </p:cNvPr>
            <p:cNvSpPr txBox="1">
              <a:spLocks/>
            </p:cNvSpPr>
            <p:nvPr/>
          </p:nvSpPr>
          <p:spPr>
            <a:xfrm>
              <a:off x="6722101" y="5020780"/>
              <a:ext cx="1027847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200" b="0" i="1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PDLC/SDLC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7AAAC28-0EF7-5006-4179-E414BABF7734}"/>
              </a:ext>
            </a:extLst>
          </p:cNvPr>
          <p:cNvGrpSpPr/>
          <p:nvPr/>
        </p:nvGrpSpPr>
        <p:grpSpPr>
          <a:xfrm>
            <a:off x="8065053" y="5463420"/>
            <a:ext cx="1593852" cy="185928"/>
            <a:chOff x="8065053" y="5020149"/>
            <a:chExt cx="1593852" cy="185928"/>
          </a:xfrm>
        </p:grpSpPr>
        <p:sp>
          <p:nvSpPr>
            <p:cNvPr id="52" name="TrackerNumBlue 47">
              <a:extLst>
                <a:ext uri="{FF2B5EF4-FFF2-40B4-BE49-F238E27FC236}">
                  <a16:creationId xmlns:a16="http://schemas.microsoft.com/office/drawing/2014/main" id="{B13C0FA8-F562-4D6B-27E9-5889B698879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065053" y="5020149"/>
              <a:ext cx="185928" cy="185928"/>
            </a:xfrm>
            <a:prstGeom prst="ellipse">
              <a:avLst/>
            </a:prstGeom>
            <a:solidFill>
              <a:schemeClr val="accent3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439178F-609A-895D-BDEA-EB713211C268}"/>
                </a:ext>
              </a:extLst>
            </p:cNvPr>
            <p:cNvSpPr txBox="1">
              <a:spLocks/>
            </p:cNvSpPr>
            <p:nvPr/>
          </p:nvSpPr>
          <p:spPr>
            <a:xfrm>
              <a:off x="8298333" y="5020149"/>
              <a:ext cx="13605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 kumimoji="0" sz="1200" b="0" i="1" u="none" strike="noStrike" cap="none" spc="0" normalizeH="0" baseline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Arial"/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</a:rPr>
                <a:t>Product marketing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3C68112-68C9-FD49-F541-1EE25D2655F2}"/>
              </a:ext>
            </a:extLst>
          </p:cNvPr>
          <p:cNvGrpSpPr/>
          <p:nvPr/>
        </p:nvGrpSpPr>
        <p:grpSpPr>
          <a:xfrm>
            <a:off x="8065053" y="5020149"/>
            <a:ext cx="1491299" cy="185928"/>
            <a:chOff x="6500331" y="5791264"/>
            <a:chExt cx="1491299" cy="185928"/>
          </a:xfrm>
        </p:grpSpPr>
        <p:sp>
          <p:nvSpPr>
            <p:cNvPr id="50" name="TrackerNumBlue 47">
              <a:extLst>
                <a:ext uri="{FF2B5EF4-FFF2-40B4-BE49-F238E27FC236}">
                  <a16:creationId xmlns:a16="http://schemas.microsoft.com/office/drawing/2014/main" id="{D3831E9B-97AF-DC12-6AA3-B8E9549BC2E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500331" y="5791264"/>
              <a:ext cx="185928" cy="185928"/>
            </a:xfrm>
            <a:prstGeom prst="ellipse">
              <a:avLst/>
            </a:prstGeom>
            <a:solidFill>
              <a:schemeClr val="accent3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63F859-FCCA-C588-48DE-924208F08581}"/>
                </a:ext>
              </a:extLst>
            </p:cNvPr>
            <p:cNvSpPr txBox="1">
              <a:spLocks/>
            </p:cNvSpPr>
            <p:nvPr/>
          </p:nvSpPr>
          <p:spPr>
            <a:xfrm>
              <a:off x="6722101" y="5792526"/>
              <a:ext cx="1269529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Sales enablement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6826DF7-A985-CCDF-96D4-B883E1F887A3}"/>
              </a:ext>
            </a:extLst>
          </p:cNvPr>
          <p:cNvGrpSpPr/>
          <p:nvPr/>
        </p:nvGrpSpPr>
        <p:grpSpPr>
          <a:xfrm>
            <a:off x="6500331" y="5462788"/>
            <a:ext cx="1526259" cy="185928"/>
            <a:chOff x="6500331" y="5431469"/>
            <a:chExt cx="1526259" cy="185928"/>
          </a:xfrm>
        </p:grpSpPr>
        <p:sp>
          <p:nvSpPr>
            <p:cNvPr id="49" name="TrackerNumBlue 47">
              <a:extLst>
                <a:ext uri="{FF2B5EF4-FFF2-40B4-BE49-F238E27FC236}">
                  <a16:creationId xmlns:a16="http://schemas.microsoft.com/office/drawing/2014/main" id="{7D8FF056-7623-4B76-82BA-F5A186DD4E69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500331" y="5431469"/>
              <a:ext cx="185928" cy="185928"/>
            </a:xfrm>
            <a:prstGeom prst="ellipse">
              <a:avLst/>
            </a:prstGeom>
            <a:solidFill>
              <a:schemeClr val="accent3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7359DF3-8AB7-E4A4-F465-EBE9D35588FF}"/>
                </a:ext>
              </a:extLst>
            </p:cNvPr>
            <p:cNvSpPr txBox="1">
              <a:spLocks/>
            </p:cNvSpPr>
            <p:nvPr/>
          </p:nvSpPr>
          <p:spPr>
            <a:xfrm>
              <a:off x="6722101" y="5432100"/>
              <a:ext cx="1304489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Client onboarding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2B69E5A-0CC6-D0C5-FB05-6D79B6FAA2E8}"/>
              </a:ext>
            </a:extLst>
          </p:cNvPr>
          <p:cNvSpPr txBox="1">
            <a:spLocks/>
          </p:cNvSpPr>
          <p:nvPr/>
        </p:nvSpPr>
        <p:spPr>
          <a:xfrm>
            <a:off x="4049906" y="4674934"/>
            <a:ext cx="212578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Examples</a:t>
            </a:r>
          </a:p>
        </p:txBody>
      </p:sp>
      <p:cxnSp>
        <p:nvCxnSpPr>
          <p:cNvPr id="29" name="LineBasicStrong 49">
            <a:extLst>
              <a:ext uri="{FF2B5EF4-FFF2-40B4-BE49-F238E27FC236}">
                <a16:creationId xmlns:a16="http://schemas.microsoft.com/office/drawing/2014/main" id="{79DB15D9-B212-91EB-326A-8BACE7A387B0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4049906" y="4643150"/>
            <a:ext cx="2125785" cy="0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FADF73D-4CFF-616B-8114-85D1075869DD}"/>
              </a:ext>
            </a:extLst>
          </p:cNvPr>
          <p:cNvSpPr txBox="1">
            <a:spLocks/>
          </p:cNvSpPr>
          <p:nvPr/>
        </p:nvSpPr>
        <p:spPr>
          <a:xfrm>
            <a:off x="9909779" y="4674934"/>
            <a:ext cx="1932531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Examples</a:t>
            </a:r>
          </a:p>
        </p:txBody>
      </p:sp>
      <p:cxnSp>
        <p:nvCxnSpPr>
          <p:cNvPr id="31" name="LineBasicStrong 49">
            <a:extLst>
              <a:ext uri="{FF2B5EF4-FFF2-40B4-BE49-F238E27FC236}">
                <a16:creationId xmlns:a16="http://schemas.microsoft.com/office/drawing/2014/main" id="{64EE0FF1-BB0F-DBA4-6936-EA972E4E7607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9909779" y="4643150"/>
            <a:ext cx="1932531" cy="0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rackerNumBlue 47">
            <a:extLst>
              <a:ext uri="{FF2B5EF4-FFF2-40B4-BE49-F238E27FC236}">
                <a16:creationId xmlns:a16="http://schemas.microsoft.com/office/drawing/2014/main" id="{A56C7942-A17A-7215-5B7C-BBF34FAC9EE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49906" y="5020149"/>
            <a:ext cx="185928" cy="185928"/>
          </a:xfrm>
          <a:prstGeom prst="ellipse">
            <a:avLst/>
          </a:prstGeom>
          <a:solidFill>
            <a:schemeClr val="accent3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00A22E-47D3-27DD-87F9-A403421D0BD0}"/>
              </a:ext>
            </a:extLst>
          </p:cNvPr>
          <p:cNvSpPr txBox="1">
            <a:spLocks/>
          </p:cNvSpPr>
          <p:nvPr/>
        </p:nvSpPr>
        <p:spPr>
          <a:xfrm>
            <a:off x="4331504" y="5653989"/>
            <a:ext cx="1650933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Support services</a:t>
            </a:r>
          </a:p>
        </p:txBody>
      </p:sp>
      <p:sp>
        <p:nvSpPr>
          <p:cNvPr id="34" name="TrackerNumBlue 47">
            <a:extLst>
              <a:ext uri="{FF2B5EF4-FFF2-40B4-BE49-F238E27FC236}">
                <a16:creationId xmlns:a16="http://schemas.microsoft.com/office/drawing/2014/main" id="{802DCFDA-7465-AC2F-12FE-A2DC31B46D8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49906" y="5335394"/>
            <a:ext cx="185928" cy="185928"/>
          </a:xfrm>
          <a:prstGeom prst="ellipse">
            <a:avLst/>
          </a:prstGeom>
          <a:solidFill>
            <a:schemeClr val="accent3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B5F930-3293-5967-AE64-A7C75ECE2C60}"/>
              </a:ext>
            </a:extLst>
          </p:cNvPr>
          <p:cNvSpPr txBox="1">
            <a:spLocks/>
          </p:cNvSpPr>
          <p:nvPr/>
        </p:nvSpPr>
        <p:spPr>
          <a:xfrm>
            <a:off x="4331504" y="5336025"/>
            <a:ext cx="1650933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Risk and compliance</a:t>
            </a:r>
          </a:p>
        </p:txBody>
      </p:sp>
      <p:sp>
        <p:nvSpPr>
          <p:cNvPr id="36" name="TrackerNumBlue 47">
            <a:extLst>
              <a:ext uri="{FF2B5EF4-FFF2-40B4-BE49-F238E27FC236}">
                <a16:creationId xmlns:a16="http://schemas.microsoft.com/office/drawing/2014/main" id="{D4BCC9D5-5908-D30E-CE05-04024D410616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049906" y="5652727"/>
            <a:ext cx="185928" cy="185928"/>
          </a:xfrm>
          <a:prstGeom prst="ellipse">
            <a:avLst/>
          </a:prstGeom>
          <a:solidFill>
            <a:schemeClr val="accent3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B66508-B555-214E-F211-E55FCACEE380}"/>
              </a:ext>
            </a:extLst>
          </p:cNvPr>
          <p:cNvSpPr txBox="1">
            <a:spLocks/>
          </p:cNvSpPr>
          <p:nvPr/>
        </p:nvSpPr>
        <p:spPr>
          <a:xfrm>
            <a:off x="4331504" y="5021411"/>
            <a:ext cx="1650933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r>
              <a:rPr lang="en-US" sz="1200" i="1" dirty="0">
                <a:latin typeface="Arial"/>
              </a:rPr>
              <a:t>Full operations</a:t>
            </a:r>
            <a:endParaRPr kumimoji="0" lang="en-US" sz="12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TrackerNumBlue 47">
            <a:extLst>
              <a:ext uri="{FF2B5EF4-FFF2-40B4-BE49-F238E27FC236}">
                <a16:creationId xmlns:a16="http://schemas.microsoft.com/office/drawing/2014/main" id="{5E02D551-D941-A154-87F7-FB253DEF317B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9909779" y="5020149"/>
            <a:ext cx="185928" cy="185928"/>
          </a:xfrm>
          <a:prstGeom prst="ellipse">
            <a:avLst/>
          </a:prstGeom>
          <a:solidFill>
            <a:schemeClr val="accent3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AF8BA1-05ED-F180-01ED-ED23A05F265D}"/>
              </a:ext>
            </a:extLst>
          </p:cNvPr>
          <p:cNvSpPr txBox="1">
            <a:spLocks/>
          </p:cNvSpPr>
          <p:nvPr/>
        </p:nvSpPr>
        <p:spPr>
          <a:xfrm>
            <a:off x="10191377" y="5021411"/>
            <a:ext cx="1650933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i="1" dirty="0"/>
              <a:t>AI-led code generation</a:t>
            </a:r>
          </a:p>
        </p:txBody>
      </p:sp>
      <p:sp>
        <p:nvSpPr>
          <p:cNvPr id="48" name="TrackerNumBlue 47">
            <a:extLst>
              <a:ext uri="{FF2B5EF4-FFF2-40B4-BE49-F238E27FC236}">
                <a16:creationId xmlns:a16="http://schemas.microsoft.com/office/drawing/2014/main" id="{382A785F-3798-EDC3-626D-0C66DEEA0A77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9909779" y="5335394"/>
            <a:ext cx="185928" cy="185928"/>
          </a:xfrm>
          <a:prstGeom prst="ellipse">
            <a:avLst/>
          </a:prstGeom>
          <a:solidFill>
            <a:schemeClr val="accent3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CE5BDE-8250-DC2C-0CD1-7AFEA7484171}"/>
              </a:ext>
            </a:extLst>
          </p:cNvPr>
          <p:cNvSpPr txBox="1">
            <a:spLocks/>
          </p:cNvSpPr>
          <p:nvPr/>
        </p:nvSpPr>
        <p:spPr>
          <a:xfrm>
            <a:off x="10191377" y="5335394"/>
            <a:ext cx="1650933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r>
              <a:rPr lang="en-US" sz="1200" i="1" dirty="0">
                <a:latin typeface="Arial"/>
              </a:rPr>
              <a:t>AI-led contract review</a:t>
            </a:r>
            <a:endParaRPr kumimoji="0" lang="en-US" sz="12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rackerNumBlue 47">
            <a:extLst>
              <a:ext uri="{FF2B5EF4-FFF2-40B4-BE49-F238E27FC236}">
                <a16:creationId xmlns:a16="http://schemas.microsoft.com/office/drawing/2014/main" id="{AFFBFC12-91B1-B99E-DE7A-6B1E058B83BF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9909779" y="5652727"/>
            <a:ext cx="185928" cy="185928"/>
          </a:xfrm>
          <a:prstGeom prst="ellipse">
            <a:avLst/>
          </a:prstGeom>
          <a:solidFill>
            <a:schemeClr val="accent3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D0125-1B4F-794A-9196-B58BF55F0431}"/>
              </a:ext>
            </a:extLst>
          </p:cNvPr>
          <p:cNvSpPr txBox="1">
            <a:spLocks/>
          </p:cNvSpPr>
          <p:nvPr/>
        </p:nvSpPr>
        <p:spPr>
          <a:xfrm>
            <a:off x="10191377" y="5653989"/>
            <a:ext cx="1650933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r>
              <a:rPr lang="en-US" sz="1200" i="1" dirty="0">
                <a:latin typeface="Arial"/>
              </a:rPr>
              <a:t>Automated lead gen</a:t>
            </a:r>
            <a:endParaRPr kumimoji="0" lang="en-US" sz="12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372" name="ReviewSticky"/>
          <p:cNvSpPr/>
          <p:nvPr/>
        </p:nvSpPr>
        <p:spPr>
          <a:xfrm>
            <a:off x="10561320" y="36576"/>
            <a:ext cx="1600200" cy="27432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800">
                <a:solidFill>
                  <a:srgbClr val="000000"/>
                </a:solidFill>
                <a:latin typeface="Arial"/>
              </a:rPr>
              <a:t>No changes this turn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83208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  <p:tag name="ICONENCLOSURE" val="True"/>
  <p:tag name="LINKEDPICTURESLINKREMOVED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hlT7lGQomWkE8tnMs3l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PlusSign"/>
  <p:tag name="CIRCLESTATUS" val="White"/>
  <p:tag name="NAME" val="PlusSignWhit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PlusSign"/>
  <p:tag name="CIRCLESTATUS" val="White"/>
  <p:tag name="NAME" val="PlusSignWhi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6333551828414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RCLESTATUS" val="Blue"/>
  <p:tag name="NAME" val="ThreeChevronBlue"/>
  <p:tag name="SYMBOLNAME" val="ThreeChevron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3930A782-7855-431F-B7AE-35B9494F4F2B}" vid="{DE15729B-A53C-4F17-8E30-E89302E1D290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3930A782-7855-431F-B7AE-35B9494F4F2B}" vid="{B1915C88-7403-4DE5-8BD1-7CFB569789DE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5D7FC1-4B3C-41F0-ACC6-320D438A080B}">
  <we:reference id="5332053f-08b1-4ad5-b936-144d44d33f40" version="2.62.2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B347756AEE8344BB28CD44EC2B7328" ma:contentTypeVersion="14" ma:contentTypeDescription="Create a new document." ma:contentTypeScope="" ma:versionID="7848285eb86c98fd3225cd5e062a9123">
  <xsd:schema xmlns:xsd="http://www.w3.org/2001/XMLSchema" xmlns:xs="http://www.w3.org/2001/XMLSchema" xmlns:p="http://schemas.microsoft.com/office/2006/metadata/properties" xmlns:ns2="c1ca735a-14db-4567-a159-d67c2473f960" xmlns:ns3="a97def03-4829-427a-a25e-2157731fbb05" targetNamespace="http://schemas.microsoft.com/office/2006/metadata/properties" ma:root="true" ma:fieldsID="b59c3fcbebbca2e69bd6f4f4a8da0cee" ns2:_="" ns3:_="">
    <xsd:import namespace="c1ca735a-14db-4567-a159-d67c2473f960"/>
    <xsd:import namespace="a97def03-4829-427a-a25e-2157731fbb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ca735a-14db-4567-a159-d67c2473f9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def03-4829-427a-a25e-2157731fbb0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42e6c6cb-bb7d-451c-b4ef-6310a7d27395}" ma:internalName="TaxCatchAll" ma:showField="CatchAllData" ma:web="a97def03-4829-427a-a25e-2157731fbb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ca735a-14db-4567-a159-d67c2473f960">
      <Terms xmlns="http://schemas.microsoft.com/office/infopath/2007/PartnerControls"/>
    </lcf76f155ced4ddcb4097134ff3c332f>
    <TaxCatchAll xmlns="a97def03-4829-427a-a25e-2157731fbb05" xsi:nil="true"/>
  </documentManagement>
</p:properties>
</file>

<file path=customXml/itemProps1.xml><?xml version="1.0" encoding="utf-8"?>
<ds:datastoreItem xmlns:ds="http://schemas.openxmlformats.org/officeDocument/2006/customXml" ds:itemID="{F4E74280-4338-4575-9228-D65BD4AFFA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ca735a-14db-4567-a159-d67c2473f960"/>
    <ds:schemaRef ds:uri="a97def03-4829-427a-a25e-2157731fbb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a97def03-4829-427a-a25e-2157731fbb05"/>
    <ds:schemaRef ds:uri="c1ca735a-14db-4567-a159-d67c2473f96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677</TotalTime>
  <Words>1361</Words>
  <Application>Microsoft Office PowerPoint</Application>
  <PresentationFormat>Widescreen</PresentationFormat>
  <Paragraphs>160</Paragraphs>
  <Slides>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Georgia</vt:lpstr>
      <vt:lpstr>Segoe UI</vt:lpstr>
      <vt:lpstr>Wingdings</vt:lpstr>
      <vt:lpstr>White</vt:lpstr>
      <vt:lpstr>Contrast</vt:lpstr>
      <vt:lpstr>think-cell Slide</vt:lpstr>
      <vt:lpstr>AI domain prioritization and org blueprint </vt:lpstr>
      <vt:lpstr>TU is at an inflection point to identify and focus where AI creates value and build the organization to deliver it</vt:lpstr>
      <vt:lpstr>PowerPoint Presentation</vt:lpstr>
      <vt:lpstr>Track 1: AI Domain prioritization and value roadmap -        Key questions to be answered</vt:lpstr>
      <vt:lpstr>Track 2: Org of the future - Key questions to be answered</vt:lpstr>
      <vt:lpstr>Journey ahead for TU across the two tracks</vt:lpstr>
      <vt:lpstr>Appendix</vt:lpstr>
      <vt:lpstr>Identify high-value domains: End-to-end workflows with clear potential to demonstrate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Parth Bahl</dc:creator>
  <cp:keywords/>
  <dc:description/>
  <cp:lastModifiedBy>Parth Bahl</cp:lastModifiedBy>
  <cp:revision>5</cp:revision>
  <cp:lastPrinted>2018-10-30T20:37:12Z</cp:lastPrinted>
  <dcterms:created xsi:type="dcterms:W3CDTF">2026-07-22T15:34:39Z</dcterms:created>
  <dcterms:modified xsi:type="dcterms:W3CDTF">2026-07-23T19:57:12Z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0x010100F2B347756AEE8344BB28CD44EC2B7328</vt:lpwstr>
  </property>
  <property fmtid="{D5CDD505-2E9C-101B-9397-08002B2CF9AE}" pid="10" name="MSIP_Label_fec09dec-a9ce-4322-b578-b49052c992d8_Enabled">
    <vt:lpwstr>true</vt:lpwstr>
  </property>
  <property fmtid="{D5CDD505-2E9C-101B-9397-08002B2CF9AE}" pid="11" name="MSIP_Label_fec09dec-a9ce-4322-b578-b49052c992d8_SetDate">
    <vt:lpwstr>2026-06-01T18:59:52Z</vt:lpwstr>
  </property>
  <property fmtid="{D5CDD505-2E9C-101B-9397-08002B2CF9AE}" pid="12" name="MSIP_Label_fec09dec-a9ce-4322-b578-b49052c992d8_Method">
    <vt:lpwstr>Standard</vt:lpwstr>
  </property>
  <property fmtid="{D5CDD505-2E9C-101B-9397-08002B2CF9AE}" pid="13" name="MSIP_Label_fec09dec-a9ce-4322-b578-b49052c992d8_Name">
    <vt:lpwstr>Firm Confidential Information-SLV1</vt:lpwstr>
  </property>
  <property fmtid="{D5CDD505-2E9C-101B-9397-08002B2CF9AE}" pid="14" name="MSIP_Label_fec09dec-a9ce-4322-b578-b49052c992d8_SiteId">
    <vt:lpwstr>cc8936bc-9382-4fff-87cb-6f55999549e7</vt:lpwstr>
  </property>
  <property fmtid="{D5CDD505-2E9C-101B-9397-08002B2CF9AE}" pid="15" name="MSIP_Label_fec09dec-a9ce-4322-b578-b49052c992d8_ActionId">
    <vt:lpwstr>b2d4adc9-fc6a-437a-8263-96c4b9a66d0c</vt:lpwstr>
  </property>
  <property fmtid="{D5CDD505-2E9C-101B-9397-08002B2CF9AE}" pid="16" name="MSIP_Label_fec09dec-a9ce-4322-b578-b49052c992d8_ContentBits">
    <vt:lpwstr>0</vt:lpwstr>
  </property>
  <property fmtid="{D5CDD505-2E9C-101B-9397-08002B2CF9AE}" pid="17" name="MSIP_Label_fec09dec-a9ce-4322-b578-b49052c992d8_Tag">
    <vt:lpwstr>10, 3, 0, 1</vt:lpwstr>
  </property>
</Properties>
</file>