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557784" y="932688"/>
            <a:ext cx="5440680" cy="420624"/>
          </a:xfrm>
          <a:prstGeom prst="roundRect">
            <a:avLst>
              <a:gd name="adj" fmla="val 35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932688"/>
            <a:ext cx="5212080" cy="420624"/>
          </a:xfrm>
          <a:prstGeom prst="roundRect">
            <a:avLst>
              <a:gd name="adj" fmla="val 35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6044184" y="97840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" y="1517904"/>
            <a:ext cx="5440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581912"/>
            <a:ext cx="52943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 AI initiative intake + domain clustering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" y="1819655"/>
            <a:ext cx="167335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Enterprise-wide intake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7188" y="1819655"/>
            <a:ext cx="167335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Cluster to E2E domains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3692" y="1819655"/>
            <a:ext cx="126187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10–15 candidates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" y="2176272"/>
            <a:ext cx="5440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240279"/>
            <a:ext cx="52943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 Detailed domain baselines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35608" y="2478024"/>
            <a:ext cx="1060704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Process flows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9464" y="2478024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Headcount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9856" y="2478024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FTE utilization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81728" y="2478024"/>
            <a:ext cx="43891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SLAs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7784" y="2834639"/>
            <a:ext cx="5440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2898647"/>
            <a:ext cx="52943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 Prioritization framework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21891" y="3136391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Value potential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83763" y="3136391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Strategic readiness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19956" y="3136391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Feasibility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7784" y="3493007"/>
            <a:ext cx="5440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3557015"/>
            <a:ext cx="52943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 Heatmap scorecard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06424" y="3794759"/>
            <a:ext cx="167335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Rank-order on criteria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52928" y="3794759"/>
            <a:ext cx="98755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CM1 workshop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13632" y="3794759"/>
            <a:ext cx="153619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5–6 priority domains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" y="4151375"/>
            <a:ext cx="5440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215383"/>
            <a:ext cx="52943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 Value-backed roadmap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13432" y="4453127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Reimagine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3824" y="4453127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Prove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39896" y="4453127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Scale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" y="4809743"/>
            <a:ext cx="5440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" y="4873751"/>
            <a:ext cx="52943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760219" y="5111495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Roles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36291" y="5111495"/>
            <a:ext cx="112471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Size and shape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34156" y="5111495"/>
            <a:ext cx="126187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Priority domains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" y="5486399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5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19088" y="1517904"/>
            <a:ext cx="5212080" cy="2834640"/>
          </a:xfrm>
          <a:prstGeom prst="roundRect">
            <a:avLst>
              <a:gd name="adj" fmla="val 4000"/>
            </a:avLst>
          </a:prstGeom>
          <a:solidFill>
            <a:srgbClr val="F2F6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1581912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1" i="0">
                <a:solidFill>
                  <a:srgbClr val="061F79"/>
                </a:solidFill>
                <a:latin typeface="Arial"/>
              </a:rPr>
              <a:t>ORG DESIGN</a:t>
            </a:r>
            <a:r>
              <a:rPr sz="800" b="0" i="1">
                <a:solidFill>
                  <a:srgbClr val="63666A"/>
                </a:solidFill>
                <a:latin typeface="Arial"/>
              </a:rPr>
              <a:t>   one macro, four levers designed together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65392" y="1810512"/>
            <a:ext cx="491947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38544" y="1874519"/>
            <a:ext cx="47731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000000"/>
                </a:solidFill>
                <a:latin typeface="Arial"/>
              </a:rPr>
              <a:t>Org hygiene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58100" y="2112264"/>
            <a:ext cx="126187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Spans and layers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93124" y="2112264"/>
            <a:ext cx="139903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Leadership density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65392" y="2450591"/>
            <a:ext cx="491947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38544" y="2514599"/>
            <a:ext cx="47731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000000"/>
                </a:solidFill>
                <a:latin typeface="Arial"/>
              </a:rPr>
              <a:t>Platform org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63840" y="2752344"/>
            <a:ext cx="112471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Org archetypes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61704" y="2752344"/>
            <a:ext cx="112471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Design choices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65392" y="3090672"/>
            <a:ext cx="491947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8544" y="3154679"/>
            <a:ext cx="47731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000000"/>
                </a:solidFill>
                <a:latin typeface="Arial"/>
              </a:rPr>
              <a:t>Future-ready workforce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84848" y="3392424"/>
            <a:ext cx="167335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3-yr plans by function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31352" y="3392424"/>
            <a:ext cx="153619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Automation potential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40696" y="3392424"/>
            <a:ext cx="112471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Size and shape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65392" y="3730752"/>
            <a:ext cx="491947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38544" y="3794760"/>
            <a:ext cx="47731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000000"/>
                </a:solidFill>
                <a:latin typeface="Arial"/>
              </a:rPr>
              <a:t>Global location strategy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626096" y="4032504"/>
            <a:ext cx="132588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Roles by location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25128" y="4032504"/>
            <a:ext cx="139903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AI-era talent hubs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19088" y="4462272"/>
            <a:ext cx="52120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92240" y="4526280"/>
            <a:ext cx="5065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000000"/>
                </a:solidFill>
                <a:latin typeface="Arial"/>
              </a:rPr>
              <a:t>Skills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027164" y="4764024"/>
            <a:ext cx="194767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Skills for the agentic org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47988" y="4764024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Sourcing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34372" y="4764024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Capability plan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419088" y="5120640"/>
            <a:ext cx="52120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92240" y="5184648"/>
            <a:ext cx="5065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000000"/>
                </a:solidFill>
                <a:latin typeface="Arial"/>
              </a:rPr>
              <a:t>Culture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383779" y="5422392"/>
            <a:ext cx="2020824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Mindset and behavior shifts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477755" y="5422392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E9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061F79"/>
                </a:solidFill>
                <a:latin typeface="Arial"/>
              </a:rPr>
              <a:t>Change capacity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8897112" y="5742432"/>
            <a:ext cx="256032" cy="201168"/>
          </a:xfrm>
          <a:prstGeom prst="downArrow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419088" y="5925312"/>
            <a:ext cx="521208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5989320"/>
            <a:ext cx="506577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01483" y="6227064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2B4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Structure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151875" y="6227064"/>
            <a:ext cx="1261872" cy="201168"/>
          </a:xfrm>
          <a:prstGeom prst="roundRect">
            <a:avLst>
              <a:gd name="adj" fmla="val 50000"/>
            </a:avLst>
          </a:prstGeom>
          <a:solidFill>
            <a:srgbClr val="2B4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and skills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486900" y="6227064"/>
            <a:ext cx="1261872" cy="201168"/>
          </a:xfrm>
          <a:prstGeom prst="roundRect">
            <a:avLst>
              <a:gd name="adj" fmla="val 50000"/>
            </a:avLst>
          </a:prstGeom>
          <a:solidFill>
            <a:srgbClr val="2B4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Global footprint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998464" y="5093208"/>
            <a:ext cx="283464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6281928" y="3374136"/>
            <a:ext cx="0" cy="1719072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281928" y="3374136"/>
            <a:ext cx="283464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MADE FRAMEWORKY per your OMI example: each box is now a punchy label with the supporting keywords as small chips underneath (no sentences or parentheticals). Structure unchanged: 6 T1 steps incl. top-down workforce shifts; Org design macro + Skills + Culture converging into the Track 2 outcome; T1 feeds the future-ready workforce view.</a:t>
            </a:r>
          </a:p>
        </p:txBody>
      </p: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669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566928"/>
            <a:ext cx="1216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804672"/>
            <a:ext cx="3922776" cy="31089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804672"/>
            <a:ext cx="5504688" cy="310896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shifts,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63040"/>
            <a:ext cx="11210544" cy="24871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0832"/>
            <a:ext cx="11210544" cy="1719072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57276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865376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8056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73168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572768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572768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80759" y="1572768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67344" y="1572768"/>
            <a:ext cx="317296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85632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103120" y="2377440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1408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377440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98648" y="3182112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16936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489704" y="3182112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07992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103120" y="4114800"/>
            <a:ext cx="9537192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57784" y="40416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8" name="Diamond 57"/>
          <p:cNvSpPr/>
          <p:nvPr/>
        </p:nvSpPr>
        <p:spPr>
          <a:xfrm>
            <a:off x="3621024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39312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60" name="Diamond 59"/>
          <p:cNvSpPr/>
          <p:nvPr/>
        </p:nvSpPr>
        <p:spPr>
          <a:xfrm>
            <a:off x="6007607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25896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62" name="Diamond 61"/>
          <p:cNvSpPr/>
          <p:nvPr/>
        </p:nvSpPr>
        <p:spPr>
          <a:xfrm>
            <a:off x="8394192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64" name="Diamond 63"/>
          <p:cNvSpPr/>
          <p:nvPr/>
        </p:nvSpPr>
        <p:spPr>
          <a:xfrm>
            <a:off x="11448288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42062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03120" y="4480560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121408" y="4562856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0759" y="4480560"/>
            <a:ext cx="5559552" cy="73152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80759" y="5285232"/>
            <a:ext cx="3182111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9047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262872" y="5285232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81159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B (better-looking view): same content as Option A; front-load made visible with phase bands, lane tints, white boxes with accent bars, dashed box for pilots extending beyond the plan. Keep one option, delete the other.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