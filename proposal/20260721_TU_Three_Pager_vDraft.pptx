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embeddings/oleObject1.bin" ContentType="application/vnd.openxmlformats-officedocument.oleObject"/>
  <Override PartName="/ppt/embeddings/oleObject10.bin" ContentType="application/vnd.openxmlformats-officedocument.oleObject"/>
  <Override PartName="/ppt/embeddings/oleObject11.bin" ContentType="application/vnd.openxmlformats-officedocument.oleObject"/>
  <Override PartName="/ppt/embeddings/oleObject12.bin" ContentType="application/vnd.openxmlformats-officedocument.oleObject"/>
  <Override PartName="/ppt/embeddings/oleObject13.bin" ContentType="application/vnd.openxmlformats-officedocument.oleObject"/>
  <Override PartName="/ppt/embeddings/oleObject14.bin" ContentType="application/vnd.openxmlformats-officedocument.oleObject"/>
  <Override PartName="/ppt/embeddings/oleObject15.bin" ContentType="application/vnd.openxmlformats-officedocument.oleObject"/>
  <Override PartName="/ppt/embeddings/oleObject2.bin" ContentType="application/vnd.openxmlformats-officedocument.oleObject"/>
  <Override PartName="/ppt/embeddings/oleObject3.bin" ContentType="application/vnd.openxmlformats-officedocument.oleObject"/>
  <Override PartName="/ppt/embeddings/oleObject4.bin" ContentType="application/vnd.openxmlformats-officedocument.oleObject"/>
  <Override PartName="/ppt/embeddings/oleObject5.bin" ContentType="application/vnd.openxmlformats-officedocument.oleObject"/>
  <Override PartName="/ppt/embeddings/oleObject6.bin" ContentType="application/vnd.openxmlformats-officedocument.oleObject"/>
  <Override PartName="/ppt/embeddings/oleObject7.bin" ContentType="application/vnd.openxmlformats-officedocument.oleObject"/>
  <Override PartName="/ppt/embeddings/oleObject8.bin" ContentType="application/vnd.openxmlformats-officedocument.oleObject"/>
  <Override PartName="/ppt/embeddings/oleObject9.bin" ContentType="application/vnd.openxmlformats-officedocument.oleObject"/>
  <Override PartName="/ppt/media/image10.svg" ContentType="image/svg+xml"/>
  <Override PartName="/ppt/media/image11.svg" ContentType="image/svg+xml"/>
  <Override PartName="/ppt/media/image12.svg" ContentType="image/svg+xml"/>
  <Override PartName="/ppt/media/image3.svg" ContentType="image/svg+xml"/>
  <Override PartName="/ppt/media/image9.svg" ContentType="image/svg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00.xml" ContentType="application/vnd.openxmlformats-officedocument.presentationml.tags+xml"/>
  <Override PartName="/ppt/tags/tag101.xml" ContentType="application/vnd.openxmlformats-officedocument.presentationml.tags+xml"/>
  <Override PartName="/ppt/tags/tag102.xml" ContentType="application/vnd.openxmlformats-officedocument.presentationml.tags+xml"/>
  <Override PartName="/ppt/tags/tag103.xml" ContentType="application/vnd.openxmlformats-officedocument.presentationml.tags+xml"/>
  <Override PartName="/ppt/tags/tag104.xml" ContentType="application/vnd.openxmlformats-officedocument.presentationml.tags+xml"/>
  <Override PartName="/ppt/tags/tag105.xml" ContentType="application/vnd.openxmlformats-officedocument.presentationml.tags+xml"/>
  <Override PartName="/ppt/tags/tag106.xml" ContentType="application/vnd.openxmlformats-officedocument.presentationml.tags+xml"/>
  <Override PartName="/ppt/tags/tag107.xml" ContentType="application/vnd.openxmlformats-officedocument.presentationml.tags+xml"/>
  <Override PartName="/ppt/tags/tag108.xml" ContentType="application/vnd.openxmlformats-officedocument.presentationml.tags+xml"/>
  <Override PartName="/ppt/tags/tag109.xml" ContentType="application/vnd.openxmlformats-officedocument.presentationml.tags+xml"/>
  <Override PartName="/ppt/tags/tag11.xml" ContentType="application/vnd.openxmlformats-officedocument.presentationml.tags+xml"/>
  <Override PartName="/ppt/tags/tag110.xml" ContentType="application/vnd.openxmlformats-officedocument.presentationml.tags+xml"/>
  <Override PartName="/ppt/tags/tag111.xml" ContentType="application/vnd.openxmlformats-officedocument.presentationml.tags+xml"/>
  <Override PartName="/ppt/tags/tag112.xml" ContentType="application/vnd.openxmlformats-officedocument.presentationml.tags+xml"/>
  <Override PartName="/ppt/tags/tag113.xml" ContentType="application/vnd.openxmlformats-officedocument.presentationml.tags+xml"/>
  <Override PartName="/ppt/tags/tag114.xml" ContentType="application/vnd.openxmlformats-officedocument.presentationml.tags+xml"/>
  <Override PartName="/ppt/tags/tag115.xml" ContentType="application/vnd.openxmlformats-officedocument.presentationml.tags+xml"/>
  <Override PartName="/ppt/tags/tag116.xml" ContentType="application/vnd.openxmlformats-officedocument.presentationml.tags+xml"/>
  <Override PartName="/ppt/tags/tag117.xml" ContentType="application/vnd.openxmlformats-officedocument.presentationml.tags+xml"/>
  <Override PartName="/ppt/tags/tag118.xml" ContentType="application/vnd.openxmlformats-officedocument.presentationml.tags+xml"/>
  <Override PartName="/ppt/tags/tag119.xml" ContentType="application/vnd.openxmlformats-officedocument.presentationml.tags+xml"/>
  <Override PartName="/ppt/tags/tag12.xml" ContentType="application/vnd.openxmlformats-officedocument.presentationml.tags+xml"/>
  <Override PartName="/ppt/tags/tag120.xml" ContentType="application/vnd.openxmlformats-officedocument.presentationml.tags+xml"/>
  <Override PartName="/ppt/tags/tag121.xml" ContentType="application/vnd.openxmlformats-officedocument.presentationml.tags+xml"/>
  <Override PartName="/ppt/tags/tag122.xml" ContentType="application/vnd.openxmlformats-officedocument.presentationml.tags+xml"/>
  <Override PartName="/ppt/tags/tag123.xml" ContentType="application/vnd.openxmlformats-officedocument.presentationml.tags+xml"/>
  <Override PartName="/ppt/tags/tag124.xml" ContentType="application/vnd.openxmlformats-officedocument.presentationml.tags+xml"/>
  <Override PartName="/ppt/tags/tag125.xml" ContentType="application/vnd.openxmlformats-officedocument.presentationml.tags+xml"/>
  <Override PartName="/ppt/tags/tag126.xml" ContentType="application/vnd.openxmlformats-officedocument.presentationml.tags+xml"/>
  <Override PartName="/ppt/tags/tag127.xml" ContentType="application/vnd.openxmlformats-officedocument.presentationml.tags+xml"/>
  <Override PartName="/ppt/tags/tag128.xml" ContentType="application/vnd.openxmlformats-officedocument.presentationml.tags+xml"/>
  <Override PartName="/ppt/tags/tag129.xml" ContentType="application/vnd.openxmlformats-officedocument.presentationml.tags+xml"/>
  <Override PartName="/ppt/tags/tag13.xml" ContentType="application/vnd.openxmlformats-officedocument.presentationml.tags+xml"/>
  <Override PartName="/ppt/tags/tag130.xml" ContentType="application/vnd.openxmlformats-officedocument.presentationml.tags+xml"/>
  <Override PartName="/ppt/tags/tag131.xml" ContentType="application/vnd.openxmlformats-officedocument.presentationml.tags+xml"/>
  <Override PartName="/ppt/tags/tag132.xml" ContentType="application/vnd.openxmlformats-officedocument.presentationml.tags+xml"/>
  <Override PartName="/ppt/tags/tag133.xml" ContentType="application/vnd.openxmlformats-officedocument.presentationml.tags+xml"/>
  <Override PartName="/ppt/tags/tag134.xml" ContentType="application/vnd.openxmlformats-officedocument.presentationml.tags+xml"/>
  <Override PartName="/ppt/tags/tag135.xml" ContentType="application/vnd.openxmlformats-officedocument.presentationml.tags+xml"/>
  <Override PartName="/ppt/tags/tag136.xml" ContentType="application/vnd.openxmlformats-officedocument.presentationml.tags+xml"/>
  <Override PartName="/ppt/tags/tag137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84.xml" ContentType="application/vnd.openxmlformats-officedocument.presentationml.tags+xml"/>
  <Override PartName="/ppt/tags/tag85.xml" ContentType="application/vnd.openxmlformats-officedocument.presentationml.tags+xml"/>
  <Override PartName="/ppt/tags/tag86.xml" ContentType="application/vnd.openxmlformats-officedocument.presentationml.tags+xml"/>
  <Override PartName="/ppt/tags/tag87.xml" ContentType="application/vnd.openxmlformats-officedocument.presentationml.tags+xml"/>
  <Override PartName="/ppt/tags/tag88.xml" ContentType="application/vnd.openxmlformats-officedocument.presentationml.tags+xml"/>
  <Override PartName="/ppt/tags/tag89.xml" ContentType="application/vnd.openxmlformats-officedocument.presentationml.tags+xml"/>
  <Override PartName="/ppt/tags/tag9.xml" ContentType="application/vnd.openxmlformats-officedocument.presentationml.tags+xml"/>
  <Override PartName="/ppt/tags/tag90.xml" ContentType="application/vnd.openxmlformats-officedocument.presentationml.tags+xml"/>
  <Override PartName="/ppt/tags/tag91.xml" ContentType="application/vnd.openxmlformats-officedocument.presentationml.tags+xml"/>
  <Override PartName="/ppt/tags/tag92.xml" ContentType="application/vnd.openxmlformats-officedocument.presentationml.tags+xml"/>
  <Override PartName="/ppt/tags/tag93.xml" ContentType="application/vnd.openxmlformats-officedocument.presentationml.tags+xml"/>
  <Override PartName="/ppt/tags/tag94.xml" ContentType="application/vnd.openxmlformats-officedocument.presentationml.tags+xml"/>
  <Override PartName="/ppt/tags/tag95.xml" ContentType="application/vnd.openxmlformats-officedocument.presentationml.tags+xml"/>
  <Override PartName="/ppt/tags/tag96.xml" ContentType="application/vnd.openxmlformats-officedocument.presentationml.tags+xml"/>
  <Override PartName="/ppt/tags/tag97.xml" ContentType="application/vnd.openxmlformats-officedocument.presentationml.tags+xml"/>
  <Override PartName="/ppt/tags/tag98.xml" ContentType="application/vnd.openxmlformats-officedocument.presentationml.tags+xml"/>
  <Override PartName="/ppt/tags/tag9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  <p:sldMasterId id="2147483650" r:id="rId2"/>
  </p:sldMasterIdLst>
  <p:notesMasterIdLst>
    <p:notesMasterId r:id="rId7"/>
  </p:notesMasterIdLst>
  <p:sldIdLst>
    <p:sldId id="256" r:id="rId3"/>
    <p:sldId id="263" r:id="rId4"/>
    <p:sldId id="262" r:id="rId5"/>
    <p:sldId id="261" r:id="rId6"/>
  </p:sldIdLst>
  <p:sldSz cx="12192000" cy="6858000"/>
  <p:notesSz cx="6858000" cy="9144000"/>
  <p:custDataLst>
    <p:tags r:id="rId8"/>
  </p:custDataLst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679C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2" d="100"/>
          <a:sy n="72" d="100"/>
        </p:scale>
        <p:origin x="432" y="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notesMaster" Target="notesMasters/notesMaster1.xml"/><Relationship Id="rId8" Type="http://schemas.openxmlformats.org/officeDocument/2006/relationships/tags" Target="tags/tag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768836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tags" Target="../tags/tag24.xml"/><Relationship Id="rId2" Type="http://schemas.openxmlformats.org/officeDocument/2006/relationships/tags" Target="../tags/tag25.xml"/><Relationship Id="rId3" Type="http://schemas.openxmlformats.org/officeDocument/2006/relationships/tags" Target="../tags/tag26.xml"/><Relationship Id="rId4" Type="http://schemas.openxmlformats.org/officeDocument/2006/relationships/tags" Target="../tags/tag27.xml"/><Relationship Id="rId5" Type="http://schemas.openxmlformats.org/officeDocument/2006/relationships/tags" Target="../tags/tag28.xml"/><Relationship Id="rId6" Type="http://schemas.openxmlformats.org/officeDocument/2006/relationships/tags" Target="../tags/tag29.xml"/><Relationship Id="rId7" Type="http://schemas.openxmlformats.org/officeDocument/2006/relationships/tags" Target="../tags/tag30.xml"/><Relationship Id="rId8" Type="http://schemas.openxmlformats.org/officeDocument/2006/relationships/tags" Target="../tags/tag31.xml"/><Relationship Id="rId9" Type="http://schemas.openxmlformats.org/officeDocument/2006/relationships/tags" Target="../tags/tag32.xml"/><Relationship Id="rId10" Type="http://schemas.openxmlformats.org/officeDocument/2006/relationships/slideMaster" Target="../slideMasters/slideMaster2.xml"/><Relationship Id="rId11" Type="http://schemas.openxmlformats.org/officeDocument/2006/relationships/image" Target="../media/image4.jpeg"/><Relationship Id="rId12" Type="http://schemas.openxmlformats.org/officeDocument/2006/relationships/image" Target="../media/image5.png"/><Relationship Id="rId13" Type="http://schemas.openxmlformats.org/officeDocument/2006/relationships/oleObject" Target="../embeddings/oleObject3.bin"/><Relationship Id="rId14" Type="http://schemas.openxmlformats.org/officeDocument/2006/relationships/image" Target="../media/image6.emf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tags" Target="../tags/tag33.xml"/><Relationship Id="rId2" Type="http://schemas.openxmlformats.org/officeDocument/2006/relationships/tags" Target="../tags/tag34.xml"/><Relationship Id="rId3" Type="http://schemas.openxmlformats.org/officeDocument/2006/relationships/tags" Target="../tags/tag35.xml"/><Relationship Id="rId4" Type="http://schemas.openxmlformats.org/officeDocument/2006/relationships/tags" Target="../tags/tag36.xml"/><Relationship Id="rId5" Type="http://schemas.openxmlformats.org/officeDocument/2006/relationships/tags" Target="../tags/tag37.xml"/><Relationship Id="rId6" Type="http://schemas.openxmlformats.org/officeDocument/2006/relationships/tags" Target="../tags/tag38.xml"/><Relationship Id="rId7" Type="http://schemas.openxmlformats.org/officeDocument/2006/relationships/tags" Target="../tags/tag39.xml"/><Relationship Id="rId8" Type="http://schemas.openxmlformats.org/officeDocument/2006/relationships/tags" Target="../tags/tag40.xml"/><Relationship Id="rId9" Type="http://schemas.openxmlformats.org/officeDocument/2006/relationships/slideMaster" Target="../slideMasters/slideMaster2.xml"/><Relationship Id="rId10" Type="http://schemas.openxmlformats.org/officeDocument/2006/relationships/oleObject" Target="../embeddings/oleObject4.bin"/><Relationship Id="rId11" Type="http://schemas.openxmlformats.org/officeDocument/2006/relationships/image" Target="../media/image2.emf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tags" Target="../tags/tag41.xml"/><Relationship Id="rId2" Type="http://schemas.openxmlformats.org/officeDocument/2006/relationships/tags" Target="../tags/tag42.xml"/><Relationship Id="rId3" Type="http://schemas.openxmlformats.org/officeDocument/2006/relationships/tags" Target="../tags/tag43.xml"/><Relationship Id="rId4" Type="http://schemas.openxmlformats.org/officeDocument/2006/relationships/tags" Target="../tags/tag44.xml"/><Relationship Id="rId5" Type="http://schemas.openxmlformats.org/officeDocument/2006/relationships/slideMaster" Target="../slideMasters/slideMaster2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tags" Target="../tags/tag45.xml"/><Relationship Id="rId2" Type="http://schemas.openxmlformats.org/officeDocument/2006/relationships/tags" Target="../tags/tag46.xml"/><Relationship Id="rId3" Type="http://schemas.openxmlformats.org/officeDocument/2006/relationships/tags" Target="../tags/tag47.xml"/><Relationship Id="rId4" Type="http://schemas.openxmlformats.org/officeDocument/2006/relationships/tags" Target="../tags/tag48.xml"/><Relationship Id="rId5" Type="http://schemas.openxmlformats.org/officeDocument/2006/relationships/slideMaster" Target="../slideMasters/slideMaster2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tags" Target="../tags/tag49.xml"/><Relationship Id="rId2" Type="http://schemas.openxmlformats.org/officeDocument/2006/relationships/tags" Target="../tags/tag50.xml"/><Relationship Id="rId3" Type="http://schemas.openxmlformats.org/officeDocument/2006/relationships/tags" Target="../tags/tag51.xml"/><Relationship Id="rId4" Type="http://schemas.openxmlformats.org/officeDocument/2006/relationships/tags" Target="../tags/tag52.xml"/><Relationship Id="rId5" Type="http://schemas.openxmlformats.org/officeDocument/2006/relationships/tags" Target="../tags/tag53.xml"/><Relationship Id="rId6" Type="http://schemas.openxmlformats.org/officeDocument/2006/relationships/tags" Target="../tags/tag54.xml"/><Relationship Id="rId7" Type="http://schemas.openxmlformats.org/officeDocument/2006/relationships/slideMaster" Target="../slideMasters/slideMaster2.xml"/><Relationship Id="rId8" Type="http://schemas.openxmlformats.org/officeDocument/2006/relationships/oleObject" Target="../embeddings/oleObject5.bin"/><Relationship Id="rId9" Type="http://schemas.openxmlformats.org/officeDocument/2006/relationships/image" Target="../media/image7.emf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tags" Target="../tags/tag55.xml"/><Relationship Id="rId2" Type="http://schemas.openxmlformats.org/officeDocument/2006/relationships/tags" Target="../tags/tag56.xml"/><Relationship Id="rId3" Type="http://schemas.openxmlformats.org/officeDocument/2006/relationships/tags" Target="../tags/tag57.xml"/><Relationship Id="rId4" Type="http://schemas.openxmlformats.org/officeDocument/2006/relationships/tags" Target="../tags/tag58.xml"/><Relationship Id="rId5" Type="http://schemas.openxmlformats.org/officeDocument/2006/relationships/tags" Target="../tags/tag59.xml"/><Relationship Id="rId6" Type="http://schemas.openxmlformats.org/officeDocument/2006/relationships/tags" Target="../tags/tag60.xml"/><Relationship Id="rId7" Type="http://schemas.openxmlformats.org/officeDocument/2006/relationships/tags" Target="../tags/tag61.xml"/><Relationship Id="rId8" Type="http://schemas.openxmlformats.org/officeDocument/2006/relationships/slideMaster" Target="../slideMasters/slideMaster2.xml"/><Relationship Id="rId9" Type="http://schemas.openxmlformats.org/officeDocument/2006/relationships/oleObject" Target="../embeddings/oleObject6.bin"/><Relationship Id="rId10" Type="http://schemas.openxmlformats.org/officeDocument/2006/relationships/image" Target="../media/image7.emf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tags" Target="../tags/tag62.xml"/><Relationship Id="rId2" Type="http://schemas.openxmlformats.org/officeDocument/2006/relationships/tags" Target="../tags/tag63.xml"/><Relationship Id="rId3" Type="http://schemas.openxmlformats.org/officeDocument/2006/relationships/tags" Target="../tags/tag64.xml"/><Relationship Id="rId4" Type="http://schemas.openxmlformats.org/officeDocument/2006/relationships/tags" Target="../tags/tag65.xml"/><Relationship Id="rId5" Type="http://schemas.openxmlformats.org/officeDocument/2006/relationships/tags" Target="../tags/tag66.xml"/><Relationship Id="rId6" Type="http://schemas.openxmlformats.org/officeDocument/2006/relationships/tags" Target="../tags/tag67.xml"/><Relationship Id="rId7" Type="http://schemas.openxmlformats.org/officeDocument/2006/relationships/tags" Target="../tags/tag68.xml"/><Relationship Id="rId8" Type="http://schemas.openxmlformats.org/officeDocument/2006/relationships/tags" Target="../tags/tag69.xml"/><Relationship Id="rId9" Type="http://schemas.openxmlformats.org/officeDocument/2006/relationships/tags" Target="../tags/tag70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7.bin"/><Relationship Id="rId12" Type="http://schemas.openxmlformats.org/officeDocument/2006/relationships/image" Target="../media/image2.emf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tags" Target="../tags/tag71.xml"/><Relationship Id="rId2" Type="http://schemas.openxmlformats.org/officeDocument/2006/relationships/tags" Target="../tags/tag72.xml"/><Relationship Id="rId3" Type="http://schemas.openxmlformats.org/officeDocument/2006/relationships/tags" Target="../tags/tag73.xml"/><Relationship Id="rId4" Type="http://schemas.openxmlformats.org/officeDocument/2006/relationships/tags" Target="../tags/tag74.xml"/><Relationship Id="rId5" Type="http://schemas.openxmlformats.org/officeDocument/2006/relationships/tags" Target="../tags/tag75.xml"/><Relationship Id="rId6" Type="http://schemas.openxmlformats.org/officeDocument/2006/relationships/tags" Target="../tags/tag76.xml"/><Relationship Id="rId7" Type="http://schemas.openxmlformats.org/officeDocument/2006/relationships/tags" Target="../tags/tag77.xml"/><Relationship Id="rId8" Type="http://schemas.openxmlformats.org/officeDocument/2006/relationships/tags" Target="../tags/tag78.xml"/><Relationship Id="rId9" Type="http://schemas.openxmlformats.org/officeDocument/2006/relationships/tags" Target="../tags/tag79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8.bin"/><Relationship Id="rId12" Type="http://schemas.openxmlformats.org/officeDocument/2006/relationships/image" Target="../media/image2.emf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tags" Target="../tags/tag80.xml"/><Relationship Id="rId2" Type="http://schemas.openxmlformats.org/officeDocument/2006/relationships/tags" Target="../tags/tag81.xml"/><Relationship Id="rId3" Type="http://schemas.openxmlformats.org/officeDocument/2006/relationships/tags" Target="../tags/tag82.xml"/><Relationship Id="rId4" Type="http://schemas.openxmlformats.org/officeDocument/2006/relationships/tags" Target="../tags/tag83.xml"/><Relationship Id="rId5" Type="http://schemas.openxmlformats.org/officeDocument/2006/relationships/tags" Target="../tags/tag84.xml"/><Relationship Id="rId6" Type="http://schemas.openxmlformats.org/officeDocument/2006/relationships/tags" Target="../tags/tag85.xml"/><Relationship Id="rId7" Type="http://schemas.openxmlformats.org/officeDocument/2006/relationships/tags" Target="../tags/tag86.xml"/><Relationship Id="rId8" Type="http://schemas.openxmlformats.org/officeDocument/2006/relationships/tags" Target="../tags/tag87.xml"/><Relationship Id="rId9" Type="http://schemas.openxmlformats.org/officeDocument/2006/relationships/tags" Target="../tags/tag88.xml"/><Relationship Id="rId10" Type="http://schemas.openxmlformats.org/officeDocument/2006/relationships/tags" Target="../tags/tag89.xml"/><Relationship Id="rId11" Type="http://schemas.openxmlformats.org/officeDocument/2006/relationships/slideMaster" Target="../slideMasters/slideMaster2.xml"/><Relationship Id="rId12" Type="http://schemas.openxmlformats.org/officeDocument/2006/relationships/oleObject" Target="../embeddings/oleObject9.bin"/><Relationship Id="rId13" Type="http://schemas.openxmlformats.org/officeDocument/2006/relationships/image" Target="../media/image2.emf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tags" Target="../tags/tag90.xml"/><Relationship Id="rId2" Type="http://schemas.openxmlformats.org/officeDocument/2006/relationships/tags" Target="../tags/tag91.xml"/><Relationship Id="rId3" Type="http://schemas.openxmlformats.org/officeDocument/2006/relationships/tags" Target="../tags/tag92.xml"/><Relationship Id="rId4" Type="http://schemas.openxmlformats.org/officeDocument/2006/relationships/tags" Target="../tags/tag93.xml"/><Relationship Id="rId5" Type="http://schemas.openxmlformats.org/officeDocument/2006/relationships/tags" Target="../tags/tag94.xml"/><Relationship Id="rId6" Type="http://schemas.openxmlformats.org/officeDocument/2006/relationships/tags" Target="../tags/tag95.xml"/><Relationship Id="rId7" Type="http://schemas.openxmlformats.org/officeDocument/2006/relationships/tags" Target="../tags/tag96.xml"/><Relationship Id="rId8" Type="http://schemas.openxmlformats.org/officeDocument/2006/relationships/tags" Target="../tags/tag97.xml"/><Relationship Id="rId9" Type="http://schemas.openxmlformats.org/officeDocument/2006/relationships/tags" Target="../tags/tag98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10.bin"/><Relationship Id="rId12" Type="http://schemas.openxmlformats.org/officeDocument/2006/relationships/image" Target="../media/image8.emf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tags" Target="../tags/tag99.xml"/><Relationship Id="rId2" Type="http://schemas.openxmlformats.org/officeDocument/2006/relationships/tags" Target="../tags/tag100.xml"/><Relationship Id="rId3" Type="http://schemas.openxmlformats.org/officeDocument/2006/relationships/tags" Target="../tags/tag101.xml"/><Relationship Id="rId4" Type="http://schemas.openxmlformats.org/officeDocument/2006/relationships/tags" Target="../tags/tag102.xml"/><Relationship Id="rId5" Type="http://schemas.openxmlformats.org/officeDocument/2006/relationships/tags" Target="../tags/tag103.xml"/><Relationship Id="rId6" Type="http://schemas.openxmlformats.org/officeDocument/2006/relationships/tags" Target="../tags/tag104.xml"/><Relationship Id="rId7" Type="http://schemas.openxmlformats.org/officeDocument/2006/relationships/tags" Target="../tags/tag105.xml"/><Relationship Id="rId8" Type="http://schemas.openxmlformats.org/officeDocument/2006/relationships/tags" Target="../tags/tag106.xml"/><Relationship Id="rId9" Type="http://schemas.openxmlformats.org/officeDocument/2006/relationships/tags" Target="../tags/tag107.xml"/><Relationship Id="rId10" Type="http://schemas.openxmlformats.org/officeDocument/2006/relationships/slideMaster" Target="../slideMasters/slideMaster2.xml"/><Relationship Id="rId11" Type="http://schemas.openxmlformats.org/officeDocument/2006/relationships/oleObject" Target="../embeddings/oleObject9.bin"/><Relationship Id="rId12" Type="http://schemas.openxmlformats.org/officeDocument/2006/relationships/image" Target="../media/image2.emf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tags" Target="../tags/tag108.xml"/><Relationship Id="rId2" Type="http://schemas.openxmlformats.org/officeDocument/2006/relationships/tags" Target="../tags/tag109.xml"/><Relationship Id="rId3" Type="http://schemas.openxmlformats.org/officeDocument/2006/relationships/tags" Target="../tags/tag110.xml"/><Relationship Id="rId4" Type="http://schemas.openxmlformats.org/officeDocument/2006/relationships/tags" Target="../tags/tag111.xml"/><Relationship Id="rId5" Type="http://schemas.openxmlformats.org/officeDocument/2006/relationships/tags" Target="../tags/tag112.xml"/><Relationship Id="rId6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tags" Target="../tags/tag113.xml"/><Relationship Id="rId2" Type="http://schemas.openxmlformats.org/officeDocument/2006/relationships/tags" Target="../tags/tag114.xml"/><Relationship Id="rId3" Type="http://schemas.openxmlformats.org/officeDocument/2006/relationships/tags" Target="../tags/tag115.xml"/><Relationship Id="rId4" Type="http://schemas.openxmlformats.org/officeDocument/2006/relationships/tags" Target="../tags/tag116.xml"/><Relationship Id="rId5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tags" Target="../tags/tag117.xml"/><Relationship Id="rId2" Type="http://schemas.openxmlformats.org/officeDocument/2006/relationships/tags" Target="../tags/tag118.xml"/><Relationship Id="rId3" Type="http://schemas.openxmlformats.org/officeDocument/2006/relationships/tags" Target="../tags/tag119.xml"/><Relationship Id="rId4" Type="http://schemas.openxmlformats.org/officeDocument/2006/relationships/tags" Target="../tags/tag120.xml"/><Relationship Id="rId5" Type="http://schemas.openxmlformats.org/officeDocument/2006/relationships/slideMaster" Target="../slideMasters/slideMaster2.xml"/><Relationship Id="rId6" Type="http://schemas.openxmlformats.org/officeDocument/2006/relationships/image" Target="../media/image4.jpeg"/><Relationship Id="rId7" Type="http://schemas.openxmlformats.org/officeDocument/2006/relationships/oleObject" Target="../embeddings/oleObject11.bin"/><Relationship Id="rId8" Type="http://schemas.openxmlformats.org/officeDocument/2006/relationships/image" Target="../media/image6.emf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" name="Background">
            <a:extLst>
              <a:ext uri="{FF2B5EF4-FFF2-40B4-BE49-F238E27FC236}">
                <a16:creationId xmlns:a16="http://schemas.microsoft.com/office/drawing/2014/main" id="{BCFEF986-9186-F0C0-29CC-344333767E3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11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pic>
        <p:nvPicPr>
          <p:cNvPr id="2" name="Partnership">
            <a:extLst>
              <a:ext uri="{FF2B5EF4-FFF2-40B4-BE49-F238E27FC236}">
                <a16:creationId xmlns:a16="http://schemas.microsoft.com/office/drawing/2014/main" id="{52B89695-D141-85AB-BEF2-DAF58FD754EA}"/>
              </a:ext>
            </a:extLst>
          </p:cNvPr>
          <p:cNvPicPr>
            <a:picLocks noChangeAspect="1"/>
          </p:cNvPicPr>
          <p:nvPr userDrawn="1"/>
        </p:nvPicPr>
        <p:blipFill>
          <a:blip r:embed="rId12"/>
          <a:stretch>
            <a:fillRect/>
          </a:stretch>
        </p:blipFill>
        <p:spPr>
          <a:xfrm>
            <a:off x="4238171" y="-8806"/>
            <a:ext cx="7953829" cy="6866806"/>
          </a:xfrm>
          <a:prstGeom prst="rect">
            <a:avLst/>
          </a:prstGeom>
        </p:spPr>
      </p:pic>
      <p:graphicFrame>
        <p:nvGraphicFramePr>
          <p:cNvPr id="9" name="Object 8" hidden="1">
            <a:extLst>
              <a:ext uri="{FF2B5EF4-FFF2-40B4-BE49-F238E27FC236}">
                <a16:creationId xmlns:a16="http://schemas.microsoft.com/office/drawing/2014/main" id="{16EA533F-94AF-4D02-A54D-267AD6DA2E6D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1103474852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3" imgW="344" imgH="344" progId="TCLayout.ActiveDocument.1">
                  <p:embed/>
                </p:oleObj>
              </mc:Choice>
              <mc:Fallback>
                <p:oleObj name="think-cell Slide" r:id="rId13" imgW="344" imgH="344" progId="TCLayout.ActiveDocument.1">
                  <p:embed/>
                  <p:pic>
                    <p:nvPicPr>
                      <p:cNvPr id="9" name="Object 8" hidden="1">
                        <a:extLst>
                          <a:ext uri="{FF2B5EF4-FFF2-40B4-BE49-F238E27FC236}">
                            <a16:creationId xmlns:a16="http://schemas.microsoft.com/office/drawing/2014/main" id="{16EA533F-94AF-4D02-A54D-267AD6DA2E6D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Rectangle 7" hidden="1">
            <a:extLst>
              <a:ext uri="{FF2B5EF4-FFF2-40B4-BE49-F238E27FC236}">
                <a16:creationId xmlns:a16="http://schemas.microsoft.com/office/drawing/2014/main" id="{C54CE3BD-55D7-42CB-8D9D-17E2A0D74581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grpSp>
        <p:nvGrpSpPr>
          <p:cNvPr id="17" name="logoimage">
            <a:extLst>
              <a:ext uri="{FF2B5EF4-FFF2-40B4-BE49-F238E27FC236}">
                <a16:creationId xmlns:a16="http://schemas.microsoft.com/office/drawing/2014/main" id="{949772D7-BAE9-BB95-C2D5-92588AD0D7EC}"/>
              </a:ext>
            </a:extLst>
          </p:cNvPr>
          <p:cNvGrpSpPr/>
          <p:nvPr userDrawn="1">
            <p:custDataLst>
              <p:tags r:id="rId4"/>
            </p:custDataLst>
          </p:nvPr>
        </p:nvGrpSpPr>
        <p:grpSpPr>
          <a:xfrm>
            <a:off x="551942" y="481160"/>
            <a:ext cx="1893201" cy="585216"/>
            <a:chOff x="551942" y="481160"/>
            <a:chExt cx="1893201" cy="585216"/>
          </a:xfrm>
        </p:grpSpPr>
        <p:sp>
          <p:nvSpPr>
            <p:cNvPr id="5" name="AutoShape 3">
              <a:extLst>
                <a:ext uri="{FF2B5EF4-FFF2-40B4-BE49-F238E27FC236}">
                  <a16:creationId xmlns:a16="http://schemas.microsoft.com/office/drawing/2014/main" id="{1F430752-9F46-430E-93A8-58E8FAF85299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51942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6" name="Freeform 5">
              <a:extLst>
                <a:ext uri="{FF2B5EF4-FFF2-40B4-BE49-F238E27FC236}">
                  <a16:creationId xmlns:a16="http://schemas.microsoft.com/office/drawing/2014/main" id="{20C9A1A2-5968-4C0E-9E0B-C061BA0E7F39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51942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3" name="ClientLogo">
            <a:extLst>
              <a:ext uri="{FF2B5EF4-FFF2-40B4-BE49-F238E27FC236}">
                <a16:creationId xmlns:a16="http://schemas.microsoft.com/office/drawing/2014/main" id="{0D1A260D-45D1-4D8D-ACC4-246C7DD9AFAD}"/>
              </a:ext>
            </a:extLst>
          </p:cNvPr>
          <p:cNvSpPr>
            <a:spLocks noGrp="1"/>
          </p:cNvSpPr>
          <p:nvPr userDrawn="1">
            <p:ph type="pic" sz="quarter" idx="14" hasCustomPrompt="1"/>
            <p:custDataLst>
              <p:tags r:id="rId5"/>
            </p:custDataLst>
          </p:nvPr>
        </p:nvSpPr>
        <p:spPr>
          <a:xfrm>
            <a:off x="551942" y="4984025"/>
            <a:ext cx="1901952" cy="969264"/>
          </a:xfrm>
          <a:prstGeom prst="rect">
            <a:avLst/>
          </a:prstGeom>
        </p:spPr>
        <p:txBody>
          <a:bodyPr>
            <a:noAutofit/>
          </a:bodyPr>
          <a:lstStyle>
            <a:lvl1pPr algn="ctr">
              <a:defRPr sz="1200">
                <a:solidFill>
                  <a:schemeClr val="tx2"/>
                </a:solidFill>
              </a:defRPr>
            </a:lvl1pPr>
          </a:lstStyle>
          <a:p>
            <a:r>
              <a:rPr lang="en-US"/>
              <a:t>Client logo goes here.</a:t>
            </a:r>
          </a:p>
        </p:txBody>
      </p:sp>
      <p:sp>
        <p:nvSpPr>
          <p:cNvPr id="15" name="Documenttype">
            <a:extLst>
              <a:ext uri="{FF2B5EF4-FFF2-40B4-BE49-F238E27FC236}">
                <a16:creationId xmlns:a16="http://schemas.microsoft.com/office/drawing/2014/main" id="{CB5FF56E-DA90-4199-AF9A-359BE08E9A15}"/>
              </a:ext>
            </a:extLst>
          </p:cNvPr>
          <p:cNvSpPr>
            <a:spLocks noGrp="1"/>
          </p:cNvSpPr>
          <p:nvPr userDrawn="1">
            <p:ph type="body" sz="quarter" idx="13" hasCustomPrompt="1"/>
            <p:custDataLst>
              <p:tags r:id="rId6"/>
            </p:custDataLst>
          </p:nvPr>
        </p:nvSpPr>
        <p:spPr>
          <a:xfrm>
            <a:off x="554736" y="4510168"/>
            <a:ext cx="6016752" cy="215444"/>
          </a:xfrm>
          <a:prstGeom prst="rect">
            <a:avLst/>
          </a:prstGeom>
        </p:spPr>
        <p:txBody>
          <a:bodyPr wrap="square">
            <a:noAutofit/>
          </a:bodyPr>
          <a:lstStyle>
            <a:lvl1pPr>
              <a:buNone/>
              <a:defRPr sz="1400">
                <a:solidFill>
                  <a:schemeClr val="tx2"/>
                </a:solidFill>
              </a:defRPr>
            </a:lvl1pPr>
            <a:lvl2pPr marL="115888" indent="0">
              <a:buNone/>
              <a:defRPr>
                <a:solidFill>
                  <a:schemeClr val="bg1"/>
                </a:solidFill>
              </a:defRPr>
            </a:lvl2pPr>
            <a:lvl3pPr marL="466344" indent="0">
              <a:buNone/>
              <a:defRPr>
                <a:solidFill>
                  <a:schemeClr val="bg1"/>
                </a:solidFill>
              </a:defRPr>
            </a:lvl3pPr>
            <a:lvl4pPr marL="813816" indent="0">
              <a:buNone/>
              <a:defRPr>
                <a:solidFill>
                  <a:schemeClr val="bg1"/>
                </a:solidFill>
              </a:defRPr>
            </a:lvl4pPr>
            <a:lvl5pPr marL="1161288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en-US"/>
              <a:t>Edit date or title/role</a:t>
            </a:r>
          </a:p>
        </p:txBody>
      </p:sp>
      <p:sp>
        <p:nvSpPr>
          <p:cNvPr id="14" name="Subtitle">
            <a:extLst>
              <a:ext uri="{FF2B5EF4-FFF2-40B4-BE49-F238E27FC236}">
                <a16:creationId xmlns:a16="http://schemas.microsoft.com/office/drawing/2014/main" id="{BFC960F1-3A46-4C93-83F3-47AB2EB0D15E}"/>
              </a:ext>
            </a:extLst>
          </p:cNvPr>
          <p:cNvSpPr>
            <a:spLocks noGrp="1"/>
          </p:cNvSpPr>
          <p:nvPr userDrawn="1">
            <p:ph type="subTitle" idx="1"/>
            <p:custDataLst>
              <p:tags r:id="rId7"/>
            </p:custDataLst>
          </p:nvPr>
        </p:nvSpPr>
        <p:spPr>
          <a:xfrm>
            <a:off x="551942" y="4092559"/>
            <a:ext cx="6016752" cy="307777"/>
          </a:xfrm>
          <a:prstGeom prst="rect">
            <a:avLst/>
          </a:prstGeom>
        </p:spPr>
        <p:txBody>
          <a:bodyPr wrap="square">
            <a:spAutoFit/>
          </a:bodyPr>
          <a:lstStyle>
            <a:lvl1pPr marL="0" indent="0" algn="l">
              <a:buNone/>
              <a:defRPr sz="200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13" name="Title">
            <a:extLst>
              <a:ext uri="{FF2B5EF4-FFF2-40B4-BE49-F238E27FC236}">
                <a16:creationId xmlns:a16="http://schemas.microsoft.com/office/drawing/2014/main" id="{14DBF1FD-6C25-4E00-ACAB-F60F35C9625C}"/>
              </a:ext>
            </a:extLst>
          </p:cNvPr>
          <p:cNvSpPr>
            <a:spLocks noGrp="1"/>
          </p:cNvSpPr>
          <p:nvPr userDrawn="1">
            <p:ph type="title"/>
            <p:custDataLst>
              <p:tags r:id="rId8"/>
            </p:custDataLst>
          </p:nvPr>
        </p:nvSpPr>
        <p:spPr>
          <a:xfrm>
            <a:off x="551942" y="2049805"/>
            <a:ext cx="6016752" cy="1921708"/>
          </a:xfrm>
          <a:prstGeom prst="rect">
            <a:avLst/>
          </a:prstGeom>
        </p:spPr>
        <p:txBody>
          <a:bodyPr vert="horz" anchor="b">
            <a:normAutofit/>
          </a:bodyPr>
          <a:lstStyle>
            <a:lvl1pPr>
              <a:defRPr sz="4400" baseline="0">
                <a:ln w="6350" cap="flat">
                  <a:noFill/>
                  <a:miter lim="800000"/>
                </a:ln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9" name="Disclaimer-English (United States)">
            <a:extLst>
              <a:ext uri="{FF2B5EF4-FFF2-40B4-BE49-F238E27FC236}">
                <a16:creationId xmlns:a16="http://schemas.microsoft.com/office/drawing/2014/main" id="{FB7A54AC-E14F-4BA1-B48F-5284B039668B}"/>
              </a:ext>
            </a:extLst>
          </p:cNvPr>
          <p:cNvSpPr>
            <a:spLocks noChangeArrowheads="1"/>
          </p:cNvSpPr>
          <p:nvPr userDrawn="1">
            <p:custDataLst>
              <p:tags r:id="rId9"/>
            </p:custDataLst>
          </p:nvPr>
        </p:nvSpPr>
        <p:spPr bwMode="black">
          <a:xfrm>
            <a:off x="551942" y="6190488"/>
            <a:ext cx="3995928" cy="35661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 lIns="0" tIns="0" rIns="0" bIns="0" anchor="b" anchorCtr="0">
            <a:noAutofit/>
          </a:bodyPr>
          <a:lstStyle/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CONFIDENTIAL AND PROPRIETARY | © 2026 McKinsey &amp; Company. </a:t>
            </a:r>
          </a:p>
          <a:p>
            <a:pPr defTabSz="804863" eaLnBrk="0" hangingPunct="0"/>
            <a:r>
              <a:rPr lang="en-US" sz="750">
                <a:solidFill>
                  <a:schemeClr val="tx2"/>
                </a:solidFill>
                <a:latin typeface="+mn-lt"/>
              </a:rPr>
              <a:t>This material is intended solely for your internal use and any use of this material without specific permission of McKinsey &amp; Company is strictly prohibited.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17468560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280F489B-6EA9-4D60-AD2D-A049B26FC925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CA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8EFF8A2-0FB9-4B25-8B8D-492353274983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92742848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0" imgW="413" imgH="416" progId="TCLayout.ActiveDocument.1">
                  <p:embed/>
                </p:oleObj>
              </mc:Choice>
              <mc:Fallback>
                <p:oleObj name="think-cell Slide" r:id="rId10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8EFF8A2-0FB9-4B25-8B8D-492353274983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1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9F741700-5035-4E61-A4AC-1B3C7AE220D5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5" name="2. Slide Title">
            <a:extLst>
              <a:ext uri="{FF2B5EF4-FFF2-40B4-BE49-F238E27FC236}">
                <a16:creationId xmlns:a16="http://schemas.microsoft.com/office/drawing/2014/main" id="{699FD2C4-82B5-475E-9235-DB128978B618}"/>
              </a:ext>
            </a:extLst>
          </p:cNvPr>
          <p:cNvSpPr>
            <a:spLocks noGrp="1"/>
          </p:cNvSpPr>
          <p:nvPr>
            <p:ph type="title"/>
            <p:custDataLst>
              <p:tags r:id="rId4"/>
            </p:custDataLst>
          </p:nvPr>
        </p:nvSpPr>
        <p:spPr>
          <a:xfrm>
            <a:off x="554736" y="182372"/>
            <a:ext cx="110825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6686DBA-90DA-4033-B950-94CBD0D7A425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9238B1D6-2095-4826-AA45-9A4E6F7D1A1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A8BAFD1A-3C11-49E6-B76E-5166760AF11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12" name="3. Subtitle">
            <a:extLst>
              <a:ext uri="{FF2B5EF4-FFF2-40B4-BE49-F238E27FC236}">
                <a16:creationId xmlns:a16="http://schemas.microsoft.com/office/drawing/2014/main" id="{1EE9FF4B-7331-4DE1-A594-C0C335ED5BE5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110825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80372402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op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1706563"/>
            <a:ext cx="3813048" cy="694944"/>
          </a:xfrm>
          <a:prstGeom prst="rect">
            <a:avLst/>
          </a:prstGeom>
        </p:spPr>
        <p:txBody>
          <a:bodyPr anchor="t">
            <a:noAutofit/>
          </a:bodyPr>
          <a:lstStyle>
            <a:lvl1pPr>
              <a:lnSpc>
                <a:spcPct val="90000"/>
              </a:lnSpc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Slide Number">
            <a:extLst>
              <a:ext uri="{FF2B5EF4-FFF2-40B4-BE49-F238E27FC236}">
                <a16:creationId xmlns:a16="http://schemas.microsoft.com/office/drawing/2014/main" id="{EFB4BF85-6002-4998-80DC-DC1B92544D1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0E2D5DBB-C1B8-4A27-836D-C2E6D553234D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8" name="1. On-page tracker">
            <a:extLst>
              <a:ext uri="{FF2B5EF4-FFF2-40B4-BE49-F238E27FC236}">
                <a16:creationId xmlns:a16="http://schemas.microsoft.com/office/drawing/2014/main" id="{2382874E-5BAC-44EB-9C53-2930F0FC66DC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9328549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Mid Le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2. Slide Title">
            <a:extLst>
              <a:ext uri="{FF2B5EF4-FFF2-40B4-BE49-F238E27FC236}">
                <a16:creationId xmlns:a16="http://schemas.microsoft.com/office/drawing/2014/main" id="{064E079D-5BD2-4787-A7F2-0859A1CB5E94}"/>
              </a:ext>
            </a:extLst>
          </p:cNvPr>
          <p:cNvSpPr>
            <a:spLocks noGrp="1"/>
          </p:cNvSpPr>
          <p:nvPr>
            <p:ph type="title"/>
            <p:custDataLst>
              <p:tags r:id="rId1"/>
            </p:custDataLst>
          </p:nvPr>
        </p:nvSpPr>
        <p:spPr>
          <a:xfrm>
            <a:off x="554736" y="3044280"/>
            <a:ext cx="5065776" cy="769441"/>
          </a:xfrm>
          <a:prstGeom prst="rect">
            <a:avLst/>
          </a:prstGeom>
        </p:spPr>
        <p:txBody>
          <a:bodyPr rIns="365760" anchor="ctr">
            <a:noAutofit/>
          </a:bodyPr>
          <a:lstStyle>
            <a:lvl1pPr>
              <a:defRPr>
                <a:ln w="6350" cap="flat">
                  <a:noFill/>
                  <a:miter lim="800000"/>
                </a:ln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2BF771FC-DD10-42B6-A51E-7F1E26F8184D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C0D33C43-5B9F-44B4-82FA-BAAD11A7FB8E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7" name="1. On-page tracker">
            <a:extLst>
              <a:ext uri="{FF2B5EF4-FFF2-40B4-BE49-F238E27FC236}">
                <a16:creationId xmlns:a16="http://schemas.microsoft.com/office/drawing/2014/main" id="{2A77292F-0F7C-43B4-9782-AB706C93BD64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5741233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A608D4BB-56F5-4BF1-8C9C-8799BAA8CEE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70370003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8" imgW="473" imgH="476" progId="TCLayout.ActiveDocument.1">
                  <p:embed/>
                </p:oleObj>
              </mc:Choice>
              <mc:Fallback>
                <p:oleObj name="think-cell Slide" r:id="rId8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A608D4BB-56F5-4BF1-8C9C-8799BAA8CEE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288743A-B5B4-4D5C-9D2C-F17D5A50E4BE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4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2. Slide Title">
            <a:extLst>
              <a:ext uri="{FF2B5EF4-FFF2-40B4-BE49-F238E27FC236}">
                <a16:creationId xmlns:a16="http://schemas.microsoft.com/office/drawing/2014/main" id="{99495DFD-8D6A-4DD8-AE3A-47FA42AA0A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4580468"/>
            <a:ext cx="11082528" cy="677108"/>
          </a:xfrm>
        </p:spPr>
        <p:txBody>
          <a:bodyPr anchor="b">
            <a:noAutofit/>
          </a:bodyPr>
          <a:lstStyle>
            <a:lvl1pPr>
              <a:lnSpc>
                <a:spcPct val="93000"/>
              </a:lnSpc>
              <a:defRPr sz="4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Slide Number">
            <a:extLst>
              <a:ext uri="{FF2B5EF4-FFF2-40B4-BE49-F238E27FC236}">
                <a16:creationId xmlns:a16="http://schemas.microsoft.com/office/drawing/2014/main" id="{A86AE8A6-05EF-4E76-AAAD-41743692E9F9}"/>
              </a:ext>
            </a:extLst>
          </p:cNvPr>
          <p:cNvSpPr>
            <a:spLocks noChangeArrowheads="1"/>
          </p:cNvSpPr>
          <p:nvPr userDrawn="1">
            <p:custDataLst>
              <p:tags r:id="rId4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6" name="5. Source" hidden="1">
            <a:extLst>
              <a:ext uri="{FF2B5EF4-FFF2-40B4-BE49-F238E27FC236}">
                <a16:creationId xmlns:a16="http://schemas.microsoft.com/office/drawing/2014/main" id="{B871FE09-BB6E-4334-B0EA-E52395AA61B3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07CA98DC-1A07-45D0-A835-AD1606EE7BAE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6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5252528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2CD01A5A-D383-4F62-8841-DD0172530759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137211496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9" imgW="473" imgH="476" progId="TCLayout.ActiveDocument.1">
                  <p:embed/>
                </p:oleObj>
              </mc:Choice>
              <mc:Fallback>
                <p:oleObj name="think-cell Slide" r:id="rId9" imgW="473" imgH="47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2CD01A5A-D383-4F62-8841-DD0172530759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AC2F000-47EB-4070-866B-EF082C9E1028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>
              <a:spcBef>
                <a:spcPts val="300"/>
              </a:spcBef>
              <a:spcAft>
                <a:spcPts val="300"/>
              </a:spcAft>
            </a:pPr>
            <a:endParaRPr lang="en-US" sz="34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8" name="2. Slide Title">
            <a:extLst>
              <a:ext uri="{FF2B5EF4-FFF2-40B4-BE49-F238E27FC236}">
                <a16:creationId xmlns:a16="http://schemas.microsoft.com/office/drawing/2014/main" id="{EA735538-C733-4892-93A4-7B433D8B8293}"/>
              </a:ext>
            </a:extLst>
          </p:cNvPr>
          <p:cNvSpPr>
            <a:spLocks noGrp="1"/>
          </p:cNvSpPr>
          <p:nvPr>
            <p:ph type="title" hasCustomPrompt="1"/>
            <p:custDataLst>
              <p:tags r:id="rId3"/>
            </p:custDataLst>
          </p:nvPr>
        </p:nvSpPr>
        <p:spPr>
          <a:xfrm>
            <a:off x="1505712" y="3592841"/>
            <a:ext cx="9180576" cy="486608"/>
          </a:xfrm>
          <a:prstGeom prst="rect">
            <a:avLst/>
          </a:prstGeom>
        </p:spPr>
        <p:txBody>
          <a:bodyPr>
            <a:spAutoFit/>
          </a:bodyPr>
          <a:lstStyle>
            <a:lvl1pPr>
              <a:lnSpc>
                <a:spcPct val="93000"/>
              </a:lnSpc>
              <a:defRPr sz="3400"/>
            </a:lvl1pPr>
          </a:lstStyle>
          <a:p>
            <a:r>
              <a:rPr lang="en-US"/>
              <a:t>“Click to add quote</a:t>
            </a:r>
          </a:p>
        </p:txBody>
      </p:sp>
      <p:sp>
        <p:nvSpPr>
          <p:cNvPr id="6" name="3. Subtitle">
            <a:extLst>
              <a:ext uri="{FF2B5EF4-FFF2-40B4-BE49-F238E27FC236}">
                <a16:creationId xmlns:a16="http://schemas.microsoft.com/office/drawing/2014/main" id="{8DB5022C-F66C-4018-82F3-195571DDD527}"/>
              </a:ext>
            </a:extLst>
          </p:cNvPr>
          <p:cNvSpPr>
            <a:spLocks noGrp="1"/>
          </p:cNvSpPr>
          <p:nvPr>
            <p:ph type="subTitle" idx="1" hasCustomPrompt="1"/>
            <p:custDataLst>
              <p:tags r:id="rId4"/>
            </p:custDataLst>
          </p:nvPr>
        </p:nvSpPr>
        <p:spPr>
          <a:xfrm>
            <a:off x="1505712" y="4284630"/>
            <a:ext cx="9180576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add quote source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FAEB6FCE-50CC-4F2B-A5B3-CB508EDFCD46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97195F4E-ECA7-41A9-AFF3-0C4DAD103DA6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469A753E-961A-4AC3-B6E0-4407B9A4AF36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16025496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DA8D6A48-EE20-4EB4-A234-9F3B16C02872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70779922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DA8D6A48-EE20-4EB4-A234-9F3B16C02872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C6FAC554-F995-4246-BE36-413D2200D983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3413760" y="0"/>
            <a:ext cx="8778240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7D03BAA3-96F1-4B7C-895E-B9B8CFDDA50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ACF9526A-1F1C-4E57-8A8D-21EDBC12066F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6647A441-8DE4-4236-BCC7-B694B2C59E00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2514600" cy="769441"/>
          </a:xfrm>
        </p:spPr>
        <p:txBody>
          <a:bodyPr anchor="b">
            <a:noAutofit/>
          </a:bodyPr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A4DBA574-6D59-4DFD-82A7-9B1E9AEB906E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6" y="3659644"/>
            <a:ext cx="2514600" cy="492443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25B2DE14-9B3F-4199-B082-9FEB12CE57EA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2C7757ED-5357-4B01-BB59-15D4406B0FDF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7786711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EE6E84E-0DE7-4EEF-8932-BF42153B3B56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3155183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EE6E84E-0DE7-4EEF-8932-BF42153B3B56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2D2E0F6-5BB5-47A0-8E4A-CD4E6673B199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6" name="RectangleLight">
            <a:extLst>
              <a:ext uri="{FF2B5EF4-FFF2-40B4-BE49-F238E27FC236}">
                <a16:creationId xmlns:a16="http://schemas.microsoft.com/office/drawing/2014/main" id="{3FA229FA-A3E6-464F-8FAE-54175450EBEB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4364736" y="0"/>
            <a:ext cx="782726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2D4C39DE-34D3-430B-A68C-3662DBF9F427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6B65DC7-979F-4AB7-9872-8CF5F2DCB753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19" name="2. Slide Title">
            <a:extLst>
              <a:ext uri="{FF2B5EF4-FFF2-40B4-BE49-F238E27FC236}">
                <a16:creationId xmlns:a16="http://schemas.microsoft.com/office/drawing/2014/main" id="{4EF89F43-35C6-451B-BBE8-87D2B8B83F5E}"/>
              </a:ext>
            </a:extLst>
          </p:cNvPr>
          <p:cNvSpPr>
            <a:spLocks noGrp="1"/>
          </p:cNvSpPr>
          <p:nvPr>
            <p:ph type="title"/>
            <p:custDataLst>
              <p:tags r:id="rId6"/>
            </p:custDataLst>
          </p:nvPr>
        </p:nvSpPr>
        <p:spPr>
          <a:xfrm>
            <a:off x="554736" y="2744369"/>
            <a:ext cx="3465576" cy="769441"/>
          </a:xfrm>
          <a:prstGeom prst="rect">
            <a:avLst/>
          </a:prstGeom>
        </p:spPr>
        <p:txBody>
          <a:bodyPr wrap="square" anchor="b">
            <a:noAutofit/>
          </a:bodyPr>
          <a:lstStyle>
            <a:lvl1pPr algn="l"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20" name="3. Subtitle">
            <a:extLst>
              <a:ext uri="{FF2B5EF4-FFF2-40B4-BE49-F238E27FC236}">
                <a16:creationId xmlns:a16="http://schemas.microsoft.com/office/drawing/2014/main" id="{9F06A69A-B095-4159-932B-3658DD253FDF}"/>
              </a:ext>
            </a:extLst>
          </p:cNvPr>
          <p:cNvSpPr>
            <a:spLocks noGrp="1"/>
          </p:cNvSpPr>
          <p:nvPr>
            <p:ph type="subTitle" idx="1"/>
            <p:custDataLst>
              <p:tags r:id="rId7"/>
            </p:custDataLst>
          </p:nvPr>
        </p:nvSpPr>
        <p:spPr>
          <a:xfrm>
            <a:off x="554735" y="3659644"/>
            <a:ext cx="3465575" cy="246221"/>
          </a:xfrm>
        </p:spPr>
        <p:txBody>
          <a:bodyPr wrap="square" anchor="t">
            <a:spAutoFit/>
          </a:bodyPr>
          <a:lstStyle>
            <a:lvl1pPr marL="0" indent="0" algn="l">
              <a:buNone/>
              <a:defRPr sz="1600" b="0">
                <a:solidFill>
                  <a:schemeClr val="tx1"/>
                </a:solidFill>
              </a:defRPr>
            </a:lvl1pPr>
            <a:lvl2pPr marL="457178" indent="0" algn="ctr">
              <a:buNone/>
              <a:defRPr sz="2000"/>
            </a:lvl2pPr>
            <a:lvl3pPr marL="914354" indent="0" algn="ctr">
              <a:buNone/>
              <a:defRPr sz="1800"/>
            </a:lvl3pPr>
            <a:lvl4pPr marL="1371532" indent="0" algn="ctr">
              <a:buNone/>
              <a:defRPr sz="1600"/>
            </a:lvl4pPr>
            <a:lvl5pPr marL="1828709" indent="0" algn="ctr">
              <a:buNone/>
              <a:defRPr sz="1600"/>
            </a:lvl5pPr>
            <a:lvl6pPr marL="2285886" indent="0" algn="ctr">
              <a:buNone/>
              <a:defRPr sz="1600"/>
            </a:lvl6pPr>
            <a:lvl7pPr marL="2743062" indent="0" algn="ctr">
              <a:buNone/>
              <a:defRPr sz="1600"/>
            </a:lvl7pPr>
            <a:lvl8pPr marL="3200240" indent="0" algn="ctr">
              <a:buNone/>
              <a:defRPr sz="1600"/>
            </a:lvl8pPr>
            <a:lvl9pPr marL="3657418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DA204BE1-D5C8-4D03-9090-21D41FEC78E0}"/>
              </a:ext>
            </a:extLst>
          </p:cNvPr>
          <p:cNvSpPr txBox="1"/>
          <p:nvPr userDrawn="1">
            <p:custDataLst>
              <p:tags r:id="rId8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5" name="1. On-page tracker">
            <a:extLst>
              <a:ext uri="{FF2B5EF4-FFF2-40B4-BE49-F238E27FC236}">
                <a16:creationId xmlns:a16="http://schemas.microsoft.com/office/drawing/2014/main" id="{1ADFA379-EDDB-4C62-A3BB-AC227312C688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9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3625428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/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o not remove" hidden="1">
            <a:extLst>
              <a:ext uri="{FF2B5EF4-FFF2-40B4-BE49-F238E27FC236}">
                <a16:creationId xmlns:a16="http://schemas.microsoft.com/office/drawing/2014/main" id="{D9F2524B-0DC2-60F0-5C4E-8FA71D9DB6D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6350" cap="sq">
            <a:noFill/>
            <a:miter lim="800000"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algn="ctr">
              <a:spcBef>
                <a:spcPts val="300"/>
              </a:spcBef>
              <a:spcAft>
                <a:spcPts val="300"/>
              </a:spcAft>
            </a:pPr>
            <a:endParaRPr lang="en-US" sz="1600" err="1">
              <a:solidFill>
                <a:schemeClr val="bg1"/>
              </a:solidFill>
            </a:endParaRPr>
          </a:p>
        </p:txBody>
      </p:sp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14978429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13" imgH="416" progId="TCLayout.ActiveDocument.1">
                  <p:embed/>
                </p:oleObj>
              </mc:Choice>
              <mc:Fallback>
                <p:oleObj name="think-cell Slide" r:id="rId12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3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4"/>
            </p:custDataLst>
          </p:nvPr>
        </p:nvSpPr>
        <p:spPr bwMode="ltGray">
          <a:xfrm>
            <a:off x="6092952" y="0"/>
            <a:ext cx="609904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5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6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7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0E1A178A-6BDC-4A0A-9F92-72F6EB95AD8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8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4" name="2. Slide Title">
            <a:extLst>
              <a:ext uri="{FF2B5EF4-FFF2-40B4-BE49-F238E27FC236}">
                <a16:creationId xmlns:a16="http://schemas.microsoft.com/office/drawing/2014/main" id="{06A9E224-CFBD-42B8-A4C0-EFE2C017E523}"/>
              </a:ext>
            </a:extLst>
          </p:cNvPr>
          <p:cNvSpPr>
            <a:spLocks noGrp="1"/>
          </p:cNvSpPr>
          <p:nvPr>
            <p:ph type="title"/>
            <p:custDataLst>
              <p:tags r:id="rId9"/>
            </p:custDataLst>
          </p:nvPr>
        </p:nvSpPr>
        <p:spPr>
          <a:xfrm>
            <a:off x="554736" y="182372"/>
            <a:ext cx="5065776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5" name="3. Subtitle">
            <a:extLst>
              <a:ext uri="{FF2B5EF4-FFF2-40B4-BE49-F238E27FC236}">
                <a16:creationId xmlns:a16="http://schemas.microsoft.com/office/drawing/2014/main" id="{F7FC2EC4-28A5-4B24-B46C-79BCB0964344}"/>
              </a:ext>
            </a:extLst>
          </p:cNvPr>
          <p:cNvSpPr>
            <a:spLocks noGrp="1"/>
          </p:cNvSpPr>
          <p:nvPr>
            <p:ph type="subTitle" idx="1"/>
            <p:custDataLst>
              <p:tags r:id="rId10"/>
            </p:custDataLst>
          </p:nvPr>
        </p:nvSpPr>
        <p:spPr>
          <a:xfrm>
            <a:off x="554736" y="903861"/>
            <a:ext cx="5065776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199507232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2/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C293AC4C-5B2F-4A0C-8C9B-7295BEE1F457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93124433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572" imgH="588" progId="TCLayout.ActiveDocument.1">
                  <p:embed/>
                </p:oleObj>
              </mc:Choice>
              <mc:Fallback>
                <p:oleObj name="think-cell Slide" r:id="rId11" imgW="572" imgH="588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C293AC4C-5B2F-4A0C-8C9B-7295BEE1F457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D8F8ABD0-305F-4DFC-AC60-1FB7BB16830A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7" name="RectangleLight">
            <a:extLst>
              <a:ext uri="{FF2B5EF4-FFF2-40B4-BE49-F238E27FC236}">
                <a16:creationId xmlns:a16="http://schemas.microsoft.com/office/drawing/2014/main" id="{2365F90A-9CD8-40EE-93CD-2729135A9569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7830312" y="0"/>
            <a:ext cx="4361688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algn="ctr"/>
            <a:endParaRPr lang="en-US">
              <a:solidFill>
                <a:srgbClr val="F0F0F0"/>
              </a:solidFill>
              <a:latin typeface="Arial" panose="020B0604020202020204" pitchFamily="34" charset="0"/>
            </a:endParaRPr>
          </a:p>
        </p:txBody>
      </p:sp>
      <p:sp>
        <p:nvSpPr>
          <p:cNvPr id="16" name="SlideLogoText">
            <a:extLst>
              <a:ext uri="{FF2B5EF4-FFF2-40B4-BE49-F238E27FC236}">
                <a16:creationId xmlns:a16="http://schemas.microsoft.com/office/drawing/2014/main" id="{AEC46ACE-42CD-4304-9E51-86DBC38CA4EB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7" name="Slide Number">
            <a:extLst>
              <a:ext uri="{FF2B5EF4-FFF2-40B4-BE49-F238E27FC236}">
                <a16:creationId xmlns:a16="http://schemas.microsoft.com/office/drawing/2014/main" id="{3B7A7C0C-AC02-4989-860B-73442D510162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21" name="5. Source" hidden="1">
            <a:extLst>
              <a:ext uri="{FF2B5EF4-FFF2-40B4-BE49-F238E27FC236}">
                <a16:creationId xmlns:a16="http://schemas.microsoft.com/office/drawing/2014/main" id="{F25A304F-F50E-4F96-991D-CFEB07060178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6967729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25" name="2. Slide Title">
            <a:extLst>
              <a:ext uri="{FF2B5EF4-FFF2-40B4-BE49-F238E27FC236}">
                <a16:creationId xmlns:a16="http://schemas.microsoft.com/office/drawing/2014/main" id="{AA4BE143-5F32-4F04-B536-5DD597732824}"/>
              </a:ext>
            </a:extLst>
          </p:cNvPr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>
          <a:xfrm>
            <a:off x="554736" y="182372"/>
            <a:ext cx="6967728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97E30C8F-A677-42C7-A072-4ACC7DC3D698}"/>
              </a:ext>
            </a:extLst>
          </p:cNvPr>
          <p:cNvSpPr>
            <a:spLocks noGrp="1"/>
          </p:cNvSpPr>
          <p:nvPr>
            <p:ph type="subTitle" idx="1"/>
            <p:custDataLst>
              <p:tags r:id="rId8"/>
            </p:custDataLst>
          </p:nvPr>
        </p:nvSpPr>
        <p:spPr>
          <a:xfrm>
            <a:off x="554736" y="903861"/>
            <a:ext cx="6967728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  <p:sp>
        <p:nvSpPr>
          <p:cNvPr id="19" name="1. On-page tracker">
            <a:extLst>
              <a:ext uri="{FF2B5EF4-FFF2-40B4-BE49-F238E27FC236}">
                <a16:creationId xmlns:a16="http://schemas.microsoft.com/office/drawing/2014/main" id="{288125BB-6CB4-4B7C-8E2B-CB1912430A39}"/>
              </a:ext>
            </a:extLst>
          </p:cNvPr>
          <p:cNvSpPr>
            <a:spLocks noGrp="1"/>
          </p:cNvSpPr>
          <p:nvPr>
            <p:ph type="body" sz="quarter" idx="18" hasCustomPrompt="1"/>
            <p:custDataLst>
              <p:tags r:id="rId9"/>
            </p:custDataLst>
          </p:nvPr>
        </p:nvSpPr>
        <p:spPr>
          <a:xfrm>
            <a:off x="8170323" y="78768"/>
            <a:ext cx="346694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2844026401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/4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9F7114D8-6025-4386-BA96-B034FE6B3CD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602346473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1" imgW="413" imgH="416" progId="TCLayout.ActiveDocument.1">
                  <p:embed/>
                </p:oleObj>
              </mc:Choice>
              <mc:Fallback>
                <p:oleObj name="think-cell Slide" r:id="rId11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9F7114D8-6025-4386-BA96-B034FE6B3CDB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25C86E70-6ADC-4EA2-90F2-373AC4FDE5D0}"/>
              </a:ext>
            </a:extLst>
          </p:cNvPr>
          <p:cNvSpPr/>
          <p:nvPr userDrawn="1">
            <p:custDataLst>
              <p:tags r:id="rId2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endParaRPr kumimoji="0" lang="en-US" sz="2500" b="1" i="0" u="none" strike="noStrike" kern="1200" cap="none" spc="0" normalizeH="0" baseline="0" noProof="0" err="1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23" name="RectangleLight">
            <a:extLst>
              <a:ext uri="{FF2B5EF4-FFF2-40B4-BE49-F238E27FC236}">
                <a16:creationId xmlns:a16="http://schemas.microsoft.com/office/drawing/2014/main" id="{A80E2F68-4ED6-42EF-9858-2FE4B1382825}"/>
              </a:ext>
            </a:extLst>
          </p:cNvPr>
          <p:cNvSpPr/>
          <p:nvPr userDrawn="1">
            <p:custDataLst>
              <p:tags r:id="rId3"/>
            </p:custDataLst>
          </p:nvPr>
        </p:nvSpPr>
        <p:spPr bwMode="ltGray">
          <a:xfrm>
            <a:off x="8781416" y="0"/>
            <a:ext cx="3410584" cy="6858000"/>
          </a:xfrm>
          <a:prstGeom prst="rect">
            <a:avLst/>
          </a:prstGeom>
          <a:solidFill>
            <a:srgbClr val="E6E6E6"/>
          </a:solidFill>
          <a:ln w="6350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<a:prstTxWarp prst="textNoShape">
              <a:avLst/>
            </a:prstTxWarp>
            <a:no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F0F0F0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+mn-cs"/>
            </a:endParaRPr>
          </a:p>
        </p:txBody>
      </p:sp>
      <p:sp>
        <p:nvSpPr>
          <p:cNvPr id="17" name="SlideLogoText">
            <a:extLst>
              <a:ext uri="{FF2B5EF4-FFF2-40B4-BE49-F238E27FC236}">
                <a16:creationId xmlns:a16="http://schemas.microsoft.com/office/drawing/2014/main" id="{609F85FD-B74A-4A4E-BFA9-7668DD6BCB9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9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8" name="Slide Number">
            <a:extLst>
              <a:ext uri="{FF2B5EF4-FFF2-40B4-BE49-F238E27FC236}">
                <a16:creationId xmlns:a16="http://schemas.microsoft.com/office/drawing/2014/main" id="{D0E8D6D4-65CF-4E97-809E-C2399703986A}"/>
              </a:ext>
            </a:extLst>
          </p:cNvPr>
          <p:cNvSpPr>
            <a:spLocks noChangeArrowheads="1"/>
          </p:cNvSpPr>
          <p:nvPr userDrawn="1">
            <p:custDataLst>
              <p:tags r:id="rId5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marL="0" marR="0" lvl="0" indent="0" algn="r" defTabSz="610744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4ABDCABE-3F10-B64C-92F1-862014417034}" type="slidenum">
              <a:rPr kumimoji="0" lang="en-US" sz="900" b="0" i="0" u="none" strike="noStrike" kern="1200" cap="none" spc="0" normalizeH="0" baseline="0" noProof="0" smtClean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pPr marL="0" marR="0" lvl="0" indent="0" algn="r" defTabSz="610744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9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Arial" panose="020B0604020202020204" pitchFamily="34" charset="0"/>
            </a:endParaRPr>
          </a:p>
        </p:txBody>
      </p:sp>
      <p:sp>
        <p:nvSpPr>
          <p:cNvPr id="22" name="5. Source" hidden="1">
            <a:extLst>
              <a:ext uri="{FF2B5EF4-FFF2-40B4-BE49-F238E27FC236}">
                <a16:creationId xmlns:a16="http://schemas.microsoft.com/office/drawing/2014/main" id="{F5E9C22A-A356-4521-A359-338A663DFEA2}"/>
              </a:ext>
            </a:extLst>
          </p:cNvPr>
          <p:cNvSpPr txBox="1"/>
          <p:nvPr userDrawn="1">
            <p:custDataLst>
              <p:tags r:id="rId6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ClrTx/>
              <a:buSzTx/>
              <a:buFont typeface="Segoe UI" panose="020B0502040204020203" pitchFamily="34" charset="0"/>
              <a:buChar char="​"/>
              <a:tabLst/>
              <a:defRPr/>
            </a:pPr>
            <a:r>
              <a:rPr kumimoji="0" lang="en-US" sz="8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Arial" panose="020B0604020202020204" pitchFamily="34" charset="0"/>
              </a:rPr>
              <a:t>Source: …</a:t>
            </a:r>
          </a:p>
        </p:txBody>
      </p:sp>
      <p:sp>
        <p:nvSpPr>
          <p:cNvPr id="20" name="1. On-page tracker">
            <a:extLst>
              <a:ext uri="{FF2B5EF4-FFF2-40B4-BE49-F238E27FC236}">
                <a16:creationId xmlns:a16="http://schemas.microsoft.com/office/drawing/2014/main" id="{CA286AFC-8B29-4E70-86B3-6C866D5BEC95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7"/>
            </p:custDataLst>
          </p:nvPr>
        </p:nvSpPr>
        <p:spPr>
          <a:xfrm>
            <a:off x="9116813" y="78768"/>
            <a:ext cx="2520451" cy="123111"/>
          </a:xfrm>
        </p:spPr>
        <p:txBody>
          <a:bodyPr wrap="square"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  <p:sp>
        <p:nvSpPr>
          <p:cNvPr id="21" name="2. Slide Title">
            <a:extLst>
              <a:ext uri="{FF2B5EF4-FFF2-40B4-BE49-F238E27FC236}">
                <a16:creationId xmlns:a16="http://schemas.microsoft.com/office/drawing/2014/main" id="{37073CF3-4B2B-440D-B24E-174E36B7892F}"/>
              </a:ext>
            </a:extLst>
          </p:cNvPr>
          <p:cNvSpPr>
            <a:spLocks noGrp="1"/>
          </p:cNvSpPr>
          <p:nvPr>
            <p:ph type="title"/>
            <p:custDataLst>
              <p:tags r:id="rId8"/>
            </p:custDataLst>
          </p:nvPr>
        </p:nvSpPr>
        <p:spPr>
          <a:xfrm>
            <a:off x="554736" y="182372"/>
            <a:ext cx="7918704" cy="731520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26" name="3. Subtitle">
            <a:extLst>
              <a:ext uri="{FF2B5EF4-FFF2-40B4-BE49-F238E27FC236}">
                <a16:creationId xmlns:a16="http://schemas.microsoft.com/office/drawing/2014/main" id="{61C78DC4-4C20-4AA3-93C4-00442F85A83B}"/>
              </a:ext>
            </a:extLst>
          </p:cNvPr>
          <p:cNvSpPr>
            <a:spLocks noGrp="1"/>
          </p:cNvSpPr>
          <p:nvPr>
            <p:ph type="subTitle" idx="1"/>
            <p:custDataLst>
              <p:tags r:id="rId9"/>
            </p:custDataLst>
          </p:nvPr>
        </p:nvSpPr>
        <p:spPr>
          <a:xfrm>
            <a:off x="554736" y="903861"/>
            <a:ext cx="7918704" cy="246221"/>
          </a:xfrm>
        </p:spPr>
        <p:txBody>
          <a:bodyPr anchor="t" anchorCtr="0">
            <a:spAutoFit/>
          </a:bodyPr>
          <a:lstStyle/>
          <a:p>
            <a:r>
              <a:rPr lang="en-US" sz="160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74962811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3-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SlideLogoText">
            <a:extLst>
              <a:ext uri="{FF2B5EF4-FFF2-40B4-BE49-F238E27FC236}">
                <a16:creationId xmlns:a16="http://schemas.microsoft.com/office/drawing/2014/main" id="{B789CE62-716F-47B1-B8FE-60436A1FA5A7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5" name="Slide Number">
            <a:extLst>
              <a:ext uri="{FF2B5EF4-FFF2-40B4-BE49-F238E27FC236}">
                <a16:creationId xmlns:a16="http://schemas.microsoft.com/office/drawing/2014/main" id="{0AA537C7-2883-43C1-848C-3A4E9645077F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4" name="2. Slide Title">
            <a:extLst>
              <a:ext uri="{FF2B5EF4-FFF2-40B4-BE49-F238E27FC236}">
                <a16:creationId xmlns:a16="http://schemas.microsoft.com/office/drawing/2014/main" id="{6C3D89FC-A4B9-4683-B64F-B0644150274F}"/>
              </a:ext>
            </a:extLst>
          </p:cNvPr>
          <p:cNvSpPr>
            <a:spLocks noGrp="1"/>
          </p:cNvSpPr>
          <p:nvPr>
            <p:ph type="title"/>
            <p:custDataLst>
              <p:tags r:id="rId3"/>
            </p:custDataLst>
          </p:nvPr>
        </p:nvSpPr>
        <p:spPr>
          <a:xfrm>
            <a:off x="554736" y="175171"/>
            <a:ext cx="11082528" cy="989512"/>
          </a:xfrm>
        </p:spPr>
        <p:txBody>
          <a:bodyPr>
            <a:noAutofit/>
          </a:bodyPr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10" name="5. Source" hidden="1">
            <a:extLst>
              <a:ext uri="{FF2B5EF4-FFF2-40B4-BE49-F238E27FC236}">
                <a16:creationId xmlns:a16="http://schemas.microsoft.com/office/drawing/2014/main" id="{81E2484B-3E40-408C-A350-5EB40C8A09F0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9" name="1. On-page tracker">
            <a:extLst>
              <a:ext uri="{FF2B5EF4-FFF2-40B4-BE49-F238E27FC236}">
                <a16:creationId xmlns:a16="http://schemas.microsoft.com/office/drawing/2014/main" id="{A91FB312-B423-41B9-AEAA-2BE53183470B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5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3070915404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usto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lideLogoText">
            <a:extLst>
              <a:ext uri="{FF2B5EF4-FFF2-40B4-BE49-F238E27FC236}">
                <a16:creationId xmlns:a16="http://schemas.microsoft.com/office/drawing/2014/main" id="{92A63429-03F1-4595-BAE1-A5F5E74A0DF2}"/>
              </a:ext>
            </a:extLst>
          </p:cNvPr>
          <p:cNvSpPr txBox="1"/>
          <p:nvPr userDrawn="1">
            <p:custDataLst>
              <p:tags r:id="rId1"/>
            </p:custDataLst>
          </p:nvPr>
        </p:nvSpPr>
        <p:spPr bwMode="black"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9" name="Slide Number">
            <a:extLst>
              <a:ext uri="{FF2B5EF4-FFF2-40B4-BE49-F238E27FC236}">
                <a16:creationId xmlns:a16="http://schemas.microsoft.com/office/drawing/2014/main" id="{6982A9EE-ED1D-4D7E-84CA-3C36D0891D68}"/>
              </a:ext>
            </a:extLst>
          </p:cNvPr>
          <p:cNvSpPr>
            <a:spLocks noChangeArrowheads="1"/>
          </p:cNvSpPr>
          <p:nvPr userDrawn="1">
            <p:custDataLst>
              <p:tags r:id="rId2"/>
            </p:custDataLst>
          </p:nvPr>
        </p:nvSpPr>
        <p:spPr bwMode="black">
          <a:xfrm>
            <a:off x="11312525" y="6498754"/>
            <a:ext cx="325501" cy="138499"/>
          </a:xfrm>
          <a:prstGeom prst="rect">
            <a:avLst/>
          </a:prstGeom>
          <a:noFill/>
          <a:ln w="9525" algn="ctr">
            <a:noFill/>
            <a:miter lim="800000"/>
            <a:headEnd/>
            <a:tailEnd/>
          </a:ln>
          <a:effectLst/>
        </p:spPr>
        <p:txBody>
          <a:bodyPr wrap="square" lIns="0" tIns="0" rIns="0" bIns="0" anchor="b">
            <a:spAutoFit/>
          </a:bodyPr>
          <a:lstStyle/>
          <a:p>
            <a:pPr algn="r" defTabSz="610744" fontAlgn="auto">
              <a:spcBef>
                <a:spcPts val="0"/>
              </a:spcBef>
              <a:spcAft>
                <a:spcPts val="0"/>
              </a:spcAft>
              <a:defRPr/>
            </a:pPr>
            <a:fld id="{4ABDCABE-3F10-B64C-92F1-862014417034}" type="slidenum">
              <a:rPr lang="en-US" sz="900" smtClean="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pPr algn="r" defTabSz="610744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lang="en-US" sz="900">
              <a:solidFill>
                <a:schemeClr val="tx1"/>
              </a:solidFill>
              <a:latin typeface="+mn-lt"/>
              <a:ea typeface="+mn-ea"/>
              <a:cs typeface="Arial" panose="020B0604020202020204" pitchFamily="34" charset="0"/>
            </a:endParaRPr>
          </a:p>
        </p:txBody>
      </p:sp>
      <p:sp>
        <p:nvSpPr>
          <p:cNvPr id="7" name="5. Source" hidden="1">
            <a:extLst>
              <a:ext uri="{FF2B5EF4-FFF2-40B4-BE49-F238E27FC236}">
                <a16:creationId xmlns:a16="http://schemas.microsoft.com/office/drawing/2014/main" id="{09F9A864-CDB7-4063-BBF8-591908AA18D0}"/>
              </a:ext>
            </a:extLst>
          </p:cNvPr>
          <p:cNvSpPr txBox="1"/>
          <p:nvPr userDrawn="1">
            <p:custDataLst>
              <p:tags r:id="rId3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  <p:sp>
        <p:nvSpPr>
          <p:cNvPr id="10" name="1. On-page tracker">
            <a:extLst>
              <a:ext uri="{FF2B5EF4-FFF2-40B4-BE49-F238E27FC236}">
                <a16:creationId xmlns:a16="http://schemas.microsoft.com/office/drawing/2014/main" id="{9AEB01CB-E358-4EC5-960A-ABFC66CD5A21}"/>
              </a:ext>
            </a:extLst>
          </p:cNvPr>
          <p:cNvSpPr>
            <a:spLocks noGrp="1"/>
          </p:cNvSpPr>
          <p:nvPr>
            <p:ph type="body" sz="quarter" idx="17" hasCustomPrompt="1"/>
            <p:custDataLst>
              <p:tags r:id="rId4"/>
            </p:custDataLst>
          </p:nvPr>
        </p:nvSpPr>
        <p:spPr>
          <a:xfrm>
            <a:off x="7156704" y="78768"/>
            <a:ext cx="4480560" cy="123111"/>
          </a:xfrm>
        </p:spPr>
        <p:txBody>
          <a:bodyPr anchor="ctr" anchorCtr="0">
            <a:spAutoFit/>
          </a:bodyPr>
          <a:lstStyle>
            <a:lvl1pPr algn="r">
              <a:defRPr sz="800">
                <a:latin typeface="+mn-lt"/>
              </a:defRPr>
            </a:lvl1pPr>
          </a:lstStyle>
          <a:p>
            <a:pPr lvl="0"/>
            <a:r>
              <a:rPr lang="en-US"/>
              <a:t>Chapter › Topic</a:t>
            </a:r>
          </a:p>
        </p:txBody>
      </p:sp>
    </p:spTree>
    <p:extLst>
      <p:ext uri="{BB962C8B-B14F-4D97-AF65-F5344CB8AC3E}">
        <p14:creationId xmlns:p14="http://schemas.microsoft.com/office/powerpoint/2010/main" val="1327660816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En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Background">
            <a:extLst>
              <a:ext uri="{FF2B5EF4-FFF2-40B4-BE49-F238E27FC236}">
                <a16:creationId xmlns:a16="http://schemas.microsoft.com/office/drawing/2014/main" id="{7F09DF09-7587-AE72-141E-A41B41F94451}"/>
              </a:ext>
            </a:extLst>
          </p:cNvPr>
          <p:cNvPicPr>
            <a:picLocks noChangeAspect="1"/>
          </p:cNvPicPr>
          <p:nvPr userDrawn="1">
            <p:custDataLst>
              <p:tags r:id="rId1"/>
            </p:custDataLst>
          </p:nvPr>
        </p:nvPicPr>
        <p:blipFill>
          <a:blip r:embed="rId6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graphicFrame>
        <p:nvGraphicFramePr>
          <p:cNvPr id="4" name="Object 3" hidden="1">
            <a:extLst>
              <a:ext uri="{FF2B5EF4-FFF2-40B4-BE49-F238E27FC236}">
                <a16:creationId xmlns:a16="http://schemas.microsoft.com/office/drawing/2014/main" id="{832E4BA7-205B-4431-879A-B60A0FD6D20C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2"/>
            </p:custDataLst>
            <p:extLst>
              <p:ext uri="{D42A27DB-BD31-4B8C-83A1-F6EECF244321}">
                <p14:modId xmlns:p14="http://schemas.microsoft.com/office/powerpoint/2010/main" val="3877888751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7" imgW="344" imgH="344" progId="TCLayout.ActiveDocument.1">
                  <p:embed/>
                </p:oleObj>
              </mc:Choice>
              <mc:Fallback>
                <p:oleObj name="think-cell Slide" r:id="rId7" imgW="344" imgH="344" progId="TCLayout.ActiveDocument.1">
                  <p:embed/>
                  <p:pic>
                    <p:nvPicPr>
                      <p:cNvPr id="4" name="Object 3" hidden="1">
                        <a:extLst>
                          <a:ext uri="{FF2B5EF4-FFF2-40B4-BE49-F238E27FC236}">
                            <a16:creationId xmlns:a16="http://schemas.microsoft.com/office/drawing/2014/main" id="{832E4BA7-205B-4431-879A-B60A0FD6D20C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pSp>
        <p:nvGrpSpPr>
          <p:cNvPr id="11" name="logoimage">
            <a:extLst>
              <a:ext uri="{FF2B5EF4-FFF2-40B4-BE49-F238E27FC236}">
                <a16:creationId xmlns:a16="http://schemas.microsoft.com/office/drawing/2014/main" id="{732728C7-2C89-08A1-41A9-162BDB8C5CB9}"/>
              </a:ext>
            </a:extLst>
          </p:cNvPr>
          <p:cNvGrpSpPr/>
          <p:nvPr userDrawn="1">
            <p:custDataLst>
              <p:tags r:id="rId3"/>
            </p:custDataLst>
          </p:nvPr>
        </p:nvGrpSpPr>
        <p:grpSpPr>
          <a:xfrm>
            <a:off x="549271" y="481160"/>
            <a:ext cx="1893201" cy="585216"/>
            <a:chOff x="549271" y="481160"/>
            <a:chExt cx="1893201" cy="585216"/>
          </a:xfrm>
        </p:grpSpPr>
        <p:sp>
          <p:nvSpPr>
            <p:cNvPr id="14" name="AutoShape 3">
              <a:extLst>
                <a:ext uri="{FF2B5EF4-FFF2-40B4-BE49-F238E27FC236}">
                  <a16:creationId xmlns:a16="http://schemas.microsoft.com/office/drawing/2014/main" id="{DD51008E-BD46-4558-BF00-CDD9F0CE18C6}"/>
                </a:ext>
              </a:extLst>
            </p:cNvPr>
            <p:cNvSpPr>
              <a:spLocks noChangeAspect="1" noChangeArrowheads="1" noTextEdit="1"/>
            </p:cNvSpPr>
            <p:nvPr userDrawn="1"/>
          </p:nvSpPr>
          <p:spPr bwMode="black">
            <a:xfrm>
              <a:off x="549271" y="481160"/>
              <a:ext cx="1893201" cy="585216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  <p:sp>
          <p:nvSpPr>
            <p:cNvPr id="15" name="Freeform 5">
              <a:extLst>
                <a:ext uri="{FF2B5EF4-FFF2-40B4-BE49-F238E27FC236}">
                  <a16:creationId xmlns:a16="http://schemas.microsoft.com/office/drawing/2014/main" id="{FC37904A-905D-4FD7-8DD4-604C419D9AB5}"/>
                </a:ext>
              </a:extLst>
            </p:cNvPr>
            <p:cNvSpPr>
              <a:spLocks noEditPoints="1"/>
            </p:cNvSpPr>
            <p:nvPr userDrawn="1"/>
          </p:nvSpPr>
          <p:spPr bwMode="black">
            <a:xfrm>
              <a:off x="549271" y="481407"/>
              <a:ext cx="1893201" cy="584969"/>
            </a:xfrm>
            <a:custGeom>
              <a:avLst/>
              <a:gdLst>
                <a:gd name="T0" fmla="*/ 4209 w 15155"/>
                <a:gd name="T1" fmla="*/ 2986 h 4678"/>
                <a:gd name="T2" fmla="*/ 3707 w 15155"/>
                <a:gd name="T3" fmla="*/ 2422 h 4678"/>
                <a:gd name="T4" fmla="*/ 3712 w 15155"/>
                <a:gd name="T5" fmla="*/ 2340 h 4678"/>
                <a:gd name="T6" fmla="*/ 4724 w 15155"/>
                <a:gd name="T7" fmla="*/ 4124 h 4678"/>
                <a:gd name="T8" fmla="*/ 3330 w 15155"/>
                <a:gd name="T9" fmla="*/ 3521 h 4678"/>
                <a:gd name="T10" fmla="*/ 5673 w 15155"/>
                <a:gd name="T11" fmla="*/ 3002 h 4678"/>
                <a:gd name="T12" fmla="*/ 6627 w 15155"/>
                <a:gd name="T13" fmla="*/ 2408 h 4678"/>
                <a:gd name="T14" fmla="*/ 6279 w 15155"/>
                <a:gd name="T15" fmla="*/ 4007 h 4678"/>
                <a:gd name="T16" fmla="*/ 10270 w 15155"/>
                <a:gd name="T17" fmla="*/ 3073 h 4678"/>
                <a:gd name="T18" fmla="*/ 10801 w 15155"/>
                <a:gd name="T19" fmla="*/ 4678 h 4678"/>
                <a:gd name="T20" fmla="*/ 11466 w 15155"/>
                <a:gd name="T21" fmla="*/ 3537 h 4678"/>
                <a:gd name="T22" fmla="*/ 10602 w 15155"/>
                <a:gd name="T23" fmla="*/ 3405 h 4678"/>
                <a:gd name="T24" fmla="*/ 14762 w 15155"/>
                <a:gd name="T25" fmla="*/ 3073 h 4678"/>
                <a:gd name="T26" fmla="*/ 14505 w 15155"/>
                <a:gd name="T27" fmla="*/ 2986 h 4678"/>
                <a:gd name="T28" fmla="*/ 14145 w 15155"/>
                <a:gd name="T29" fmla="*/ 4620 h 4678"/>
                <a:gd name="T30" fmla="*/ 15155 w 15155"/>
                <a:gd name="T31" fmla="*/ 2986 h 4678"/>
                <a:gd name="T32" fmla="*/ 10231 w 15155"/>
                <a:gd name="T33" fmla="*/ 4037 h 4678"/>
                <a:gd name="T34" fmla="*/ 9005 w 15155"/>
                <a:gd name="T35" fmla="*/ 2961 h 4678"/>
                <a:gd name="T36" fmla="*/ 8378 w 15155"/>
                <a:gd name="T37" fmla="*/ 3194 h 4678"/>
                <a:gd name="T38" fmla="*/ 8775 w 15155"/>
                <a:gd name="T39" fmla="*/ 4037 h 4678"/>
                <a:gd name="T40" fmla="*/ 9107 w 15155"/>
                <a:gd name="T41" fmla="*/ 3916 h 4678"/>
                <a:gd name="T42" fmla="*/ 9439 w 15155"/>
                <a:gd name="T43" fmla="*/ 4037 h 4678"/>
                <a:gd name="T44" fmla="*/ 9712 w 15155"/>
                <a:gd name="T45" fmla="*/ 4037 h 4678"/>
                <a:gd name="T46" fmla="*/ 7962 w 15155"/>
                <a:gd name="T47" fmla="*/ 3741 h 4678"/>
                <a:gd name="T48" fmla="*/ 7962 w 15155"/>
                <a:gd name="T49" fmla="*/ 3741 h 4678"/>
                <a:gd name="T50" fmla="*/ 12654 w 15155"/>
                <a:gd name="T51" fmla="*/ 2986 h 4678"/>
                <a:gd name="T52" fmla="*/ 12586 w 15155"/>
                <a:gd name="T53" fmla="*/ 4036 h 4678"/>
                <a:gd name="T54" fmla="*/ 11780 w 15155"/>
                <a:gd name="T55" fmla="*/ 3367 h 4678"/>
                <a:gd name="T56" fmla="*/ 11871 w 15155"/>
                <a:gd name="T57" fmla="*/ 4146 h 4678"/>
                <a:gd name="T58" fmla="*/ 13060 w 15155"/>
                <a:gd name="T59" fmla="*/ 3917 h 4678"/>
                <a:gd name="T60" fmla="*/ 13423 w 15155"/>
                <a:gd name="T61" fmla="*/ 4037 h 4678"/>
                <a:gd name="T62" fmla="*/ 12250 w 15155"/>
                <a:gd name="T63" fmla="*/ 3787 h 4678"/>
                <a:gd name="T64" fmla="*/ 12250 w 15155"/>
                <a:gd name="T65" fmla="*/ 3787 h 4678"/>
                <a:gd name="T66" fmla="*/ 8758 w 15155"/>
                <a:gd name="T67" fmla="*/ 1080 h 4678"/>
                <a:gd name="T68" fmla="*/ 8559 w 15155"/>
                <a:gd name="T69" fmla="*/ 1013 h 4678"/>
                <a:gd name="T70" fmla="*/ 9105 w 15155"/>
                <a:gd name="T71" fmla="*/ 2310 h 4678"/>
                <a:gd name="T72" fmla="*/ 9553 w 15155"/>
                <a:gd name="T73" fmla="*/ 626 h 4678"/>
                <a:gd name="T74" fmla="*/ 9293 w 15155"/>
                <a:gd name="T75" fmla="*/ 713 h 4678"/>
                <a:gd name="T76" fmla="*/ 8947 w 15155"/>
                <a:gd name="T77" fmla="*/ 843 h 4678"/>
                <a:gd name="T78" fmla="*/ 5105 w 15155"/>
                <a:gd name="T79" fmla="*/ 349 h 4678"/>
                <a:gd name="T80" fmla="*/ 3793 w 15155"/>
                <a:gd name="T81" fmla="*/ 882 h 4678"/>
                <a:gd name="T82" fmla="*/ 5848 w 15155"/>
                <a:gd name="T83" fmla="*/ 981 h 4678"/>
                <a:gd name="T84" fmla="*/ 6211 w 15155"/>
                <a:gd name="T85" fmla="*/ 1763 h 4678"/>
                <a:gd name="T86" fmla="*/ 6296 w 15155"/>
                <a:gd name="T87" fmla="*/ 601 h 4678"/>
                <a:gd name="T88" fmla="*/ 5638 w 15155"/>
                <a:gd name="T89" fmla="*/ 833 h 4678"/>
                <a:gd name="T90" fmla="*/ 4836 w 15155"/>
                <a:gd name="T91" fmla="*/ 625 h 4678"/>
                <a:gd name="T92" fmla="*/ 4778 w 15155"/>
                <a:gd name="T93" fmla="*/ 1676 h 4678"/>
                <a:gd name="T94" fmla="*/ 4692 w 15155"/>
                <a:gd name="T95" fmla="*/ 0 h 4678"/>
                <a:gd name="T96" fmla="*/ 3614 w 15155"/>
                <a:gd name="T97" fmla="*/ 221 h 4678"/>
                <a:gd name="T98" fmla="*/ 3236 w 15155"/>
                <a:gd name="T99" fmla="*/ 88 h 4678"/>
                <a:gd name="T100" fmla="*/ 3836 w 15155"/>
                <a:gd name="T101" fmla="*/ 1763 h 4678"/>
                <a:gd name="T102" fmla="*/ 7219 w 15155"/>
                <a:gd name="T103" fmla="*/ 683 h 4678"/>
                <a:gd name="T104" fmla="*/ 7226 w 15155"/>
                <a:gd name="T105" fmla="*/ 598 h 4678"/>
                <a:gd name="T106" fmla="*/ 6952 w 15155"/>
                <a:gd name="T107" fmla="*/ 1361 h 4678"/>
                <a:gd name="T108" fmla="*/ 7720 w 15155"/>
                <a:gd name="T109" fmla="*/ 1446 h 4678"/>
                <a:gd name="T110" fmla="*/ 3049 w 15155"/>
                <a:gd name="T111" fmla="*/ 753 h 4678"/>
                <a:gd name="T112" fmla="*/ 2703 w 15155"/>
                <a:gd name="T113" fmla="*/ 1584 h 4678"/>
                <a:gd name="T114" fmla="*/ 87 w 15155"/>
                <a:gd name="T115" fmla="*/ 88 h 4678"/>
                <a:gd name="T116" fmla="*/ 549 w 15155"/>
                <a:gd name="T117" fmla="*/ 1763 h 4678"/>
                <a:gd name="T118" fmla="*/ 1609 w 15155"/>
                <a:gd name="T119" fmla="*/ 259 h 4678"/>
                <a:gd name="T120" fmla="*/ 2069 w 15155"/>
                <a:gd name="T121" fmla="*/ 1676 h 4678"/>
                <a:gd name="T122" fmla="*/ 2070 w 15155"/>
                <a:gd name="T123" fmla="*/ 0 h 4678"/>
              </a:gdLst>
              <a:ahLst/>
              <a:cxnLst>
                <a:cxn ang="0">
                  <a:pos x="T0" y="T1"/>
                </a:cxn>
                <a:cxn ang="0">
                  <a:pos x="T2" y="T3"/>
                </a:cxn>
                <a:cxn ang="0">
                  <a:pos x="T4" y="T5"/>
                </a:cxn>
                <a:cxn ang="0">
                  <a:pos x="T6" y="T7"/>
                </a:cxn>
                <a:cxn ang="0">
                  <a:pos x="T8" y="T9"/>
                </a:cxn>
                <a:cxn ang="0">
                  <a:pos x="T10" y="T11"/>
                </a:cxn>
                <a:cxn ang="0">
                  <a:pos x="T12" y="T13"/>
                </a:cxn>
                <a:cxn ang="0">
                  <a:pos x="T14" y="T15"/>
                </a:cxn>
                <a:cxn ang="0">
                  <a:pos x="T16" y="T17"/>
                </a:cxn>
                <a:cxn ang="0">
                  <a:pos x="T18" y="T19"/>
                </a:cxn>
                <a:cxn ang="0">
                  <a:pos x="T20" y="T21"/>
                </a:cxn>
                <a:cxn ang="0">
                  <a:pos x="T22" y="T23"/>
                </a:cxn>
                <a:cxn ang="0">
                  <a:pos x="T24" y="T25"/>
                </a:cxn>
                <a:cxn ang="0">
                  <a:pos x="T26" y="T27"/>
                </a:cxn>
                <a:cxn ang="0">
                  <a:pos x="T28" y="T29"/>
                </a:cxn>
                <a:cxn ang="0">
                  <a:pos x="T30" y="T31"/>
                </a:cxn>
                <a:cxn ang="0">
                  <a:pos x="T32" y="T33"/>
                </a:cxn>
                <a:cxn ang="0">
                  <a:pos x="T34" y="T35"/>
                </a:cxn>
                <a:cxn ang="0">
                  <a:pos x="T36" y="T37"/>
                </a:cxn>
                <a:cxn ang="0">
                  <a:pos x="T38" y="T39"/>
                </a:cxn>
                <a:cxn ang="0">
                  <a:pos x="T40" y="T41"/>
                </a:cxn>
                <a:cxn ang="0">
                  <a:pos x="T42" y="T43"/>
                </a:cxn>
                <a:cxn ang="0">
                  <a:pos x="T44" y="T45"/>
                </a:cxn>
                <a:cxn ang="0">
                  <a:pos x="T46" y="T47"/>
                </a:cxn>
                <a:cxn ang="0">
                  <a:pos x="T48" y="T49"/>
                </a:cxn>
                <a:cxn ang="0">
                  <a:pos x="T50" y="T51"/>
                </a:cxn>
                <a:cxn ang="0">
                  <a:pos x="T52" y="T53"/>
                </a:cxn>
                <a:cxn ang="0">
                  <a:pos x="T54" y="T55"/>
                </a:cxn>
                <a:cxn ang="0">
                  <a:pos x="T56" y="T57"/>
                </a:cxn>
                <a:cxn ang="0">
                  <a:pos x="T58" y="T59"/>
                </a:cxn>
                <a:cxn ang="0">
                  <a:pos x="T60" y="T61"/>
                </a:cxn>
                <a:cxn ang="0">
                  <a:pos x="T62" y="T63"/>
                </a:cxn>
                <a:cxn ang="0">
                  <a:pos x="T64" y="T65"/>
                </a:cxn>
                <a:cxn ang="0">
                  <a:pos x="T66" y="T67"/>
                </a:cxn>
                <a:cxn ang="0">
                  <a:pos x="T68" y="T69"/>
                </a:cxn>
                <a:cxn ang="0">
                  <a:pos x="T70" y="T71"/>
                </a:cxn>
                <a:cxn ang="0">
                  <a:pos x="T72" y="T73"/>
                </a:cxn>
                <a:cxn ang="0">
                  <a:pos x="T74" y="T75"/>
                </a:cxn>
                <a:cxn ang="0">
                  <a:pos x="T76" y="T77"/>
                </a:cxn>
                <a:cxn ang="0">
                  <a:pos x="T78" y="T79"/>
                </a:cxn>
                <a:cxn ang="0">
                  <a:pos x="T80" y="T81"/>
                </a:cxn>
                <a:cxn ang="0">
                  <a:pos x="T82" y="T83"/>
                </a:cxn>
                <a:cxn ang="0">
                  <a:pos x="T84" y="T85"/>
                </a:cxn>
                <a:cxn ang="0">
                  <a:pos x="T86" y="T87"/>
                </a:cxn>
                <a:cxn ang="0">
                  <a:pos x="T88" y="T89"/>
                </a:cxn>
                <a:cxn ang="0">
                  <a:pos x="T90" y="T91"/>
                </a:cxn>
                <a:cxn ang="0">
                  <a:pos x="T92" y="T93"/>
                </a:cxn>
                <a:cxn ang="0">
                  <a:pos x="T94" y="T95"/>
                </a:cxn>
                <a:cxn ang="0">
                  <a:pos x="T96" y="T97"/>
                </a:cxn>
                <a:cxn ang="0">
                  <a:pos x="T98" y="T99"/>
                </a:cxn>
                <a:cxn ang="0">
                  <a:pos x="T100" y="T101"/>
                </a:cxn>
                <a:cxn ang="0">
                  <a:pos x="T102" y="T103"/>
                </a:cxn>
                <a:cxn ang="0">
                  <a:pos x="T104" y="T105"/>
                </a:cxn>
                <a:cxn ang="0">
                  <a:pos x="T106" y="T107"/>
                </a:cxn>
                <a:cxn ang="0">
                  <a:pos x="T108" y="T109"/>
                </a:cxn>
                <a:cxn ang="0">
                  <a:pos x="T110" y="T111"/>
                </a:cxn>
                <a:cxn ang="0">
                  <a:pos x="T112" y="T113"/>
                </a:cxn>
                <a:cxn ang="0">
                  <a:pos x="T114" y="T115"/>
                </a:cxn>
                <a:cxn ang="0">
                  <a:pos x="T116" y="T117"/>
                </a:cxn>
                <a:cxn ang="0">
                  <a:pos x="T118" y="T119"/>
                </a:cxn>
                <a:cxn ang="0">
                  <a:pos x="T120" y="T121"/>
                </a:cxn>
                <a:cxn ang="0">
                  <a:pos x="T122" y="T123"/>
                </a:cxn>
              </a:cxnLst>
              <a:rect l="0" t="0" r="r" b="b"/>
              <a:pathLst>
                <a:path w="15155" h="4678">
                  <a:moveTo>
                    <a:pt x="4451" y="3751"/>
                  </a:moveTo>
                  <a:cubicBezTo>
                    <a:pt x="4549" y="3607"/>
                    <a:pt x="4604" y="3438"/>
                    <a:pt x="4609" y="3264"/>
                  </a:cubicBezTo>
                  <a:cubicBezTo>
                    <a:pt x="4611" y="3211"/>
                    <a:pt x="4732" y="3072"/>
                    <a:pt x="4766" y="3072"/>
                  </a:cubicBezTo>
                  <a:cubicBezTo>
                    <a:pt x="4834" y="3072"/>
                    <a:pt x="4834" y="3072"/>
                    <a:pt x="4834" y="3072"/>
                  </a:cubicBezTo>
                  <a:cubicBezTo>
                    <a:pt x="4834" y="2986"/>
                    <a:pt x="4834" y="2986"/>
                    <a:pt x="4834" y="2986"/>
                  </a:cubicBezTo>
                  <a:cubicBezTo>
                    <a:pt x="4209" y="2986"/>
                    <a:pt x="4209" y="2986"/>
                    <a:pt x="4209" y="2986"/>
                  </a:cubicBezTo>
                  <a:cubicBezTo>
                    <a:pt x="4209" y="3073"/>
                    <a:pt x="4209" y="3073"/>
                    <a:pt x="4209" y="3073"/>
                  </a:cubicBezTo>
                  <a:cubicBezTo>
                    <a:pt x="4380" y="3078"/>
                    <a:pt x="4487" y="3175"/>
                    <a:pt x="4487" y="3337"/>
                  </a:cubicBezTo>
                  <a:cubicBezTo>
                    <a:pt x="4487" y="3482"/>
                    <a:pt x="4463" y="3591"/>
                    <a:pt x="4395" y="3702"/>
                  </a:cubicBezTo>
                  <a:cubicBezTo>
                    <a:pt x="4155" y="3489"/>
                    <a:pt x="3882" y="3230"/>
                    <a:pt x="3654" y="2986"/>
                  </a:cubicBezTo>
                  <a:cubicBezTo>
                    <a:pt x="3501" y="2928"/>
                    <a:pt x="3404" y="2814"/>
                    <a:pt x="3404" y="2673"/>
                  </a:cubicBezTo>
                  <a:cubicBezTo>
                    <a:pt x="3404" y="2514"/>
                    <a:pt x="3518" y="2422"/>
                    <a:pt x="3707" y="2422"/>
                  </a:cubicBezTo>
                  <a:cubicBezTo>
                    <a:pt x="3942" y="2422"/>
                    <a:pt x="4116" y="2659"/>
                    <a:pt x="4116" y="2777"/>
                  </a:cubicBezTo>
                  <a:cubicBezTo>
                    <a:pt x="4191" y="2777"/>
                    <a:pt x="4191" y="2777"/>
                    <a:pt x="4191" y="2777"/>
                  </a:cubicBezTo>
                  <a:cubicBezTo>
                    <a:pt x="4191" y="2362"/>
                    <a:pt x="4191" y="2362"/>
                    <a:pt x="4191" y="2362"/>
                  </a:cubicBezTo>
                  <a:cubicBezTo>
                    <a:pt x="4116" y="2362"/>
                    <a:pt x="4116" y="2362"/>
                    <a:pt x="4116" y="2362"/>
                  </a:cubicBezTo>
                  <a:cubicBezTo>
                    <a:pt x="4097" y="2391"/>
                    <a:pt x="4074" y="2393"/>
                    <a:pt x="4034" y="2393"/>
                  </a:cubicBezTo>
                  <a:cubicBezTo>
                    <a:pt x="3959" y="2393"/>
                    <a:pt x="3874" y="2340"/>
                    <a:pt x="3712" y="2340"/>
                  </a:cubicBezTo>
                  <a:cubicBezTo>
                    <a:pt x="3453" y="2340"/>
                    <a:pt x="3288" y="2480"/>
                    <a:pt x="3288" y="2732"/>
                  </a:cubicBezTo>
                  <a:cubicBezTo>
                    <a:pt x="3288" y="2887"/>
                    <a:pt x="3346" y="2991"/>
                    <a:pt x="3431" y="3100"/>
                  </a:cubicBezTo>
                  <a:cubicBezTo>
                    <a:pt x="3253" y="3219"/>
                    <a:pt x="3146" y="3420"/>
                    <a:pt x="3148" y="3634"/>
                  </a:cubicBezTo>
                  <a:cubicBezTo>
                    <a:pt x="3148" y="3944"/>
                    <a:pt x="3421" y="4155"/>
                    <a:pt x="3707" y="4155"/>
                  </a:cubicBezTo>
                  <a:cubicBezTo>
                    <a:pt x="3966" y="4155"/>
                    <a:pt x="4145" y="4080"/>
                    <a:pt x="4286" y="3944"/>
                  </a:cubicBezTo>
                  <a:cubicBezTo>
                    <a:pt x="4431" y="4078"/>
                    <a:pt x="4552" y="4124"/>
                    <a:pt x="4724" y="4124"/>
                  </a:cubicBezTo>
                  <a:cubicBezTo>
                    <a:pt x="4913" y="4124"/>
                    <a:pt x="4913" y="4124"/>
                    <a:pt x="4913" y="4124"/>
                  </a:cubicBezTo>
                  <a:cubicBezTo>
                    <a:pt x="4913" y="4036"/>
                    <a:pt x="4913" y="4036"/>
                    <a:pt x="4913" y="4036"/>
                  </a:cubicBezTo>
                  <a:cubicBezTo>
                    <a:pt x="4809" y="4036"/>
                    <a:pt x="4809" y="4036"/>
                    <a:pt x="4809" y="4036"/>
                  </a:cubicBezTo>
                  <a:cubicBezTo>
                    <a:pt x="4685" y="3947"/>
                    <a:pt x="4565" y="3852"/>
                    <a:pt x="4451" y="3751"/>
                  </a:cubicBezTo>
                  <a:close/>
                  <a:moveTo>
                    <a:pt x="3851" y="4015"/>
                  </a:moveTo>
                  <a:cubicBezTo>
                    <a:pt x="3599" y="4015"/>
                    <a:pt x="3330" y="3772"/>
                    <a:pt x="3330" y="3521"/>
                  </a:cubicBezTo>
                  <a:cubicBezTo>
                    <a:pt x="3330" y="3339"/>
                    <a:pt x="3378" y="3243"/>
                    <a:pt x="3470" y="3148"/>
                  </a:cubicBezTo>
                  <a:cubicBezTo>
                    <a:pt x="3707" y="3414"/>
                    <a:pt x="3962" y="3664"/>
                    <a:pt x="4233" y="3896"/>
                  </a:cubicBezTo>
                  <a:cubicBezTo>
                    <a:pt x="4134" y="3971"/>
                    <a:pt x="4008" y="4015"/>
                    <a:pt x="3851" y="4015"/>
                  </a:cubicBezTo>
                  <a:close/>
                  <a:moveTo>
                    <a:pt x="6279" y="4007"/>
                  </a:moveTo>
                  <a:cubicBezTo>
                    <a:pt x="5920" y="4007"/>
                    <a:pt x="5707" y="3758"/>
                    <a:pt x="5678" y="3450"/>
                  </a:cubicBezTo>
                  <a:cubicBezTo>
                    <a:pt x="5664" y="3301"/>
                    <a:pt x="5663" y="3151"/>
                    <a:pt x="5673" y="3002"/>
                  </a:cubicBezTo>
                  <a:cubicBezTo>
                    <a:pt x="5705" y="2605"/>
                    <a:pt x="5887" y="2435"/>
                    <a:pt x="6192" y="2435"/>
                  </a:cubicBezTo>
                  <a:cubicBezTo>
                    <a:pt x="6523" y="2435"/>
                    <a:pt x="6726" y="2803"/>
                    <a:pt x="6726" y="2985"/>
                  </a:cubicBezTo>
                  <a:cubicBezTo>
                    <a:pt x="6801" y="2985"/>
                    <a:pt x="6801" y="2985"/>
                    <a:pt x="6801" y="2985"/>
                  </a:cubicBezTo>
                  <a:cubicBezTo>
                    <a:pt x="6801" y="2362"/>
                    <a:pt x="6801" y="2362"/>
                    <a:pt x="6801" y="2362"/>
                  </a:cubicBezTo>
                  <a:cubicBezTo>
                    <a:pt x="6736" y="2362"/>
                    <a:pt x="6736" y="2362"/>
                    <a:pt x="6736" y="2362"/>
                  </a:cubicBezTo>
                  <a:cubicBezTo>
                    <a:pt x="6709" y="2393"/>
                    <a:pt x="6683" y="2408"/>
                    <a:pt x="6627" y="2408"/>
                  </a:cubicBezTo>
                  <a:cubicBezTo>
                    <a:pt x="6489" y="2408"/>
                    <a:pt x="6370" y="2330"/>
                    <a:pt x="6181" y="2330"/>
                  </a:cubicBezTo>
                  <a:cubicBezTo>
                    <a:pt x="5687" y="2330"/>
                    <a:pt x="5392" y="2732"/>
                    <a:pt x="5392" y="3236"/>
                  </a:cubicBezTo>
                  <a:cubicBezTo>
                    <a:pt x="5392" y="3740"/>
                    <a:pt x="5719" y="4156"/>
                    <a:pt x="6225" y="4156"/>
                  </a:cubicBezTo>
                  <a:cubicBezTo>
                    <a:pt x="6577" y="4156"/>
                    <a:pt x="6824" y="3967"/>
                    <a:pt x="6937" y="3652"/>
                  </a:cubicBezTo>
                  <a:cubicBezTo>
                    <a:pt x="6845" y="3652"/>
                    <a:pt x="6845" y="3652"/>
                    <a:pt x="6845" y="3652"/>
                  </a:cubicBezTo>
                  <a:cubicBezTo>
                    <a:pt x="6731" y="3884"/>
                    <a:pt x="6583" y="4007"/>
                    <a:pt x="6279" y="4007"/>
                  </a:cubicBezTo>
                  <a:close/>
                  <a:moveTo>
                    <a:pt x="11018" y="2957"/>
                  </a:moveTo>
                  <a:cubicBezTo>
                    <a:pt x="10830" y="2957"/>
                    <a:pt x="10704" y="3037"/>
                    <a:pt x="10605" y="3221"/>
                  </a:cubicBezTo>
                  <a:cubicBezTo>
                    <a:pt x="10566" y="2986"/>
                    <a:pt x="10566" y="2986"/>
                    <a:pt x="10566" y="2986"/>
                  </a:cubicBezTo>
                  <a:cubicBezTo>
                    <a:pt x="10195" y="2986"/>
                    <a:pt x="10195" y="2986"/>
                    <a:pt x="10195" y="2986"/>
                  </a:cubicBezTo>
                  <a:cubicBezTo>
                    <a:pt x="10195" y="3073"/>
                    <a:pt x="10195" y="3073"/>
                    <a:pt x="10195" y="3073"/>
                  </a:cubicBezTo>
                  <a:cubicBezTo>
                    <a:pt x="10270" y="3073"/>
                    <a:pt x="10270" y="3073"/>
                    <a:pt x="10270" y="3073"/>
                  </a:cubicBezTo>
                  <a:cubicBezTo>
                    <a:pt x="10304" y="3073"/>
                    <a:pt x="10391" y="3158"/>
                    <a:pt x="10391" y="3194"/>
                  </a:cubicBezTo>
                  <a:cubicBezTo>
                    <a:pt x="10391" y="4470"/>
                    <a:pt x="10391" y="4470"/>
                    <a:pt x="10391" y="4470"/>
                  </a:cubicBezTo>
                  <a:cubicBezTo>
                    <a:pt x="10391" y="4508"/>
                    <a:pt x="10304" y="4591"/>
                    <a:pt x="10270" y="4591"/>
                  </a:cubicBezTo>
                  <a:cubicBezTo>
                    <a:pt x="10195" y="4591"/>
                    <a:pt x="10195" y="4591"/>
                    <a:pt x="10195" y="4591"/>
                  </a:cubicBezTo>
                  <a:cubicBezTo>
                    <a:pt x="10195" y="4678"/>
                    <a:pt x="10195" y="4678"/>
                    <a:pt x="10195" y="4678"/>
                  </a:cubicBezTo>
                  <a:cubicBezTo>
                    <a:pt x="10801" y="4678"/>
                    <a:pt x="10801" y="4678"/>
                    <a:pt x="10801" y="4678"/>
                  </a:cubicBezTo>
                  <a:cubicBezTo>
                    <a:pt x="10801" y="4591"/>
                    <a:pt x="10801" y="4591"/>
                    <a:pt x="10801" y="4591"/>
                  </a:cubicBezTo>
                  <a:cubicBezTo>
                    <a:pt x="10726" y="4591"/>
                    <a:pt x="10726" y="4591"/>
                    <a:pt x="10726" y="4591"/>
                  </a:cubicBezTo>
                  <a:cubicBezTo>
                    <a:pt x="10694" y="4591"/>
                    <a:pt x="10605" y="4508"/>
                    <a:pt x="10605" y="4470"/>
                  </a:cubicBezTo>
                  <a:cubicBezTo>
                    <a:pt x="10605" y="3922"/>
                    <a:pt x="10605" y="3922"/>
                    <a:pt x="10605" y="3922"/>
                  </a:cubicBezTo>
                  <a:cubicBezTo>
                    <a:pt x="10687" y="4070"/>
                    <a:pt x="10793" y="4147"/>
                    <a:pt x="10994" y="4147"/>
                  </a:cubicBezTo>
                  <a:cubicBezTo>
                    <a:pt x="11272" y="4147"/>
                    <a:pt x="11466" y="3888"/>
                    <a:pt x="11466" y="3537"/>
                  </a:cubicBezTo>
                  <a:cubicBezTo>
                    <a:pt x="11466" y="3186"/>
                    <a:pt x="11297" y="2957"/>
                    <a:pt x="11018" y="2957"/>
                  </a:cubicBezTo>
                  <a:close/>
                  <a:moveTo>
                    <a:pt x="11246" y="3722"/>
                  </a:moveTo>
                  <a:cubicBezTo>
                    <a:pt x="11222" y="3903"/>
                    <a:pt x="11130" y="4027"/>
                    <a:pt x="10934" y="4027"/>
                  </a:cubicBezTo>
                  <a:cubicBezTo>
                    <a:pt x="10753" y="4029"/>
                    <a:pt x="10604" y="3884"/>
                    <a:pt x="10602" y="3703"/>
                  </a:cubicBezTo>
                  <a:cubicBezTo>
                    <a:pt x="10602" y="3701"/>
                    <a:pt x="10602" y="3698"/>
                    <a:pt x="10602" y="3695"/>
                  </a:cubicBezTo>
                  <a:cubicBezTo>
                    <a:pt x="10602" y="3405"/>
                    <a:pt x="10602" y="3405"/>
                    <a:pt x="10602" y="3405"/>
                  </a:cubicBezTo>
                  <a:cubicBezTo>
                    <a:pt x="10658" y="3225"/>
                    <a:pt x="10767" y="3092"/>
                    <a:pt x="10961" y="3092"/>
                  </a:cubicBezTo>
                  <a:cubicBezTo>
                    <a:pt x="11125" y="3092"/>
                    <a:pt x="11224" y="3208"/>
                    <a:pt x="11249" y="3390"/>
                  </a:cubicBezTo>
                  <a:cubicBezTo>
                    <a:pt x="11262" y="3500"/>
                    <a:pt x="11261" y="3612"/>
                    <a:pt x="11246" y="3722"/>
                  </a:cubicBezTo>
                  <a:close/>
                  <a:moveTo>
                    <a:pt x="14693" y="2986"/>
                  </a:moveTo>
                  <a:cubicBezTo>
                    <a:pt x="14693" y="3073"/>
                    <a:pt x="14693" y="3073"/>
                    <a:pt x="14693" y="3073"/>
                  </a:cubicBezTo>
                  <a:cubicBezTo>
                    <a:pt x="14762" y="3073"/>
                    <a:pt x="14762" y="3073"/>
                    <a:pt x="14762" y="3073"/>
                  </a:cubicBezTo>
                  <a:cubicBezTo>
                    <a:pt x="14794" y="3073"/>
                    <a:pt x="14864" y="3153"/>
                    <a:pt x="14862" y="3199"/>
                  </a:cubicBezTo>
                  <a:cubicBezTo>
                    <a:pt x="14610" y="3758"/>
                    <a:pt x="14610" y="3758"/>
                    <a:pt x="14610" y="3758"/>
                  </a:cubicBezTo>
                  <a:cubicBezTo>
                    <a:pt x="14335" y="3196"/>
                    <a:pt x="14335" y="3196"/>
                    <a:pt x="14335" y="3196"/>
                  </a:cubicBezTo>
                  <a:cubicBezTo>
                    <a:pt x="14335" y="3154"/>
                    <a:pt x="14403" y="3073"/>
                    <a:pt x="14434" y="3073"/>
                  </a:cubicBezTo>
                  <a:cubicBezTo>
                    <a:pt x="14505" y="3073"/>
                    <a:pt x="14505" y="3073"/>
                    <a:pt x="14505" y="3073"/>
                  </a:cubicBezTo>
                  <a:cubicBezTo>
                    <a:pt x="14505" y="2986"/>
                    <a:pt x="14505" y="2986"/>
                    <a:pt x="14505" y="2986"/>
                  </a:cubicBezTo>
                  <a:cubicBezTo>
                    <a:pt x="13889" y="2986"/>
                    <a:pt x="13889" y="2986"/>
                    <a:pt x="13889" y="2986"/>
                  </a:cubicBezTo>
                  <a:cubicBezTo>
                    <a:pt x="13889" y="3073"/>
                    <a:pt x="13889" y="3073"/>
                    <a:pt x="13889" y="3073"/>
                  </a:cubicBezTo>
                  <a:cubicBezTo>
                    <a:pt x="13940" y="3073"/>
                    <a:pt x="13940" y="3073"/>
                    <a:pt x="13940" y="3073"/>
                  </a:cubicBezTo>
                  <a:cubicBezTo>
                    <a:pt x="13969" y="3073"/>
                    <a:pt x="14068" y="3167"/>
                    <a:pt x="14087" y="3204"/>
                  </a:cubicBezTo>
                  <a:cubicBezTo>
                    <a:pt x="14489" y="3995"/>
                    <a:pt x="14489" y="3995"/>
                    <a:pt x="14489" y="3995"/>
                  </a:cubicBezTo>
                  <a:cubicBezTo>
                    <a:pt x="14145" y="4620"/>
                    <a:pt x="14145" y="4620"/>
                    <a:pt x="14145" y="4620"/>
                  </a:cubicBezTo>
                  <a:cubicBezTo>
                    <a:pt x="14245" y="4671"/>
                    <a:pt x="14245" y="4671"/>
                    <a:pt x="14245" y="4671"/>
                  </a:cubicBezTo>
                  <a:cubicBezTo>
                    <a:pt x="14584" y="4030"/>
                    <a:pt x="14584" y="4030"/>
                    <a:pt x="14584" y="4030"/>
                  </a:cubicBezTo>
                  <a:cubicBezTo>
                    <a:pt x="14968" y="3199"/>
                    <a:pt x="14968" y="3199"/>
                    <a:pt x="14968" y="3199"/>
                  </a:cubicBezTo>
                  <a:cubicBezTo>
                    <a:pt x="14993" y="3161"/>
                    <a:pt x="15075" y="3073"/>
                    <a:pt x="15102" y="3073"/>
                  </a:cubicBezTo>
                  <a:cubicBezTo>
                    <a:pt x="15155" y="3073"/>
                    <a:pt x="15155" y="3073"/>
                    <a:pt x="15155" y="3073"/>
                  </a:cubicBezTo>
                  <a:cubicBezTo>
                    <a:pt x="15155" y="2986"/>
                    <a:pt x="15155" y="2986"/>
                    <a:pt x="15155" y="2986"/>
                  </a:cubicBezTo>
                  <a:lnTo>
                    <a:pt x="14693" y="2986"/>
                  </a:lnTo>
                  <a:close/>
                  <a:moveTo>
                    <a:pt x="9712" y="4037"/>
                  </a:moveTo>
                  <a:cubicBezTo>
                    <a:pt x="9647" y="4037"/>
                    <a:pt x="9647" y="4037"/>
                    <a:pt x="9647" y="4037"/>
                  </a:cubicBezTo>
                  <a:cubicBezTo>
                    <a:pt x="9647" y="4124"/>
                    <a:pt x="9647" y="4124"/>
                    <a:pt x="9647" y="4124"/>
                  </a:cubicBezTo>
                  <a:cubicBezTo>
                    <a:pt x="10231" y="4124"/>
                    <a:pt x="10231" y="4124"/>
                    <a:pt x="10231" y="4124"/>
                  </a:cubicBezTo>
                  <a:cubicBezTo>
                    <a:pt x="10231" y="4037"/>
                    <a:pt x="10231" y="4037"/>
                    <a:pt x="10231" y="4037"/>
                  </a:cubicBezTo>
                  <a:cubicBezTo>
                    <a:pt x="10165" y="4037"/>
                    <a:pt x="10165" y="4037"/>
                    <a:pt x="10165" y="4037"/>
                  </a:cubicBezTo>
                  <a:cubicBezTo>
                    <a:pt x="10131" y="4037"/>
                    <a:pt x="10044" y="3954"/>
                    <a:pt x="10044" y="3916"/>
                  </a:cubicBezTo>
                  <a:cubicBezTo>
                    <a:pt x="10044" y="3288"/>
                    <a:pt x="10044" y="3288"/>
                    <a:pt x="10044" y="3288"/>
                  </a:cubicBezTo>
                  <a:cubicBezTo>
                    <a:pt x="10044" y="3080"/>
                    <a:pt x="9904" y="2964"/>
                    <a:pt x="9732" y="2964"/>
                  </a:cubicBezTo>
                  <a:cubicBezTo>
                    <a:pt x="9538" y="2964"/>
                    <a:pt x="9448" y="3066"/>
                    <a:pt x="9308" y="3204"/>
                  </a:cubicBezTo>
                  <a:cubicBezTo>
                    <a:pt x="9287" y="3044"/>
                    <a:pt x="9158" y="2961"/>
                    <a:pt x="9005" y="2961"/>
                  </a:cubicBezTo>
                  <a:cubicBezTo>
                    <a:pt x="8804" y="2961"/>
                    <a:pt x="8720" y="3068"/>
                    <a:pt x="8589" y="3206"/>
                  </a:cubicBezTo>
                  <a:cubicBezTo>
                    <a:pt x="8544" y="2986"/>
                    <a:pt x="8544" y="2986"/>
                    <a:pt x="8544" y="2986"/>
                  </a:cubicBezTo>
                  <a:cubicBezTo>
                    <a:pt x="8192" y="2986"/>
                    <a:pt x="8192" y="2986"/>
                    <a:pt x="8192" y="2986"/>
                  </a:cubicBezTo>
                  <a:cubicBezTo>
                    <a:pt x="8192" y="3073"/>
                    <a:pt x="8192" y="3073"/>
                    <a:pt x="8192" y="3073"/>
                  </a:cubicBezTo>
                  <a:cubicBezTo>
                    <a:pt x="8257" y="3073"/>
                    <a:pt x="8257" y="3073"/>
                    <a:pt x="8257" y="3073"/>
                  </a:cubicBezTo>
                  <a:cubicBezTo>
                    <a:pt x="8291" y="3073"/>
                    <a:pt x="8378" y="3158"/>
                    <a:pt x="8378" y="3194"/>
                  </a:cubicBezTo>
                  <a:cubicBezTo>
                    <a:pt x="8378" y="3916"/>
                    <a:pt x="8378" y="3916"/>
                    <a:pt x="8378" y="3916"/>
                  </a:cubicBezTo>
                  <a:cubicBezTo>
                    <a:pt x="8378" y="3954"/>
                    <a:pt x="8291" y="4037"/>
                    <a:pt x="8257" y="4037"/>
                  </a:cubicBezTo>
                  <a:cubicBezTo>
                    <a:pt x="8192" y="4037"/>
                    <a:pt x="8192" y="4037"/>
                    <a:pt x="8192" y="4037"/>
                  </a:cubicBezTo>
                  <a:cubicBezTo>
                    <a:pt x="8192" y="4124"/>
                    <a:pt x="8192" y="4124"/>
                    <a:pt x="8192" y="4124"/>
                  </a:cubicBezTo>
                  <a:cubicBezTo>
                    <a:pt x="8775" y="4124"/>
                    <a:pt x="8775" y="4124"/>
                    <a:pt x="8775" y="4124"/>
                  </a:cubicBezTo>
                  <a:cubicBezTo>
                    <a:pt x="8775" y="4037"/>
                    <a:pt x="8775" y="4037"/>
                    <a:pt x="8775" y="4037"/>
                  </a:cubicBezTo>
                  <a:cubicBezTo>
                    <a:pt x="8710" y="4037"/>
                    <a:pt x="8710" y="4037"/>
                    <a:pt x="8710" y="4037"/>
                  </a:cubicBezTo>
                  <a:cubicBezTo>
                    <a:pt x="8676" y="4037"/>
                    <a:pt x="8589" y="3954"/>
                    <a:pt x="8589" y="3916"/>
                  </a:cubicBezTo>
                  <a:cubicBezTo>
                    <a:pt x="8589" y="3330"/>
                    <a:pt x="8589" y="3330"/>
                    <a:pt x="8589" y="3330"/>
                  </a:cubicBezTo>
                  <a:cubicBezTo>
                    <a:pt x="8589" y="3252"/>
                    <a:pt x="8775" y="3099"/>
                    <a:pt x="8925" y="3099"/>
                  </a:cubicBezTo>
                  <a:cubicBezTo>
                    <a:pt x="9049" y="3099"/>
                    <a:pt x="9107" y="3177"/>
                    <a:pt x="9107" y="3288"/>
                  </a:cubicBezTo>
                  <a:cubicBezTo>
                    <a:pt x="9107" y="3916"/>
                    <a:pt x="9107" y="3916"/>
                    <a:pt x="9107" y="3916"/>
                  </a:cubicBezTo>
                  <a:cubicBezTo>
                    <a:pt x="9107" y="3954"/>
                    <a:pt x="9020" y="4037"/>
                    <a:pt x="8986" y="4037"/>
                  </a:cubicBezTo>
                  <a:cubicBezTo>
                    <a:pt x="8921" y="4037"/>
                    <a:pt x="8921" y="4037"/>
                    <a:pt x="8921" y="4037"/>
                  </a:cubicBezTo>
                  <a:cubicBezTo>
                    <a:pt x="8921" y="4124"/>
                    <a:pt x="8921" y="4124"/>
                    <a:pt x="8921" y="4124"/>
                  </a:cubicBezTo>
                  <a:cubicBezTo>
                    <a:pt x="9504" y="4124"/>
                    <a:pt x="9504" y="4124"/>
                    <a:pt x="9504" y="4124"/>
                  </a:cubicBezTo>
                  <a:cubicBezTo>
                    <a:pt x="9504" y="4037"/>
                    <a:pt x="9504" y="4037"/>
                    <a:pt x="9504" y="4037"/>
                  </a:cubicBezTo>
                  <a:cubicBezTo>
                    <a:pt x="9439" y="4037"/>
                    <a:pt x="9439" y="4037"/>
                    <a:pt x="9439" y="4037"/>
                  </a:cubicBezTo>
                  <a:cubicBezTo>
                    <a:pt x="9405" y="4037"/>
                    <a:pt x="9318" y="3954"/>
                    <a:pt x="9318" y="3916"/>
                  </a:cubicBezTo>
                  <a:cubicBezTo>
                    <a:pt x="9318" y="3323"/>
                    <a:pt x="9318" y="3323"/>
                    <a:pt x="9318" y="3323"/>
                  </a:cubicBezTo>
                  <a:cubicBezTo>
                    <a:pt x="9318" y="3246"/>
                    <a:pt x="9504" y="3101"/>
                    <a:pt x="9654" y="3101"/>
                  </a:cubicBezTo>
                  <a:cubicBezTo>
                    <a:pt x="9778" y="3101"/>
                    <a:pt x="9833" y="3178"/>
                    <a:pt x="9833" y="3289"/>
                  </a:cubicBezTo>
                  <a:cubicBezTo>
                    <a:pt x="9833" y="3917"/>
                    <a:pt x="9833" y="3917"/>
                    <a:pt x="9833" y="3917"/>
                  </a:cubicBezTo>
                  <a:cubicBezTo>
                    <a:pt x="9833" y="3954"/>
                    <a:pt x="9746" y="4037"/>
                    <a:pt x="9712" y="4037"/>
                  </a:cubicBezTo>
                  <a:close/>
                  <a:moveTo>
                    <a:pt x="7623" y="2957"/>
                  </a:moveTo>
                  <a:cubicBezTo>
                    <a:pt x="7320" y="2957"/>
                    <a:pt x="7051" y="3184"/>
                    <a:pt x="7051" y="3555"/>
                  </a:cubicBezTo>
                  <a:cubicBezTo>
                    <a:pt x="7051" y="3926"/>
                    <a:pt x="7320" y="4156"/>
                    <a:pt x="7623" y="4156"/>
                  </a:cubicBezTo>
                  <a:cubicBezTo>
                    <a:pt x="7925" y="4156"/>
                    <a:pt x="8192" y="3926"/>
                    <a:pt x="8192" y="3555"/>
                  </a:cubicBezTo>
                  <a:cubicBezTo>
                    <a:pt x="8192" y="3185"/>
                    <a:pt x="7925" y="2957"/>
                    <a:pt x="7623" y="2957"/>
                  </a:cubicBezTo>
                  <a:close/>
                  <a:moveTo>
                    <a:pt x="7962" y="3741"/>
                  </a:moveTo>
                  <a:cubicBezTo>
                    <a:pt x="7940" y="3920"/>
                    <a:pt x="7841" y="4044"/>
                    <a:pt x="7625" y="4044"/>
                  </a:cubicBezTo>
                  <a:cubicBezTo>
                    <a:pt x="7415" y="4044"/>
                    <a:pt x="7315" y="3916"/>
                    <a:pt x="7289" y="3739"/>
                  </a:cubicBezTo>
                  <a:cubicBezTo>
                    <a:pt x="7272" y="3613"/>
                    <a:pt x="7272" y="3485"/>
                    <a:pt x="7289" y="3359"/>
                  </a:cubicBezTo>
                  <a:cubicBezTo>
                    <a:pt x="7315" y="3177"/>
                    <a:pt x="7420" y="3056"/>
                    <a:pt x="7625" y="3056"/>
                  </a:cubicBezTo>
                  <a:cubicBezTo>
                    <a:pt x="7839" y="3056"/>
                    <a:pt x="7940" y="3177"/>
                    <a:pt x="7962" y="3361"/>
                  </a:cubicBezTo>
                  <a:cubicBezTo>
                    <a:pt x="7976" y="3487"/>
                    <a:pt x="7976" y="3615"/>
                    <a:pt x="7962" y="3741"/>
                  </a:cubicBezTo>
                  <a:close/>
                  <a:moveTo>
                    <a:pt x="13826" y="3916"/>
                  </a:moveTo>
                  <a:cubicBezTo>
                    <a:pt x="13826" y="3288"/>
                    <a:pt x="13826" y="3288"/>
                    <a:pt x="13826" y="3288"/>
                  </a:cubicBezTo>
                  <a:cubicBezTo>
                    <a:pt x="13826" y="3092"/>
                    <a:pt x="13685" y="2961"/>
                    <a:pt x="13509" y="2961"/>
                  </a:cubicBezTo>
                  <a:cubicBezTo>
                    <a:pt x="13303" y="2961"/>
                    <a:pt x="13196" y="3080"/>
                    <a:pt x="13058" y="3221"/>
                  </a:cubicBezTo>
                  <a:cubicBezTo>
                    <a:pt x="13016" y="2986"/>
                    <a:pt x="13016" y="2986"/>
                    <a:pt x="13016" y="2986"/>
                  </a:cubicBezTo>
                  <a:cubicBezTo>
                    <a:pt x="12654" y="2986"/>
                    <a:pt x="12654" y="2986"/>
                    <a:pt x="12654" y="2986"/>
                  </a:cubicBezTo>
                  <a:cubicBezTo>
                    <a:pt x="12654" y="3073"/>
                    <a:pt x="12654" y="3073"/>
                    <a:pt x="12654" y="3073"/>
                  </a:cubicBezTo>
                  <a:cubicBezTo>
                    <a:pt x="12724" y="3073"/>
                    <a:pt x="12724" y="3073"/>
                    <a:pt x="12724" y="3073"/>
                  </a:cubicBezTo>
                  <a:cubicBezTo>
                    <a:pt x="12758" y="3073"/>
                    <a:pt x="12850" y="3158"/>
                    <a:pt x="12850" y="3194"/>
                  </a:cubicBezTo>
                  <a:cubicBezTo>
                    <a:pt x="12850" y="3915"/>
                    <a:pt x="12850" y="3915"/>
                    <a:pt x="12850" y="3915"/>
                  </a:cubicBezTo>
                  <a:cubicBezTo>
                    <a:pt x="12850" y="3954"/>
                    <a:pt x="12758" y="4036"/>
                    <a:pt x="12724" y="4036"/>
                  </a:cubicBezTo>
                  <a:cubicBezTo>
                    <a:pt x="12586" y="4036"/>
                    <a:pt x="12586" y="4036"/>
                    <a:pt x="12586" y="4036"/>
                  </a:cubicBezTo>
                  <a:cubicBezTo>
                    <a:pt x="12555" y="4036"/>
                    <a:pt x="12460" y="3954"/>
                    <a:pt x="12460" y="3915"/>
                  </a:cubicBezTo>
                  <a:cubicBezTo>
                    <a:pt x="12460" y="3302"/>
                    <a:pt x="12460" y="3302"/>
                    <a:pt x="12460" y="3302"/>
                  </a:cubicBezTo>
                  <a:cubicBezTo>
                    <a:pt x="12460" y="3077"/>
                    <a:pt x="12267" y="2956"/>
                    <a:pt x="12020" y="2956"/>
                  </a:cubicBezTo>
                  <a:cubicBezTo>
                    <a:pt x="11787" y="2956"/>
                    <a:pt x="11639" y="3041"/>
                    <a:pt x="11545" y="3138"/>
                  </a:cubicBezTo>
                  <a:cubicBezTo>
                    <a:pt x="11698" y="3367"/>
                    <a:pt x="11698" y="3367"/>
                    <a:pt x="11698" y="3367"/>
                  </a:cubicBezTo>
                  <a:cubicBezTo>
                    <a:pt x="11780" y="3367"/>
                    <a:pt x="11780" y="3367"/>
                    <a:pt x="11780" y="3367"/>
                  </a:cubicBezTo>
                  <a:cubicBezTo>
                    <a:pt x="11695" y="3171"/>
                    <a:pt x="11773" y="3041"/>
                    <a:pt x="11969" y="3041"/>
                  </a:cubicBezTo>
                  <a:cubicBezTo>
                    <a:pt x="12175" y="3041"/>
                    <a:pt x="12252" y="3138"/>
                    <a:pt x="12250" y="3300"/>
                  </a:cubicBezTo>
                  <a:cubicBezTo>
                    <a:pt x="12247" y="3435"/>
                    <a:pt x="12247" y="3435"/>
                    <a:pt x="12247" y="3435"/>
                  </a:cubicBezTo>
                  <a:cubicBezTo>
                    <a:pt x="11952" y="3496"/>
                    <a:pt x="11952" y="3496"/>
                    <a:pt x="11952" y="3496"/>
                  </a:cubicBezTo>
                  <a:cubicBezTo>
                    <a:pt x="11790" y="3531"/>
                    <a:pt x="11578" y="3608"/>
                    <a:pt x="11578" y="3836"/>
                  </a:cubicBezTo>
                  <a:cubicBezTo>
                    <a:pt x="11578" y="4023"/>
                    <a:pt x="11714" y="4146"/>
                    <a:pt x="11871" y="4146"/>
                  </a:cubicBezTo>
                  <a:cubicBezTo>
                    <a:pt x="12041" y="4146"/>
                    <a:pt x="12162" y="4008"/>
                    <a:pt x="12254" y="3890"/>
                  </a:cubicBezTo>
                  <a:cubicBezTo>
                    <a:pt x="12283" y="4125"/>
                    <a:pt x="12283" y="4125"/>
                    <a:pt x="12283" y="4125"/>
                  </a:cubicBezTo>
                  <a:cubicBezTo>
                    <a:pt x="13251" y="4125"/>
                    <a:pt x="13251" y="4125"/>
                    <a:pt x="13251" y="4125"/>
                  </a:cubicBezTo>
                  <a:cubicBezTo>
                    <a:pt x="13251" y="4038"/>
                    <a:pt x="13251" y="4038"/>
                    <a:pt x="13251" y="4038"/>
                  </a:cubicBezTo>
                  <a:cubicBezTo>
                    <a:pt x="13186" y="4038"/>
                    <a:pt x="13186" y="4038"/>
                    <a:pt x="13186" y="4038"/>
                  </a:cubicBezTo>
                  <a:cubicBezTo>
                    <a:pt x="13152" y="4038"/>
                    <a:pt x="13060" y="3955"/>
                    <a:pt x="13060" y="3917"/>
                  </a:cubicBezTo>
                  <a:cubicBezTo>
                    <a:pt x="13060" y="3342"/>
                    <a:pt x="13060" y="3342"/>
                    <a:pt x="13060" y="3342"/>
                  </a:cubicBezTo>
                  <a:cubicBezTo>
                    <a:pt x="13060" y="3264"/>
                    <a:pt x="13271" y="3104"/>
                    <a:pt x="13433" y="3104"/>
                  </a:cubicBezTo>
                  <a:cubicBezTo>
                    <a:pt x="13557" y="3104"/>
                    <a:pt x="13615" y="3190"/>
                    <a:pt x="13615" y="3301"/>
                  </a:cubicBezTo>
                  <a:cubicBezTo>
                    <a:pt x="13615" y="3916"/>
                    <a:pt x="13615" y="3916"/>
                    <a:pt x="13615" y="3916"/>
                  </a:cubicBezTo>
                  <a:cubicBezTo>
                    <a:pt x="13615" y="3954"/>
                    <a:pt x="13523" y="4037"/>
                    <a:pt x="13489" y="4037"/>
                  </a:cubicBezTo>
                  <a:cubicBezTo>
                    <a:pt x="13423" y="4037"/>
                    <a:pt x="13423" y="4037"/>
                    <a:pt x="13423" y="4037"/>
                  </a:cubicBezTo>
                  <a:cubicBezTo>
                    <a:pt x="13423" y="4124"/>
                    <a:pt x="13423" y="4124"/>
                    <a:pt x="13423" y="4124"/>
                  </a:cubicBezTo>
                  <a:cubicBezTo>
                    <a:pt x="14022" y="4124"/>
                    <a:pt x="14022" y="4124"/>
                    <a:pt x="14022" y="4124"/>
                  </a:cubicBezTo>
                  <a:cubicBezTo>
                    <a:pt x="14022" y="4037"/>
                    <a:pt x="14022" y="4037"/>
                    <a:pt x="14022" y="4037"/>
                  </a:cubicBezTo>
                  <a:cubicBezTo>
                    <a:pt x="13952" y="4037"/>
                    <a:pt x="13952" y="4037"/>
                    <a:pt x="13952" y="4037"/>
                  </a:cubicBezTo>
                  <a:cubicBezTo>
                    <a:pt x="13918" y="4037"/>
                    <a:pt x="13826" y="3954"/>
                    <a:pt x="13826" y="3916"/>
                  </a:cubicBezTo>
                  <a:close/>
                  <a:moveTo>
                    <a:pt x="12250" y="3787"/>
                  </a:moveTo>
                  <a:cubicBezTo>
                    <a:pt x="12201" y="3873"/>
                    <a:pt x="12080" y="3988"/>
                    <a:pt x="11969" y="3988"/>
                  </a:cubicBezTo>
                  <a:cubicBezTo>
                    <a:pt x="11872" y="3993"/>
                    <a:pt x="11789" y="3918"/>
                    <a:pt x="11785" y="3820"/>
                  </a:cubicBezTo>
                  <a:cubicBezTo>
                    <a:pt x="11785" y="3816"/>
                    <a:pt x="11785" y="3811"/>
                    <a:pt x="11785" y="3807"/>
                  </a:cubicBezTo>
                  <a:cubicBezTo>
                    <a:pt x="11785" y="3693"/>
                    <a:pt x="11833" y="3618"/>
                    <a:pt x="11977" y="3582"/>
                  </a:cubicBezTo>
                  <a:cubicBezTo>
                    <a:pt x="12251" y="3511"/>
                    <a:pt x="12251" y="3511"/>
                    <a:pt x="12251" y="3511"/>
                  </a:cubicBezTo>
                  <a:lnTo>
                    <a:pt x="12250" y="3787"/>
                  </a:lnTo>
                  <a:close/>
                  <a:moveTo>
                    <a:pt x="8336" y="1790"/>
                  </a:moveTo>
                  <a:cubicBezTo>
                    <a:pt x="8617" y="1790"/>
                    <a:pt x="8765" y="1637"/>
                    <a:pt x="8840" y="1388"/>
                  </a:cubicBezTo>
                  <a:cubicBezTo>
                    <a:pt x="8769" y="1388"/>
                    <a:pt x="8769" y="1388"/>
                    <a:pt x="8769" y="1388"/>
                  </a:cubicBezTo>
                  <a:cubicBezTo>
                    <a:pt x="8697" y="1519"/>
                    <a:pt x="8605" y="1584"/>
                    <a:pt x="8411" y="1584"/>
                  </a:cubicBezTo>
                  <a:cubicBezTo>
                    <a:pt x="8152" y="1584"/>
                    <a:pt x="8002" y="1349"/>
                    <a:pt x="7997" y="1141"/>
                  </a:cubicBezTo>
                  <a:cubicBezTo>
                    <a:pt x="8758" y="1080"/>
                    <a:pt x="8758" y="1080"/>
                    <a:pt x="8758" y="1080"/>
                  </a:cubicBezTo>
                  <a:cubicBezTo>
                    <a:pt x="8753" y="997"/>
                    <a:pt x="8753" y="997"/>
                    <a:pt x="8753" y="997"/>
                  </a:cubicBezTo>
                  <a:cubicBezTo>
                    <a:pt x="8740" y="774"/>
                    <a:pt x="8595" y="600"/>
                    <a:pt x="8336" y="598"/>
                  </a:cubicBezTo>
                  <a:cubicBezTo>
                    <a:pt x="8041" y="595"/>
                    <a:pt x="7811" y="857"/>
                    <a:pt x="7811" y="1196"/>
                  </a:cubicBezTo>
                  <a:cubicBezTo>
                    <a:pt x="7811" y="1519"/>
                    <a:pt x="8033" y="1790"/>
                    <a:pt x="8336" y="1790"/>
                  </a:cubicBezTo>
                  <a:close/>
                  <a:moveTo>
                    <a:pt x="8331" y="686"/>
                  </a:moveTo>
                  <a:cubicBezTo>
                    <a:pt x="8554" y="686"/>
                    <a:pt x="8578" y="850"/>
                    <a:pt x="8559" y="1013"/>
                  </a:cubicBezTo>
                  <a:cubicBezTo>
                    <a:pt x="7990" y="1061"/>
                    <a:pt x="7990" y="1061"/>
                    <a:pt x="7990" y="1061"/>
                  </a:cubicBezTo>
                  <a:cubicBezTo>
                    <a:pt x="7997" y="882"/>
                    <a:pt x="8094" y="686"/>
                    <a:pt x="8331" y="686"/>
                  </a:cubicBezTo>
                  <a:close/>
                  <a:moveTo>
                    <a:pt x="8947" y="843"/>
                  </a:moveTo>
                  <a:cubicBezTo>
                    <a:pt x="9349" y="1635"/>
                    <a:pt x="9349" y="1635"/>
                    <a:pt x="9349" y="1635"/>
                  </a:cubicBezTo>
                  <a:cubicBezTo>
                    <a:pt x="9005" y="2259"/>
                    <a:pt x="9005" y="2259"/>
                    <a:pt x="9005" y="2259"/>
                  </a:cubicBezTo>
                  <a:cubicBezTo>
                    <a:pt x="9105" y="2310"/>
                    <a:pt x="9105" y="2310"/>
                    <a:pt x="9105" y="2310"/>
                  </a:cubicBezTo>
                  <a:cubicBezTo>
                    <a:pt x="9444" y="1669"/>
                    <a:pt x="9444" y="1669"/>
                    <a:pt x="9444" y="1669"/>
                  </a:cubicBezTo>
                  <a:cubicBezTo>
                    <a:pt x="9828" y="839"/>
                    <a:pt x="9828" y="839"/>
                    <a:pt x="9828" y="839"/>
                  </a:cubicBezTo>
                  <a:cubicBezTo>
                    <a:pt x="9853" y="800"/>
                    <a:pt x="9935" y="713"/>
                    <a:pt x="9962" y="713"/>
                  </a:cubicBezTo>
                  <a:cubicBezTo>
                    <a:pt x="10015" y="713"/>
                    <a:pt x="10015" y="713"/>
                    <a:pt x="10015" y="713"/>
                  </a:cubicBezTo>
                  <a:cubicBezTo>
                    <a:pt x="10015" y="626"/>
                    <a:pt x="10015" y="626"/>
                    <a:pt x="10015" y="626"/>
                  </a:cubicBezTo>
                  <a:cubicBezTo>
                    <a:pt x="9553" y="626"/>
                    <a:pt x="9553" y="626"/>
                    <a:pt x="9553" y="626"/>
                  </a:cubicBezTo>
                  <a:cubicBezTo>
                    <a:pt x="9553" y="713"/>
                    <a:pt x="9553" y="713"/>
                    <a:pt x="9553" y="713"/>
                  </a:cubicBezTo>
                  <a:cubicBezTo>
                    <a:pt x="9623" y="713"/>
                    <a:pt x="9623" y="713"/>
                    <a:pt x="9623" y="713"/>
                  </a:cubicBezTo>
                  <a:cubicBezTo>
                    <a:pt x="9654" y="713"/>
                    <a:pt x="9725" y="793"/>
                    <a:pt x="9722" y="839"/>
                  </a:cubicBezTo>
                  <a:cubicBezTo>
                    <a:pt x="9470" y="1398"/>
                    <a:pt x="9470" y="1398"/>
                    <a:pt x="9470" y="1398"/>
                  </a:cubicBezTo>
                  <a:cubicBezTo>
                    <a:pt x="9194" y="836"/>
                    <a:pt x="9194" y="836"/>
                    <a:pt x="9194" y="836"/>
                  </a:cubicBezTo>
                  <a:cubicBezTo>
                    <a:pt x="9194" y="794"/>
                    <a:pt x="9262" y="713"/>
                    <a:pt x="9293" y="713"/>
                  </a:cubicBezTo>
                  <a:cubicBezTo>
                    <a:pt x="9364" y="713"/>
                    <a:pt x="9364" y="713"/>
                    <a:pt x="9364" y="713"/>
                  </a:cubicBezTo>
                  <a:cubicBezTo>
                    <a:pt x="9364" y="626"/>
                    <a:pt x="9364" y="626"/>
                    <a:pt x="9364" y="626"/>
                  </a:cubicBezTo>
                  <a:cubicBezTo>
                    <a:pt x="8749" y="626"/>
                    <a:pt x="8749" y="626"/>
                    <a:pt x="8749" y="626"/>
                  </a:cubicBezTo>
                  <a:cubicBezTo>
                    <a:pt x="8749" y="713"/>
                    <a:pt x="8749" y="713"/>
                    <a:pt x="8749" y="713"/>
                  </a:cubicBezTo>
                  <a:cubicBezTo>
                    <a:pt x="8800" y="713"/>
                    <a:pt x="8800" y="713"/>
                    <a:pt x="8800" y="713"/>
                  </a:cubicBezTo>
                  <a:cubicBezTo>
                    <a:pt x="8829" y="712"/>
                    <a:pt x="8928" y="807"/>
                    <a:pt x="8947" y="843"/>
                  </a:cubicBezTo>
                  <a:close/>
                  <a:moveTo>
                    <a:pt x="5117" y="349"/>
                  </a:moveTo>
                  <a:cubicBezTo>
                    <a:pt x="5195" y="353"/>
                    <a:pt x="5261" y="293"/>
                    <a:pt x="5265" y="215"/>
                  </a:cubicBezTo>
                  <a:cubicBezTo>
                    <a:pt x="5265" y="210"/>
                    <a:pt x="5265" y="206"/>
                    <a:pt x="5265" y="201"/>
                  </a:cubicBezTo>
                  <a:cubicBezTo>
                    <a:pt x="5265" y="112"/>
                    <a:pt x="5202" y="56"/>
                    <a:pt x="5117" y="56"/>
                  </a:cubicBezTo>
                  <a:cubicBezTo>
                    <a:pt x="5032" y="56"/>
                    <a:pt x="4967" y="112"/>
                    <a:pt x="4967" y="201"/>
                  </a:cubicBezTo>
                  <a:cubicBezTo>
                    <a:pt x="4965" y="280"/>
                    <a:pt x="5026" y="346"/>
                    <a:pt x="5105" y="349"/>
                  </a:cubicBezTo>
                  <a:cubicBezTo>
                    <a:pt x="5109" y="349"/>
                    <a:pt x="5113" y="349"/>
                    <a:pt x="5117" y="349"/>
                  </a:cubicBezTo>
                  <a:close/>
                  <a:moveTo>
                    <a:pt x="3836" y="1676"/>
                  </a:moveTo>
                  <a:cubicBezTo>
                    <a:pt x="3749" y="1676"/>
                    <a:pt x="3749" y="1676"/>
                    <a:pt x="3749" y="1676"/>
                  </a:cubicBezTo>
                  <a:cubicBezTo>
                    <a:pt x="3715" y="1676"/>
                    <a:pt x="3613" y="1579"/>
                    <a:pt x="3613" y="1543"/>
                  </a:cubicBezTo>
                  <a:cubicBezTo>
                    <a:pt x="3613" y="1075"/>
                    <a:pt x="3613" y="1075"/>
                    <a:pt x="3613" y="1075"/>
                  </a:cubicBezTo>
                  <a:cubicBezTo>
                    <a:pt x="3793" y="882"/>
                    <a:pt x="3793" y="882"/>
                    <a:pt x="3793" y="882"/>
                  </a:cubicBezTo>
                  <a:cubicBezTo>
                    <a:pt x="4403" y="1763"/>
                    <a:pt x="4403" y="1763"/>
                    <a:pt x="4403" y="1763"/>
                  </a:cubicBezTo>
                  <a:cubicBezTo>
                    <a:pt x="6040" y="1763"/>
                    <a:pt x="6040" y="1763"/>
                    <a:pt x="6040" y="1763"/>
                  </a:cubicBezTo>
                  <a:cubicBezTo>
                    <a:pt x="6040" y="1676"/>
                    <a:pt x="6040" y="1676"/>
                    <a:pt x="6040" y="1676"/>
                  </a:cubicBezTo>
                  <a:cubicBezTo>
                    <a:pt x="5974" y="1676"/>
                    <a:pt x="5974" y="1676"/>
                    <a:pt x="5974" y="1676"/>
                  </a:cubicBezTo>
                  <a:cubicBezTo>
                    <a:pt x="5940" y="1676"/>
                    <a:pt x="5848" y="1594"/>
                    <a:pt x="5848" y="1555"/>
                  </a:cubicBezTo>
                  <a:cubicBezTo>
                    <a:pt x="5848" y="981"/>
                    <a:pt x="5848" y="981"/>
                    <a:pt x="5848" y="981"/>
                  </a:cubicBezTo>
                  <a:cubicBezTo>
                    <a:pt x="5848" y="904"/>
                    <a:pt x="6059" y="744"/>
                    <a:pt x="6221" y="744"/>
                  </a:cubicBezTo>
                  <a:cubicBezTo>
                    <a:pt x="6345" y="744"/>
                    <a:pt x="6403" y="829"/>
                    <a:pt x="6403" y="940"/>
                  </a:cubicBezTo>
                  <a:cubicBezTo>
                    <a:pt x="6403" y="1555"/>
                    <a:pt x="6403" y="1555"/>
                    <a:pt x="6403" y="1555"/>
                  </a:cubicBezTo>
                  <a:cubicBezTo>
                    <a:pt x="6403" y="1594"/>
                    <a:pt x="6311" y="1676"/>
                    <a:pt x="6277" y="1676"/>
                  </a:cubicBezTo>
                  <a:cubicBezTo>
                    <a:pt x="6211" y="1676"/>
                    <a:pt x="6211" y="1676"/>
                    <a:pt x="6211" y="1676"/>
                  </a:cubicBezTo>
                  <a:cubicBezTo>
                    <a:pt x="6211" y="1763"/>
                    <a:pt x="6211" y="1763"/>
                    <a:pt x="6211" y="1763"/>
                  </a:cubicBezTo>
                  <a:cubicBezTo>
                    <a:pt x="6810" y="1763"/>
                    <a:pt x="6810" y="1763"/>
                    <a:pt x="6810" y="1763"/>
                  </a:cubicBezTo>
                  <a:cubicBezTo>
                    <a:pt x="6810" y="1676"/>
                    <a:pt x="6810" y="1676"/>
                    <a:pt x="6810" y="1676"/>
                  </a:cubicBezTo>
                  <a:cubicBezTo>
                    <a:pt x="6739" y="1676"/>
                    <a:pt x="6739" y="1676"/>
                    <a:pt x="6739" y="1676"/>
                  </a:cubicBezTo>
                  <a:cubicBezTo>
                    <a:pt x="6706" y="1676"/>
                    <a:pt x="6613" y="1594"/>
                    <a:pt x="6613" y="1555"/>
                  </a:cubicBezTo>
                  <a:cubicBezTo>
                    <a:pt x="6613" y="928"/>
                    <a:pt x="6613" y="928"/>
                    <a:pt x="6613" y="928"/>
                  </a:cubicBezTo>
                  <a:cubicBezTo>
                    <a:pt x="6613" y="732"/>
                    <a:pt x="6473" y="601"/>
                    <a:pt x="6296" y="601"/>
                  </a:cubicBezTo>
                  <a:cubicBezTo>
                    <a:pt x="6091" y="601"/>
                    <a:pt x="5984" y="720"/>
                    <a:pt x="5846" y="860"/>
                  </a:cubicBezTo>
                  <a:cubicBezTo>
                    <a:pt x="5803" y="625"/>
                    <a:pt x="5803" y="625"/>
                    <a:pt x="5803" y="625"/>
                  </a:cubicBezTo>
                  <a:cubicBezTo>
                    <a:pt x="5441" y="625"/>
                    <a:pt x="5441" y="625"/>
                    <a:pt x="5441" y="625"/>
                  </a:cubicBezTo>
                  <a:cubicBezTo>
                    <a:pt x="5441" y="712"/>
                    <a:pt x="5441" y="712"/>
                    <a:pt x="5441" y="712"/>
                  </a:cubicBezTo>
                  <a:cubicBezTo>
                    <a:pt x="5512" y="712"/>
                    <a:pt x="5512" y="712"/>
                    <a:pt x="5512" y="712"/>
                  </a:cubicBezTo>
                  <a:cubicBezTo>
                    <a:pt x="5546" y="712"/>
                    <a:pt x="5638" y="798"/>
                    <a:pt x="5638" y="833"/>
                  </a:cubicBezTo>
                  <a:cubicBezTo>
                    <a:pt x="5638" y="1555"/>
                    <a:pt x="5638" y="1555"/>
                    <a:pt x="5638" y="1555"/>
                  </a:cubicBezTo>
                  <a:cubicBezTo>
                    <a:pt x="5638" y="1593"/>
                    <a:pt x="5546" y="1676"/>
                    <a:pt x="5512" y="1676"/>
                  </a:cubicBezTo>
                  <a:cubicBezTo>
                    <a:pt x="5371" y="1676"/>
                    <a:pt x="5371" y="1676"/>
                    <a:pt x="5371" y="1676"/>
                  </a:cubicBezTo>
                  <a:cubicBezTo>
                    <a:pt x="5340" y="1676"/>
                    <a:pt x="5245" y="1593"/>
                    <a:pt x="5245" y="1555"/>
                  </a:cubicBezTo>
                  <a:cubicBezTo>
                    <a:pt x="5245" y="625"/>
                    <a:pt x="5245" y="625"/>
                    <a:pt x="5245" y="625"/>
                  </a:cubicBezTo>
                  <a:cubicBezTo>
                    <a:pt x="4836" y="625"/>
                    <a:pt x="4836" y="625"/>
                    <a:pt x="4836" y="625"/>
                  </a:cubicBezTo>
                  <a:cubicBezTo>
                    <a:pt x="4836" y="712"/>
                    <a:pt x="4836" y="712"/>
                    <a:pt x="4836" y="712"/>
                  </a:cubicBezTo>
                  <a:cubicBezTo>
                    <a:pt x="4906" y="712"/>
                    <a:pt x="4906" y="712"/>
                    <a:pt x="4906" y="712"/>
                  </a:cubicBezTo>
                  <a:cubicBezTo>
                    <a:pt x="4940" y="712"/>
                    <a:pt x="5032" y="798"/>
                    <a:pt x="5032" y="833"/>
                  </a:cubicBezTo>
                  <a:cubicBezTo>
                    <a:pt x="5032" y="1555"/>
                    <a:pt x="5032" y="1555"/>
                    <a:pt x="5032" y="1555"/>
                  </a:cubicBezTo>
                  <a:cubicBezTo>
                    <a:pt x="5032" y="1594"/>
                    <a:pt x="4940" y="1676"/>
                    <a:pt x="4906" y="1676"/>
                  </a:cubicBezTo>
                  <a:cubicBezTo>
                    <a:pt x="4778" y="1676"/>
                    <a:pt x="4778" y="1676"/>
                    <a:pt x="4778" y="1676"/>
                  </a:cubicBezTo>
                  <a:cubicBezTo>
                    <a:pt x="4742" y="1676"/>
                    <a:pt x="4599" y="1567"/>
                    <a:pt x="4570" y="1528"/>
                  </a:cubicBezTo>
                  <a:cubicBezTo>
                    <a:pt x="3953" y="707"/>
                    <a:pt x="3953" y="707"/>
                    <a:pt x="3953" y="707"/>
                  </a:cubicBezTo>
                  <a:cubicBezTo>
                    <a:pt x="4381" y="247"/>
                    <a:pt x="4381" y="247"/>
                    <a:pt x="4381" y="247"/>
                  </a:cubicBezTo>
                  <a:cubicBezTo>
                    <a:pt x="4405" y="221"/>
                    <a:pt x="4572" y="88"/>
                    <a:pt x="4606" y="88"/>
                  </a:cubicBezTo>
                  <a:cubicBezTo>
                    <a:pt x="4692" y="88"/>
                    <a:pt x="4692" y="88"/>
                    <a:pt x="4692" y="88"/>
                  </a:cubicBezTo>
                  <a:cubicBezTo>
                    <a:pt x="4692" y="0"/>
                    <a:pt x="4692" y="0"/>
                    <a:pt x="4692" y="0"/>
                  </a:cubicBezTo>
                  <a:cubicBezTo>
                    <a:pt x="4052" y="0"/>
                    <a:pt x="4052" y="0"/>
                    <a:pt x="4052" y="0"/>
                  </a:cubicBezTo>
                  <a:cubicBezTo>
                    <a:pt x="4052" y="88"/>
                    <a:pt x="4052" y="88"/>
                    <a:pt x="4052" y="88"/>
                  </a:cubicBezTo>
                  <a:cubicBezTo>
                    <a:pt x="4137" y="88"/>
                    <a:pt x="4137" y="88"/>
                    <a:pt x="4137" y="88"/>
                  </a:cubicBezTo>
                  <a:cubicBezTo>
                    <a:pt x="4171" y="88"/>
                    <a:pt x="4270" y="209"/>
                    <a:pt x="4244" y="240"/>
                  </a:cubicBezTo>
                  <a:cubicBezTo>
                    <a:pt x="3614" y="942"/>
                    <a:pt x="3614" y="942"/>
                    <a:pt x="3614" y="942"/>
                  </a:cubicBezTo>
                  <a:cubicBezTo>
                    <a:pt x="3614" y="221"/>
                    <a:pt x="3614" y="221"/>
                    <a:pt x="3614" y="221"/>
                  </a:cubicBezTo>
                  <a:cubicBezTo>
                    <a:pt x="3614" y="184"/>
                    <a:pt x="3716" y="88"/>
                    <a:pt x="3750" y="88"/>
                  </a:cubicBezTo>
                  <a:cubicBezTo>
                    <a:pt x="3837" y="88"/>
                    <a:pt x="3837" y="88"/>
                    <a:pt x="3837" y="88"/>
                  </a:cubicBezTo>
                  <a:cubicBezTo>
                    <a:pt x="3837" y="0"/>
                    <a:pt x="3837" y="0"/>
                    <a:pt x="3837" y="0"/>
                  </a:cubicBezTo>
                  <a:cubicBezTo>
                    <a:pt x="3149" y="0"/>
                    <a:pt x="3149" y="0"/>
                    <a:pt x="3149" y="0"/>
                  </a:cubicBezTo>
                  <a:cubicBezTo>
                    <a:pt x="3149" y="88"/>
                    <a:pt x="3149" y="88"/>
                    <a:pt x="3149" y="88"/>
                  </a:cubicBezTo>
                  <a:cubicBezTo>
                    <a:pt x="3236" y="88"/>
                    <a:pt x="3236" y="88"/>
                    <a:pt x="3236" y="88"/>
                  </a:cubicBezTo>
                  <a:cubicBezTo>
                    <a:pt x="3270" y="88"/>
                    <a:pt x="3371" y="184"/>
                    <a:pt x="3371" y="221"/>
                  </a:cubicBezTo>
                  <a:cubicBezTo>
                    <a:pt x="3371" y="1543"/>
                    <a:pt x="3371" y="1543"/>
                    <a:pt x="3371" y="1543"/>
                  </a:cubicBezTo>
                  <a:cubicBezTo>
                    <a:pt x="3371" y="1579"/>
                    <a:pt x="3270" y="1676"/>
                    <a:pt x="3236" y="1676"/>
                  </a:cubicBezTo>
                  <a:cubicBezTo>
                    <a:pt x="3149" y="1676"/>
                    <a:pt x="3149" y="1676"/>
                    <a:pt x="3149" y="1676"/>
                  </a:cubicBezTo>
                  <a:cubicBezTo>
                    <a:pt x="3149" y="1763"/>
                    <a:pt x="3149" y="1763"/>
                    <a:pt x="3149" y="1763"/>
                  </a:cubicBezTo>
                  <a:cubicBezTo>
                    <a:pt x="3836" y="1763"/>
                    <a:pt x="3836" y="1763"/>
                    <a:pt x="3836" y="1763"/>
                  </a:cubicBezTo>
                  <a:lnTo>
                    <a:pt x="3836" y="1676"/>
                  </a:lnTo>
                  <a:close/>
                  <a:moveTo>
                    <a:pt x="7720" y="1446"/>
                  </a:moveTo>
                  <a:cubicBezTo>
                    <a:pt x="7720" y="1262"/>
                    <a:pt x="7579" y="1163"/>
                    <a:pt x="7456" y="1114"/>
                  </a:cubicBezTo>
                  <a:cubicBezTo>
                    <a:pt x="7361" y="1078"/>
                    <a:pt x="7296" y="1049"/>
                    <a:pt x="7209" y="1013"/>
                  </a:cubicBezTo>
                  <a:cubicBezTo>
                    <a:pt x="7090" y="962"/>
                    <a:pt x="7023" y="927"/>
                    <a:pt x="7023" y="829"/>
                  </a:cubicBezTo>
                  <a:cubicBezTo>
                    <a:pt x="7023" y="739"/>
                    <a:pt x="7085" y="683"/>
                    <a:pt x="7219" y="683"/>
                  </a:cubicBezTo>
                  <a:cubicBezTo>
                    <a:pt x="7432" y="683"/>
                    <a:pt x="7565" y="884"/>
                    <a:pt x="7565" y="979"/>
                  </a:cubicBezTo>
                  <a:cubicBezTo>
                    <a:pt x="7635" y="979"/>
                    <a:pt x="7635" y="979"/>
                    <a:pt x="7635" y="979"/>
                  </a:cubicBezTo>
                  <a:cubicBezTo>
                    <a:pt x="7635" y="625"/>
                    <a:pt x="7635" y="625"/>
                    <a:pt x="7635" y="625"/>
                  </a:cubicBezTo>
                  <a:cubicBezTo>
                    <a:pt x="7572" y="625"/>
                    <a:pt x="7572" y="625"/>
                    <a:pt x="7572" y="625"/>
                  </a:cubicBezTo>
                  <a:cubicBezTo>
                    <a:pt x="7562" y="649"/>
                    <a:pt x="7543" y="657"/>
                    <a:pt x="7509" y="657"/>
                  </a:cubicBezTo>
                  <a:cubicBezTo>
                    <a:pt x="7422" y="657"/>
                    <a:pt x="7352" y="598"/>
                    <a:pt x="7226" y="598"/>
                  </a:cubicBezTo>
                  <a:cubicBezTo>
                    <a:pt x="7015" y="598"/>
                    <a:pt x="6882" y="707"/>
                    <a:pt x="6882" y="913"/>
                  </a:cubicBezTo>
                  <a:cubicBezTo>
                    <a:pt x="6882" y="1071"/>
                    <a:pt x="6986" y="1160"/>
                    <a:pt x="7124" y="1223"/>
                  </a:cubicBezTo>
                  <a:cubicBezTo>
                    <a:pt x="7216" y="1264"/>
                    <a:pt x="7282" y="1291"/>
                    <a:pt x="7361" y="1325"/>
                  </a:cubicBezTo>
                  <a:cubicBezTo>
                    <a:pt x="7463" y="1367"/>
                    <a:pt x="7577" y="1412"/>
                    <a:pt x="7577" y="1540"/>
                  </a:cubicBezTo>
                  <a:cubicBezTo>
                    <a:pt x="7577" y="1647"/>
                    <a:pt x="7497" y="1695"/>
                    <a:pt x="7354" y="1695"/>
                  </a:cubicBezTo>
                  <a:cubicBezTo>
                    <a:pt x="7107" y="1695"/>
                    <a:pt x="6952" y="1468"/>
                    <a:pt x="6952" y="1361"/>
                  </a:cubicBezTo>
                  <a:cubicBezTo>
                    <a:pt x="6882" y="1361"/>
                    <a:pt x="6882" y="1361"/>
                    <a:pt x="6882" y="1361"/>
                  </a:cubicBezTo>
                  <a:cubicBezTo>
                    <a:pt x="6882" y="1763"/>
                    <a:pt x="6882" y="1763"/>
                    <a:pt x="6882" y="1763"/>
                  </a:cubicBezTo>
                  <a:cubicBezTo>
                    <a:pt x="6938" y="1763"/>
                    <a:pt x="6938" y="1763"/>
                    <a:pt x="6938" y="1763"/>
                  </a:cubicBezTo>
                  <a:cubicBezTo>
                    <a:pt x="6967" y="1737"/>
                    <a:pt x="6979" y="1725"/>
                    <a:pt x="7025" y="1725"/>
                  </a:cubicBezTo>
                  <a:cubicBezTo>
                    <a:pt x="7124" y="1725"/>
                    <a:pt x="7209" y="1790"/>
                    <a:pt x="7354" y="1790"/>
                  </a:cubicBezTo>
                  <a:cubicBezTo>
                    <a:pt x="7570" y="1790"/>
                    <a:pt x="7720" y="1664"/>
                    <a:pt x="7720" y="1446"/>
                  </a:cubicBezTo>
                  <a:close/>
                  <a:moveTo>
                    <a:pt x="2703" y="1584"/>
                  </a:moveTo>
                  <a:cubicBezTo>
                    <a:pt x="2442" y="1584"/>
                    <a:pt x="2282" y="1383"/>
                    <a:pt x="2282" y="1129"/>
                  </a:cubicBezTo>
                  <a:cubicBezTo>
                    <a:pt x="2282" y="860"/>
                    <a:pt x="2391" y="683"/>
                    <a:pt x="2618" y="683"/>
                  </a:cubicBezTo>
                  <a:cubicBezTo>
                    <a:pt x="2815" y="683"/>
                    <a:pt x="2844" y="840"/>
                    <a:pt x="2812" y="1017"/>
                  </a:cubicBezTo>
                  <a:cubicBezTo>
                    <a:pt x="2882" y="1013"/>
                    <a:pt x="2882" y="1013"/>
                    <a:pt x="2882" y="1013"/>
                  </a:cubicBezTo>
                  <a:cubicBezTo>
                    <a:pt x="3049" y="753"/>
                    <a:pt x="3049" y="753"/>
                    <a:pt x="3049" y="753"/>
                  </a:cubicBezTo>
                  <a:cubicBezTo>
                    <a:pt x="2945" y="649"/>
                    <a:pt x="2824" y="596"/>
                    <a:pt x="2645" y="596"/>
                  </a:cubicBezTo>
                  <a:cubicBezTo>
                    <a:pt x="2345" y="596"/>
                    <a:pt x="2100" y="833"/>
                    <a:pt x="2100" y="1201"/>
                  </a:cubicBezTo>
                  <a:cubicBezTo>
                    <a:pt x="2100" y="1526"/>
                    <a:pt x="2306" y="1792"/>
                    <a:pt x="2623" y="1792"/>
                  </a:cubicBezTo>
                  <a:cubicBezTo>
                    <a:pt x="2909" y="1792"/>
                    <a:pt x="3061" y="1635"/>
                    <a:pt x="3136" y="1386"/>
                  </a:cubicBezTo>
                  <a:cubicBezTo>
                    <a:pt x="3066" y="1386"/>
                    <a:pt x="3066" y="1386"/>
                    <a:pt x="3066" y="1386"/>
                  </a:cubicBezTo>
                  <a:cubicBezTo>
                    <a:pt x="2986" y="1519"/>
                    <a:pt x="2902" y="1584"/>
                    <a:pt x="2703" y="1584"/>
                  </a:cubicBezTo>
                  <a:close/>
                  <a:moveTo>
                    <a:pt x="1053" y="1322"/>
                  </a:moveTo>
                  <a:cubicBezTo>
                    <a:pt x="1041" y="1322"/>
                    <a:pt x="1041" y="1322"/>
                    <a:pt x="1041" y="1322"/>
                  </a:cubicBezTo>
                  <a:cubicBezTo>
                    <a:pt x="511" y="0"/>
                    <a:pt x="511" y="0"/>
                    <a:pt x="511" y="0"/>
                  </a:cubicBezTo>
                  <a:cubicBezTo>
                    <a:pt x="0" y="0"/>
                    <a:pt x="0" y="0"/>
                    <a:pt x="0" y="0"/>
                  </a:cubicBezTo>
                  <a:cubicBezTo>
                    <a:pt x="0" y="88"/>
                    <a:pt x="0" y="88"/>
                    <a:pt x="0" y="88"/>
                  </a:cubicBezTo>
                  <a:cubicBezTo>
                    <a:pt x="87" y="88"/>
                    <a:pt x="87" y="88"/>
                    <a:pt x="87" y="88"/>
                  </a:cubicBezTo>
                  <a:cubicBezTo>
                    <a:pt x="121" y="88"/>
                    <a:pt x="223" y="184"/>
                    <a:pt x="223" y="221"/>
                  </a:cubicBezTo>
                  <a:cubicBezTo>
                    <a:pt x="223" y="1543"/>
                    <a:pt x="223" y="1543"/>
                    <a:pt x="223" y="1543"/>
                  </a:cubicBezTo>
                  <a:cubicBezTo>
                    <a:pt x="223" y="1579"/>
                    <a:pt x="121" y="1676"/>
                    <a:pt x="87" y="1676"/>
                  </a:cubicBezTo>
                  <a:cubicBezTo>
                    <a:pt x="0" y="1676"/>
                    <a:pt x="0" y="1676"/>
                    <a:pt x="0" y="1676"/>
                  </a:cubicBezTo>
                  <a:cubicBezTo>
                    <a:pt x="0" y="1763"/>
                    <a:pt x="0" y="1763"/>
                    <a:pt x="0" y="1763"/>
                  </a:cubicBezTo>
                  <a:cubicBezTo>
                    <a:pt x="549" y="1763"/>
                    <a:pt x="549" y="1763"/>
                    <a:pt x="549" y="1763"/>
                  </a:cubicBezTo>
                  <a:cubicBezTo>
                    <a:pt x="549" y="1676"/>
                    <a:pt x="549" y="1676"/>
                    <a:pt x="549" y="1676"/>
                  </a:cubicBezTo>
                  <a:cubicBezTo>
                    <a:pt x="462" y="1676"/>
                    <a:pt x="462" y="1676"/>
                    <a:pt x="462" y="1676"/>
                  </a:cubicBezTo>
                  <a:cubicBezTo>
                    <a:pt x="428" y="1676"/>
                    <a:pt x="327" y="1579"/>
                    <a:pt x="327" y="1543"/>
                  </a:cubicBezTo>
                  <a:cubicBezTo>
                    <a:pt x="327" y="233"/>
                    <a:pt x="327" y="233"/>
                    <a:pt x="327" y="233"/>
                  </a:cubicBezTo>
                  <a:cubicBezTo>
                    <a:pt x="968" y="1794"/>
                    <a:pt x="968" y="1794"/>
                    <a:pt x="968" y="1794"/>
                  </a:cubicBezTo>
                  <a:cubicBezTo>
                    <a:pt x="1609" y="259"/>
                    <a:pt x="1609" y="259"/>
                    <a:pt x="1609" y="259"/>
                  </a:cubicBezTo>
                  <a:cubicBezTo>
                    <a:pt x="1609" y="1543"/>
                    <a:pt x="1609" y="1543"/>
                    <a:pt x="1609" y="1543"/>
                  </a:cubicBezTo>
                  <a:cubicBezTo>
                    <a:pt x="1609" y="1579"/>
                    <a:pt x="1507" y="1676"/>
                    <a:pt x="1473" y="1676"/>
                  </a:cubicBezTo>
                  <a:cubicBezTo>
                    <a:pt x="1386" y="1676"/>
                    <a:pt x="1386" y="1676"/>
                    <a:pt x="1386" y="1676"/>
                  </a:cubicBezTo>
                  <a:cubicBezTo>
                    <a:pt x="1386" y="1763"/>
                    <a:pt x="1386" y="1763"/>
                    <a:pt x="1386" y="1763"/>
                  </a:cubicBezTo>
                  <a:cubicBezTo>
                    <a:pt x="2069" y="1763"/>
                    <a:pt x="2069" y="1763"/>
                    <a:pt x="2069" y="1763"/>
                  </a:cubicBezTo>
                  <a:cubicBezTo>
                    <a:pt x="2069" y="1676"/>
                    <a:pt x="2069" y="1676"/>
                    <a:pt x="2069" y="1676"/>
                  </a:cubicBezTo>
                  <a:cubicBezTo>
                    <a:pt x="1983" y="1676"/>
                    <a:pt x="1983" y="1676"/>
                    <a:pt x="1983" y="1676"/>
                  </a:cubicBezTo>
                  <a:cubicBezTo>
                    <a:pt x="1949" y="1676"/>
                    <a:pt x="1848" y="1579"/>
                    <a:pt x="1848" y="1543"/>
                  </a:cubicBezTo>
                  <a:cubicBezTo>
                    <a:pt x="1848" y="221"/>
                    <a:pt x="1848" y="221"/>
                    <a:pt x="1848" y="221"/>
                  </a:cubicBezTo>
                  <a:cubicBezTo>
                    <a:pt x="1848" y="184"/>
                    <a:pt x="1949" y="88"/>
                    <a:pt x="1983" y="88"/>
                  </a:cubicBezTo>
                  <a:cubicBezTo>
                    <a:pt x="2070" y="88"/>
                    <a:pt x="2070" y="88"/>
                    <a:pt x="2070" y="88"/>
                  </a:cubicBezTo>
                  <a:cubicBezTo>
                    <a:pt x="2070" y="0"/>
                    <a:pt x="2070" y="0"/>
                    <a:pt x="2070" y="0"/>
                  </a:cubicBezTo>
                  <a:cubicBezTo>
                    <a:pt x="1610" y="0"/>
                    <a:pt x="1610" y="0"/>
                    <a:pt x="1610" y="0"/>
                  </a:cubicBezTo>
                  <a:lnTo>
                    <a:pt x="1053" y="1322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vert="horz" wrap="square" lIns="91440" tIns="45720" rIns="91440" bIns="45720" numCol="1" anchor="t" anchorCtr="0" compatLnSpc="1">
              <a:prstTxWarp prst="textNoShape">
                <a:avLst/>
              </a:prstTxWarp>
            </a:bodyPr>
            <a:lstStyle/>
            <a:p>
              <a:endParaRPr lang="en-US">
                <a:latin typeface="Arial" panose="020B0604020202020204" pitchFamily="34" charset="0"/>
              </a:endParaRPr>
            </a:p>
          </p:txBody>
        </p:sp>
      </p:grpSp>
      <p:sp>
        <p:nvSpPr>
          <p:cNvPr id="8" name="5. Source" hidden="1">
            <a:extLst>
              <a:ext uri="{FF2B5EF4-FFF2-40B4-BE49-F238E27FC236}">
                <a16:creationId xmlns:a16="http://schemas.microsoft.com/office/drawing/2014/main" id="{330AE89A-7771-4A6E-A02D-893DCB66C876}"/>
              </a:ext>
            </a:extLst>
          </p:cNvPr>
          <p:cNvSpPr txBox="1"/>
          <p:nvPr userDrawn="1">
            <p:custDataLst>
              <p:tags r:id="rId4"/>
            </p:custDataLst>
          </p:nvPr>
        </p:nvSpPr>
        <p:spPr>
          <a:xfrm>
            <a:off x="554735" y="6501669"/>
            <a:ext cx="7277861" cy="123111"/>
          </a:xfrm>
          <a:prstGeom prst="rect">
            <a:avLst/>
          </a:prstGeom>
        </p:spPr>
        <p:txBody>
          <a:bodyPr vert="horz" wrap="square" lIns="0" tIns="0" rIns="0" bIns="0" rtlCol="0" anchor="t">
            <a:spAutoFit/>
          </a:bodyPr>
          <a:lstStyle>
            <a:lvl1pPr indent="0">
              <a:lnSpc>
                <a:spcPct val="100000"/>
              </a:lnSpc>
              <a:spcBef>
                <a:spcPts val="300"/>
              </a:spcBef>
              <a:spcAft>
                <a:spcPts val="300"/>
              </a:spcAft>
              <a:buFont typeface="Segoe UI" panose="020B0502040204020203" pitchFamily="34" charset="0"/>
              <a:buChar char="​"/>
              <a:defRPr lang="en-US" sz="900" dirty="0">
                <a:cs typeface="Arial" panose="020B0604020202020204" pitchFamily="34" charset="0"/>
              </a:defRPr>
            </a:lvl1pPr>
            <a:lvl2pPr marL="228600" indent="-2254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Wingdings" panose="05000000000000000000" pitchFamily="2" charset="2"/>
              <a:buChar char=""/>
              <a:defRPr sz="1600">
                <a:cs typeface="Arial" panose="020B0604020202020204" pitchFamily="34" charset="0"/>
              </a:defRPr>
            </a:lvl2pPr>
            <a:lvl3pPr marL="515938" indent="-287338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—"/>
              <a:defRPr sz="1600">
                <a:cs typeface="Arial" panose="020B0604020202020204" pitchFamily="34" charset="0"/>
              </a:defRPr>
            </a:lvl3pPr>
            <a:lvl4pPr marL="742950" indent="-182563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Font typeface="Arial" panose="020B0604020202020204" pitchFamily="34" charset="0"/>
              <a:buChar char="»"/>
              <a:defRPr sz="1600">
                <a:cs typeface="Arial" panose="020B0604020202020204" pitchFamily="34" charset="0"/>
              </a:defRPr>
            </a:lvl4pPr>
            <a:lvl5pPr marL="914400" indent="-136525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›"/>
              <a:defRPr sz="1600">
                <a:cs typeface="Arial" panose="020B0604020202020204" pitchFamily="34" charset="0"/>
              </a:defRPr>
            </a:lvl5pPr>
            <a:lvl6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6pPr>
            <a:lvl7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7pPr>
            <a:lvl8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8pPr>
            <a:lvl9pPr marL="1085850" indent="-17145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SzPct val="100000"/>
              <a:buFont typeface="Arial" panose="020B0604020202020204" pitchFamily="34" charset="0"/>
              <a:buChar char="▫"/>
              <a:defRPr sz="1600">
                <a:cs typeface="Arial" panose="020B0604020202020204" pitchFamily="34" charset="0"/>
              </a:defRPr>
            </a:lvl9pPr>
          </a:lstStyle>
          <a:p>
            <a:r>
              <a:rPr lang="en-US" sz="800"/>
              <a:t>Source: …</a:t>
            </a:r>
          </a:p>
        </p:txBody>
      </p:sp>
    </p:spTree>
    <p:extLst>
      <p:ext uri="{BB962C8B-B14F-4D97-AF65-F5344CB8AC3E}">
        <p14:creationId xmlns:p14="http://schemas.microsoft.com/office/powerpoint/2010/main" val="377585161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Relationship Id="rId3" Type="http://schemas.openxmlformats.org/officeDocument/2006/relationships/tags" Target="../tags/tag2.xml"/><Relationship Id="rId4" Type="http://schemas.openxmlformats.org/officeDocument/2006/relationships/oleObject" Target="../embeddings/oleObject1.bin"/><Relationship Id="rId5" Type="http://schemas.openxmlformats.org/officeDocument/2006/relationships/image" Target="../media/image1.emf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slideLayout" Target="../slideLayouts/slideLayout3.xml"/><Relationship Id="rId3" Type="http://schemas.openxmlformats.org/officeDocument/2006/relationships/slideLayout" Target="../slideLayouts/slideLayout4.xml"/><Relationship Id="rId4" Type="http://schemas.openxmlformats.org/officeDocument/2006/relationships/slideLayout" Target="../slideLayouts/slideLayout5.xml"/><Relationship Id="rId5" Type="http://schemas.openxmlformats.org/officeDocument/2006/relationships/slideLayout" Target="../slideLayouts/slideLayout6.xml"/><Relationship Id="rId6" Type="http://schemas.openxmlformats.org/officeDocument/2006/relationships/slideLayout" Target="../slideLayouts/slideLayout7.xml"/><Relationship Id="rId7" Type="http://schemas.openxmlformats.org/officeDocument/2006/relationships/slideLayout" Target="../slideLayouts/slideLayout8.xml"/><Relationship Id="rId8" Type="http://schemas.openxmlformats.org/officeDocument/2006/relationships/slideLayout" Target="../slideLayouts/slideLayout9.xml"/><Relationship Id="rId9" Type="http://schemas.openxmlformats.org/officeDocument/2006/relationships/slideLayout" Target="../slideLayouts/slideLayout10.xml"/><Relationship Id="rId10" Type="http://schemas.openxmlformats.org/officeDocument/2006/relationships/slideLayout" Target="../slideLayouts/slideLayout11.xml"/><Relationship Id="rId11" Type="http://schemas.openxmlformats.org/officeDocument/2006/relationships/slideLayout" Target="../slideLayouts/slideLayout12.xml"/><Relationship Id="rId12" Type="http://schemas.openxmlformats.org/officeDocument/2006/relationships/slideLayout" Target="../slideLayouts/slideLayout13.xml"/><Relationship Id="rId13" Type="http://schemas.openxmlformats.org/officeDocument/2006/relationships/slideLayout" Target="../slideLayouts/slideLayout14.xml"/><Relationship Id="rId14" Type="http://schemas.openxmlformats.org/officeDocument/2006/relationships/slideLayout" Target="../slideLayouts/slideLayout15.xml"/><Relationship Id="rId15" Type="http://schemas.openxmlformats.org/officeDocument/2006/relationships/theme" Target="../theme/theme2.xml"/><Relationship Id="rId16" Type="http://schemas.openxmlformats.org/officeDocument/2006/relationships/tags" Target="../tags/tag3.xml"/><Relationship Id="rId17" Type="http://schemas.openxmlformats.org/officeDocument/2006/relationships/tags" Target="../tags/tag4.xml"/><Relationship Id="rId18" Type="http://schemas.openxmlformats.org/officeDocument/2006/relationships/tags" Target="../tags/tag5.xml"/><Relationship Id="rId19" Type="http://schemas.openxmlformats.org/officeDocument/2006/relationships/tags" Target="../tags/tag6.xml"/><Relationship Id="rId20" Type="http://schemas.openxmlformats.org/officeDocument/2006/relationships/tags" Target="../tags/tag7.xml"/><Relationship Id="rId21" Type="http://schemas.openxmlformats.org/officeDocument/2006/relationships/tags" Target="../tags/tag8.xml"/><Relationship Id="rId22" Type="http://schemas.openxmlformats.org/officeDocument/2006/relationships/tags" Target="../tags/tag9.xml"/><Relationship Id="rId23" Type="http://schemas.openxmlformats.org/officeDocument/2006/relationships/tags" Target="../tags/tag10.xml"/><Relationship Id="rId24" Type="http://schemas.openxmlformats.org/officeDocument/2006/relationships/tags" Target="../tags/tag11.xml"/><Relationship Id="rId25" Type="http://schemas.openxmlformats.org/officeDocument/2006/relationships/tags" Target="../tags/tag12.xml"/><Relationship Id="rId26" Type="http://schemas.openxmlformats.org/officeDocument/2006/relationships/tags" Target="../tags/tag13.xml"/><Relationship Id="rId27" Type="http://schemas.openxmlformats.org/officeDocument/2006/relationships/tags" Target="../tags/tag14.xml"/><Relationship Id="rId28" Type="http://schemas.openxmlformats.org/officeDocument/2006/relationships/tags" Target="../tags/tag15.xml"/><Relationship Id="rId29" Type="http://schemas.openxmlformats.org/officeDocument/2006/relationships/tags" Target="../tags/tag16.xml"/><Relationship Id="rId30" Type="http://schemas.openxmlformats.org/officeDocument/2006/relationships/tags" Target="../tags/tag17.xml"/><Relationship Id="rId31" Type="http://schemas.openxmlformats.org/officeDocument/2006/relationships/tags" Target="../tags/tag18.xml"/><Relationship Id="rId32" Type="http://schemas.openxmlformats.org/officeDocument/2006/relationships/tags" Target="../tags/tag19.xml"/><Relationship Id="rId33" Type="http://schemas.openxmlformats.org/officeDocument/2006/relationships/tags" Target="../tags/tag20.xml"/><Relationship Id="rId34" Type="http://schemas.openxmlformats.org/officeDocument/2006/relationships/tags" Target="../tags/tag21.xml"/><Relationship Id="rId35" Type="http://schemas.openxmlformats.org/officeDocument/2006/relationships/tags" Target="../tags/tag22.xml"/><Relationship Id="rId36" Type="http://schemas.openxmlformats.org/officeDocument/2006/relationships/tags" Target="../tags/tag23.xml"/><Relationship Id="rId37" Type="http://schemas.openxmlformats.org/officeDocument/2006/relationships/oleObject" Target="../embeddings/oleObject2.bin"/><Relationship Id="rId38" Type="http://schemas.openxmlformats.org/officeDocument/2006/relationships/image" Target="../media/image2.emf"/><Relationship Id="rId3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hink-cell data - do not delete" hidden="1">
            <a:extLst>
              <a:ext uri="{FF2B5EF4-FFF2-40B4-BE49-F238E27FC236}">
                <a16:creationId xmlns:a16="http://schemas.microsoft.com/office/drawing/2014/main" id="{4903B509-CF78-8702-6A3E-95258459580B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3"/>
            </p:custDataLst>
            <p:extLst>
              <p:ext uri="{D42A27DB-BD31-4B8C-83A1-F6EECF244321}">
                <p14:modId xmlns:p14="http://schemas.microsoft.com/office/powerpoint/2010/main" val="33056522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4" imgW="428" imgH="428" progId="TCLayout.ActiveDocument.1">
                  <p:embed/>
                </p:oleObj>
              </mc:Choice>
              <mc:Fallback>
                <p:oleObj name="think-cell Slide" r:id="rId4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5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Object 2" hidden="1">
            <a:extLst>
              <a:ext uri="{FF2B5EF4-FFF2-40B4-BE49-F238E27FC236}">
                <a16:creationId xmlns:a16="http://schemas.microsoft.com/office/drawing/2014/main" id="{4BC40847-AF8B-4097-9A07-2349A751A051}"/>
              </a:ext>
            </a:extLst>
          </p:cNvPr>
          <p:cNvGraphicFramePr>
            <a:graphicFrameLocks noChangeAspect="1"/>
          </p:cNvGraphicFramePr>
          <p:nvPr userDrawn="1">
            <p:custDataLst>
              <p:tags r:id="rId16"/>
            </p:custDataLst>
            <p:extLst>
              <p:ext uri="{D42A27DB-BD31-4B8C-83A1-F6EECF244321}">
                <p14:modId xmlns:p14="http://schemas.microsoft.com/office/powerpoint/2010/main" val="1584283879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37" imgW="413" imgH="416" progId="TCLayout.ActiveDocument.1">
                  <p:embed/>
                </p:oleObj>
              </mc:Choice>
              <mc:Fallback>
                <p:oleObj name="think-cell Slide" r:id="rId37" imgW="413" imgH="416" progId="TCLayout.ActiveDocument.1">
                  <p:embed/>
                  <p:pic>
                    <p:nvPicPr>
                      <p:cNvPr id="3" name="Object 2" hidden="1">
                        <a:extLst>
                          <a:ext uri="{FF2B5EF4-FFF2-40B4-BE49-F238E27FC236}">
                            <a16:creationId xmlns:a16="http://schemas.microsoft.com/office/drawing/2014/main" id="{4BC40847-AF8B-4097-9A07-2349A751A051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Rectangle 1" hidden="1">
            <a:extLst>
              <a:ext uri="{FF2B5EF4-FFF2-40B4-BE49-F238E27FC236}">
                <a16:creationId xmlns:a16="http://schemas.microsoft.com/office/drawing/2014/main" id="{A194173E-7BB3-47F4-8EAD-18BFC563F97A}"/>
              </a:ext>
            </a:extLst>
          </p:cNvPr>
          <p:cNvSpPr/>
          <p:nvPr userDrawn="1">
            <p:custDataLst>
              <p:tags r:id="rId17"/>
            </p:custDataLst>
          </p:nvPr>
        </p:nvSpPr>
        <p:spPr>
          <a:xfrm>
            <a:off x="0" y="0"/>
            <a:ext cx="158750" cy="158750"/>
          </a:xfrm>
          <a:prstGeom prst="rect">
            <a:avLst/>
          </a:prstGeom>
          <a:solidFill>
            <a:schemeClr val="accent1"/>
          </a:solidFill>
          <a:ln w="6350" cap="sq">
            <a:noFill/>
            <a:miter lim="800000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none" lIns="0" tIns="0" rIns="0" bIns="0" numCol="1" spcCol="0" rtlCol="0" fromWordArt="0" anchor="ctr" anchorCtr="0" forceAA="0" compatLnSpc="1">
            <a:prstTxWarp prst="textNoShape">
              <a:avLst/>
            </a:prstTxWarp>
            <a:noAutofit/>
          </a:bodyPr>
          <a:lstStyle/>
          <a:p>
            <a:pPr marL="0" lvl="0" indent="0" algn="ctr" eaLnBrk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</a:pPr>
            <a:endParaRPr lang="en-US" sz="2500" b="1" i="0" baseline="0" err="1">
              <a:solidFill>
                <a:schemeClr val="bg1"/>
              </a:solidFill>
              <a:latin typeface="Georgia" panose="02040502050405020303" pitchFamily="18" charset="0"/>
              <a:ea typeface="+mj-ea"/>
              <a:cs typeface="+mj-cs"/>
              <a:sym typeface="Georgia" panose="02040502050405020303" pitchFamily="18" charset="0"/>
            </a:endParaRPr>
          </a:p>
        </p:txBody>
      </p:sp>
      <p:sp>
        <p:nvSpPr>
          <p:cNvPr id="103" name="SlideLogoText">
            <a:extLst>
              <a:ext uri="{FF2B5EF4-FFF2-40B4-BE49-F238E27FC236}">
                <a16:creationId xmlns:a16="http://schemas.microsoft.com/office/drawing/2014/main" id="{69FC0062-74AE-4BDA-ACE7-D069B448DDBC}"/>
              </a:ext>
            </a:extLst>
          </p:cNvPr>
          <p:cNvSpPr txBox="1"/>
          <p:nvPr userDrawn="1">
            <p:custDataLst>
              <p:tags r:id="rId18"/>
            </p:custDataLst>
          </p:nvPr>
        </p:nvSpPr>
        <p:spPr>
          <a:xfrm>
            <a:off x="10142505" y="6499381"/>
            <a:ext cx="1134927" cy="138499"/>
          </a:xfrm>
          <a:prstGeom prst="rect">
            <a:avLst/>
          </a:prstGeom>
          <a:noFill/>
        </p:spPr>
        <p:txBody>
          <a:bodyPr wrap="none" lIns="0" tIns="0" rIns="0" bIns="0" rtlCol="0" anchor="b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900" kern="1200">
                <a:solidFill>
                  <a:schemeClr val="tx1"/>
                </a:solidFill>
                <a:latin typeface="+mn-lt"/>
                <a:ea typeface="+mn-ea"/>
                <a:cs typeface="Arial" panose="020B0604020202020204" pitchFamily="34" charset="0"/>
              </a:rPr>
              <a:t>McKinsey &amp; Company</a:t>
            </a:r>
          </a:p>
        </p:txBody>
      </p:sp>
      <p:sp>
        <p:nvSpPr>
          <p:cNvPr id="16" name="4. Footnote" hidden="1">
            <a:extLst>
              <a:ext uri="{FF2B5EF4-FFF2-40B4-BE49-F238E27FC236}">
                <a16:creationId xmlns:a16="http://schemas.microsoft.com/office/drawing/2014/main" id="{772E4927-517C-4D61-9929-9FFDE5F31A03}"/>
              </a:ext>
            </a:extLst>
          </p:cNvPr>
          <p:cNvSpPr txBox="1"/>
          <p:nvPr userDrawn="1">
            <p:custDataLst>
              <p:tags r:id="rId19"/>
            </p:custDataLst>
          </p:nvPr>
        </p:nvSpPr>
        <p:spPr>
          <a:xfrm>
            <a:off x="553972" y="6279028"/>
            <a:ext cx="7278624" cy="123111"/>
          </a:xfrm>
          <a:prstGeom prst="rect">
            <a:avLst/>
          </a:prstGeom>
          <a:noFill/>
        </p:spPr>
        <p:txBody>
          <a:bodyPr wrap="square" lIns="0" tIns="0" rIns="0" bIns="0" rtlCol="0" anchor="b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800" kern="1200">
                <a:latin typeface="+mn-lt"/>
                <a:ea typeface="+mn-ea"/>
                <a:cs typeface="Arial" panose="020B0604020202020204" pitchFamily="34" charset="0"/>
              </a:rPr>
              <a:t>Footnotes</a:t>
            </a:r>
          </a:p>
        </p:txBody>
      </p:sp>
      <p:sp>
        <p:nvSpPr>
          <p:cNvPr id="57" name="2. Slide Title">
            <a:extLst>
              <a:ext uri="{FF2B5EF4-FFF2-40B4-BE49-F238E27FC236}">
                <a16:creationId xmlns:a16="http://schemas.microsoft.com/office/drawing/2014/main" id="{98FF70AE-7EF6-4E5B-9FFE-B44C852C9FBA}"/>
              </a:ext>
            </a:extLst>
          </p:cNvPr>
          <p:cNvSpPr>
            <a:spLocks noGrp="1"/>
          </p:cNvSpPr>
          <p:nvPr>
            <p:ph type="title"/>
            <p:custDataLst>
              <p:tags r:id="rId20"/>
            </p:custDataLst>
          </p:nvPr>
        </p:nvSpPr>
        <p:spPr>
          <a:xfrm>
            <a:off x="554736" y="172212"/>
            <a:ext cx="11082528" cy="731520"/>
          </a:xfrm>
          <a:prstGeom prst="rect">
            <a:avLst/>
          </a:prstGeom>
        </p:spPr>
        <p:txBody>
          <a:bodyPr vert="horz" wrap="square" lIns="0" tIns="0" rIns="0" bIns="0" rtlCol="0" anchor="b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58" name="Text Placeholder 2">
            <a:extLst>
              <a:ext uri="{FF2B5EF4-FFF2-40B4-BE49-F238E27FC236}">
                <a16:creationId xmlns:a16="http://schemas.microsoft.com/office/drawing/2014/main" id="{192DB789-515B-4504-BE53-6445F242768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554736" y="2171700"/>
            <a:ext cx="11082528" cy="2523768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pic>
        <p:nvPicPr>
          <p:cNvPr id="26" name="Grid" hidden="1">
            <a:extLst>
              <a:ext uri="{FF2B5EF4-FFF2-40B4-BE49-F238E27FC236}">
                <a16:creationId xmlns:a16="http://schemas.microsoft.com/office/drawing/2014/main" id="{6579EC00-B6CE-6B6A-27BD-68A33477E9F1}"/>
              </a:ext>
            </a:extLst>
          </p:cNvPr>
          <p:cNvPicPr>
            <a:picLocks noChangeAspect="1"/>
          </p:cNvPicPr>
          <p:nvPr userDrawn="1">
            <p:custDataLst>
              <p:tags r:id="rId21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39"/>
              </a:ext>
            </a:extLst>
          </a:blip>
          <a:stretch>
            <a:fillRect/>
          </a:stretch>
        </p:blipFill>
        <p:spPr>
          <a:xfrm>
            <a:off x="3699" y="0"/>
            <a:ext cx="12184602" cy="6858000"/>
          </a:xfrm>
          <a:prstGeom prst="rect">
            <a:avLst/>
          </a:prstGeom>
        </p:spPr>
      </p:pic>
      <p:grpSp>
        <p:nvGrpSpPr>
          <p:cNvPr id="187" name="LegendBoxes" hidden="1">
            <a:extLst>
              <a:ext uri="{FF2B5EF4-FFF2-40B4-BE49-F238E27FC236}">
                <a16:creationId xmlns:a16="http://schemas.microsoft.com/office/drawing/2014/main" id="{5048A9C9-0655-49B2-A283-6A54678F321B}"/>
              </a:ext>
            </a:extLst>
          </p:cNvPr>
          <p:cNvGrpSpPr/>
          <p:nvPr userDrawn="1"/>
        </p:nvGrpSpPr>
        <p:grpSpPr>
          <a:xfrm>
            <a:off x="10728000" y="4323600"/>
            <a:ext cx="984864" cy="1717282"/>
            <a:chOff x="9585951" y="2980105"/>
            <a:chExt cx="984864" cy="1717282"/>
          </a:xfrm>
        </p:grpSpPr>
        <p:sp>
          <p:nvSpPr>
            <p:cNvPr id="188" name="RectangleLegend1">
              <a:extLst>
                <a:ext uri="{FF2B5EF4-FFF2-40B4-BE49-F238E27FC236}">
                  <a16:creationId xmlns:a16="http://schemas.microsoft.com/office/drawing/2014/main" id="{8F219674-AEDF-41A7-B3C3-07BD8D165776}"/>
                </a:ext>
              </a:extLst>
            </p:cNvPr>
            <p:cNvSpPr/>
            <p:nvPr/>
          </p:nvSpPr>
          <p:spPr>
            <a:xfrm>
              <a:off x="9585951" y="3001463"/>
              <a:ext cx="172729" cy="172729"/>
            </a:xfrm>
            <a:prstGeom prst="rect">
              <a:avLst/>
            </a:prstGeom>
            <a:solidFill>
              <a:schemeClr val="accent1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89" name="RectangleLegend2">
              <a:extLst>
                <a:ext uri="{FF2B5EF4-FFF2-40B4-BE49-F238E27FC236}">
                  <a16:creationId xmlns:a16="http://schemas.microsoft.com/office/drawing/2014/main" id="{76884974-3CCD-4F11-B109-02708F18B04E}"/>
                </a:ext>
              </a:extLst>
            </p:cNvPr>
            <p:cNvSpPr/>
            <p:nvPr/>
          </p:nvSpPr>
          <p:spPr>
            <a:xfrm>
              <a:off x="9585951" y="3380961"/>
              <a:ext cx="172729" cy="172729"/>
            </a:xfrm>
            <a:prstGeom prst="rect">
              <a:avLst/>
            </a:prstGeom>
            <a:solidFill>
              <a:schemeClr val="accent2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0" name="RectangleLegend3">
              <a:extLst>
                <a:ext uri="{FF2B5EF4-FFF2-40B4-BE49-F238E27FC236}">
                  <a16:creationId xmlns:a16="http://schemas.microsoft.com/office/drawing/2014/main" id="{D440B2EC-6FE5-4259-BA11-DC2E3B68E637}"/>
                </a:ext>
              </a:extLst>
            </p:cNvPr>
            <p:cNvSpPr/>
            <p:nvPr/>
          </p:nvSpPr>
          <p:spPr>
            <a:xfrm>
              <a:off x="9585951" y="3754557"/>
              <a:ext cx="172729" cy="172729"/>
            </a:xfrm>
            <a:prstGeom prst="rect">
              <a:avLst/>
            </a:prstGeom>
            <a:solidFill>
              <a:schemeClr val="accent3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1" name="RectangleLegend4">
              <a:extLst>
                <a:ext uri="{FF2B5EF4-FFF2-40B4-BE49-F238E27FC236}">
                  <a16:creationId xmlns:a16="http://schemas.microsoft.com/office/drawing/2014/main" id="{52FE9D34-332E-47CD-94B8-12A069181C03}"/>
                </a:ext>
              </a:extLst>
            </p:cNvPr>
            <p:cNvSpPr/>
            <p:nvPr/>
          </p:nvSpPr>
          <p:spPr>
            <a:xfrm>
              <a:off x="9585951" y="4128153"/>
              <a:ext cx="172729" cy="172729"/>
            </a:xfrm>
            <a:prstGeom prst="rect">
              <a:avLst/>
            </a:prstGeom>
            <a:solidFill>
              <a:schemeClr val="accent4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2" name="RectangleLegend5">
              <a:extLst>
                <a:ext uri="{FF2B5EF4-FFF2-40B4-BE49-F238E27FC236}">
                  <a16:creationId xmlns:a16="http://schemas.microsoft.com/office/drawing/2014/main" id="{1D6EA8D9-42BE-4743-876B-1050D1436021}"/>
                </a:ext>
              </a:extLst>
            </p:cNvPr>
            <p:cNvSpPr/>
            <p:nvPr/>
          </p:nvSpPr>
          <p:spPr>
            <a:xfrm>
              <a:off x="9585951" y="4501749"/>
              <a:ext cx="172729" cy="172729"/>
            </a:xfrm>
            <a:prstGeom prst="rect">
              <a:avLst/>
            </a:prstGeom>
            <a:solidFill>
              <a:schemeClr val="accent5"/>
            </a:solidFill>
            <a:ln w="6350" cap="sq">
              <a:noFill/>
              <a:miter lim="800000"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  <a:prstTxWarp prst="textNoShape">
                <a:avLst/>
              </a:prstTxWarp>
              <a:noAutofit/>
            </a:bodyPr>
            <a:lstStyle/>
            <a:p>
              <a:pPr algn="ctr"/>
              <a:endParaRPr lang="en-US" sz="1400" err="1">
                <a:solidFill>
                  <a:schemeClr val="tx1"/>
                </a:solidFill>
              </a:endParaRPr>
            </a:p>
          </p:txBody>
        </p:sp>
        <p:sp>
          <p:nvSpPr>
            <p:cNvPr id="193" name="Legend1">
              <a:extLst>
                <a:ext uri="{FF2B5EF4-FFF2-40B4-BE49-F238E27FC236}">
                  <a16:creationId xmlns:a16="http://schemas.microsoft.com/office/drawing/2014/main" id="{50F3208A-D1A9-4DEE-B968-1381D0DE88E8}"/>
                </a:ext>
              </a:extLst>
            </p:cNvPr>
            <p:cNvSpPr txBox="1"/>
            <p:nvPr/>
          </p:nvSpPr>
          <p:spPr>
            <a:xfrm>
              <a:off x="9912097" y="2980105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4" name="Legend2">
              <a:extLst>
                <a:ext uri="{FF2B5EF4-FFF2-40B4-BE49-F238E27FC236}">
                  <a16:creationId xmlns:a16="http://schemas.microsoft.com/office/drawing/2014/main" id="{69AC8C80-52E4-4497-A147-009E23FB42A5}"/>
                </a:ext>
              </a:extLst>
            </p:cNvPr>
            <p:cNvSpPr txBox="1"/>
            <p:nvPr/>
          </p:nvSpPr>
          <p:spPr>
            <a:xfrm>
              <a:off x="9912097" y="3359603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5" name="Legend3">
              <a:extLst>
                <a:ext uri="{FF2B5EF4-FFF2-40B4-BE49-F238E27FC236}">
                  <a16:creationId xmlns:a16="http://schemas.microsoft.com/office/drawing/2014/main" id="{218BEB5C-C19E-451D-B538-56A492CF74C6}"/>
                </a:ext>
              </a:extLst>
            </p:cNvPr>
            <p:cNvSpPr txBox="1"/>
            <p:nvPr/>
          </p:nvSpPr>
          <p:spPr>
            <a:xfrm>
              <a:off x="9912097" y="3739101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6" name="Legend4">
              <a:extLst>
                <a:ext uri="{FF2B5EF4-FFF2-40B4-BE49-F238E27FC236}">
                  <a16:creationId xmlns:a16="http://schemas.microsoft.com/office/drawing/2014/main" id="{B77C1590-32D9-4A52-8AF0-454D06E80BF2}"/>
                </a:ext>
              </a:extLst>
            </p:cNvPr>
            <p:cNvSpPr txBox="1"/>
            <p:nvPr/>
          </p:nvSpPr>
          <p:spPr>
            <a:xfrm>
              <a:off x="9912097" y="4110522"/>
              <a:ext cx="658718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97" name="Legend5">
              <a:extLst>
                <a:ext uri="{FF2B5EF4-FFF2-40B4-BE49-F238E27FC236}">
                  <a16:creationId xmlns:a16="http://schemas.microsoft.com/office/drawing/2014/main" id="{A40A9DB6-E1B2-47A6-8B66-4FCDC31DD600}"/>
                </a:ext>
              </a:extLst>
            </p:cNvPr>
            <p:cNvSpPr txBox="1"/>
            <p:nvPr/>
          </p:nvSpPr>
          <p:spPr>
            <a:xfrm>
              <a:off x="9912097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</p:grpSp>
      <p:grpSp>
        <p:nvGrpSpPr>
          <p:cNvPr id="4" name="LegendMoons" hidden="1">
            <a:extLst>
              <a:ext uri="{FF2B5EF4-FFF2-40B4-BE49-F238E27FC236}">
                <a16:creationId xmlns:a16="http://schemas.microsoft.com/office/drawing/2014/main" id="{A74D0957-B8E1-0203-5942-B3CDCECEFC07}"/>
              </a:ext>
            </a:extLst>
          </p:cNvPr>
          <p:cNvGrpSpPr/>
          <p:nvPr userDrawn="1"/>
        </p:nvGrpSpPr>
        <p:grpSpPr>
          <a:xfrm>
            <a:off x="10692000" y="1339200"/>
            <a:ext cx="1023616" cy="1731859"/>
            <a:chOff x="7723680" y="1702457"/>
            <a:chExt cx="1023616" cy="1731859"/>
          </a:xfrm>
        </p:grpSpPr>
        <p:sp>
          <p:nvSpPr>
            <p:cNvPr id="5" name="Legend1">
              <a:extLst>
                <a:ext uri="{FF2B5EF4-FFF2-40B4-BE49-F238E27FC236}">
                  <a16:creationId xmlns:a16="http://schemas.microsoft.com/office/drawing/2014/main" id="{A579D789-E781-7373-9902-2ED2044F84A0}"/>
                </a:ext>
              </a:extLst>
            </p:cNvPr>
            <p:cNvSpPr txBox="1"/>
            <p:nvPr/>
          </p:nvSpPr>
          <p:spPr>
            <a:xfrm>
              <a:off x="8076312" y="1709816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6" name="Legend2">
              <a:extLst>
                <a:ext uri="{FF2B5EF4-FFF2-40B4-BE49-F238E27FC236}">
                  <a16:creationId xmlns:a16="http://schemas.microsoft.com/office/drawing/2014/main" id="{AE219666-526F-9C6F-0799-DEDE1ED7C6B4}"/>
                </a:ext>
              </a:extLst>
            </p:cNvPr>
            <p:cNvSpPr txBox="1"/>
            <p:nvPr/>
          </p:nvSpPr>
          <p:spPr>
            <a:xfrm>
              <a:off x="8076312" y="2085275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7" name="Legend3">
              <a:extLst>
                <a:ext uri="{FF2B5EF4-FFF2-40B4-BE49-F238E27FC236}">
                  <a16:creationId xmlns:a16="http://schemas.microsoft.com/office/drawing/2014/main" id="{22CE313E-44F3-0F57-9118-789F5A7E4BE2}"/>
                </a:ext>
              </a:extLst>
            </p:cNvPr>
            <p:cNvSpPr txBox="1"/>
            <p:nvPr/>
          </p:nvSpPr>
          <p:spPr>
            <a:xfrm>
              <a:off x="8076312" y="246073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8" name="Legend4">
              <a:extLst>
                <a:ext uri="{FF2B5EF4-FFF2-40B4-BE49-F238E27FC236}">
                  <a16:creationId xmlns:a16="http://schemas.microsoft.com/office/drawing/2014/main" id="{D0B5E1D7-1CD7-D84F-3620-B4FA0EF324DB}"/>
                </a:ext>
              </a:extLst>
            </p:cNvPr>
            <p:cNvSpPr txBox="1"/>
            <p:nvPr/>
          </p:nvSpPr>
          <p:spPr>
            <a:xfrm>
              <a:off x="8076312" y="2836193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9" name="Legend5">
              <a:extLst>
                <a:ext uri="{FF2B5EF4-FFF2-40B4-BE49-F238E27FC236}">
                  <a16:creationId xmlns:a16="http://schemas.microsoft.com/office/drawing/2014/main" id="{F40C396B-7721-8A80-0BC4-C8F93B6E54CA}"/>
                </a:ext>
              </a:extLst>
            </p:cNvPr>
            <p:cNvSpPr txBox="1"/>
            <p:nvPr/>
          </p:nvSpPr>
          <p:spPr>
            <a:xfrm>
              <a:off x="8076312" y="3211654"/>
              <a:ext cx="670984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grpSp>
          <p:nvGrpSpPr>
            <p:cNvPr id="10" name="MoonLegend1">
              <a:extLst>
                <a:ext uri="{FF2B5EF4-FFF2-40B4-BE49-F238E27FC236}">
                  <a16:creationId xmlns:a16="http://schemas.microsoft.com/office/drawing/2014/main" id="{D19BD4EA-9682-50D3-B979-152445E49E10}"/>
                </a:ext>
              </a:extLst>
            </p:cNvPr>
            <p:cNvGrpSpPr>
              <a:grpSpLocks noChangeAspect="1"/>
            </p:cNvGrpSpPr>
            <p:nvPr>
              <p:custDataLst>
                <p:tags r:id="rId22"/>
              </p:custDataLst>
            </p:nvPr>
          </p:nvGrpSpPr>
          <p:grpSpPr>
            <a:xfrm>
              <a:off x="7723680" y="1702457"/>
              <a:ext cx="228600" cy="228600"/>
              <a:chOff x="762000" y="1270000"/>
              <a:chExt cx="254000" cy="254000"/>
            </a:xfrm>
          </p:grpSpPr>
          <p:sp>
            <p:nvSpPr>
              <p:cNvPr id="24" name="Oval 23">
                <a:extLst>
                  <a:ext uri="{FF2B5EF4-FFF2-40B4-BE49-F238E27FC236}">
                    <a16:creationId xmlns:a16="http://schemas.microsoft.com/office/drawing/2014/main" id="{4A0B6C31-1F56-F41C-44CD-9D5FBF4D0344}"/>
                  </a:ext>
                </a:extLst>
              </p:cNvPr>
              <p:cNvSpPr/>
              <p:nvPr>
                <p:custDataLst>
                  <p:tags r:id="rId35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5" name="Arc 24" hidden="1">
                <a:extLst>
                  <a:ext uri="{FF2B5EF4-FFF2-40B4-BE49-F238E27FC236}">
                    <a16:creationId xmlns:a16="http://schemas.microsoft.com/office/drawing/2014/main" id="{B50CF1FE-8D31-700D-F0C2-ACB607372AE4}"/>
                  </a:ext>
                </a:extLst>
              </p:cNvPr>
              <p:cNvSpPr/>
              <p:nvPr>
                <p:custDataLst>
                  <p:tags r:id="rId36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1" name="MoonLegend2">
              <a:extLst>
                <a:ext uri="{FF2B5EF4-FFF2-40B4-BE49-F238E27FC236}">
                  <a16:creationId xmlns:a16="http://schemas.microsoft.com/office/drawing/2014/main" id="{E34FB525-F2A2-061A-A353-799809BF5FC7}"/>
                </a:ext>
              </a:extLst>
            </p:cNvPr>
            <p:cNvGrpSpPr>
              <a:grpSpLocks noChangeAspect="1"/>
            </p:cNvGrpSpPr>
            <p:nvPr>
              <p:custDataLst>
                <p:tags r:id="rId23"/>
              </p:custDataLst>
            </p:nvPr>
          </p:nvGrpSpPr>
          <p:grpSpPr>
            <a:xfrm>
              <a:off x="7723680" y="2078270"/>
              <a:ext cx="228600" cy="228600"/>
              <a:chOff x="762000" y="1270000"/>
              <a:chExt cx="254000" cy="254000"/>
            </a:xfrm>
          </p:grpSpPr>
          <p:sp>
            <p:nvSpPr>
              <p:cNvPr id="22" name="Oval 21">
                <a:extLst>
                  <a:ext uri="{FF2B5EF4-FFF2-40B4-BE49-F238E27FC236}">
                    <a16:creationId xmlns:a16="http://schemas.microsoft.com/office/drawing/2014/main" id="{0DC6EA1B-42E3-0F8A-87FD-05CAF1FDA5FA}"/>
                  </a:ext>
                </a:extLst>
              </p:cNvPr>
              <p:cNvSpPr/>
              <p:nvPr>
                <p:custDataLst>
                  <p:tags r:id="rId33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3" name="Arc 22">
                <a:extLst>
                  <a:ext uri="{FF2B5EF4-FFF2-40B4-BE49-F238E27FC236}">
                    <a16:creationId xmlns:a16="http://schemas.microsoft.com/office/drawing/2014/main" id="{349961EB-4044-DDFA-0CF7-F5D66FDD64FA}"/>
                  </a:ext>
                </a:extLst>
              </p:cNvPr>
              <p:cNvSpPr/>
              <p:nvPr>
                <p:custDataLst>
                  <p:tags r:id="rId34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2" name="MoonLegend3">
              <a:extLst>
                <a:ext uri="{FF2B5EF4-FFF2-40B4-BE49-F238E27FC236}">
                  <a16:creationId xmlns:a16="http://schemas.microsoft.com/office/drawing/2014/main" id="{81D58525-2DB4-58E3-4841-2B88C4F9BBE1}"/>
                </a:ext>
              </a:extLst>
            </p:cNvPr>
            <p:cNvGrpSpPr>
              <a:grpSpLocks noChangeAspect="1"/>
            </p:cNvGrpSpPr>
            <p:nvPr>
              <p:custDataLst>
                <p:tags r:id="rId24"/>
              </p:custDataLst>
            </p:nvPr>
          </p:nvGrpSpPr>
          <p:grpSpPr>
            <a:xfrm>
              <a:off x="7723680" y="2454085"/>
              <a:ext cx="228600" cy="228600"/>
              <a:chOff x="762000" y="1270000"/>
              <a:chExt cx="254000" cy="254000"/>
            </a:xfrm>
          </p:grpSpPr>
          <p:sp>
            <p:nvSpPr>
              <p:cNvPr id="20" name="Oval 19">
                <a:extLst>
                  <a:ext uri="{FF2B5EF4-FFF2-40B4-BE49-F238E27FC236}">
                    <a16:creationId xmlns:a16="http://schemas.microsoft.com/office/drawing/2014/main" id="{6D052903-9CD8-AB5E-E69F-03405F848828}"/>
                  </a:ext>
                </a:extLst>
              </p:cNvPr>
              <p:cNvSpPr/>
              <p:nvPr>
                <p:custDataLst>
                  <p:tags r:id="rId31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21" name="Arc 20">
                <a:extLst>
                  <a:ext uri="{FF2B5EF4-FFF2-40B4-BE49-F238E27FC236}">
                    <a16:creationId xmlns:a16="http://schemas.microsoft.com/office/drawing/2014/main" id="{BB370F7E-886E-6962-667A-24DD8C636B1C}"/>
                  </a:ext>
                </a:extLst>
              </p:cNvPr>
              <p:cNvSpPr/>
              <p:nvPr>
                <p:custDataLst>
                  <p:tags r:id="rId32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54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3" name="MoonLegend4">
              <a:extLst>
                <a:ext uri="{FF2B5EF4-FFF2-40B4-BE49-F238E27FC236}">
                  <a16:creationId xmlns:a16="http://schemas.microsoft.com/office/drawing/2014/main" id="{12DC2918-BD74-B2EB-0BB2-D46E7084496E}"/>
                </a:ext>
              </a:extLst>
            </p:cNvPr>
            <p:cNvGrpSpPr>
              <a:grpSpLocks noChangeAspect="1"/>
            </p:cNvGrpSpPr>
            <p:nvPr>
              <p:custDataLst>
                <p:tags r:id="rId25"/>
              </p:custDataLst>
            </p:nvPr>
          </p:nvGrpSpPr>
          <p:grpSpPr>
            <a:xfrm>
              <a:off x="7723680" y="2829900"/>
              <a:ext cx="228600" cy="228600"/>
              <a:chOff x="762000" y="1270000"/>
              <a:chExt cx="254000" cy="254000"/>
            </a:xfrm>
          </p:grpSpPr>
          <p:sp>
            <p:nvSpPr>
              <p:cNvPr id="18" name="Oval 17">
                <a:extLst>
                  <a:ext uri="{FF2B5EF4-FFF2-40B4-BE49-F238E27FC236}">
                    <a16:creationId xmlns:a16="http://schemas.microsoft.com/office/drawing/2014/main" id="{78309338-2E0C-8EAB-278B-36BB84E8955A}"/>
                  </a:ext>
                </a:extLst>
              </p:cNvPr>
              <p:cNvSpPr/>
              <p:nvPr>
                <p:custDataLst>
                  <p:tags r:id="rId29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9" name="Arc 18">
                <a:extLst>
                  <a:ext uri="{FF2B5EF4-FFF2-40B4-BE49-F238E27FC236}">
                    <a16:creationId xmlns:a16="http://schemas.microsoft.com/office/drawing/2014/main" id="{28AA2C47-9903-4C18-8098-1106BE8B1977}"/>
                  </a:ext>
                </a:extLst>
              </p:cNvPr>
              <p:cNvSpPr/>
              <p:nvPr>
                <p:custDataLst>
                  <p:tags r:id="rId30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08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grpSp>
          <p:nvGrpSpPr>
            <p:cNvPr id="14" name="MoonLegend5">
              <a:extLst>
                <a:ext uri="{FF2B5EF4-FFF2-40B4-BE49-F238E27FC236}">
                  <a16:creationId xmlns:a16="http://schemas.microsoft.com/office/drawing/2014/main" id="{85016F10-0401-6973-A0D0-23D227FF8FED}"/>
                </a:ext>
              </a:extLst>
            </p:cNvPr>
            <p:cNvGrpSpPr>
              <a:grpSpLocks noChangeAspect="1"/>
            </p:cNvGrpSpPr>
            <p:nvPr>
              <p:custDataLst>
                <p:tags r:id="rId26"/>
              </p:custDataLst>
            </p:nvPr>
          </p:nvGrpSpPr>
          <p:grpSpPr>
            <a:xfrm>
              <a:off x="7723680" y="3205716"/>
              <a:ext cx="228600" cy="228600"/>
              <a:chOff x="762000" y="1270000"/>
              <a:chExt cx="254000" cy="254000"/>
            </a:xfrm>
          </p:grpSpPr>
          <p:sp>
            <p:nvSpPr>
              <p:cNvPr id="15" name="Oval 14">
                <a:extLst>
                  <a:ext uri="{FF2B5EF4-FFF2-40B4-BE49-F238E27FC236}">
                    <a16:creationId xmlns:a16="http://schemas.microsoft.com/office/drawing/2014/main" id="{88041A10-C91C-7EF2-F7EA-D1D0412188C6}"/>
                  </a:ext>
                </a:extLst>
              </p:cNvPr>
              <p:cNvSpPr/>
              <p:nvPr>
                <p:custDataLst>
                  <p:tags r:id="rId27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ellipse">
                <a:avLst/>
              </a:prstGeom>
              <a:solidFill>
                <a:srgbClr val="CCCCCC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err="1">
                  <a:solidFill>
                    <a:schemeClr val="tx1"/>
                  </a:solidFill>
                </a:endParaRPr>
              </a:p>
            </p:txBody>
          </p:sp>
          <p:sp>
            <p:nvSpPr>
              <p:cNvPr id="17" name="Arc 16">
                <a:extLst>
                  <a:ext uri="{FF2B5EF4-FFF2-40B4-BE49-F238E27FC236}">
                    <a16:creationId xmlns:a16="http://schemas.microsoft.com/office/drawing/2014/main" id="{B1A7ADC8-55DF-963B-3C8A-AAB44F2EF672}"/>
                  </a:ext>
                </a:extLst>
              </p:cNvPr>
              <p:cNvSpPr/>
              <p:nvPr>
                <p:custDataLst>
                  <p:tags r:id="rId28"/>
                </p:custDataLst>
              </p:nvPr>
            </p:nvSpPr>
            <p:spPr>
              <a:xfrm>
                <a:off x="762000" y="1270000"/>
                <a:ext cx="254000" cy="254000"/>
              </a:xfrm>
              <a:prstGeom prst="arc">
                <a:avLst>
                  <a:gd name="adj1" fmla="val 16200000"/>
                  <a:gd name="adj2" fmla="val 16200000"/>
                </a:avLst>
              </a:prstGeom>
              <a:solidFill>
                <a:schemeClr val="accent1"/>
              </a:solidFill>
              <a:ln w="9525" cap="flat" cmpd="sng" algn="ctr">
                <a:noFill/>
                <a:prstDash val="solid"/>
              </a:ln>
              <a:effectLst/>
              <a:extLst>
                <a:ext uri="{91240B29-F687-4F45-9708-019B960494DF}">
                  <a14:hiddenLine xmlns:a14="http://schemas.microsoft.com/office/drawing/2010/main" w="0" cap="flat" cmpd="sng" algn="ctr">
                    <a:solidFill>
                      <a:schemeClr val="bg1"/>
                    </a:solidFill>
                    <a:prstDash val="solid"/>
                    <a:round/>
                    <a:headEnd type="none" w="med" len="med"/>
                    <a:tailEnd type="none" w="med" len="med"/>
                  </a14:hiddenLine>
                </a:ext>
              </a:extLst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69" name="Sticker" hidden="1">
            <a:extLst>
              <a:ext uri="{FF2B5EF4-FFF2-40B4-BE49-F238E27FC236}">
                <a16:creationId xmlns:a16="http://schemas.microsoft.com/office/drawing/2014/main" id="{2FA9271D-5EE0-4D66-9FDF-E4D1535949E8}"/>
              </a:ext>
            </a:extLst>
          </p:cNvPr>
          <p:cNvGrpSpPr>
            <a:grpSpLocks noChangeAspect="1"/>
          </p:cNvGrpSpPr>
          <p:nvPr userDrawn="1"/>
        </p:nvGrpSpPr>
        <p:grpSpPr bwMode="gray">
          <a:xfrm>
            <a:off x="558192" y="1289273"/>
            <a:ext cx="429605" cy="156997"/>
            <a:chOff x="8456447" y="272180"/>
            <a:chExt cx="322188" cy="156966"/>
          </a:xfrm>
        </p:grpSpPr>
        <p:sp>
          <p:nvSpPr>
            <p:cNvPr id="170" name="StickerRectangle">
              <a:extLst>
                <a:ext uri="{FF2B5EF4-FFF2-40B4-BE49-F238E27FC236}">
                  <a16:creationId xmlns:a16="http://schemas.microsoft.com/office/drawing/2014/main" id="{27342EFB-A6AF-4379-A9C9-4F8DD97D160E}"/>
                </a:ext>
              </a:extLst>
            </p:cNvPr>
            <p:cNvSpPr>
              <a:spLocks noChangeArrowheads="1"/>
            </p:cNvSpPr>
            <p:nvPr userDrawn="1"/>
          </p:nvSpPr>
          <p:spPr bwMode="gray">
            <a:xfrm>
              <a:off x="8456447" y="272180"/>
              <a:ext cx="322188" cy="156966"/>
            </a:xfrm>
            <a:prstGeom prst="leftRightArrow">
              <a:avLst>
                <a:gd name="adj1" fmla="val 100000"/>
                <a:gd name="adj2" fmla="val 0"/>
              </a:avLst>
            </a:prstGeom>
            <a:noFill/>
            <a:ln>
              <a:noFill/>
            </a:ln>
            <a:effectLst/>
            <a:extLs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 wrap="none" lIns="0" tIns="0" rIns="0" bIns="18288" anchor="t" anchorCtr="0">
              <a:spAutoFit/>
            </a:bodyPr>
            <a:lstStyle/>
            <a:p>
              <a:pPr algn="l" defTabSz="1193860">
                <a:buClr>
                  <a:schemeClr val="tx2"/>
                </a:buClr>
              </a:pPr>
              <a:r>
                <a:rPr lang="en-US" sz="900" b="1" spc="50">
                  <a:ln w="3175">
                    <a:noFill/>
                  </a:ln>
                  <a:solidFill>
                    <a:schemeClr val="tx1"/>
                  </a:solidFill>
                </a:rPr>
                <a:t>Sticker</a:t>
              </a:r>
              <a:endParaRPr lang="en-US" sz="800" baseline="0">
                <a:solidFill>
                  <a:schemeClr val="tx1"/>
                </a:solidFill>
                <a:latin typeface="+mn-lt"/>
                <a:ea typeface="+mn-ea"/>
              </a:endParaRPr>
            </a:p>
          </p:txBody>
        </p:sp>
        <p:cxnSp>
          <p:nvCxnSpPr>
            <p:cNvPr id="171" name="StickerUnderline">
              <a:extLst>
                <a:ext uri="{FF2B5EF4-FFF2-40B4-BE49-F238E27FC236}">
                  <a16:creationId xmlns:a16="http://schemas.microsoft.com/office/drawing/2014/main" id="{AC518518-EC41-445B-B558-9DBD24A778EA}"/>
                </a:ext>
              </a:extLst>
            </p:cNvPr>
            <p:cNvCxnSpPr>
              <a:cxnSpLocks noChangeShapeType="1"/>
              <a:stCxn id="170" idx="4"/>
              <a:endCxn id="170" idx="6"/>
            </p:cNvCxnSpPr>
            <p:nvPr/>
          </p:nvCxnSpPr>
          <p:spPr bwMode="gray">
            <a:xfrm>
              <a:off x="8456447" y="429146"/>
              <a:ext cx="322188" cy="0"/>
            </a:xfrm>
            <a:prstGeom prst="straightConnector1">
              <a:avLst/>
            </a:prstGeom>
            <a:noFill/>
            <a:ln w="4191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</p:grpSp>
      <p:grpSp>
        <p:nvGrpSpPr>
          <p:cNvPr id="179" name="LegendLines" hidden="1">
            <a:extLst>
              <a:ext uri="{FF2B5EF4-FFF2-40B4-BE49-F238E27FC236}">
                <a16:creationId xmlns:a16="http://schemas.microsoft.com/office/drawing/2014/main" id="{BA3F11B7-574B-46B5-AA05-051B7C0195CA}"/>
              </a:ext>
            </a:extLst>
          </p:cNvPr>
          <p:cNvGrpSpPr/>
          <p:nvPr userDrawn="1"/>
        </p:nvGrpSpPr>
        <p:grpSpPr>
          <a:xfrm>
            <a:off x="10440000" y="3243600"/>
            <a:ext cx="1269335" cy="958286"/>
            <a:chOff x="4372690" y="3739101"/>
            <a:chExt cx="1269335" cy="958286"/>
          </a:xfrm>
        </p:grpSpPr>
        <p:sp>
          <p:nvSpPr>
            <p:cNvPr id="180" name="Legend1">
              <a:extLst>
                <a:ext uri="{FF2B5EF4-FFF2-40B4-BE49-F238E27FC236}">
                  <a16:creationId xmlns:a16="http://schemas.microsoft.com/office/drawing/2014/main" id="{A89F3277-B9B0-4605-94B5-1A0F3CF3FD94}"/>
                </a:ext>
              </a:extLst>
            </p:cNvPr>
            <p:cNvSpPr txBox="1"/>
            <p:nvPr/>
          </p:nvSpPr>
          <p:spPr>
            <a:xfrm>
              <a:off x="4988914" y="3739101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1" name="Legend2">
              <a:extLst>
                <a:ext uri="{FF2B5EF4-FFF2-40B4-BE49-F238E27FC236}">
                  <a16:creationId xmlns:a16="http://schemas.microsoft.com/office/drawing/2014/main" id="{728FD0F6-6F17-4DBC-A433-275600325C11}"/>
                </a:ext>
              </a:extLst>
            </p:cNvPr>
            <p:cNvSpPr txBox="1"/>
            <p:nvPr/>
          </p:nvSpPr>
          <p:spPr>
            <a:xfrm>
              <a:off x="4988914" y="4110522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2" name="Legend3">
              <a:extLst>
                <a:ext uri="{FF2B5EF4-FFF2-40B4-BE49-F238E27FC236}">
                  <a16:creationId xmlns:a16="http://schemas.microsoft.com/office/drawing/2014/main" id="{824D0AAE-0E8B-4539-A5E0-724A7C2C5FB7}"/>
                </a:ext>
              </a:extLst>
            </p:cNvPr>
            <p:cNvSpPr txBox="1"/>
            <p:nvPr/>
          </p:nvSpPr>
          <p:spPr>
            <a:xfrm>
              <a:off x="4988914" y="4481943"/>
              <a:ext cx="653111" cy="215444"/>
            </a:xfrm>
            <a:prstGeom prst="rect">
              <a:avLst/>
            </a:prstGeom>
            <a:noFill/>
            <a:ln>
              <a:noFill/>
              <a:miter lim="800000"/>
            </a:ln>
          </p:spPr>
          <p:txBody>
            <a:bodyPr wrap="square" lIns="0" tIns="0" rIns="0" bIns="0" rtlCol="0" anchor="ctr" anchorCtr="0">
              <a:spAutoFit/>
            </a:bodyPr>
            <a:lstStyle/>
            <a:p>
              <a:pPr>
                <a:spcAft>
                  <a:spcPts val="600"/>
                </a:spcAft>
              </a:pPr>
              <a:r>
                <a:rPr lang="en-US" sz="1400"/>
                <a:t>Legend</a:t>
              </a:r>
            </a:p>
          </p:txBody>
        </p:sp>
        <p:sp>
          <p:nvSpPr>
            <p:cNvPr id="183" name="LineLegend3">
              <a:extLst>
                <a:ext uri="{FF2B5EF4-FFF2-40B4-BE49-F238E27FC236}">
                  <a16:creationId xmlns:a16="http://schemas.microsoft.com/office/drawing/2014/main" id="{15B966CE-74A4-42D7-84D1-50EE1BD807B7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58811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4" name="LineLegend2">
              <a:extLst>
                <a:ext uri="{FF2B5EF4-FFF2-40B4-BE49-F238E27FC236}">
                  <a16:creationId xmlns:a16="http://schemas.microsoft.com/office/drawing/2014/main" id="{4AD11E2E-205C-4B89-BD31-DA18921C3385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4214754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dash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  <p:sp>
          <p:nvSpPr>
            <p:cNvPr id="185" name="LineLegend1">
              <a:extLst>
                <a:ext uri="{FF2B5EF4-FFF2-40B4-BE49-F238E27FC236}">
                  <a16:creationId xmlns:a16="http://schemas.microsoft.com/office/drawing/2014/main" id="{393D5D55-EAFF-4EBE-B2CF-AF057C324E68}"/>
                </a:ext>
              </a:extLst>
            </p:cNvPr>
            <p:cNvSpPr>
              <a:spLocks noChangeShapeType="1"/>
            </p:cNvSpPr>
            <p:nvPr/>
          </p:nvSpPr>
          <p:spPr bwMode="gray">
            <a:xfrm>
              <a:off x="4372690" y="3846823"/>
              <a:ext cx="457200" cy="0"/>
            </a:xfrm>
            <a:prstGeom prst="line">
              <a:avLst/>
            </a:prstGeom>
            <a:noFill/>
            <a:ln w="28575">
              <a:solidFill>
                <a:schemeClr val="accent1"/>
              </a:solidFill>
              <a:prstDash val="sysDot"/>
              <a:round/>
              <a:headEnd/>
              <a:tailEnd/>
            </a:ln>
            <a:effectLst/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  <p:txBody>
            <a:bodyPr/>
            <a:lstStyle/>
            <a:p>
              <a:endParaRPr lang="en-US" baseline="0">
                <a:latin typeface="+mn-lt"/>
                <a:ea typeface="+mn-ea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541245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2" r:id="rId2"/>
    <p:sldLayoutId id="2147483653" r:id="rId3"/>
    <p:sldLayoutId id="2147483654" r:id="rId4"/>
    <p:sldLayoutId id="2147483655" r:id="rId5"/>
    <p:sldLayoutId id="2147483656" r:id="rId6"/>
    <p:sldLayoutId id="2147483657" r:id="rId7"/>
    <p:sldLayoutId id="2147483658" r:id="rId8"/>
    <p:sldLayoutId id="2147483659" r:id="rId9"/>
    <p:sldLayoutId id="2147483660" r:id="rId10"/>
    <p:sldLayoutId id="2147483661" r:id="rId11"/>
    <p:sldLayoutId id="2147483662" r:id="rId12"/>
    <p:sldLayoutId id="2147483663" r:id="rId13"/>
    <p:sldLayoutId id="2147483664" r:id="rId14"/>
  </p:sldLayoutIdLst>
  <p:txStyles>
    <p:titleStyle>
      <a:lvl1pPr algn="l" defTabSz="914400" rtl="0" eaLnBrk="1" latinLnBrk="0" hangingPunct="1">
        <a:lnSpc>
          <a:spcPct val="93000"/>
        </a:lnSpc>
        <a:spcBef>
          <a:spcPct val="0"/>
        </a:spcBef>
        <a:buNone/>
        <a:defRPr sz="2500" b="1" kern="1200" spc="0" baseline="0">
          <a:ln w="6350" cap="flat">
            <a:noFill/>
            <a:miter lim="800000"/>
          </a:ln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300"/>
        </a:spcAft>
        <a:buFont typeface="Segoe UI" panose="020B0502040204020203" pitchFamily="34" charset="0"/>
        <a:buChar char="​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1pPr>
      <a:lvl2pPr marL="228600" indent="-2254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Wingdings" panose="05000000000000000000" pitchFamily="2" charset="2"/>
        <a:buChar char="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2pPr>
      <a:lvl3pPr marL="515938" indent="-287338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—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3pPr>
      <a:lvl4pPr marL="742950" indent="-182563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Font typeface="Arial" panose="020B0604020202020204" pitchFamily="34" charset="0"/>
        <a:buChar char="»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4pPr>
      <a:lvl5pPr marL="914400" indent="-136525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›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5pPr>
      <a:lvl6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6pPr>
      <a:lvl7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7pPr>
      <a:lvl8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8pPr>
      <a:lvl9pPr marL="1085850" indent="-171450" algn="l" defTabSz="914400" rtl="0" eaLnBrk="1" latinLnBrk="0" hangingPunct="1">
        <a:lnSpc>
          <a:spcPct val="100000"/>
        </a:lnSpc>
        <a:spcBef>
          <a:spcPts val="0"/>
        </a:spcBef>
        <a:spcAft>
          <a:spcPts val="300"/>
        </a:spcAft>
        <a:buSzPct val="100000"/>
        <a:buFont typeface="Arial" panose="020B0604020202020204" pitchFamily="34" charset="0"/>
        <a:buChar char="▫"/>
        <a:defRPr sz="1600" kern="1200">
          <a:solidFill>
            <a:schemeClr val="tx1"/>
          </a:solidFill>
          <a:latin typeface="+mn-lt"/>
          <a:ea typeface="+mn-ea"/>
          <a:cs typeface="Arial" panose="020B0604020202020204" pitchFamily="34" charset="0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368">
          <p15:clr>
            <a:srgbClr val="5ACBF0"/>
          </p15:clr>
        </p15:guide>
        <p15:guide id="3" orient="horz" pos="3912">
          <p15:clr>
            <a:srgbClr val="5ACBF0"/>
          </p15:clr>
        </p15:guide>
        <p15:guide id="4" orient="horz" pos="1075">
          <p15:clr>
            <a:srgbClr val="F26B43"/>
          </p15:clr>
        </p15:guide>
        <p15:guide id="5" pos="7329">
          <p15:clr>
            <a:srgbClr val="F26B43"/>
          </p15:clr>
        </p15:guide>
        <p15:guide id="6" pos="345">
          <p15:clr>
            <a:srgbClr val="F26B43"/>
          </p15:clr>
        </p15:guide>
        <p15:guide id="8" orient="horz" pos="4063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tags" Target="../tags/tag121.xml"/><Relationship Id="rId2" Type="http://schemas.openxmlformats.org/officeDocument/2006/relationships/tags" Target="../tags/tag12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Relationship Id="rId5" Type="http://schemas.openxmlformats.org/officeDocument/2006/relationships/oleObject" Target="../embeddings/oleObject12.bin"/><Relationship Id="rId6" Type="http://schemas.openxmlformats.org/officeDocument/2006/relationships/image" Target="../media/image1.emf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tags" Target="../tags/tag123.xml"/><Relationship Id="rId2" Type="http://schemas.openxmlformats.org/officeDocument/2006/relationships/tags" Target="../tags/tag124.xml"/><Relationship Id="rId3" Type="http://schemas.openxmlformats.org/officeDocument/2006/relationships/tags" Target="../tags/tag125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3.bin"/><Relationship Id="rId6" Type="http://schemas.openxmlformats.org/officeDocument/2006/relationships/image" Target="../media/image1.emf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tags" Target="../tags/tag126.xml"/><Relationship Id="rId2" Type="http://schemas.openxmlformats.org/officeDocument/2006/relationships/tags" Target="../tags/tag127.xml"/><Relationship Id="rId3" Type="http://schemas.openxmlformats.org/officeDocument/2006/relationships/tags" Target="../tags/tag128.xml"/><Relationship Id="rId4" Type="http://schemas.openxmlformats.org/officeDocument/2006/relationships/tags" Target="../tags/tag129.xml"/><Relationship Id="rId5" Type="http://schemas.openxmlformats.org/officeDocument/2006/relationships/tags" Target="../tags/tag130.xml"/><Relationship Id="rId6" Type="http://schemas.openxmlformats.org/officeDocument/2006/relationships/tags" Target="../tags/tag131.xml"/><Relationship Id="rId7" Type="http://schemas.openxmlformats.org/officeDocument/2006/relationships/tags" Target="../tags/tag132.xml"/><Relationship Id="rId8" Type="http://schemas.openxmlformats.org/officeDocument/2006/relationships/tags" Target="../tags/tag133.xml"/><Relationship Id="rId9" Type="http://schemas.openxmlformats.org/officeDocument/2006/relationships/tags" Target="../tags/tag134.xml"/><Relationship Id="rId10" Type="http://schemas.openxmlformats.org/officeDocument/2006/relationships/slideLayout" Target="../slideLayouts/slideLayout3.xml"/><Relationship Id="rId11" Type="http://schemas.openxmlformats.org/officeDocument/2006/relationships/notesSlide" Target="../notesSlides/notesSlide2.xml"/><Relationship Id="rId12" Type="http://schemas.openxmlformats.org/officeDocument/2006/relationships/oleObject" Target="../embeddings/oleObject14.bin"/><Relationship Id="rId13" Type="http://schemas.openxmlformats.org/officeDocument/2006/relationships/image" Target="../media/image1.emf"/><Relationship Id="rId14" Type="http://schemas.openxmlformats.org/officeDocument/2006/relationships/image" Target="../media/image9.svg"/><Relationship Id="rId15" Type="http://schemas.openxmlformats.org/officeDocument/2006/relationships/image" Target="../media/image10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tags" Target="../tags/tag135.xml"/><Relationship Id="rId2" Type="http://schemas.openxmlformats.org/officeDocument/2006/relationships/tags" Target="../tags/tag136.xml"/><Relationship Id="rId3" Type="http://schemas.openxmlformats.org/officeDocument/2006/relationships/tags" Target="../tags/tag137.xml"/><Relationship Id="rId4" Type="http://schemas.openxmlformats.org/officeDocument/2006/relationships/slideLayout" Target="../slideLayouts/slideLayout3.xml"/><Relationship Id="rId5" Type="http://schemas.openxmlformats.org/officeDocument/2006/relationships/oleObject" Target="../embeddings/oleObject15.bin"/><Relationship Id="rId6" Type="http://schemas.openxmlformats.org/officeDocument/2006/relationships/image" Target="../media/image1.emf"/><Relationship Id="rId7" Type="http://schemas.openxmlformats.org/officeDocument/2006/relationships/image" Target="../media/image11.svg"/><Relationship Id="rId8" Type="http://schemas.openxmlformats.org/officeDocument/2006/relationships/image" Target="../media/image1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54" name="think-cell data - do not delete" hidden="1">
            <a:extLst>
              <a:ext uri="{FF2B5EF4-FFF2-40B4-BE49-F238E27FC236}">
                <a16:creationId xmlns:a16="http://schemas.microsoft.com/office/drawing/2014/main" id="{35359B35-1B63-030F-DC35-356FA11510EF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1167272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1" name="Slide title">
            <a:extLst>
              <a:ext uri="{FF2B5EF4-FFF2-40B4-BE49-F238E27FC236}">
                <a16:creationId xmlns:a16="http://schemas.microsoft.com/office/drawing/2014/main" id="{7020821A-3E97-487C-8E1A-D132B7321E89}"/>
              </a:ext>
            </a:extLst>
          </p:cNvPr>
          <p:cNvSpPr>
            <a:spLocks noGrp="1"/>
          </p:cNvSpPr>
          <p:nvPr/>
        </p:nvSpPr>
        <p:spPr>
          <a:xfrm>
            <a:off x="554736" y="176213"/>
            <a:ext cx="11082338" cy="7429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b">
            <a:noAutofit/>
          </a:bodyPr>
          <a:lstStyle/>
          <a:p>
            <a:pPr>
              <a:defRPr sz="2500" b="1">
                <a:solidFill>
                  <a:srgbClr val="111111"/>
                </a:solidFill>
                <a:latin typeface="Georgia"/>
                <a:ea typeface="Georgia"/>
                <a:cs typeface="Georgia"/>
              </a:defRPr>
            </a:pPr>
            <a:r>
              <a:rPr lang="en-US" b="1" dirty="0">
                <a:solidFill>
                  <a:srgbClr val="2251FF"/>
                </a:solidFill>
              </a:rPr>
              <a:t>TU is at an inflection point: </a:t>
            </a:r>
            <a:r>
              <a:rPr lang="en-US" b="1" dirty="0">
                <a:solidFill>
                  <a:srgbClr val="000000"/>
                </a:solidFill>
              </a:rPr>
              <a:t>choosing where AI creates value — and building the organization to deliver it</a:t>
            </a:r>
            <a:endParaRPr sz="2500" b="1" dirty="0">
              <a:solidFill>
                <a:srgbClr val="111111"/>
              </a:solidFill>
              <a:latin typeface="Georgia"/>
              <a:ea typeface="Georgia"/>
              <a:cs typeface="Georgia"/>
            </a:endParaRPr>
          </a:p>
        </p:txBody>
      </p:sp>
      <p:sp>
        <p:nvSpPr>
          <p:cNvPr id="2" name="Platform evolution arrow">
            <a:extLst>
              <a:ext uri="{FF2B5EF4-FFF2-40B4-BE49-F238E27FC236}">
                <a16:creationId xmlns:a16="http://schemas.microsoft.com/office/drawing/2014/main" id="{3939108F-0A7E-44A9-95B2-0B04E439E07F}"/>
              </a:ext>
            </a:extLst>
          </p:cNvPr>
          <p:cNvSpPr>
            <a:spLocks noGrp="1"/>
          </p:cNvSpPr>
          <p:nvPr/>
        </p:nvSpPr>
        <p:spPr>
          <a:xfrm>
            <a:off x="904875" y="2191814"/>
            <a:ext cx="3755011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3" name="AI ambition arrow">
            <a:extLst>
              <a:ext uri="{FF2B5EF4-FFF2-40B4-BE49-F238E27FC236}">
                <a16:creationId xmlns:a16="http://schemas.microsoft.com/office/drawing/2014/main" id="{441A4497-081E-425E-9AB9-370102B15AA8}"/>
              </a:ext>
            </a:extLst>
          </p:cNvPr>
          <p:cNvSpPr>
            <a:spLocks noGrp="1"/>
          </p:cNvSpPr>
          <p:nvPr/>
        </p:nvSpPr>
        <p:spPr>
          <a:xfrm>
            <a:off x="904875" y="4430891"/>
            <a:ext cx="3857625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4" name="Platform convergence arrow">
            <a:extLst>
              <a:ext uri="{FF2B5EF4-FFF2-40B4-BE49-F238E27FC236}">
                <a16:creationId xmlns:a16="http://schemas.microsoft.com/office/drawing/2014/main" id="{BFCCA48E-84DF-4A2E-82A3-45AB7F1C4718}"/>
              </a:ext>
            </a:extLst>
          </p:cNvPr>
          <p:cNvSpPr>
            <a:spLocks noGrp="1"/>
          </p:cNvSpPr>
          <p:nvPr/>
        </p:nvSpPr>
        <p:spPr>
          <a:xfrm rot="1440000">
            <a:off x="4495799" y="2467321"/>
            <a:ext cx="1428750" cy="190500"/>
          </a:xfrm>
          <a:prstGeom prst="rightArrow">
            <a:avLst/>
          </a:prstGeom>
          <a:solidFill>
            <a:srgbClr val="DCE8FF"/>
          </a:solidFill>
          <a:ln w="0">
            <a:noFill/>
            <a:prstDash val="solid"/>
          </a:ln>
        </p:spPr>
        <p:txBody>
          <a:bodyPr>
            <a:noAutofit/>
          </a:bodyPr>
          <a:lstStyle/>
          <a:p>
            <a:endParaRPr lang="en-US"/>
          </a:p>
        </p:txBody>
      </p:sp>
      <p:sp>
        <p:nvSpPr>
          <p:cNvPr id="5" name="AI convergence arrow">
            <a:extLst>
              <a:ext uri="{FF2B5EF4-FFF2-40B4-BE49-F238E27FC236}">
                <a16:creationId xmlns:a16="http://schemas.microsoft.com/office/drawing/2014/main" id="{EDE2F0F9-B3D9-4117-AFAE-8C57AD0C5AF4}"/>
              </a:ext>
            </a:extLst>
          </p:cNvPr>
          <p:cNvSpPr>
            <a:spLocks noGrp="1"/>
          </p:cNvSpPr>
          <p:nvPr/>
        </p:nvSpPr>
        <p:spPr>
          <a:xfrm rot="19700478">
            <a:off x="4594567" y="4045751"/>
            <a:ext cx="1428750" cy="190500"/>
          </a:xfrm>
          <a:prstGeom prst="rightArrow">
            <a:avLst/>
          </a:prstGeom>
          <a:solidFill>
            <a:srgbClr val="D8F4F4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EF21B506-14EA-4C28-A629-E96C15C27700}"/>
              </a:ext>
            </a:extLst>
          </p:cNvPr>
          <p:cNvSpPr>
            <a:spLocks noGrp="1"/>
          </p:cNvSpPr>
          <p:nvPr/>
        </p:nvSpPr>
        <p:spPr>
          <a:xfrm>
            <a:off x="554736" y="1667939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evolution</a:t>
            </a:r>
          </a:p>
        </p:txBody>
      </p:sp>
      <p:sp>
        <p:nvSpPr>
          <p:cNvPr id="8" name="Circle ">
            <a:extLst>
              <a:ext uri="{FF2B5EF4-FFF2-40B4-BE49-F238E27FC236}">
                <a16:creationId xmlns:a16="http://schemas.microsoft.com/office/drawing/2014/main" id="{65FAC924-11FD-4A6D-9DE4-95B78FFF50DE}"/>
              </a:ext>
            </a:extLst>
          </p:cNvPr>
          <p:cNvSpPr>
            <a:spLocks noGrp="1"/>
          </p:cNvSpPr>
          <p:nvPr/>
        </p:nvSpPr>
        <p:spPr>
          <a:xfrm>
            <a:off x="933450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Circle ">
            <a:extLst>
              <a:ext uri="{FF2B5EF4-FFF2-40B4-BE49-F238E27FC236}">
                <a16:creationId xmlns:a16="http://schemas.microsoft.com/office/drawing/2014/main" id="{B9CE081D-DFD2-4EA4-B5FC-4DA508A842F7}"/>
              </a:ext>
            </a:extLst>
          </p:cNvPr>
          <p:cNvSpPr>
            <a:spLocks noGrp="1"/>
          </p:cNvSpPr>
          <p:nvPr/>
        </p:nvSpPr>
        <p:spPr>
          <a:xfrm>
            <a:off x="2524125" y="2134664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Circle ">
            <a:extLst>
              <a:ext uri="{FF2B5EF4-FFF2-40B4-BE49-F238E27FC236}">
                <a16:creationId xmlns:a16="http://schemas.microsoft.com/office/drawing/2014/main" id="{A64ADD26-CD44-41BC-B67C-F1A7A8A593CC}"/>
              </a:ext>
            </a:extLst>
          </p:cNvPr>
          <p:cNvSpPr>
            <a:spLocks noGrp="1"/>
          </p:cNvSpPr>
          <p:nvPr/>
        </p:nvSpPr>
        <p:spPr>
          <a:xfrm>
            <a:off x="4219575" y="2134664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D92461ED-E51C-4BAA-92EF-D2380E23BE46}"/>
              </a:ext>
            </a:extLst>
          </p:cNvPr>
          <p:cNvSpPr>
            <a:spLocks noGrp="1"/>
          </p:cNvSpPr>
          <p:nvPr/>
        </p:nvSpPr>
        <p:spPr>
          <a:xfrm>
            <a:off x="666750" y="2439464"/>
            <a:ext cx="1047750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Credit bureau</a:t>
            </a:r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1F0B02EF-4D42-42B0-9071-300E191543A5}"/>
              </a:ext>
            </a:extLst>
          </p:cNvPr>
          <p:cNvSpPr>
            <a:spLocks noGrp="1"/>
          </p:cNvSpPr>
          <p:nvPr/>
        </p:nvSpPr>
        <p:spPr>
          <a:xfrm>
            <a:off x="20574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>
                <a:solidFill>
                  <a:srgbClr val="4B5563"/>
                </a:solidFill>
                <a:latin typeface="Arial"/>
                <a:ea typeface="Arial"/>
                <a:cs typeface="Arial"/>
              </a:rPr>
              <a:t>Product company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08A5FAB9-65EF-4555-8150-40AFB5E79819}"/>
              </a:ext>
            </a:extLst>
          </p:cNvPr>
          <p:cNvSpPr>
            <a:spLocks noGrp="1"/>
          </p:cNvSpPr>
          <p:nvPr/>
        </p:nvSpPr>
        <p:spPr>
          <a:xfrm>
            <a:off x="3733800" y="2439464"/>
            <a:ext cx="1285875" cy="430887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sp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400"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Platform company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B39C95C8-217E-4584-9AD6-04CA8AE92890}"/>
              </a:ext>
            </a:extLst>
          </p:cNvPr>
          <p:cNvSpPr>
            <a:spLocks noGrp="1"/>
          </p:cNvSpPr>
          <p:nvPr/>
        </p:nvSpPr>
        <p:spPr>
          <a:xfrm>
            <a:off x="3762375" y="2940149"/>
            <a:ext cx="1238250" cy="3810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Thin products on</a:t>
            </a:r>
          </a:p>
          <a:p>
            <a:pPr algn="ctr">
              <a:defRPr sz="1163" i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sz="1163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thick platforms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6DB3EB98-74AF-4EAE-ACC9-FE71B675DADF}"/>
              </a:ext>
            </a:extLst>
          </p:cNvPr>
          <p:cNvSpPr>
            <a:spLocks noGrp="1"/>
          </p:cNvSpPr>
          <p:nvPr/>
        </p:nvSpPr>
        <p:spPr>
          <a:xfrm>
            <a:off x="554736" y="3913172"/>
            <a:ext cx="2857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b="1">
                <a:solidFill>
                  <a:srgbClr val="061F79"/>
                </a:solidFill>
                <a:latin typeface="Arial"/>
                <a:ea typeface="Arial"/>
                <a:cs typeface="Arial"/>
              </a:rPr>
              <a:t>AI ambition</a:t>
            </a:r>
          </a:p>
        </p:txBody>
      </p:sp>
      <p:sp>
        <p:nvSpPr>
          <p:cNvPr id="16" name="Circle ">
            <a:extLst>
              <a:ext uri="{FF2B5EF4-FFF2-40B4-BE49-F238E27FC236}">
                <a16:creationId xmlns:a16="http://schemas.microsoft.com/office/drawing/2014/main" id="{2F9B2BFD-2CE6-4E21-B844-DE12F71D4627}"/>
              </a:ext>
            </a:extLst>
          </p:cNvPr>
          <p:cNvSpPr>
            <a:spLocks noGrp="1"/>
          </p:cNvSpPr>
          <p:nvPr/>
        </p:nvSpPr>
        <p:spPr>
          <a:xfrm>
            <a:off x="933450" y="4379897"/>
            <a:ext cx="266700" cy="266700"/>
          </a:xfrm>
          <a:prstGeom prst="ellipse">
            <a:avLst/>
          </a:prstGeom>
          <a:solidFill>
            <a:srgbClr val="D1D5DB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Circle ">
            <a:extLst>
              <a:ext uri="{FF2B5EF4-FFF2-40B4-BE49-F238E27FC236}">
                <a16:creationId xmlns:a16="http://schemas.microsoft.com/office/drawing/2014/main" id="{14F4DD65-49B3-4C1B-A274-F557BB0CB043}"/>
              </a:ext>
            </a:extLst>
          </p:cNvPr>
          <p:cNvSpPr>
            <a:spLocks noGrp="1"/>
          </p:cNvSpPr>
          <p:nvPr/>
        </p:nvSpPr>
        <p:spPr>
          <a:xfrm>
            <a:off x="2524125" y="4379897"/>
            <a:ext cx="266700" cy="266700"/>
          </a:xfrm>
          <a:prstGeom prst="ellipse">
            <a:avLst/>
          </a:prstGeom>
          <a:solidFill>
            <a:srgbClr val="00A9F4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Circle ">
            <a:extLst>
              <a:ext uri="{FF2B5EF4-FFF2-40B4-BE49-F238E27FC236}">
                <a16:creationId xmlns:a16="http://schemas.microsoft.com/office/drawing/2014/main" id="{4E62547A-31FB-41C9-9509-37F287A3F9FB}"/>
              </a:ext>
            </a:extLst>
          </p:cNvPr>
          <p:cNvSpPr>
            <a:spLocks noGrp="1"/>
          </p:cNvSpPr>
          <p:nvPr/>
        </p:nvSpPr>
        <p:spPr>
          <a:xfrm>
            <a:off x="4219575" y="4379897"/>
            <a:ext cx="266700" cy="266700"/>
          </a:xfrm>
          <a:prstGeom prst="ellipse">
            <a:avLst/>
          </a:prstGeom>
          <a:solidFill>
            <a:srgbClr val="2251FF"/>
          </a:solidFill>
          <a:ln w="9525">
            <a:solidFill>
              <a:srgbClr val="FFFFF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Rectangle 18">
            <a:extLst>
              <a:ext uri="{FF2B5EF4-FFF2-40B4-BE49-F238E27FC236}">
                <a16:creationId xmlns:a16="http://schemas.microsoft.com/office/drawing/2014/main" id="{6E4F6AA1-0E80-436E-BFA9-F0E28765501D}"/>
              </a:ext>
            </a:extLst>
          </p:cNvPr>
          <p:cNvSpPr>
            <a:spLocks noGrp="1"/>
          </p:cNvSpPr>
          <p:nvPr/>
        </p:nvSpPr>
        <p:spPr>
          <a:xfrm>
            <a:off x="666522" y="4684697"/>
            <a:ext cx="796693" cy="215444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</a:t>
            </a: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curious</a:t>
            </a:r>
            <a:endParaRPr sz="1400" dirty="0">
              <a:solidFill>
                <a:srgbClr val="4B556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0" name="Rectangle 19">
            <a:extLst>
              <a:ext uri="{FF2B5EF4-FFF2-40B4-BE49-F238E27FC236}">
                <a16:creationId xmlns:a16="http://schemas.microsoft.com/office/drawing/2014/main" id="{3F14C52B-4D71-410C-B6CC-47AB2250F88E}"/>
              </a:ext>
            </a:extLst>
          </p:cNvPr>
          <p:cNvSpPr>
            <a:spLocks noGrp="1"/>
          </p:cNvSpPr>
          <p:nvPr/>
        </p:nvSpPr>
        <p:spPr>
          <a:xfrm>
            <a:off x="2057400" y="4684697"/>
            <a:ext cx="12858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>
                <a:solidFill>
                  <a:srgbClr val="4B5563"/>
                </a:solidFill>
                <a:latin typeface="Arial"/>
                <a:ea typeface="Arial"/>
                <a:cs typeface="Arial"/>
              </a:defRPr>
            </a:pPr>
            <a:r>
              <a:rPr lang="en-US" sz="1400" dirty="0">
                <a:solidFill>
                  <a:srgbClr val="4B5563"/>
                </a:solidFill>
                <a:latin typeface="Arial"/>
                <a:ea typeface="Arial"/>
                <a:cs typeface="Arial"/>
              </a:rPr>
              <a:t>AI pilots and experiments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AF2B5D9D-0CAD-469F-A688-D81EC5B20357}"/>
              </a:ext>
            </a:extLst>
          </p:cNvPr>
          <p:cNvSpPr>
            <a:spLocks noGrp="1"/>
          </p:cNvSpPr>
          <p:nvPr/>
        </p:nvSpPr>
        <p:spPr>
          <a:xfrm>
            <a:off x="3667125" y="4684697"/>
            <a:ext cx="14287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>
              <a:defRPr sz="1275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400" b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Deciding AI priority domains</a:t>
            </a:r>
            <a:endParaRPr sz="1400" b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2" name="Rectangle 21">
            <a:extLst>
              <a:ext uri="{FF2B5EF4-FFF2-40B4-BE49-F238E27FC236}">
                <a16:creationId xmlns:a16="http://schemas.microsoft.com/office/drawing/2014/main" id="{33DD8700-C08C-425B-96CA-EB410F658144}"/>
              </a:ext>
            </a:extLst>
          </p:cNvPr>
          <p:cNvSpPr>
            <a:spLocks noGrp="1"/>
          </p:cNvSpPr>
          <p:nvPr/>
        </p:nvSpPr>
        <p:spPr>
          <a:xfrm>
            <a:off x="3876674" y="5147214"/>
            <a:ext cx="1000125" cy="2095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ctr"/>
            <a:r>
              <a:rPr sz="1163" b="1" i="1" dirty="0">
                <a:solidFill>
                  <a:srgbClr val="2251FF"/>
                </a:solidFill>
                <a:latin typeface="Arial"/>
                <a:cs typeface="Arial"/>
              </a:rPr>
              <a:t>Early today</a:t>
            </a:r>
          </a:p>
        </p:txBody>
      </p:sp>
      <p:sp>
        <p:nvSpPr>
          <p:cNvPr id="24" name="Value agenda">
            <a:extLst>
              <a:ext uri="{FF2B5EF4-FFF2-40B4-BE49-F238E27FC236}">
                <a16:creationId xmlns:a16="http://schemas.microsoft.com/office/drawing/2014/main" id="{53593066-4110-46B1-AB6D-14D0520D6B48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4924425" cy="1790700"/>
          </a:xfrm>
          <a:prstGeom prst="roundRect">
            <a:avLst>
              <a:gd name="adj" fmla="val 4255"/>
            </a:avLst>
          </a:prstGeom>
          <a:solidFill>
            <a:srgbClr val="EEF3FF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1050C02-24F4-452D-AA0E-D4138AC7E531}"/>
              </a:ext>
            </a:extLst>
          </p:cNvPr>
          <p:cNvSpPr>
            <a:spLocks noGrp="1"/>
          </p:cNvSpPr>
          <p:nvPr/>
        </p:nvSpPr>
        <p:spPr>
          <a:xfrm>
            <a:off x="6705600" y="1238250"/>
            <a:ext cx="76200" cy="179070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Circle 1">
            <a:extLst>
              <a:ext uri="{FF2B5EF4-FFF2-40B4-BE49-F238E27FC236}">
                <a16:creationId xmlns:a16="http://schemas.microsoft.com/office/drawing/2014/main" id="{D8C8DC3A-EEB7-4562-A8B6-66BEE2F85FDD}"/>
              </a:ext>
            </a:extLst>
          </p:cNvPr>
          <p:cNvSpPr>
            <a:spLocks noGrp="1"/>
          </p:cNvSpPr>
          <p:nvPr/>
        </p:nvSpPr>
        <p:spPr>
          <a:xfrm>
            <a:off x="6915150" y="1409700"/>
            <a:ext cx="361950" cy="361950"/>
          </a:xfrm>
          <a:prstGeom prst="ellipse">
            <a:avLst/>
          </a:prstGeom>
          <a:solidFill>
            <a:srgbClr val="2251FF"/>
          </a:solidFill>
          <a:ln w="9525">
            <a:solidFill>
              <a:srgbClr val="2251FF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 dirty="0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27" name="Rectangle 26">
            <a:extLst>
              <a:ext uri="{FF2B5EF4-FFF2-40B4-BE49-F238E27FC236}">
                <a16:creationId xmlns:a16="http://schemas.microsoft.com/office/drawing/2014/main" id="{6058F858-7587-4E24-BE82-BFD53E588AF4}"/>
              </a:ext>
            </a:extLst>
          </p:cNvPr>
          <p:cNvSpPr>
            <a:spLocks noGrp="1"/>
          </p:cNvSpPr>
          <p:nvPr/>
        </p:nvSpPr>
        <p:spPr>
          <a:xfrm>
            <a:off x="7410450" y="1409700"/>
            <a:ext cx="17145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2251FF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2251FF"/>
                </a:solidFill>
                <a:latin typeface="Arial"/>
                <a:ea typeface="Arial"/>
                <a:cs typeface="Arial"/>
              </a:rPr>
              <a:t>AI Domain Transformation</a:t>
            </a:r>
            <a:endParaRPr sz="1125" b="1" dirty="0">
              <a:solidFill>
                <a:srgbClr val="2251FF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28" name="Rectangle 27">
            <a:extLst>
              <a:ext uri="{FF2B5EF4-FFF2-40B4-BE49-F238E27FC236}">
                <a16:creationId xmlns:a16="http://schemas.microsoft.com/office/drawing/2014/main" id="{E5A69CB4-A10C-4968-BEBC-7F98DD8937C8}"/>
              </a:ext>
            </a:extLst>
          </p:cNvPr>
          <p:cNvSpPr>
            <a:spLocks noGrp="1"/>
          </p:cNvSpPr>
          <p:nvPr/>
        </p:nvSpPr>
        <p:spPr>
          <a:xfrm>
            <a:off x="7000875" y="18078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Prioritize and transform the domains where AI can create outsized value</a:t>
            </a:r>
          </a:p>
        </p:txBody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48A6A6FB-9DC0-45FF-8CC7-C4946173F117}"/>
              </a:ext>
            </a:extLst>
          </p:cNvPr>
          <p:cNvSpPr>
            <a:spLocks noGrp="1"/>
          </p:cNvSpPr>
          <p:nvPr/>
        </p:nvSpPr>
        <p:spPr>
          <a:xfrm>
            <a:off x="7000875" y="2724150"/>
            <a:ext cx="4477188" cy="190501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spAutoFit/>
          </a:bodyPr>
          <a:lstStyle/>
          <a:p>
            <a:pPr algn="ctr">
              <a:defRPr sz="1238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Map value pools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C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hoose the bets → </a:t>
            </a:r>
            <a:r>
              <a:rPr lang="en-US"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S</a:t>
            </a:r>
            <a:r>
              <a:rPr sz="1238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equence execution</a:t>
            </a:r>
          </a:p>
        </p:txBody>
      </p:sp>
      <p:sp>
        <p:nvSpPr>
          <p:cNvPr id="32" name="Organization agenda">
            <a:extLst>
              <a:ext uri="{FF2B5EF4-FFF2-40B4-BE49-F238E27FC236}">
                <a16:creationId xmlns:a16="http://schemas.microsoft.com/office/drawing/2014/main" id="{F2EB8D59-0CDA-4F89-BBE2-C8FBB6F1FC6E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4924425" cy="2095500"/>
          </a:xfrm>
          <a:prstGeom prst="roundRect">
            <a:avLst>
              <a:gd name="adj" fmla="val 3636"/>
            </a:avLst>
          </a:prstGeom>
          <a:solidFill>
            <a:srgbClr val="F0FBFC"/>
          </a:solidFill>
          <a:ln w="9525">
            <a:solidFill>
              <a:srgbClr val="061F79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B41B4BCD-A4A5-4F06-AADE-4AD2A69DC92A}"/>
              </a:ext>
            </a:extLst>
          </p:cNvPr>
          <p:cNvSpPr>
            <a:spLocks noGrp="1"/>
          </p:cNvSpPr>
          <p:nvPr/>
        </p:nvSpPr>
        <p:spPr>
          <a:xfrm>
            <a:off x="6705600" y="3333750"/>
            <a:ext cx="76200" cy="2095500"/>
          </a:xfrm>
          <a:prstGeom prst="rect">
            <a:avLst/>
          </a:prstGeom>
          <a:solidFill>
            <a:srgbClr val="0679C3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Circle 2">
            <a:extLst>
              <a:ext uri="{FF2B5EF4-FFF2-40B4-BE49-F238E27FC236}">
                <a16:creationId xmlns:a16="http://schemas.microsoft.com/office/drawing/2014/main" id="{E0082328-85A1-4F15-93A7-09851791F0D6}"/>
              </a:ext>
            </a:extLst>
          </p:cNvPr>
          <p:cNvSpPr>
            <a:spLocks noGrp="1"/>
          </p:cNvSpPr>
          <p:nvPr/>
        </p:nvSpPr>
        <p:spPr>
          <a:xfrm>
            <a:off x="6915150" y="3505200"/>
            <a:ext cx="361950" cy="361950"/>
          </a:xfrm>
          <a:prstGeom prst="ellipse">
            <a:avLst/>
          </a:prstGeom>
          <a:solidFill>
            <a:srgbClr val="0679C3"/>
          </a:solidFill>
          <a:ln w="9525">
            <a:solidFill>
              <a:srgbClr val="0679C3"/>
            </a:solidFill>
            <a:prstDash val="solid"/>
          </a:ln>
        </p:spPr>
        <p:txBody>
          <a:bodyPr wrap="none" lIns="0" tIns="0" rIns="0" bIns="0" anchor="ctr">
            <a:noAutofit/>
          </a:bodyPr>
          <a:lstStyle/>
          <a:p>
            <a:pPr algn="ctr">
              <a:defRPr sz="13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35" name="Rectangle 34">
            <a:extLst>
              <a:ext uri="{FF2B5EF4-FFF2-40B4-BE49-F238E27FC236}">
                <a16:creationId xmlns:a16="http://schemas.microsoft.com/office/drawing/2014/main" id="{47427058-BE3B-401A-80DB-2606533A40D0}"/>
              </a:ext>
            </a:extLst>
          </p:cNvPr>
          <p:cNvSpPr>
            <a:spLocks noGrp="1"/>
          </p:cNvSpPr>
          <p:nvPr/>
        </p:nvSpPr>
        <p:spPr>
          <a:xfrm>
            <a:off x="7410450" y="3505200"/>
            <a:ext cx="2238375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125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125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Organization of the future</a:t>
            </a:r>
            <a:endParaRPr sz="1125" b="1" dirty="0">
              <a:solidFill>
                <a:srgbClr val="0679C3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36" name="Rectangle 35">
            <a:extLst>
              <a:ext uri="{FF2B5EF4-FFF2-40B4-BE49-F238E27FC236}">
                <a16:creationId xmlns:a16="http://schemas.microsoft.com/office/drawing/2014/main" id="{348DC006-83FC-47DC-B142-4F68FE7FC8CB}"/>
              </a:ext>
            </a:extLst>
          </p:cNvPr>
          <p:cNvSpPr>
            <a:spLocks noGrp="1"/>
          </p:cNvSpPr>
          <p:nvPr/>
        </p:nvSpPr>
        <p:spPr>
          <a:xfrm>
            <a:off x="7000875" y="3903345"/>
            <a:ext cx="428625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t">
            <a:noAutofit/>
          </a:bodyPr>
          <a:lstStyle/>
          <a:p>
            <a:pPr algn="l">
              <a:defRPr sz="1650" b="1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1650" b="1" dirty="0">
                <a:solidFill>
                  <a:srgbClr val="111111"/>
                </a:solidFill>
                <a:latin typeface="Arial"/>
                <a:ea typeface="Arial"/>
                <a:cs typeface="Arial"/>
              </a:rPr>
              <a:t>Build the platform- and AI-ready enterprise that can sustain the value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F6A14225-98C7-4A4D-9CD9-A7FF188DFBB7}"/>
              </a:ext>
            </a:extLst>
          </p:cNvPr>
          <p:cNvSpPr>
            <a:spLocks noGrp="1"/>
          </p:cNvSpPr>
          <p:nvPr/>
        </p:nvSpPr>
        <p:spPr>
          <a:xfrm>
            <a:off x="7000875" y="4528259"/>
            <a:ext cx="2286000" cy="228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t">
            <a:noAutofit/>
          </a:bodyPr>
          <a:lstStyle/>
          <a:p>
            <a:pPr algn="l">
              <a:defRPr sz="1200" b="1">
                <a:solidFill>
                  <a:srgbClr val="0679C3"/>
                </a:solidFill>
                <a:latin typeface="Arial"/>
                <a:ea typeface="Arial"/>
                <a:cs typeface="Arial"/>
              </a:defRPr>
            </a:pPr>
            <a:r>
              <a:rPr lang="en-US"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Across f</a:t>
            </a:r>
            <a:r>
              <a:rPr sz="1200" b="1" dirty="0">
                <a:solidFill>
                  <a:srgbClr val="0679C3"/>
                </a:solidFill>
                <a:latin typeface="Arial"/>
                <a:ea typeface="Arial"/>
                <a:cs typeface="Arial"/>
              </a:rPr>
              <a:t>ive linked design fronts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8352531E-541D-46BF-AA95-E0F3EFD69B13}"/>
              </a:ext>
            </a:extLst>
          </p:cNvPr>
          <p:cNvSpPr>
            <a:spLocks noGrp="1"/>
          </p:cNvSpPr>
          <p:nvPr/>
        </p:nvSpPr>
        <p:spPr>
          <a:xfrm>
            <a:off x="6924675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hygiene</a:t>
            </a:r>
          </a:p>
        </p:txBody>
      </p:sp>
      <p:sp>
        <p:nvSpPr>
          <p:cNvPr id="39" name="Straight Connector 38">
            <a:extLst>
              <a:ext uri="{FF2B5EF4-FFF2-40B4-BE49-F238E27FC236}">
                <a16:creationId xmlns:a16="http://schemas.microsoft.com/office/drawing/2014/main" id="{32A12D9A-ADD3-4988-93FD-AF95B8097E1E}"/>
              </a:ext>
            </a:extLst>
          </p:cNvPr>
          <p:cNvSpPr>
            <a:spLocks noGrp="1"/>
          </p:cNvSpPr>
          <p:nvPr/>
        </p:nvSpPr>
        <p:spPr>
          <a:xfrm>
            <a:off x="7775972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3875AC96-C2F8-4D6F-AAF1-8E733DD35D77}"/>
              </a:ext>
            </a:extLst>
          </p:cNvPr>
          <p:cNvSpPr>
            <a:spLocks noGrp="1"/>
          </p:cNvSpPr>
          <p:nvPr/>
        </p:nvSpPr>
        <p:spPr>
          <a:xfrm>
            <a:off x="7846219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Platform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org</a:t>
            </a:r>
          </a:p>
        </p:txBody>
      </p:sp>
      <p:sp>
        <p:nvSpPr>
          <p:cNvPr id="41" name="Straight Connector 40">
            <a:extLst>
              <a:ext uri="{FF2B5EF4-FFF2-40B4-BE49-F238E27FC236}">
                <a16:creationId xmlns:a16="http://schemas.microsoft.com/office/drawing/2014/main" id="{14E9437C-7814-48DB-826B-9B05320B57A6}"/>
              </a:ext>
            </a:extLst>
          </p:cNvPr>
          <p:cNvSpPr>
            <a:spLocks noGrp="1"/>
          </p:cNvSpPr>
          <p:nvPr/>
        </p:nvSpPr>
        <p:spPr>
          <a:xfrm>
            <a:off x="8697516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DBDAA735-3B71-4837-87D3-947664879303}"/>
              </a:ext>
            </a:extLst>
          </p:cNvPr>
          <p:cNvSpPr>
            <a:spLocks noGrp="1"/>
          </p:cNvSpPr>
          <p:nvPr/>
        </p:nvSpPr>
        <p:spPr>
          <a:xfrm>
            <a:off x="8767763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Workforce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skills</a:t>
            </a:r>
          </a:p>
        </p:txBody>
      </p:sp>
      <p:sp>
        <p:nvSpPr>
          <p:cNvPr id="43" name="Straight Connector 42">
            <a:extLst>
              <a:ext uri="{FF2B5EF4-FFF2-40B4-BE49-F238E27FC236}">
                <a16:creationId xmlns:a16="http://schemas.microsoft.com/office/drawing/2014/main" id="{25E973BC-53DD-480C-9F05-E4BAE1440EDC}"/>
              </a:ext>
            </a:extLst>
          </p:cNvPr>
          <p:cNvSpPr>
            <a:spLocks noGrp="1"/>
          </p:cNvSpPr>
          <p:nvPr/>
        </p:nvSpPr>
        <p:spPr>
          <a:xfrm>
            <a:off x="9619060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1219B716-8529-4B30-B4E5-9E51A5B4BF94}"/>
              </a:ext>
            </a:extLst>
          </p:cNvPr>
          <p:cNvSpPr>
            <a:spLocks noGrp="1"/>
          </p:cNvSpPr>
          <p:nvPr/>
        </p:nvSpPr>
        <p:spPr>
          <a:xfrm>
            <a:off x="9689307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Global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footprint</a:t>
            </a:r>
          </a:p>
        </p:txBody>
      </p:sp>
      <p:sp>
        <p:nvSpPr>
          <p:cNvPr id="45" name="Straight Connector 44">
            <a:extLst>
              <a:ext uri="{FF2B5EF4-FFF2-40B4-BE49-F238E27FC236}">
                <a16:creationId xmlns:a16="http://schemas.microsoft.com/office/drawing/2014/main" id="{11967384-5281-492F-8314-92628E97A3B3}"/>
              </a:ext>
            </a:extLst>
          </p:cNvPr>
          <p:cNvSpPr>
            <a:spLocks noGrp="1"/>
          </p:cNvSpPr>
          <p:nvPr/>
        </p:nvSpPr>
        <p:spPr>
          <a:xfrm>
            <a:off x="10540604" y="4837636"/>
            <a:ext cx="0" cy="476250"/>
          </a:xfrm>
          <a:prstGeom prst="line">
            <a:avLst/>
          </a:prstGeom>
          <a:noFill/>
          <a:ln w="9525">
            <a:solidFill>
              <a:srgbClr val="D1D5DB"/>
            </a:solidFill>
            <a:prstDash val="solid"/>
          </a:ln>
        </p:spPr>
        <p:txBody>
          <a:bodyPr/>
          <a:lstStyle/>
          <a:p>
            <a:endParaRPr lang="en-US">
              <a:solidFill>
                <a:srgbClr val="0679C3"/>
              </a:solidFill>
            </a:endParaRPr>
          </a:p>
        </p:txBody>
      </p:sp>
      <p:sp>
        <p:nvSpPr>
          <p:cNvPr id="46" name="Rectangle 45">
            <a:extLst>
              <a:ext uri="{FF2B5EF4-FFF2-40B4-BE49-F238E27FC236}">
                <a16:creationId xmlns:a16="http://schemas.microsoft.com/office/drawing/2014/main" id="{DA9FF21D-C490-431F-A48A-3BA9294FC4A8}"/>
              </a:ext>
            </a:extLst>
          </p:cNvPr>
          <p:cNvSpPr>
            <a:spLocks noGrp="1"/>
          </p:cNvSpPr>
          <p:nvPr/>
        </p:nvSpPr>
        <p:spPr>
          <a:xfrm>
            <a:off x="10610850" y="4856686"/>
            <a:ext cx="78105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noAutofit/>
          </a:bodyPr>
          <a:lstStyle/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Culture</a:t>
            </a:r>
          </a:p>
          <a:p>
            <a:pPr algn="ctr">
              <a:defRPr sz="1163" b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sz="1163" b="1">
                <a:solidFill>
                  <a:srgbClr val="0679C3"/>
                </a:solidFill>
                <a:latin typeface="Arial"/>
                <a:ea typeface="Arial"/>
                <a:cs typeface="Arial"/>
              </a:rPr>
              <a:t>+ change</a:t>
            </a:r>
          </a:p>
        </p:txBody>
      </p:sp>
      <p:sp>
        <p:nvSpPr>
          <p:cNvPr id="47" name="Conclusion bar">
            <a:extLst>
              <a:ext uri="{FF2B5EF4-FFF2-40B4-BE49-F238E27FC236}">
                <a16:creationId xmlns:a16="http://schemas.microsoft.com/office/drawing/2014/main" id="{63F92C07-B298-4019-BB74-9B0A20DE0674}"/>
              </a:ext>
            </a:extLst>
          </p:cNvPr>
          <p:cNvSpPr>
            <a:spLocks noGrp="1"/>
          </p:cNvSpPr>
          <p:nvPr/>
        </p:nvSpPr>
        <p:spPr>
          <a:xfrm>
            <a:off x="554736" y="5886450"/>
            <a:ext cx="57150" cy="323850"/>
          </a:xfrm>
          <a:prstGeom prst="rect">
            <a:avLst/>
          </a:prstGeom>
          <a:solidFill>
            <a:srgbClr val="2251FF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8" name="Conclusion">
            <a:extLst>
              <a:ext uri="{FF2B5EF4-FFF2-40B4-BE49-F238E27FC236}">
                <a16:creationId xmlns:a16="http://schemas.microsoft.com/office/drawing/2014/main" id="{1107529E-5211-4348-A761-091BC5A4F805}"/>
              </a:ext>
            </a:extLst>
          </p:cNvPr>
          <p:cNvSpPr>
            <a:spLocks noGrp="1"/>
          </p:cNvSpPr>
          <p:nvPr/>
        </p:nvSpPr>
        <p:spPr>
          <a:xfrm>
            <a:off x="742950" y="5932959"/>
            <a:ext cx="10477500" cy="230832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square" lIns="0" tIns="0" rIns="0" bIns="0" anchor="ctr">
            <a:spAutoFit/>
          </a:bodyPr>
          <a:lstStyle/>
          <a:p>
            <a:pPr algn="l">
              <a:defRPr sz="1500" b="1" i="1">
                <a:solidFill>
                  <a:srgbClr val="061F79"/>
                </a:solidFill>
                <a:latin typeface="Arial"/>
                <a:ea typeface="Arial"/>
                <a:cs typeface="Arial"/>
              </a:defRPr>
            </a:pPr>
            <a:r>
              <a:rPr lang="en-US" sz="1500" b="1" i="1" dirty="0">
                <a:solidFill>
                  <a:srgbClr val="061F79"/>
                </a:solidFill>
                <a:latin typeface="Arial"/>
                <a:ea typeface="Arial"/>
                <a:cs typeface="Arial"/>
              </a:rPr>
              <a:t>Today — align on the questions each track must answer, and the shape of a ~3-month program</a:t>
            </a:r>
            <a:endParaRPr sz="1500" b="1" i="1" dirty="0">
              <a:solidFill>
                <a:srgbClr val="061F79"/>
              </a:solidFill>
              <a:latin typeface="Arial"/>
              <a:ea typeface="Arial"/>
              <a:cs typeface="Arial"/>
            </a:endParaRPr>
          </a:p>
        </p:txBody>
      </p:sp>
      <p:sp>
        <p:nvSpPr>
          <p:cNvPr id="49" name="Footer">
            <a:extLst>
              <a:ext uri="{FF2B5EF4-FFF2-40B4-BE49-F238E27FC236}">
                <a16:creationId xmlns:a16="http://schemas.microsoft.com/office/drawing/2014/main" id="{645B2FA1-C7C2-4A26-85F8-FF19AB9B48C6}"/>
              </a:ext>
            </a:extLst>
          </p:cNvPr>
          <p:cNvSpPr>
            <a:spLocks noGrp="1"/>
          </p:cNvSpPr>
          <p:nvPr/>
        </p:nvSpPr>
        <p:spPr>
          <a:xfrm>
            <a:off x="10142220" y="6497955"/>
            <a:ext cx="1135380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ct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McKinsey &amp; Company</a:t>
            </a:r>
          </a:p>
        </p:txBody>
      </p:sp>
      <p:sp>
        <p:nvSpPr>
          <p:cNvPr id="50" name="Page number">
            <a:extLst>
              <a:ext uri="{FF2B5EF4-FFF2-40B4-BE49-F238E27FC236}">
                <a16:creationId xmlns:a16="http://schemas.microsoft.com/office/drawing/2014/main" id="{E0B4066A-3787-48C3-AEBF-20D52CA83E1F}"/>
              </a:ext>
            </a:extLst>
          </p:cNvPr>
          <p:cNvSpPr>
            <a:spLocks noGrp="1"/>
          </p:cNvSpPr>
          <p:nvPr/>
        </p:nvSpPr>
        <p:spPr>
          <a:xfrm>
            <a:off x="11315700" y="6497955"/>
            <a:ext cx="321945" cy="139065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 wrap="none" lIns="0" tIns="0" rIns="0" bIns="0" anchor="b">
            <a:noAutofit/>
          </a:bodyPr>
          <a:lstStyle/>
          <a:p>
            <a:pPr algn="r">
              <a:defRPr sz="900">
                <a:solidFill>
                  <a:srgbClr val="111111"/>
                </a:solidFill>
                <a:latin typeface="Arial"/>
                <a:ea typeface="Arial"/>
                <a:cs typeface="Arial"/>
              </a:defRPr>
            </a:pPr>
            <a:r>
              <a:rPr sz="900">
                <a:solidFill>
                  <a:srgbClr val="111111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52" name="Sticky">
            <a:extLst>
              <a:ext uri="{FF2B5EF4-FFF2-40B4-BE49-F238E27FC236}">
                <a16:creationId xmlns:a16="http://schemas.microsoft.com/office/drawing/2014/main" id="{522FB695-FAFA-BBA3-EA04-4188429861D5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1</a:t>
            </a:r>
          </a:p>
        </p:txBody>
      </p:sp>
      <p:sp>
        <p:nvSpPr>
          <p:cNvPr id="23" name="Circle ">
            <a:extLst>
              <a:ext uri="{FF2B5EF4-FFF2-40B4-BE49-F238E27FC236}">
                <a16:creationId xmlns:a16="http://schemas.microsoft.com/office/drawing/2014/main" id="{437635E0-2DAE-4027-B336-B7D615E5E058}"/>
              </a:ext>
            </a:extLst>
          </p:cNvPr>
          <p:cNvSpPr>
            <a:spLocks noGrp="1"/>
          </p:cNvSpPr>
          <p:nvPr/>
        </p:nvSpPr>
        <p:spPr>
          <a:xfrm>
            <a:off x="5570935" y="2795318"/>
            <a:ext cx="1162050" cy="1162050"/>
          </a:xfrm>
          <a:prstGeom prst="ellipse">
            <a:avLst/>
          </a:prstGeom>
          <a:solidFill>
            <a:srgbClr val="061F79"/>
          </a:solidFill>
          <a:ln w="9525">
            <a:solidFill>
              <a:srgbClr val="061F79"/>
            </a:solidFill>
            <a:prstDash val="solid"/>
          </a:ln>
        </p:spPr>
        <p:txBody>
          <a:bodyPr wrap="square" lIns="47625" tIns="219075" rIns="47625" bIns="47625" anchor="ctr">
            <a:noAutofit/>
          </a:bodyPr>
          <a:lstStyle/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lang="en-US" sz="1650" b="1" dirty="0">
                <a:solidFill>
                  <a:srgbClr val="FFFFFF"/>
                </a:solidFill>
              </a:rPr>
              <a:t>NOW</a:t>
            </a:r>
          </a:p>
          <a:p>
            <a:pPr algn="ctr">
              <a:defRPr sz="127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275" b="1" dirty="0">
                <a:solidFill>
                  <a:srgbClr val="FFFFFF"/>
                </a:solidFill>
              </a:rPr>
              <a:t>Inflection point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57784" y="1133856"/>
            <a:ext cx="598932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business has transformed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credit bureau, to product company, to platform company: thin products on thick platforms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57784" y="3547872"/>
            <a:ext cx="4892040" cy="4023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5000"/>
              </a:lnSpc>
            </a:pPr>
            <a:r>
              <a:rPr sz="1200" b="1">
                <a:solidFill>
                  <a:srgbClr val="000000"/>
                </a:solidFill>
                <a:latin typeface="Arial"/>
              </a:rPr>
              <a:t>The AI journey is younger</a:t>
            </a:r>
            <a:r>
              <a:rPr sz="1200" b="0">
                <a:solidFill>
                  <a:srgbClr val="000000"/>
                </a:solidFill>
                <a:latin typeface="Arial"/>
              </a:rPr>
              <a:t> — from curiosity to pilots, and now to choosing the priority domains: still early, with the big bets ahead</a:t>
            </a:r>
          </a:p>
        </p:txBody>
      </p:sp>
    </p:spTree>
    <p:extLst>
      <p:ext uri="{BB962C8B-B14F-4D97-AF65-F5344CB8AC3E}">
        <p14:creationId xmlns:p14="http://schemas.microsoft.com/office/powerpoint/2010/main" val="47384580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1" name="think-cell data - do not delete" hidden="1">
            <a:extLst>
              <a:ext uri="{FF2B5EF4-FFF2-40B4-BE49-F238E27FC236}">
                <a16:creationId xmlns:a16="http://schemas.microsoft.com/office/drawing/2014/main" id="{CBA7B97A-B22E-7FDD-925C-E336A9AE3087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1336354638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b="1">
                <a:solidFill>
                  <a:srgbClr val="2251FF"/>
                </a:solidFill>
              </a:rPr>
              <a:t>TU is at an inflection point: </a:t>
            </a:r>
            <a:r>
              <a:rPr b="1">
                <a:solidFill>
                  <a:srgbClr val="000000"/>
                </a:solidFill>
              </a:rPr>
              <a:t>choosing where AI creates value — and building the organization to deliver 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57784" y="1188720"/>
            <a:ext cx="11082528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350" b="0" i="0">
                <a:solidFill>
                  <a:srgbClr val="000000"/>
                </a:solidFill>
                <a:latin typeface="Arial"/>
              </a:rPr>
              <a:t>TU has evolved from credit bureau, to product company, to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platform organization — thin products on thick platforms</a:t>
            </a:r>
            <a:r>
              <a:rPr sz="1350" b="0" i="0">
                <a:solidFill>
                  <a:srgbClr val="000000"/>
                </a:solidFill>
                <a:latin typeface="Arial"/>
              </a:rPr>
              <a:t> — and it has embarked on its AI journey, </a:t>
            </a:r>
            <a:r>
              <a:rPr sz="1350" b="1" i="0">
                <a:solidFill>
                  <a:srgbClr val="000000"/>
                </a:solidFill>
                <a:latin typeface="Arial"/>
              </a:rPr>
              <a:t>albeit still early</a:t>
            </a:r>
            <a:r>
              <a:rPr sz="1350" b="0" i="0">
                <a:solidFill>
                  <a:srgbClr val="000000"/>
                </a:solidFill>
                <a:latin typeface="Arial"/>
              </a:rPr>
              <a:t>. Two journeys follow: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57784" y="1847088"/>
            <a:ext cx="11082528" cy="65639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b="0" i="0" dirty="0">
                <a:solidFill>
                  <a:srgbClr val="000000"/>
                </a:solidFill>
                <a:latin typeface="Arial"/>
              </a:rPr>
              <a:t>1. 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TU is embarking on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top-down journey to identify and prioritize 2–3 enterprise domains for AI-led reimagination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— the few cross-functional domains that typically hold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40–50% of the enterprise value at stake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¹. TU leadership has begun an inventory of AI initiatives; the next step is a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framework to assess, size, and choose where to focus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57784" y="2761488"/>
            <a:ext cx="10561320" cy="4320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lang="en-US" sz="1350" i="0" dirty="0">
                <a:solidFill>
                  <a:srgbClr val="000000"/>
                </a:solidFill>
                <a:latin typeface="Arial"/>
              </a:rPr>
              <a:t>2. </a:t>
            </a:r>
            <a:r>
              <a:rPr sz="1350" b="1" i="0" dirty="0">
                <a:solidFill>
                  <a:srgbClr val="000000"/>
                </a:solidFill>
                <a:latin typeface="Arial"/>
              </a:rPr>
              <a:t>In parallel, TU must design the organization of the future.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Its structure has not kept pace with what it is becoming — in leadership's own framing, </a:t>
            </a:r>
            <a:r>
              <a:rPr sz="1350" b="1" i="1" dirty="0">
                <a:solidFill>
                  <a:srgbClr val="2251FF"/>
                </a:solidFill>
                <a:latin typeface="Arial"/>
              </a:rPr>
              <a:t>a global-platforms era company, in a 2012-era structure.</a:t>
            </a:r>
            <a:r>
              <a:rPr sz="1350" b="0" i="0" dirty="0">
                <a:solidFill>
                  <a:srgbClr val="000000"/>
                </a:solidFill>
                <a:latin typeface="Arial"/>
              </a:rPr>
              <a:t> The imperative spans five fronts: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9436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Oval 7"/>
          <p:cNvSpPr/>
          <p:nvPr/>
        </p:nvSpPr>
        <p:spPr>
          <a:xfrm>
            <a:off x="57607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237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Org hygiene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Right-size spans, layers, and leadership density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2034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Oval 11"/>
          <p:cNvSpPr/>
          <p:nvPr/>
        </p:nvSpPr>
        <p:spPr>
          <a:xfrm>
            <a:off x="270205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4835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Platform org of the future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4835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Structure for the platform era, not the product era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84632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482803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97433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Future-ready workforce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97433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AI-era workforce, with AI-ready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7230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Oval 19"/>
          <p:cNvSpPr/>
          <p:nvPr/>
        </p:nvSpPr>
        <p:spPr>
          <a:xfrm>
            <a:off x="695401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0031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Global location strategy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0031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footprint for the future workforce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9098280" y="3493008"/>
            <a:ext cx="2020824" cy="1389888"/>
          </a:xfrm>
          <a:prstGeom prst="roundRect">
            <a:avLst>
              <a:gd name="adj" fmla="val 9000"/>
            </a:avLst>
          </a:prstGeom>
          <a:solidFill>
            <a:srgbClr val="FFFF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Oval 23"/>
          <p:cNvSpPr/>
          <p:nvPr/>
        </p:nvSpPr>
        <p:spPr>
          <a:xfrm>
            <a:off x="9079992" y="3374136"/>
            <a:ext cx="256032" cy="256032"/>
          </a:xfrm>
          <a:prstGeom prst="ellipse">
            <a:avLst/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none" lIns="0" tIns="0" rIns="0" bIns="0" rtlCol="0" anchor="ctr"/>
          <a:lstStyle/>
          <a:p>
            <a:pPr algn="ctr"/>
            <a:r>
              <a:rPr sz="1100" b="1">
                <a:solidFill>
                  <a:srgbClr val="FFFFFF"/>
                </a:solidFill>
                <a:latin typeface="Arial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26296" y="3675887"/>
            <a:ext cx="1764792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061F79"/>
                </a:solidFill>
                <a:latin typeface="Arial"/>
              </a:rPr>
              <a:t>Culture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26296" y="4242816"/>
            <a:ext cx="1764792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000000"/>
                </a:solidFill>
                <a:latin typeface="Arial"/>
              </a:rPr>
              <a:t>The mindset and behavior shifts to make it work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57784" y="5230368"/>
            <a:ext cx="11082528" cy="841248"/>
          </a:xfrm>
          <a:prstGeom prst="roundRect">
            <a:avLst>
              <a:gd name="adj" fmla="val 10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868680" y="5340096"/>
            <a:ext cx="10469880" cy="621792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 dirty="0">
                <a:solidFill>
                  <a:srgbClr val="FFFFFF"/>
                </a:solidFill>
                <a:latin typeface="Arial"/>
              </a:rPr>
              <a:t>Two mutually reinforcing tracks:  </a:t>
            </a:r>
            <a:r>
              <a:rPr sz="1350" b="0" i="1" dirty="0">
                <a:solidFill>
                  <a:srgbClr val="FFFFFF"/>
                </a:solidFill>
                <a:latin typeface="Arial"/>
              </a:rPr>
              <a:t>transform the highest-value AI domains, and build the organization that enables and sustains them. </a:t>
            </a:r>
            <a:r>
              <a:rPr sz="1350" b="1" i="1" dirty="0">
                <a:solidFill>
                  <a:srgbClr val="FFFFFF"/>
                </a:solidFill>
                <a:latin typeface="Arial"/>
              </a:rPr>
              <a:t>Today — align on the questions each track must answer, and the shape of a ~3-month program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7784" y="6199632"/>
            <a:ext cx="11082528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850" b="0" i="0">
                <a:solidFill>
                  <a:srgbClr val="63666A"/>
                </a:solidFill>
                <a:latin typeface="Arial"/>
              </a:rPr>
              <a:t>1. McKinsey cross-industry experience — share of AI-addressable value typically concentrated in a small number of cross-functional domains</a:t>
            </a:r>
          </a:p>
        </p:txBody>
      </p:sp>
      <p:sp>
        <p:nvSpPr>
          <p:cNvPr id="32" name="Sticky">
            <a:extLst>
              <a:ext uri="{FF2B5EF4-FFF2-40B4-BE49-F238E27FC236}">
                <a16:creationId xmlns:a16="http://schemas.microsoft.com/office/drawing/2014/main" id="{50EEBDB1-9640-4002-756D-AD0F0C084B6E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10267950" y="0"/>
            <a:ext cx="1905000" cy="499378"/>
          </a:xfrm>
          <a:prstGeom prst="foldedCorner">
            <a:avLst/>
          </a:prstGeom>
          <a:solidFill>
            <a:srgbClr val="FFFF66"/>
          </a:solidFill>
          <a:ln w="19050">
            <a:noFill/>
            <a:prstDash val="solid"/>
          </a:ln>
          <a:effectLst/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63500" tIns="76575" rIns="63500" bIns="63500" rtlCol="0" anchor="t">
            <a:spAutoFit/>
          </a:bodyPr>
          <a:lstStyle/>
          <a:p>
            <a:r>
              <a:rPr lang="en-US" dirty="0">
                <a:solidFill>
                  <a:srgbClr val="000000"/>
                </a:solidFill>
              </a:rPr>
              <a:t>Option 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3" name="Object 2" hidden="1">
            <a:extLst>
              <a:ext uri="{FF2B5EF4-FFF2-40B4-BE49-F238E27FC236}">
                <a16:creationId xmlns:a16="http://schemas.microsoft.com/office/drawing/2014/main" id="{4C176148-2A0D-6E14-6CFF-F074BC1D8130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3367560677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12" imgW="428" imgH="428" progId="TCLayout.ActiveDocument.1">
                  <p:embed/>
                </p:oleObj>
              </mc:Choice>
              <mc:Fallback>
                <p:oleObj name="think-cell Slide" r:id="rId12" imgW="428" imgH="428" progId="TCLayout.ActiveDocument.1">
                  <p:embed/>
                  <p:pic>
                    <p:nvPicPr>
                      <p:cNvPr id="73" name="think-cell data - do not delete" hidden="1">
                        <a:extLst>
                          <a:ext uri="{FF2B5EF4-FFF2-40B4-BE49-F238E27FC236}">
                            <a16:creationId xmlns:a16="http://schemas.microsoft.com/office/drawing/2014/main" id="{4C176148-2A0D-6E14-6CFF-F074BC1D8130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3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2. Slide Title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/>
        <p:txBody>
          <a:bodyPr vert="horz"/>
          <a:lstStyle/>
          <a:p>
            <a:r>
              <a:rPr lang="en-US" b="1" dirty="0">
                <a:solidFill>
                  <a:srgbClr val="2251FF"/>
                </a:solidFill>
              </a:rPr>
              <a:t>AI transformation and Org of the future</a:t>
            </a:r>
            <a:r>
              <a:rPr b="1" dirty="0">
                <a:solidFill>
                  <a:srgbClr val="2251FF"/>
                </a:solidFill>
              </a:rPr>
              <a:t>: </a:t>
            </a:r>
            <a:r>
              <a:rPr b="1" dirty="0">
                <a:solidFill>
                  <a:srgbClr val="000000"/>
                </a:solidFill>
              </a:rPr>
              <a:t>questions we would answer</a:t>
            </a:r>
          </a:p>
        </p:txBody>
      </p:sp>
      <p:sp>
        <p:nvSpPr>
          <p:cNvPr id="3" name="Rounded Rectangle 2"/>
          <p:cNvSpPr>
            <a:spLocks/>
          </p:cNvSpPr>
          <p:nvPr/>
        </p:nvSpPr>
        <p:spPr>
          <a:xfrm>
            <a:off x="557784" y="1147572"/>
            <a:ext cx="4160520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1069848" y="1283644"/>
            <a:ext cx="2106346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AI domain transformation</a:t>
            </a:r>
          </a:p>
        </p:txBody>
      </p:sp>
      <p:grpSp>
        <p:nvGrpSpPr>
          <p:cNvPr id="52" name="Group 51">
            <a:extLst>
              <a:ext uri="{FF2B5EF4-FFF2-40B4-BE49-F238E27FC236}">
                <a16:creationId xmlns:a16="http://schemas.microsoft.com/office/drawing/2014/main" id="{38601562-2638-90D4-7E02-DE0F2338DA37}"/>
              </a:ext>
            </a:extLst>
          </p:cNvPr>
          <p:cNvGrpSpPr/>
          <p:nvPr/>
        </p:nvGrpSpPr>
        <p:grpSpPr>
          <a:xfrm>
            <a:off x="557784" y="1801368"/>
            <a:ext cx="4160520" cy="646331"/>
            <a:chOff x="557784" y="1801368"/>
            <a:chExt cx="4160520" cy="646331"/>
          </a:xfrm>
        </p:grpSpPr>
        <p:sp>
          <p:nvSpPr>
            <p:cNvPr id="5" name="Oval 4"/>
            <p:cNvSpPr/>
            <p:nvPr/>
          </p:nvSpPr>
          <p:spPr>
            <a:xfrm>
              <a:off x="557784" y="181051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1</a:t>
              </a:r>
            </a:p>
          </p:txBody>
        </p:sp>
        <p:sp>
          <p:nvSpPr>
            <p:cNvPr id="6" name="TextBox 5"/>
            <p:cNvSpPr txBox="1"/>
            <p:nvPr/>
          </p:nvSpPr>
          <p:spPr>
            <a:xfrm>
              <a:off x="941832" y="1801368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 dirty="0">
                  <a:solidFill>
                    <a:srgbClr val="000000"/>
                  </a:solidFill>
                  <a:latin typeface="Arial"/>
                </a:rPr>
                <a:t>Where is the value?</a:t>
              </a:r>
              <a:r>
                <a:rPr sz="1400" b="0" i="0" dirty="0">
                  <a:solidFill>
                    <a:srgbClr val="000000"/>
                  </a:solidFill>
                  <a:latin typeface="Arial"/>
                </a:rPr>
                <a:t> Which domains hold material value at stake, anchored in TU's strategic priorities and value pools?</a:t>
              </a:r>
            </a:p>
          </p:txBody>
        </p:sp>
      </p:grpSp>
      <p:grpSp>
        <p:nvGrpSpPr>
          <p:cNvPr id="51" name="Group 50">
            <a:extLst>
              <a:ext uri="{FF2B5EF4-FFF2-40B4-BE49-F238E27FC236}">
                <a16:creationId xmlns:a16="http://schemas.microsoft.com/office/drawing/2014/main" id="{C14F5CA2-E174-1750-FBFE-6A7BA964226D}"/>
              </a:ext>
            </a:extLst>
          </p:cNvPr>
          <p:cNvGrpSpPr/>
          <p:nvPr/>
        </p:nvGrpSpPr>
        <p:grpSpPr>
          <a:xfrm>
            <a:off x="557784" y="2819921"/>
            <a:ext cx="4160520" cy="646331"/>
            <a:chOff x="557784" y="2711196"/>
            <a:chExt cx="4160520" cy="646331"/>
          </a:xfrm>
        </p:grpSpPr>
        <p:sp>
          <p:nvSpPr>
            <p:cNvPr id="7" name="Oval 6"/>
            <p:cNvSpPr/>
            <p:nvPr/>
          </p:nvSpPr>
          <p:spPr>
            <a:xfrm>
              <a:off x="557784" y="2711196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2</a:t>
              </a:r>
            </a:p>
          </p:txBody>
        </p:sp>
        <p:sp>
          <p:nvSpPr>
            <p:cNvPr id="8" name="TextBox 7"/>
            <p:cNvSpPr txBox="1"/>
            <p:nvPr/>
          </p:nvSpPr>
          <p:spPr>
            <a:xfrm>
              <a:off x="941832" y="2711196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How does each domain operate today?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What operating and cost baseline is needed to size AI potential?</a:t>
              </a:r>
            </a:p>
          </p:txBody>
        </p:sp>
      </p:grpSp>
      <p:grpSp>
        <p:nvGrpSpPr>
          <p:cNvPr id="50" name="Group 49">
            <a:extLst>
              <a:ext uri="{FF2B5EF4-FFF2-40B4-BE49-F238E27FC236}">
                <a16:creationId xmlns:a16="http://schemas.microsoft.com/office/drawing/2014/main" id="{35685B40-9755-708E-4564-3C393E3E7ED2}"/>
              </a:ext>
            </a:extLst>
          </p:cNvPr>
          <p:cNvGrpSpPr/>
          <p:nvPr/>
        </p:nvGrpSpPr>
        <p:grpSpPr>
          <a:xfrm>
            <a:off x="557784" y="3838474"/>
            <a:ext cx="4160520" cy="646331"/>
            <a:chOff x="557784" y="3621024"/>
            <a:chExt cx="4160520" cy="646331"/>
          </a:xfrm>
        </p:grpSpPr>
        <p:sp>
          <p:nvSpPr>
            <p:cNvPr id="9" name="Oval 8"/>
            <p:cNvSpPr/>
            <p:nvPr/>
          </p:nvSpPr>
          <p:spPr>
            <a:xfrm>
              <a:off x="557784" y="3621024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3</a:t>
              </a:r>
            </a:p>
          </p:txBody>
        </p:sp>
        <p:sp>
          <p:nvSpPr>
            <p:cNvPr id="10" name="TextBox 9"/>
            <p:cNvSpPr txBox="1"/>
            <p:nvPr/>
          </p:nvSpPr>
          <p:spPr>
            <a:xfrm>
              <a:off x="941832" y="3621024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What is each domain's AI impact potential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 (e.g., revenue growth, cost reduction, cost avoidance, risk), and how does it weigh against readiness and feasibility?</a:t>
              </a:r>
            </a:p>
          </p:txBody>
        </p:sp>
      </p:grpSp>
      <p:grpSp>
        <p:nvGrpSpPr>
          <p:cNvPr id="49" name="Group 48">
            <a:extLst>
              <a:ext uri="{FF2B5EF4-FFF2-40B4-BE49-F238E27FC236}">
                <a16:creationId xmlns:a16="http://schemas.microsoft.com/office/drawing/2014/main" id="{75A1F2C0-E448-4608-3687-6F6D3CE60579}"/>
              </a:ext>
            </a:extLst>
          </p:cNvPr>
          <p:cNvGrpSpPr/>
          <p:nvPr/>
        </p:nvGrpSpPr>
        <p:grpSpPr>
          <a:xfrm>
            <a:off x="557784" y="4857027"/>
            <a:ext cx="4160520" cy="430887"/>
            <a:chOff x="557784" y="4530852"/>
            <a:chExt cx="4160520" cy="430887"/>
          </a:xfrm>
        </p:grpSpPr>
        <p:sp>
          <p:nvSpPr>
            <p:cNvPr id="11" name="Oval 10"/>
            <p:cNvSpPr/>
            <p:nvPr/>
          </p:nvSpPr>
          <p:spPr>
            <a:xfrm>
              <a:off x="557784" y="45308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4</a:t>
              </a:r>
            </a:p>
          </p:txBody>
        </p:sp>
        <p:sp>
          <p:nvSpPr>
            <p:cNvPr id="12" name="TextBox 11"/>
            <p:cNvSpPr txBox="1"/>
            <p:nvPr/>
          </p:nvSpPr>
          <p:spPr>
            <a:xfrm>
              <a:off x="941832" y="4530852"/>
              <a:ext cx="3776472" cy="430887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Which 2–3 domains are TU's big bets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, and which no-regret moves should start now?</a:t>
              </a:r>
            </a:p>
          </p:txBody>
        </p:sp>
      </p:grpSp>
      <p:grpSp>
        <p:nvGrpSpPr>
          <p:cNvPr id="48" name="Group 47">
            <a:extLst>
              <a:ext uri="{FF2B5EF4-FFF2-40B4-BE49-F238E27FC236}">
                <a16:creationId xmlns:a16="http://schemas.microsoft.com/office/drawing/2014/main" id="{7823204B-C1E0-E811-7D35-1C19972D1D97}"/>
              </a:ext>
            </a:extLst>
          </p:cNvPr>
          <p:cNvGrpSpPr/>
          <p:nvPr/>
        </p:nvGrpSpPr>
        <p:grpSpPr>
          <a:xfrm>
            <a:off x="557784" y="5660136"/>
            <a:ext cx="4160520" cy="646331"/>
            <a:chOff x="557784" y="5216652"/>
            <a:chExt cx="4160520" cy="646331"/>
          </a:xfrm>
        </p:grpSpPr>
        <p:sp>
          <p:nvSpPr>
            <p:cNvPr id="13" name="Oval 12"/>
            <p:cNvSpPr/>
            <p:nvPr/>
          </p:nvSpPr>
          <p:spPr>
            <a:xfrm>
              <a:off x="557784" y="5216652"/>
              <a:ext cx="256032" cy="256032"/>
            </a:xfrm>
            <a:prstGeom prst="ellipse">
              <a:avLst/>
            </a:prstGeom>
            <a:solidFill>
              <a:srgbClr val="2251F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wrap="none" lIns="0" tIns="0" rIns="0" bIns="0" rtlCol="0" anchor="ctr"/>
            <a:lstStyle/>
            <a:p>
              <a:pPr algn="ctr"/>
              <a:r>
                <a:rPr sz="1100" b="1">
                  <a:solidFill>
                    <a:srgbClr val="FFFFFF"/>
                  </a:solidFill>
                  <a:latin typeface="Arial"/>
                </a:rPr>
                <a:t>5</a:t>
              </a:r>
            </a:p>
          </p:txBody>
        </p:sp>
        <p:sp>
          <p:nvSpPr>
            <p:cNvPr id="14" name="TextBox 13"/>
            <p:cNvSpPr txBox="1"/>
            <p:nvPr/>
          </p:nvSpPr>
          <p:spPr>
            <a:xfrm>
              <a:off x="941832" y="5216652"/>
              <a:ext cx="3776472" cy="646331"/>
            </a:xfrm>
            <a:prstGeom prst="rect">
              <a:avLst/>
            </a:prstGeom>
            <a:noFill/>
          </p:spPr>
          <p:txBody>
            <a:bodyPr wrap="square" lIns="0" tIns="0" rIns="0" bIns="0" anchor="t">
              <a:spAutoFit/>
            </a:bodyPr>
            <a:lstStyle/>
            <a:p>
              <a:pPr algn="l">
                <a:lnSpc>
                  <a:spcPct val="100000"/>
                </a:lnSpc>
              </a:pPr>
              <a:r>
                <a:rPr sz="1400" b="1" i="0">
                  <a:solidFill>
                    <a:srgbClr val="000000"/>
                  </a:solidFill>
                  <a:latin typeface="Arial"/>
                </a:rPr>
                <a:t>In what sequence should TU execute</a:t>
              </a:r>
              <a:r>
                <a:rPr sz="1400" b="0" i="0">
                  <a:solidFill>
                    <a:srgbClr val="000000"/>
                  </a:solidFill>
                  <a:latin typeface="Arial"/>
                </a:rPr>
                <a:t>, and with what owners, milestones, and enabling investments?</a:t>
              </a:r>
            </a:p>
          </p:txBody>
        </p:sp>
      </p:grpSp>
      <p:sp>
        <p:nvSpPr>
          <p:cNvPr id="15" name="Rounded Rectangle 14"/>
          <p:cNvSpPr>
            <a:spLocks/>
          </p:cNvSpPr>
          <p:nvPr/>
        </p:nvSpPr>
        <p:spPr>
          <a:xfrm>
            <a:off x="5074920" y="1147572"/>
            <a:ext cx="6565392" cy="479892"/>
          </a:xfrm>
          <a:prstGeom prst="roundRect">
            <a:avLst>
              <a:gd name="adj" fmla="val 50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>
            <a:noAutofit/>
          </a:bodyPr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5684342" y="1283644"/>
            <a:ext cx="2115964" cy="207749"/>
          </a:xfrm>
          <a:prstGeom prst="rect">
            <a:avLst/>
          </a:prstGeom>
          <a:noFill/>
        </p:spPr>
        <p:txBody>
          <a:bodyPr wrap="none" lIns="0" tIns="0" rIns="0" bIns="0" anchor="ctr">
            <a:spAutoFit/>
          </a:bodyPr>
          <a:lstStyle/>
          <a:p>
            <a:pPr algn="l"/>
            <a:r>
              <a:rPr sz="1350" b="1" i="0" dirty="0">
                <a:solidFill>
                  <a:srgbClr val="FFFFFF"/>
                </a:solidFill>
                <a:latin typeface="Arial"/>
              </a:rPr>
              <a:t>Organization of the future</a:t>
            </a:r>
          </a:p>
        </p:txBody>
      </p:sp>
      <p:pic>
        <p:nvPicPr>
          <p:cNvPr id="45" name="CustomIcon">
            <a:extLst>
              <a:ext uri="{FF2B5EF4-FFF2-40B4-BE49-F238E27FC236}">
                <a16:creationId xmlns:a16="http://schemas.microsoft.com/office/drawing/2014/main" id="{BEA570F8-EDDF-A02A-A66F-1E05DBC2AB9F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4"/>
              </a:ext>
            </a:extLst>
          </a:blip>
          <a:stretch>
            <a:fillRect/>
          </a:stretch>
        </p:blipFill>
        <p:spPr>
          <a:xfrm>
            <a:off x="5184559" y="1192446"/>
            <a:ext cx="390144" cy="390144"/>
          </a:xfrm>
          <a:prstGeom prst="rect">
            <a:avLst/>
          </a:prstGeom>
        </p:spPr>
      </p:pic>
      <p:pic>
        <p:nvPicPr>
          <p:cNvPr id="47" name="CustomIcon">
            <a:extLst>
              <a:ext uri="{FF2B5EF4-FFF2-40B4-BE49-F238E27FC236}">
                <a16:creationId xmlns:a16="http://schemas.microsoft.com/office/drawing/2014/main" id="{25D8F37D-A4E6-27EE-B608-C96261B16322}"/>
              </a:ext>
            </a:extLst>
          </p:cNvPr>
          <p:cNvPicPr>
            <a:picLocks/>
          </p:cNvPicPr>
          <p:nvPr>
            <p:custDataLst>
              <p:tags r:id="rId4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15"/>
              </a:ext>
            </a:extLst>
          </a:blip>
          <a:stretch>
            <a:fillRect/>
          </a:stretch>
        </p:blipFill>
        <p:spPr>
          <a:xfrm>
            <a:off x="618744" y="1192446"/>
            <a:ext cx="390144" cy="390144"/>
          </a:xfrm>
          <a:prstGeom prst="rect">
            <a:avLst/>
          </a:prstGeom>
        </p:spPr>
      </p:pic>
      <p:sp>
        <p:nvSpPr>
          <p:cNvPr id="74" name="TextBox 73"/>
          <p:cNvSpPr txBox="1"/>
          <p:nvPr/>
        </p:nvSpPr>
        <p:spPr>
          <a:xfrm>
            <a:off x="5138928" y="1801368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A. ORG HYGIENE</a:t>
            </a:r>
          </a:p>
        </p:txBody>
      </p:sp>
      <p:cxnSp>
        <p:nvCxnSpPr>
          <p:cNvPr id="75" name="Connector 74"/>
          <p:cNvCxnSpPr/>
          <p:nvPr/>
        </p:nvCxnSpPr>
        <p:spPr>
          <a:xfrm>
            <a:off x="6281928" y="1801368"/>
            <a:ext cx="0" cy="365760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6" name="TextBox 75"/>
          <p:cNvSpPr txBox="1"/>
          <p:nvPr/>
        </p:nvSpPr>
        <p:spPr>
          <a:xfrm>
            <a:off x="6428232" y="1801368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would a right-sized TU look like</a:t>
            </a:r>
            <a:r>
              <a:rPr sz="1100" b="0">
                <a:solidFill>
                  <a:srgbClr val="000000"/>
                </a:solidFill>
                <a:latin typeface="Arial"/>
              </a:rPr>
              <a:t> (i.e., optimal spans, layers, and leadership density), and what value would it unlock?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138928" y="2276856"/>
            <a:ext cx="10789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B. PLATFORM ORG OF THE FUTURE</a:t>
            </a:r>
          </a:p>
        </p:txBody>
      </p:sp>
      <p:cxnSp>
        <p:nvCxnSpPr>
          <p:cNvPr id="78" name="Connector 77"/>
          <p:cNvCxnSpPr/>
          <p:nvPr/>
        </p:nvCxnSpPr>
        <p:spPr>
          <a:xfrm>
            <a:off x="6281928" y="2276856"/>
            <a:ext cx="0" cy="1572768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9" name="TextBox 78"/>
          <p:cNvSpPr txBox="1"/>
          <p:nvPr/>
        </p:nvSpPr>
        <p:spPr>
          <a:xfrm>
            <a:off x="6428232" y="2276856"/>
            <a:ext cx="52029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Which archetypes do true platform orgs follow</a:t>
            </a:r>
            <a:r>
              <a:rPr sz="1100" b="0">
                <a:solidFill>
                  <a:srgbClr val="000000"/>
                </a:solidFill>
                <a:latin typeface="Arial"/>
              </a:rPr>
              <a:t> (e.g., a central platform division at Atlassian and Salesforce, federated services at AWS), and which is the right model for TU?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428232" y="2880360"/>
            <a:ext cx="520293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should be the size and composition of the platform and product engineering teams?</a:t>
            </a:r>
            <a:r>
              <a:rPr sz="1100" b="0">
                <a:solidFill>
                  <a:srgbClr val="000000"/>
                </a:solidFill>
                <a:latin typeface="Arial"/>
              </a:rPr>
              <a:t> Where should key roles reside (e.g., Platform PM, Data Science / Analytics, UI/UX)?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428232" y="3483864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are the core design choices</a:t>
            </a:r>
            <a:r>
              <a:rPr sz="1100" b="0">
                <a:solidFill>
                  <a:srgbClr val="000000"/>
                </a:solidFill>
                <a:latin typeface="Arial"/>
              </a:rPr>
              <a:t> (e.g., US vs. international P&amp;L, regional vs. global layers), and what must TU believe?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138928" y="3977639"/>
            <a:ext cx="10789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C. FUTURE-READY WORKFORCE</a:t>
            </a:r>
          </a:p>
        </p:txBody>
      </p:sp>
      <p:cxnSp>
        <p:nvCxnSpPr>
          <p:cNvPr id="83" name="Connector 82"/>
          <p:cNvCxnSpPr/>
          <p:nvPr/>
        </p:nvCxnSpPr>
        <p:spPr>
          <a:xfrm>
            <a:off x="6281928" y="3977639"/>
            <a:ext cx="0" cy="1033273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TextBox 83"/>
          <p:cNvSpPr txBox="1"/>
          <p:nvPr/>
        </p:nvSpPr>
        <p:spPr>
          <a:xfrm>
            <a:off x="6428232" y="3977639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How will AI change talent demand</a:t>
            </a:r>
            <a:r>
              <a:rPr sz="1100" b="0">
                <a:solidFill>
                  <a:srgbClr val="000000"/>
                </a:solidFill>
                <a:latin typeface="Arial"/>
              </a:rPr>
              <a:t> over the next 3–5 years, function by function?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6428232" y="4398264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size, shape, and skills will the workforce need?</a:t>
            </a:r>
            <a:r>
              <a:rPr sz="1100" b="0">
                <a:solidFill>
                  <a:srgbClr val="000000"/>
                </a:solidFill>
                <a:latin typeface="Arial"/>
              </a:rPr>
              <a:t> Which roles are reshaped, replaced, or net-new; built vs. bought?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428232" y="4818888"/>
            <a:ext cx="520293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is the value case</a:t>
            </a:r>
            <a:r>
              <a:rPr sz="1100" b="0">
                <a:solidFill>
                  <a:srgbClr val="000000"/>
                </a:solidFill>
                <a:latin typeface="Arial"/>
              </a:rPr>
              <a:t>, and the mobilization plan to capture it?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138928" y="5138928"/>
            <a:ext cx="1078992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D. GLOBAL LOCATION STRATEGY</a:t>
            </a:r>
          </a:p>
        </p:txBody>
      </p:sp>
      <p:cxnSp>
        <p:nvCxnSpPr>
          <p:cNvPr id="88" name="Connector 87"/>
          <p:cNvCxnSpPr/>
          <p:nvPr/>
        </p:nvCxnSpPr>
        <p:spPr>
          <a:xfrm>
            <a:off x="6281928" y="5138928"/>
            <a:ext cx="0" cy="612648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9" name="TextBox 88"/>
          <p:cNvSpPr txBox="1"/>
          <p:nvPr/>
        </p:nvSpPr>
        <p:spPr>
          <a:xfrm>
            <a:off x="6428232" y="5138928"/>
            <a:ext cx="520293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Which roles sit where</a:t>
            </a:r>
            <a:r>
              <a:rPr sz="1100" b="0">
                <a:solidFill>
                  <a:srgbClr val="000000"/>
                </a:solidFill>
                <a:latin typeface="Arial"/>
              </a:rPr>
              <a:t>, and what moves now vs. later?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6428232" y="5385816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Where will TU access AI-era talent</a:t>
            </a:r>
            <a:r>
              <a:rPr sz="1100" b="0">
                <a:solidFill>
                  <a:srgbClr val="000000"/>
                </a:solidFill>
                <a:latin typeface="Arial"/>
              </a:rPr>
              <a:t>, and what must its global hubs become?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138928" y="5824728"/>
            <a:ext cx="1078992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100" b="1">
                <a:solidFill>
                  <a:srgbClr val="2251FF"/>
                </a:solidFill>
                <a:latin typeface="Arial"/>
              </a:rPr>
              <a:t>E. CULTURE AND CHANGE</a:t>
            </a:r>
          </a:p>
        </p:txBody>
      </p:sp>
      <p:cxnSp>
        <p:nvCxnSpPr>
          <p:cNvPr id="92" name="Connector 91"/>
          <p:cNvCxnSpPr/>
          <p:nvPr/>
        </p:nvCxnSpPr>
        <p:spPr>
          <a:xfrm>
            <a:off x="6281928" y="5824728"/>
            <a:ext cx="0" cy="594360"/>
          </a:xfrm>
          <a:prstGeom prst="line">
            <a:avLst/>
          </a:prstGeom>
          <a:ln w="19050">
            <a:solidFill>
              <a:srgbClr val="2251FF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3" name="TextBox 92"/>
          <p:cNvSpPr txBox="1"/>
          <p:nvPr/>
        </p:nvSpPr>
        <p:spPr>
          <a:xfrm>
            <a:off x="6428232" y="5824728"/>
            <a:ext cx="5202936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What mindset and behavior shifts</a:t>
            </a:r>
            <a:r>
              <a:rPr sz="1100" b="0">
                <a:solidFill>
                  <a:srgbClr val="000000"/>
                </a:solidFill>
                <a:latin typeface="Arial"/>
              </a:rPr>
              <a:t> does the new organization demand?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428232" y="6227064"/>
            <a:ext cx="5202936" cy="19202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marL="137160" indent="-137160">
              <a:lnSpc>
                <a:spcPct val="100000"/>
              </a:lnSpc>
            </a:pPr>
            <a:r>
              <a:rPr sz="1100" b="0">
                <a:solidFill>
                  <a:srgbClr val="000000"/>
                </a:solidFill>
                <a:latin typeface="Arial"/>
              </a:rPr>
              <a:t>•  </a:t>
            </a:r>
            <a:r>
              <a:rPr sz="1100" b="1">
                <a:solidFill>
                  <a:srgbClr val="000000"/>
                </a:solidFill>
                <a:latin typeface="Arial"/>
              </a:rPr>
              <a:t>Does TU have the change capacity</a:t>
            </a:r>
            <a:r>
              <a:rPr sz="1100" b="0">
                <a:solidFill>
                  <a:srgbClr val="000000"/>
                </a:solidFill>
                <a:latin typeface="Arial"/>
              </a:rPr>
              <a:t>, and how do we build it?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3" name="think-cell data - do not delete" hidden="1">
            <a:extLst>
              <a:ext uri="{FF2B5EF4-FFF2-40B4-BE49-F238E27FC236}">
                <a16:creationId xmlns:a16="http://schemas.microsoft.com/office/drawing/2014/main" id="{8781AE29-C0AF-537A-2347-DA45C1358C18}"/>
              </a:ext>
            </a:extLst>
          </p:cNvPr>
          <p:cNvGraphicFramePr>
            <a:graphicFrameLocks noChangeAspect="1"/>
          </p:cNvGraphicFramePr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2477230950"/>
              </p:ext>
            </p:extLst>
          </p:nvPr>
        </p:nvGraphicFramePr>
        <p:xfrm>
          <a:off x="1588" y="1588"/>
          <a:ext cx="1588" cy="15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name="think-cell Slide" r:id="rId5" imgW="428" imgH="428" progId="TCLayout.ActiveDocument.1">
                  <p:embed/>
                </p:oleObj>
              </mc:Choice>
              <mc:Fallback>
                <p:oleObj name="think-cell Slide" r:id="rId5" imgW="428" imgH="428" progId="TCLayout.ActiveDocument.1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1588" y="1588"/>
                        <a:ext cx="1588" cy="15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54736" y="201168"/>
            <a:ext cx="11082528" cy="357790"/>
          </a:xfrm>
        </p:spPr>
        <p:txBody>
          <a:bodyPr vert="horz">
            <a:spAutoFit/>
          </a:bodyPr>
          <a:lstStyle/>
          <a:p>
            <a:r>
              <a:rPr b="1" dirty="0">
                <a:solidFill>
                  <a:srgbClr val="2251FF"/>
                </a:solidFill>
              </a:rPr>
              <a:t>~3-month program: </a:t>
            </a:r>
            <a:r>
              <a:rPr b="1" dirty="0">
                <a:solidFill>
                  <a:srgbClr val="000000"/>
                </a:solidFill>
              </a:rPr>
              <a:t>building blocks across the two tracks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10312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9788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92652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741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82184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07695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71716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66481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61248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9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56013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0780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845545" y="983567"/>
            <a:ext cx="794766" cy="1828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Wk 12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210312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289788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69265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>
            <a:off x="448741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5282184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>
            <a:off x="607695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871716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7666481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8461248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>
            <a:off x="9256013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>
            <a:off x="10050780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>
            <a:off x="10845545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11640312" y="1221311"/>
            <a:ext cx="0" cy="3401568"/>
          </a:xfrm>
          <a:prstGeom prst="line">
            <a:avLst/>
          </a:prstGeom>
          <a:ln w="6350">
            <a:solidFill>
              <a:srgbClr val="E2E4E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Rectangle 29"/>
          <p:cNvSpPr/>
          <p:nvPr/>
        </p:nvSpPr>
        <p:spPr>
          <a:xfrm>
            <a:off x="557784" y="1294463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1" name="TextBox 30"/>
          <p:cNvSpPr txBox="1"/>
          <p:nvPr/>
        </p:nvSpPr>
        <p:spPr>
          <a:xfrm>
            <a:off x="557784" y="1842766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 domain transformation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2103120" y="1294463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Box 32"/>
          <p:cNvSpPr txBox="1"/>
          <p:nvPr/>
        </p:nvSpPr>
        <p:spPr>
          <a:xfrm>
            <a:off x="2176272" y="1321895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Identify high-value domains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2897886" y="1806527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2971038" y="1833958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Establish detailed baselines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692652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Box 36"/>
          <p:cNvSpPr txBox="1"/>
          <p:nvPr/>
        </p:nvSpPr>
        <p:spPr>
          <a:xfrm>
            <a:off x="3765804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Align prioritization framework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4487418" y="1294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TextBox 38"/>
          <p:cNvSpPr txBox="1"/>
          <p:nvPr/>
        </p:nvSpPr>
        <p:spPr>
          <a:xfrm>
            <a:off x="4560570" y="1321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Assess impact, readiness, feasibility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076950" y="1806527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TextBox 40"/>
          <p:cNvSpPr txBox="1"/>
          <p:nvPr/>
        </p:nvSpPr>
        <p:spPr>
          <a:xfrm>
            <a:off x="6150102" y="1833958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Rank and decide¹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871716" y="2318591"/>
            <a:ext cx="1552956" cy="457200"/>
          </a:xfrm>
          <a:prstGeom prst="roundRect">
            <a:avLst>
              <a:gd name="adj" fmla="val 14000"/>
            </a:avLst>
          </a:prstGeom>
          <a:solidFill>
            <a:srgbClr val="061F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3" name="TextBox 42"/>
          <p:cNvSpPr txBox="1"/>
          <p:nvPr/>
        </p:nvSpPr>
        <p:spPr>
          <a:xfrm>
            <a:off x="6944868" y="2346022"/>
            <a:ext cx="1406652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Value-backed execution roadmap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516112" y="1806527"/>
            <a:ext cx="3105911" cy="475488"/>
          </a:xfrm>
          <a:prstGeom prst="roundRect">
            <a:avLst>
              <a:gd name="adj" fmla="val 14000"/>
            </a:avLst>
          </a:prstGeom>
          <a:noFill/>
          <a:ln w="12700">
            <a:solidFill>
              <a:srgbClr val="061F79"/>
            </a:solidFill>
            <a:prstDash val="sys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Box 44"/>
          <p:cNvSpPr txBox="1"/>
          <p:nvPr/>
        </p:nvSpPr>
        <p:spPr>
          <a:xfrm>
            <a:off x="8589264" y="1833959"/>
            <a:ext cx="2959607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1" u="none" strike="noStrike" kern="1200" cap="none" spc="0" normalizeH="0" baseline="0" noProof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→ Lighthouse pilots in the priority domains — start Wk 9, run 12–14 weeks</a:t>
            </a:r>
          </a:p>
        </p:txBody>
      </p:sp>
      <p:cxnSp>
        <p:nvCxnSpPr>
          <p:cNvPr id="46" name="Connector 45"/>
          <p:cNvCxnSpPr/>
          <p:nvPr/>
        </p:nvCxnSpPr>
        <p:spPr>
          <a:xfrm>
            <a:off x="557784" y="2940383"/>
            <a:ext cx="11082527" cy="0"/>
          </a:xfrm>
          <a:prstGeom prst="line">
            <a:avLst/>
          </a:prstGeom>
          <a:ln w="9525">
            <a:solidFill>
              <a:srgbClr val="D0D3D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7" name="Rectangle 46"/>
          <p:cNvSpPr/>
          <p:nvPr/>
        </p:nvSpPr>
        <p:spPr>
          <a:xfrm>
            <a:off x="557784" y="3068399"/>
            <a:ext cx="1417320" cy="14813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Box 47"/>
          <p:cNvSpPr txBox="1"/>
          <p:nvPr/>
        </p:nvSpPr>
        <p:spPr>
          <a:xfrm>
            <a:off x="557784" y="3616702"/>
            <a:ext cx="1417320" cy="384721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50" b="1" i="0" u="none" strike="noStrike" kern="1200" cap="none" spc="0" normalizeH="0" baseline="0" noProof="0" dirty="0">
                <a:ln>
                  <a:noFill/>
                </a:ln>
                <a:solidFill>
                  <a:srgbClr val="2251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Organization of the future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3692652" y="3068399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0" name="TextBox 49"/>
          <p:cNvSpPr txBox="1"/>
          <p:nvPr/>
        </p:nvSpPr>
        <p:spPr>
          <a:xfrm>
            <a:off x="3765804" y="3095831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Current-state blueprint + hygiene diagnostic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5282184" y="3580463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2" name="TextBox 51"/>
          <p:cNvSpPr txBox="1"/>
          <p:nvPr/>
        </p:nvSpPr>
        <p:spPr>
          <a:xfrm>
            <a:off x="5355336" y="3607895"/>
            <a:ext cx="2996183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Platform org design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6076950" y="3068399"/>
            <a:ext cx="3937254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4" name="TextBox 53"/>
          <p:cNvSpPr txBox="1"/>
          <p:nvPr/>
        </p:nvSpPr>
        <p:spPr>
          <a:xfrm>
            <a:off x="6150102" y="3095831"/>
            <a:ext cx="3790949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Strategic workforce plan in the AI era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66481" y="4092527"/>
            <a:ext cx="3142488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TextBox 55"/>
          <p:cNvSpPr txBox="1"/>
          <p:nvPr/>
        </p:nvSpPr>
        <p:spPr>
          <a:xfrm>
            <a:off x="7739633" y="4257174"/>
            <a:ext cx="2996183" cy="14619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0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Location footprint refresh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256013" y="3580463"/>
            <a:ext cx="2347722" cy="457200"/>
          </a:xfrm>
          <a:prstGeom prst="roundRect">
            <a:avLst>
              <a:gd name="adj" fmla="val 14000"/>
            </a:avLst>
          </a:prstGeom>
          <a:solidFill>
            <a:srgbClr val="2251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8" name="TextBox 57"/>
          <p:cNvSpPr txBox="1"/>
          <p:nvPr/>
        </p:nvSpPr>
        <p:spPr>
          <a:xfrm>
            <a:off x="9329165" y="3607895"/>
            <a:ext cx="2201418" cy="420624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ctr" defTabSz="914400" rtl="0" eaLnBrk="1" fontAlgn="auto" latinLnBrk="0" hangingPunct="1">
              <a:lnSpc>
                <a:spcPct val="95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5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Culture, change, and talent roadmap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57784" y="4700016"/>
            <a:ext cx="7315200" cy="1645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63666A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1. Heatmap scorecard and leadership prioritization workshop — select 2–3 priority domains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557784" y="5815584"/>
            <a:ext cx="11082528" cy="621792"/>
          </a:xfrm>
          <a:prstGeom prst="roundRect">
            <a:avLst>
              <a:gd name="adj" fmla="val 10000"/>
            </a:avLst>
          </a:prstGeom>
          <a:solidFill>
            <a:srgbClr val="E8F0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62" name="TextBox 61"/>
          <p:cNvSpPr txBox="1"/>
          <p:nvPr/>
        </p:nvSpPr>
        <p:spPr>
          <a:xfrm>
            <a:off x="868680" y="5888736"/>
            <a:ext cx="10469880" cy="475488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50" b="1" i="0" u="none" strike="noStrike" kern="1200" cap="none" spc="0" normalizeH="0" baseline="0" noProof="0" dirty="0">
                <a:ln>
                  <a:noFill/>
                </a:ln>
                <a:solidFill>
                  <a:srgbClr val="061F79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two tracks feed each other:  </a:t>
            </a:r>
            <a:r>
              <a:rPr kumimoji="0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enterprise picks its domains top-down; transformation then reconfigures teams bottom-up — new role mixes, team shapes, and </a:t>
            </a:r>
            <a:r>
              <a:rPr kumimoji="0" lang="en-US" sz="125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skills</a:t>
            </a:r>
            <a:endParaRPr kumimoji="0" sz="1250" b="1" i="0" u="none" strike="noStrike" kern="1200" cap="none" spc="0" normalizeH="0" baseline="0" noProof="0" dirty="0">
              <a:ln>
                <a:noFill/>
              </a:ln>
              <a:solidFill>
                <a:srgbClr val="061F79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1" name="CustomIcon">
            <a:extLst>
              <a:ext uri="{FF2B5EF4-FFF2-40B4-BE49-F238E27FC236}">
                <a16:creationId xmlns:a16="http://schemas.microsoft.com/office/drawing/2014/main" id="{9EAFEFED-4C80-0212-7BF4-A43FE813D858}"/>
              </a:ext>
            </a:extLst>
          </p:cNvPr>
          <p:cNvPicPr>
            <a:picLocks/>
          </p:cNvPicPr>
          <p:nvPr>
            <p:custDataLst>
              <p:tags r:id="rId2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tretch>
            <a:fillRect/>
          </a:stretch>
        </p:blipFill>
        <p:spPr>
          <a:xfrm>
            <a:off x="618744" y="1352375"/>
            <a:ext cx="390144" cy="390144"/>
          </a:xfrm>
          <a:prstGeom prst="rect">
            <a:avLst/>
          </a:prstGeom>
        </p:spPr>
      </p:pic>
      <p:pic>
        <p:nvPicPr>
          <p:cNvPr id="72" name="CustomIcon">
            <a:extLst>
              <a:ext uri="{FF2B5EF4-FFF2-40B4-BE49-F238E27FC236}">
                <a16:creationId xmlns:a16="http://schemas.microsoft.com/office/drawing/2014/main" id="{D13D7905-DB86-B0FC-CE8E-2E44E76A472B}"/>
              </a:ext>
            </a:extLst>
          </p:cNvPr>
          <p:cNvPicPr>
            <a:picLocks/>
          </p:cNvPicPr>
          <p:nvPr>
            <p:custDataLst>
              <p:tags r:id="rId3"/>
            </p:custDataLst>
          </p:nvPr>
        </p:nvPicPr>
        <p:blipFill>
          <a:blip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618744" y="3095831"/>
            <a:ext cx="390144" cy="390144"/>
          </a:xfrm>
          <a:prstGeom prst="rect">
            <a:avLst/>
          </a:prstGeom>
        </p:spPr>
      </p:pic>
      <p:sp>
        <p:nvSpPr>
          <p:cNvPr id="73" name="TextBox 72"/>
          <p:cNvSpPr txBox="1"/>
          <p:nvPr/>
        </p:nvSpPr>
        <p:spPr>
          <a:xfrm>
            <a:off x="557784" y="4974336"/>
            <a:ext cx="1444752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200" b="1">
                <a:solidFill>
                  <a:srgbClr val="061F79"/>
                </a:solidFill>
                <a:latin typeface="Arial"/>
              </a:rPr>
              <a:t>By week 12</a:t>
            </a:r>
          </a:p>
          <a:p>
            <a:pPr>
              <a:spcBef>
                <a:spcPts val="400"/>
              </a:spcBef>
            </a:pPr>
            <a:r>
              <a:rPr sz="850" b="0">
                <a:solidFill>
                  <a:srgbClr val="63666A"/>
                </a:solidFill>
                <a:latin typeface="Arial"/>
              </a:rPr>
              <a:t>Joint TU–McKinsey team; checkpoints at wk 2, 7, 12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2103120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249424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Prioritized domain portfolio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2–3 big bets, value-backed and sequenced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5330952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477256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Target org blueprint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Platform-era structure and strategic workforce plan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8558784" y="4974336"/>
            <a:ext cx="3072384" cy="713232"/>
          </a:xfrm>
          <a:prstGeom prst="roundRect">
            <a:avLst>
              <a:gd name="adj" fmla="val 12000"/>
            </a:avLst>
          </a:prstGeom>
          <a:solidFill>
            <a:srgbClr val="F0F4FF"/>
          </a:solidFill>
          <a:ln w="12700">
            <a:solidFill>
              <a:srgbClr val="2251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8705088" y="5065776"/>
            <a:ext cx="2779776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r>
              <a:rPr sz="1150" b="1">
                <a:solidFill>
                  <a:srgbClr val="061F79"/>
                </a:solidFill>
                <a:latin typeface="Arial"/>
              </a:rPr>
              <a:t>Location and talent roadmap</a:t>
            </a:r>
          </a:p>
          <a:p>
            <a:pPr>
              <a:spcBef>
                <a:spcPts val="300"/>
              </a:spcBef>
            </a:pPr>
            <a:r>
              <a:rPr sz="1000" b="0">
                <a:solidFill>
                  <a:srgbClr val="000000"/>
                </a:solidFill>
                <a:latin typeface="Arial"/>
              </a:rPr>
              <a:t>GLS 2.0 disposition and 90-day mobilization plan</a:t>
            </a:r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LINKEDPICTURESLINKREMOVED" val="True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SUb1LmWUTH66PHUHOGMc5A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4. Footnote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Grid"/>
</p:tagLst>
</file>

<file path=ppt/tags/tag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Moon"/>
</p:tagLst>
</file>

<file path=ppt/tags/tag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5"/>
</p:tagLst>
</file>

<file path=ppt/tags/tag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4"/>
</p:tagLst>
</file>

<file path=ppt/tags/tag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3"/>
</p:tagLst>
</file>

<file path=ppt/tags/tag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2"/>
</p:tagLst>
</file>

<file path=ppt/tags/tag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NGLE" val="1"/>
</p:tagLst>
</file>

<file path=ppt/tags/tag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La5NG5p6QVlH6GlSHMQ0RQ"/>
</p:tagLst>
</file>

<file path=ppt/tags/tag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ClientLogo"/>
</p:tagLst>
</file>

<file path=ppt/tags/tag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ocumenttype"/>
</p:tagLst>
</file>

<file path=ppt/tags/tag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ubtitle"/>
</p:tagLst>
</file>

<file path=ppt/tags/tag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Title"/>
</p:tagLst>
</file>

<file path=ppt/tags/tag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Disclaimer-template"/>
</p:tagLst>
</file>

<file path=ppt/tags/tag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5tNN_OdVRnC_8Tatiiw6bA"/>
</p:tagLst>
</file>

<file path=ppt/tags/tag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3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3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4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4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4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4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4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unuZ.dr0dtPKYSWmGw_6Yg"/>
</p:tagLst>
</file>

<file path=ppt/tags/tag5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5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5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5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5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rUQibaDMIQaIJXCExx3CSg"/>
</p:tagLst>
</file>

<file path=ppt/tags/tag5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5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5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6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6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6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.WNeMwRPaNOv4PeDFU5Q"/>
</p:tagLst>
</file>

<file path=ppt/tags/tag6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6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6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6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6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6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7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7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vkXdkIixRi6Hs.rBsPur2w"/>
</p:tagLst>
</file>

<file path=ppt/tags/tag7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7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7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7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7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7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7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ags/tag8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8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8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8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8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8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8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8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8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9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2e4Ps3taQqK3C0NeBEvQLA"/>
</p:tagLst>
</file>

<file path=ppt/tags/tag9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9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9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9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9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9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9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9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0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THKNm6U2RZKJH1GvudQSPw"/>
</p:tagLst>
</file>

<file path=ppt/tags/tag10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RectangleLight"/>
</p:tagLst>
</file>

<file path=ppt/tags/tag10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0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0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0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0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3. Subtitle"/>
</p:tagLst>
</file>

<file path=ppt/tags/tag10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0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1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LogoText"/>
</p:tagLst>
</file>

<file path=ppt/tags/tag11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Slide Number"/>
</p:tagLst>
</file>

<file path=ppt/tags/tag11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1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1. On-page tracker"/>
</p:tagLst>
</file>

<file path=ppt/tags/tag11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BACKGROUNDCOLOR" val="med"/>
</p:tagLst>
</file>

<file path=ppt/tags/tag11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1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_new_logoimage"/>
</p:tagLst>
</file>

<file path=ppt/tags/tag12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5. Source"/>
</p:tagLst>
</file>

<file path=ppt/tags/tag12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Sticky"/>
</p:tagLst>
</file>

<file path=ppt/tags/tag12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2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HAPENAME" val="2. Slide Title"/>
</p:tagLst>
</file>

<file path=ppt/tags/tag128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29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0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LineBasicImpact"/>
</p:tagLst>
</file>

<file path=ppt/tags/tag13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THINKCELLSHAPEDONOTDELETE" val="thinkcellActiveDocDoNotDelete"/>
</p:tagLst>
</file>

<file path=ppt/tags/tag13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ags/tag13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NAME" val="CustomIcon"/>
</p:tagLst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">
  <a:themeElements>
    <a:clrScheme name="Custom 10">
      <a:dk1>
        <a:srgbClr val="000000"/>
      </a:dk1>
      <a:lt1>
        <a:srgbClr val="FFFFFF"/>
      </a:lt1>
      <a:dk2>
        <a:srgbClr val="FFFFFF"/>
      </a:dk2>
      <a:lt2>
        <a:srgbClr val="FFFFFF"/>
      </a:lt2>
      <a:accent1>
        <a:srgbClr val="061F79"/>
      </a:accent1>
      <a:accent2>
        <a:srgbClr val="00A9F4"/>
      </a:accent2>
      <a:accent3>
        <a:srgbClr val="2251FF"/>
      </a:accent3>
      <a:accent4>
        <a:srgbClr val="99E6FF"/>
      </a:accent4>
      <a:accent5>
        <a:srgbClr val="0679C3"/>
      </a:accent5>
      <a:accent6>
        <a:srgbClr val="75F0E7"/>
      </a:accent6>
      <a:hlink>
        <a:srgbClr val="1F40E6"/>
      </a:hlink>
      <a:folHlink>
        <a:srgbClr val="8C5AC8"/>
      </a:folHlink>
    </a:clrScheme>
    <a:fontScheme name="Whit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Subtle Solids">
      <a:fillStyleLst>
        <a:solidFill>
          <a:schemeClr val="phClr"/>
        </a:solidFill>
        <a:solidFill>
          <a:schemeClr val="phClr">
            <a:tint val="65000"/>
          </a:schemeClr>
        </a:solidFill>
        <a:solidFill>
          <a:schemeClr val="phClr">
            <a:shade val="80000"/>
            <a:satMod val="150000"/>
          </a:schemeClr>
        </a:solidFill>
      </a:fillStyleLst>
      <a:lnStyleLst>
        <a:ln w="9525" cap="flat" cmpd="sng" algn="ctr">
          <a:solidFill>
            <a:schemeClr val="phClr"/>
          </a:solidFill>
          <a:prstDash val="solid"/>
        </a:ln>
        <a:ln w="10795" cap="flat" cmpd="sng" algn="ctr">
          <a:solidFill>
            <a:schemeClr val="phClr"/>
          </a:solidFill>
          <a:prstDash val="solid"/>
        </a:ln>
        <a:ln w="17145" cap="flat" cmpd="sng" algn="ctr">
          <a:solidFill>
            <a:schemeClr val="phClr">
              <a:shade val="95000"/>
              <a:alpha val="50000"/>
              <a:satMod val="150000"/>
            </a:schemeClr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44450" dist="13970" dir="5400000" algn="ctr" rotWithShape="0">
              <a:srgbClr val="000000">
                <a:alpha val="45000"/>
              </a:srgbClr>
            </a:outerShdw>
          </a:effectLst>
          <a:scene3d>
            <a:camera prst="orthographicFront">
              <a:rot lat="0" lon="0" rev="0"/>
            </a:camera>
            <a:lightRig rig="twoPt" dir="tl"/>
          </a:scene3d>
          <a:sp3d prstMaterial="flat">
            <a:bevelT w="12700" h="25400" prst="coolSlant"/>
          </a:sp3d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accent1"/>
        </a:solidFill>
        <a:ln w="6350" cap="sq">
          <a:noFill/>
          <a:miter lim="800000"/>
        </a:ln>
      </a:spPr>
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spcBef>
            <a:spcPts val="300"/>
          </a:spcBef>
          <a:spcAft>
            <a:spcPts val="300"/>
          </a:spcAft>
          <a:defRPr sz="1600" dirty="0" err="1">
            <a:solidFill>
              <a:schemeClr val="bg1"/>
            </a:solidFill>
          </a:defRPr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6350" cap="flat">
          <a:solidFill>
            <a:schemeClr val="tx1"/>
          </a:solidFill>
          <a:miter lim="800000"/>
          <a:tailEnd type="none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ln w="6350">
          <a:noFill/>
          <a:miter lim="800000"/>
        </a:ln>
      </a:spPr>
      <a:bodyPr vert="horz" wrap="square" lIns="0" tIns="0" rIns="0" bIns="0" rtlCol="0">
        <a:noAutofit/>
      </a:bodyPr>
      <a:lstStyle>
        <a:defPPr algn="l">
          <a:spcBef>
            <a:spcPts val="300"/>
          </a:spcBef>
          <a:spcAft>
            <a:spcPts val="300"/>
          </a:spcAft>
          <a:buNone/>
          <a:defRPr sz="1600" dirty="0" smtClean="0"/>
        </a:defPPr>
      </a:lstStyle>
    </a:txDef>
  </a:objectDefaults>
  <a:extraClrSchemeLst>
    <a:extraClrScheme>
      <a:clrScheme name="Scheme White">
        <a:dk1>
          <a:srgbClr val="000000"/>
        </a:dk1>
        <a:lt1>
          <a:srgbClr val="FFFFFF"/>
        </a:lt1>
        <a:dk2>
          <a:srgbClr val="FFFFFF"/>
        </a:dk2>
        <a:lt2>
          <a:srgbClr val="FFFFFF"/>
        </a:lt2>
        <a:accent1>
          <a:srgbClr val="061F79"/>
        </a:accent1>
        <a:accent2>
          <a:srgbClr val="00A9F4"/>
        </a:accent2>
        <a:accent3>
          <a:srgbClr val="2251FF"/>
        </a:accent3>
        <a:accent4>
          <a:srgbClr val="99E6FF"/>
        </a:accent4>
        <a:accent5>
          <a:srgbClr val="0679C3"/>
        </a:accent5>
        <a:accent6>
          <a:srgbClr val="75F0E7"/>
        </a:accent6>
        <a:hlink>
          <a:srgbClr val="1F40E6"/>
        </a:hlink>
        <a:folHlink>
          <a:srgbClr val="8C5AC8"/>
        </a:folHlink>
      </a:clrScheme>
    </a:extraClrScheme>
  </a:extraClrSchemeLst>
  <a:custClrLst>
    <a:custClr name="Electric Blue 900">
      <a:srgbClr val="061F79"/>
    </a:custClr>
    <a:custClr name="Electric Blue 700">
      <a:srgbClr val="1537BA"/>
    </a:custClr>
    <a:custClr name="Electric Blue 500">
      <a:srgbClr val="2251FF"/>
    </a:custClr>
    <a:custClr name="Electric Blue 300">
      <a:srgbClr val="5E9DFF"/>
    </a:custClr>
    <a:custClr name="Electric Blue 200">
      <a:srgbClr val="99C4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Deep Blue 900">
      <a:srgbClr val="051C2C"/>
    </a:custClr>
    <a:custClr name="Electric Blue 800">
      <a:srgbClr val="0E2B99"/>
    </a:custClr>
    <a:custClr name="Electric Blue 500">
      <a:srgbClr val="2251FF"/>
    </a:custClr>
    <a:custClr name="Electric Blue 200">
      <a:srgbClr val="99C4FF"/>
    </a:custClr>
    <a:custClr name="Gray 10%">
      <a:srgbClr val="E6E6E6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Marine Green 900">
      <a:srgbClr val="108980"/>
    </a:custClr>
    <a:custClr name="Marine Green 700">
      <a:srgbClr val="14B8AB"/>
    </a:custClr>
    <a:custClr name="Marine Green 500">
      <a:srgbClr val="0BDACB"/>
    </a:custClr>
    <a:custClr name="Marine Green 300">
      <a:srgbClr val="75F0E7"/>
    </a:custClr>
    <a:custClr name="Sand Neutral 300">
      <a:srgbClr val="E6D7BC"/>
    </a:custClr>
    <a:custClr name="Crimson Red 300">
      <a:srgbClr val="F17E7E"/>
    </a:custClr>
    <a:custClr name="Crimson Red 500">
      <a:srgbClr val="E33B3B"/>
    </a:custClr>
    <a:custClr name="Crimson Red 700">
      <a:srgbClr val="B82525"/>
    </a:custClr>
    <a:custClr name="Crimson Red 900">
      <a:srgbClr val="8E0B0B"/>
    </a:custClr>
    <a:custClr name="Null">
      <a:srgbClr val="FEFFFF"/>
    </a:custClr>
    <a:custClr name="Gray 70%">
      <a:srgbClr val="4D4D4D"/>
    </a:custClr>
    <a:custClr name="Gray 54%">
      <a:srgbClr val="757575"/>
    </a:custClr>
    <a:custClr name="Gray 30%">
      <a:srgbClr val="B3B3B3"/>
    </a:custClr>
    <a:custClr name="Gray 20%">
      <a:srgbClr val="CCCCCC"/>
    </a:custClr>
    <a:custClr name="Gray 10%">
      <a:srgbClr val="E6E6E6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Marine Green 500">
      <a:srgbClr val="0BDACB"/>
    </a:custClr>
    <a:custClr name="Amber Yellow 500">
      <a:srgbClr val="FFA800"/>
    </a:custClr>
    <a:custClr name="Crimson Red 500">
      <a:srgbClr val="E33B3B"/>
    </a:custClr>
    <a:custClr name="Deep Blue 900">
      <a:srgbClr val="051C2C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  <a:custClr name="Null">
      <a:srgbClr val="FEFFFF"/>
    </a:custClr>
  </a:custClrLst>
  <a:extLst>
    <a:ext uri="{05A4C25C-085E-4340-85A3-A5531E510DB2}">
      <thm15:themeFamily xmlns:thm15="http://schemas.microsoft.com/office/thememl/2012/main" name="OneFirm-English (United States)-Wide.potx" id="{3930A782-7855-431F-B7AE-35B9494F4F2B}" vid="{DE15729B-A53C-4F17-8E30-E89302E1D290}"/>
    </a:ext>
  </a:extLst>
</a:theme>
</file>

<file path=ppt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34</TotalTime>
  <Words>911</Words>
  <Application>Microsoft Office PowerPoint</Application>
  <DocSecurity>0</DocSecurity>
  <PresentationFormat>Widescreen</PresentationFormat>
  <Paragraphs>116</Paragraphs>
  <Slides>4</Slides>
  <Notes>2</Notes>
  <HiddenSlides>0</HiddenSlides>
  <MMClips>0</MMClips>
  <ScaleCrop>false</ScaleCrop>
  <HeadingPairs>
    <vt:vector size="8" baseType="variant">
      <vt:variant>
        <vt:lpstr>Fonts Used</vt:lpstr>
      </vt:variant>
      <vt:variant>
        <vt:i4>5</vt:i4>
      </vt:variant>
      <vt:variant>
        <vt:lpstr>Theme</vt:lpstr>
      </vt:variant>
      <vt:variant>
        <vt:i4>2</vt:i4>
      </vt:variant>
      <vt:variant>
        <vt:lpstr>Embedded OLE Servers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12" baseType="lpstr">
      <vt:lpstr>Arial</vt:lpstr>
      <vt:lpstr>Calibri</vt:lpstr>
      <vt:lpstr>Georgia</vt:lpstr>
      <vt:lpstr>Segoe UI</vt:lpstr>
      <vt:lpstr>Wingdings</vt:lpstr>
      <vt:lpstr>ChatGPT</vt:lpstr>
      <vt:lpstr>White</vt:lpstr>
      <vt:lpstr>think-cell Slide</vt:lpstr>
      <vt:lpstr>PowerPoint Presentation</vt:lpstr>
      <vt:lpstr>TU is at an inflection point: choosing where AI creates value — and building the organization to deliver it</vt:lpstr>
      <vt:lpstr>AI transformation and Org of the future: questions we would answer</vt:lpstr>
      <vt:lpstr>~3-month program: building blocks across the two tracks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Parth Bahl</cp:lastModifiedBy>
  <cp:revision>4</cp:revision>
  <dcterms:created xsi:type="dcterms:W3CDTF">2026-07-22T01:21:12Z</dcterms:created>
  <dcterms:modified xsi:type="dcterms:W3CDTF">2026-07-22T02:23:34Z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83303d7c-e5a3-4cc8-90eb-69bfd7570ac4_Enabled">
    <vt:lpwstr>true</vt:lpwstr>
  </property>
  <property fmtid="{D5CDD505-2E9C-101B-9397-08002B2CF9AE}" pid="3" name="MSIP_Label_83303d7c-e5a3-4cc8-90eb-69bfd7570ac4_SetDate">
    <vt:lpwstr>2026-07-22T01:49:05Z</vt:lpwstr>
  </property>
  <property fmtid="{D5CDD505-2E9C-101B-9397-08002B2CF9AE}" pid="4" name="MSIP_Label_83303d7c-e5a3-4cc8-90eb-69bfd7570ac4_Method">
    <vt:lpwstr>Standard</vt:lpwstr>
  </property>
  <property fmtid="{D5CDD505-2E9C-101B-9397-08002B2CF9AE}" pid="5" name="MSIP_Label_83303d7c-e5a3-4cc8-90eb-69bfd7570ac4_Name">
    <vt:lpwstr>Client Confidential Information-SLV1</vt:lpwstr>
  </property>
  <property fmtid="{D5CDD505-2E9C-101B-9397-08002B2CF9AE}" pid="6" name="MSIP_Label_83303d7c-e5a3-4cc8-90eb-69bfd7570ac4_SiteId">
    <vt:lpwstr>cc8936bc-9382-4fff-87cb-6f55999549e7</vt:lpwstr>
  </property>
  <property fmtid="{D5CDD505-2E9C-101B-9397-08002B2CF9AE}" pid="7" name="MSIP_Label_83303d7c-e5a3-4cc8-90eb-69bfd7570ac4_ActionId">
    <vt:lpwstr>5c8b0095-4083-426e-a391-ac7f867ac3d9</vt:lpwstr>
  </property>
  <property fmtid="{D5CDD505-2E9C-101B-9397-08002B2CF9AE}" pid="8" name="MSIP_Label_83303d7c-e5a3-4cc8-90eb-69bfd7570ac4_ContentBits">
    <vt:lpwstr>0</vt:lpwstr>
  </property>
  <property fmtid="{D5CDD505-2E9C-101B-9397-08002B2CF9AE}" pid="9" name="MSIP_Label_83303d7c-e5a3-4cc8-90eb-69bfd7570ac4_Tag">
    <vt:lpwstr>10, 3, 0, 1</vt:lpwstr>
  </property>
</Properties>
</file>