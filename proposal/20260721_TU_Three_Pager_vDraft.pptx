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10.svg" ContentType="image/svg+xml"/>
  <Override PartName="/ppt/media/image11.svg" ContentType="image/svg+xml"/>
  <Override PartName="/ppt/media/image12.svg" ContentType="image/svg+xml"/>
  <Override PartName="/ppt/media/image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7"/>
  </p:notesMasterIdLst>
  <p:sldIdLst>
    <p:sldId id="256" r:id="rId3"/>
    <p:sldId id="263" r:id="rId4"/>
    <p:sldId id="262" r:id="rId5"/>
    <p:sldId id="261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7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883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tags" Target="../tags/tag31.xml"/><Relationship Id="rId9" Type="http://schemas.openxmlformats.org/officeDocument/2006/relationships/tags" Target="../tags/tag32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4.jpeg"/><Relationship Id="rId12" Type="http://schemas.openxmlformats.org/officeDocument/2006/relationships/image" Target="../media/image5.png"/><Relationship Id="rId13" Type="http://schemas.openxmlformats.org/officeDocument/2006/relationships/oleObject" Target="../embeddings/oleObject3.bin"/><Relationship Id="rId14" Type="http://schemas.openxmlformats.org/officeDocument/2006/relationships/image" Target="../media/image6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slideMaster" Target="../slideMasters/slideMaster2.xml"/><Relationship Id="rId10" Type="http://schemas.openxmlformats.org/officeDocument/2006/relationships/oleObject" Target="../embeddings/oleObject4.bin"/><Relationship Id="rId11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tags" Target="../tags/tag54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5.bin"/><Relationship Id="rId9" Type="http://schemas.openxmlformats.org/officeDocument/2006/relationships/image" Target="../media/image7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6.bin"/><Relationship Id="rId10" Type="http://schemas.openxmlformats.org/officeDocument/2006/relationships/image" Target="../media/image7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7.bin"/><Relationship Id="rId1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tags" Target="../tags/tag72.xml"/><Relationship Id="rId3" Type="http://schemas.openxmlformats.org/officeDocument/2006/relationships/tags" Target="../tags/tag73.xml"/><Relationship Id="rId4" Type="http://schemas.openxmlformats.org/officeDocument/2006/relationships/tags" Target="../tags/tag74.xml"/><Relationship Id="rId5" Type="http://schemas.openxmlformats.org/officeDocument/2006/relationships/tags" Target="../tags/tag75.xml"/><Relationship Id="rId6" Type="http://schemas.openxmlformats.org/officeDocument/2006/relationships/tags" Target="../tags/tag76.xml"/><Relationship Id="rId7" Type="http://schemas.openxmlformats.org/officeDocument/2006/relationships/tags" Target="../tags/tag77.xml"/><Relationship Id="rId8" Type="http://schemas.openxmlformats.org/officeDocument/2006/relationships/tags" Target="../tags/tag78.xml"/><Relationship Id="rId9" Type="http://schemas.openxmlformats.org/officeDocument/2006/relationships/tags" Target="../tags/tag7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tags" Target="../tags/tag85.xml"/><Relationship Id="rId7" Type="http://schemas.openxmlformats.org/officeDocument/2006/relationships/tags" Target="../tags/tag86.xml"/><Relationship Id="rId8" Type="http://schemas.openxmlformats.org/officeDocument/2006/relationships/tags" Target="../tags/tag87.xml"/><Relationship Id="rId9" Type="http://schemas.openxmlformats.org/officeDocument/2006/relationships/tags" Target="../tags/tag88.xml"/><Relationship Id="rId10" Type="http://schemas.openxmlformats.org/officeDocument/2006/relationships/tags" Target="../tags/tag89.xml"/><Relationship Id="rId11" Type="http://schemas.openxmlformats.org/officeDocument/2006/relationships/slideMaster" Target="../slideMasters/slideMaster2.xml"/><Relationship Id="rId12" Type="http://schemas.openxmlformats.org/officeDocument/2006/relationships/oleObject" Target="../embeddings/oleObject9.bin"/><Relationship Id="rId13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tags" Target="../tags/tag91.xml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Relationship Id="rId9" Type="http://schemas.openxmlformats.org/officeDocument/2006/relationships/tags" Target="../tags/tag98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0.bin"/><Relationship Id="rId12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3.xml"/><Relationship Id="rId2" Type="http://schemas.openxmlformats.org/officeDocument/2006/relationships/tags" Target="../tags/tag114.xml"/><Relationship Id="rId3" Type="http://schemas.openxmlformats.org/officeDocument/2006/relationships/tags" Target="../tags/tag115.xml"/><Relationship Id="rId4" Type="http://schemas.openxmlformats.org/officeDocument/2006/relationships/tags" Target="../tags/tag116.xml"/><Relationship Id="rId5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4.jpeg"/><Relationship Id="rId7" Type="http://schemas.openxmlformats.org/officeDocument/2006/relationships/oleObject" Target="../embeddings/oleObject11.bin"/><Relationship Id="rId8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artnership">
            <a:extLst>
              <a:ext uri="{FF2B5EF4-FFF2-40B4-BE49-F238E27FC236}">
                <a16:creationId xmlns:a16="http://schemas.microsoft.com/office/drawing/2014/main" id="{52B89695-D141-85AB-BEF2-DAF58FD754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238171" y="-8806"/>
            <a:ext cx="7953829" cy="6866806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4685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280F489B-6EA9-4D60-AD2D-A049B26FC92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CA" sz="1600" err="1">
              <a:solidFill>
                <a:schemeClr val="bg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03724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32854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5741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525252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6025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77867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6254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D9F2524B-0DC2-60F0-5C4E-8FA71D9DB6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err="1">
              <a:solidFill>
                <a:schemeClr val="bg1"/>
              </a:solidFill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13" imgH="416" progId="TCLayout.ActiveDocument.1">
                  <p:embed/>
                </p:oleObj>
              </mc:Choice>
              <mc:Fallback>
                <p:oleObj name="think-cell Slide" r:id="rId12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507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44026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9628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091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27660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7758516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6" Type="http://schemas.openxmlformats.org/officeDocument/2006/relationships/tags" Target="../tags/tag3.xml"/><Relationship Id="rId17" Type="http://schemas.openxmlformats.org/officeDocument/2006/relationships/tags" Target="../tags/tag4.xml"/><Relationship Id="rId18" Type="http://schemas.openxmlformats.org/officeDocument/2006/relationships/tags" Target="../tags/tag5.xml"/><Relationship Id="rId19" Type="http://schemas.openxmlformats.org/officeDocument/2006/relationships/tags" Target="../tags/tag6.xml"/><Relationship Id="rId20" Type="http://schemas.openxmlformats.org/officeDocument/2006/relationships/tags" Target="../tags/tag7.xml"/><Relationship Id="rId21" Type="http://schemas.openxmlformats.org/officeDocument/2006/relationships/tags" Target="../tags/tag8.xml"/><Relationship Id="rId22" Type="http://schemas.openxmlformats.org/officeDocument/2006/relationships/tags" Target="../tags/tag9.xml"/><Relationship Id="rId23" Type="http://schemas.openxmlformats.org/officeDocument/2006/relationships/tags" Target="../tags/tag10.xml"/><Relationship Id="rId24" Type="http://schemas.openxmlformats.org/officeDocument/2006/relationships/tags" Target="../tags/tag11.xml"/><Relationship Id="rId25" Type="http://schemas.openxmlformats.org/officeDocument/2006/relationships/tags" Target="../tags/tag12.xml"/><Relationship Id="rId26" Type="http://schemas.openxmlformats.org/officeDocument/2006/relationships/tags" Target="../tags/tag13.xml"/><Relationship Id="rId27" Type="http://schemas.openxmlformats.org/officeDocument/2006/relationships/tags" Target="../tags/tag14.xml"/><Relationship Id="rId28" Type="http://schemas.openxmlformats.org/officeDocument/2006/relationships/tags" Target="../tags/tag15.xml"/><Relationship Id="rId29" Type="http://schemas.openxmlformats.org/officeDocument/2006/relationships/tags" Target="../tags/tag16.xml"/><Relationship Id="rId30" Type="http://schemas.openxmlformats.org/officeDocument/2006/relationships/tags" Target="../tags/tag17.xml"/><Relationship Id="rId31" Type="http://schemas.openxmlformats.org/officeDocument/2006/relationships/tags" Target="../tags/tag18.xml"/><Relationship Id="rId32" Type="http://schemas.openxmlformats.org/officeDocument/2006/relationships/tags" Target="../tags/tag19.xml"/><Relationship Id="rId33" Type="http://schemas.openxmlformats.org/officeDocument/2006/relationships/tags" Target="../tags/tag20.xml"/><Relationship Id="rId34" Type="http://schemas.openxmlformats.org/officeDocument/2006/relationships/tags" Target="../tags/tag21.xml"/><Relationship Id="rId35" Type="http://schemas.openxmlformats.org/officeDocument/2006/relationships/tags" Target="../tags/tag22.xml"/><Relationship Id="rId36" Type="http://schemas.openxmlformats.org/officeDocument/2006/relationships/tags" Target="../tags/tag23.xml"/><Relationship Id="rId37" Type="http://schemas.openxmlformats.org/officeDocument/2006/relationships/oleObject" Target="../embeddings/oleObject2.bin"/><Relationship Id="rId38" Type="http://schemas.openxmlformats.org/officeDocument/2006/relationships/image" Target="../media/image2.emf"/><Relationship Id="rId3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903B509-CF78-8702-6A3E-9525845958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05652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8" imgH="428" progId="TCLayout.ActiveDocument.1">
                  <p:embed/>
                </p:oleObj>
              </mc:Choice>
              <mc:Fallback>
                <p:oleObj name="think-cell Slide" r:id="rId4" imgW="428" imgH="42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412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23.xml"/><Relationship Id="rId2" Type="http://schemas.openxmlformats.org/officeDocument/2006/relationships/tags" Target="../tags/tag124.xml"/><Relationship Id="rId3" Type="http://schemas.openxmlformats.org/officeDocument/2006/relationships/tags" Target="../tags/tag125.xml"/><Relationship Id="rId4" Type="http://schemas.openxmlformats.org/officeDocument/2006/relationships/slideLayout" Target="../slideLayouts/slideLayout3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tags" Target="../tags/tag127.xml"/><Relationship Id="rId3" Type="http://schemas.openxmlformats.org/officeDocument/2006/relationships/tags" Target="../tags/tag128.xml"/><Relationship Id="rId4" Type="http://schemas.openxmlformats.org/officeDocument/2006/relationships/tags" Target="../tags/tag129.xml"/><Relationship Id="rId5" Type="http://schemas.openxmlformats.org/officeDocument/2006/relationships/tags" Target="../tags/tag130.xml"/><Relationship Id="rId6" Type="http://schemas.openxmlformats.org/officeDocument/2006/relationships/tags" Target="../tags/tag131.xml"/><Relationship Id="rId7" Type="http://schemas.openxmlformats.org/officeDocument/2006/relationships/tags" Target="../tags/tag132.xml"/><Relationship Id="rId8" Type="http://schemas.openxmlformats.org/officeDocument/2006/relationships/tags" Target="../tags/tag133.xml"/><Relationship Id="rId9" Type="http://schemas.openxmlformats.org/officeDocument/2006/relationships/tags" Target="../tags/tag134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Relationship Id="rId12" Type="http://schemas.openxmlformats.org/officeDocument/2006/relationships/oleObject" Target="../embeddings/oleObject14.bin"/><Relationship Id="rId13" Type="http://schemas.openxmlformats.org/officeDocument/2006/relationships/image" Target="../media/image1.emf"/><Relationship Id="rId14" Type="http://schemas.openxmlformats.org/officeDocument/2006/relationships/image" Target="../media/image9.svg"/><Relationship Id="rId15" Type="http://schemas.openxmlformats.org/officeDocument/2006/relationships/image" Target="../media/image1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slideLayout" Target="../slideLayouts/slideLayout3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1.emf"/><Relationship Id="rId7" Type="http://schemas.openxmlformats.org/officeDocument/2006/relationships/image" Target="../media/image11.svg"/><Relationship Id="rId8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think-cell data - do not delete" hidden="1">
            <a:extLst>
              <a:ext uri="{FF2B5EF4-FFF2-40B4-BE49-F238E27FC236}">
                <a16:creationId xmlns:a16="http://schemas.microsoft.com/office/drawing/2014/main" id="{35359B35-1B63-030F-DC35-356FA11510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1672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8" imgH="428" progId="TCLayout.ActiveDocument.1">
                  <p:embed/>
                </p:oleObj>
              </mc:Choice>
              <mc:Fallback>
                <p:oleObj name="think-cell Slide" r:id="rId5" imgW="428" imgH="42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Slide title">
            <a:extLst>
              <a:ext uri="{FF2B5EF4-FFF2-40B4-BE49-F238E27FC236}">
                <a16:creationId xmlns:a16="http://schemas.microsoft.com/office/drawing/2014/main" id="{7020821A-3E97-487C-8E1A-D132B7321E89}"/>
              </a:ext>
            </a:extLst>
          </p:cNvPr>
          <p:cNvSpPr>
            <a:spLocks noGrp="1"/>
          </p:cNvSpPr>
          <p:nvPr/>
        </p:nvSpPr>
        <p:spPr>
          <a:xfrm>
            <a:off x="554736" y="176213"/>
            <a:ext cx="1108233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>
              <a:defRPr sz="2500" b="1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lang="en-US" b="1" dirty="0">
                <a:solidFill>
                  <a:srgbClr val="2251FF"/>
                </a:solidFill>
              </a:rPr>
              <a:t>TU is at an inflection point: </a:t>
            </a:r>
            <a:r>
              <a:rPr lang="en-US" b="1" dirty="0">
                <a:solidFill>
                  <a:srgbClr val="000000"/>
                </a:solidFill>
              </a:rPr>
              <a:t>choosing where AI creates value — and building the organization to deliver it</a:t>
            </a:r>
            <a:endParaRPr sz="2500" b="1" dirty="0">
              <a:solidFill>
                <a:srgbClr val="111111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" name="Platform evolution arrow">
            <a:extLst>
              <a:ext uri="{FF2B5EF4-FFF2-40B4-BE49-F238E27FC236}">
                <a16:creationId xmlns:a16="http://schemas.microsoft.com/office/drawing/2014/main" id="{3939108F-0A7E-44A9-95B2-0B04E439E07F}"/>
              </a:ext>
            </a:extLst>
          </p:cNvPr>
          <p:cNvSpPr>
            <a:spLocks noGrp="1"/>
          </p:cNvSpPr>
          <p:nvPr/>
        </p:nvSpPr>
        <p:spPr>
          <a:xfrm>
            <a:off x="904875" y="2191814"/>
            <a:ext cx="3755011" cy="190500"/>
          </a:xfrm>
          <a:prstGeom prst="rightArrow">
            <a:avLst/>
          </a:prstGeom>
          <a:solidFill>
            <a:srgbClr val="DCE8FF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AI ambition arrow">
            <a:extLst>
              <a:ext uri="{FF2B5EF4-FFF2-40B4-BE49-F238E27FC236}">
                <a16:creationId xmlns:a16="http://schemas.microsoft.com/office/drawing/2014/main" id="{441A4497-081E-425E-9AB9-370102B15AA8}"/>
              </a:ext>
            </a:extLst>
          </p:cNvPr>
          <p:cNvSpPr>
            <a:spLocks noGrp="1"/>
          </p:cNvSpPr>
          <p:nvPr/>
        </p:nvSpPr>
        <p:spPr>
          <a:xfrm>
            <a:off x="904875" y="4430891"/>
            <a:ext cx="3857625" cy="190500"/>
          </a:xfrm>
          <a:prstGeom prst="rightArrow">
            <a:avLst/>
          </a:prstGeom>
          <a:solidFill>
            <a:srgbClr val="D8F4F4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Platform convergence arrow">
            <a:extLst>
              <a:ext uri="{FF2B5EF4-FFF2-40B4-BE49-F238E27FC236}">
                <a16:creationId xmlns:a16="http://schemas.microsoft.com/office/drawing/2014/main" id="{BFCCA48E-84DF-4A2E-82A3-45AB7F1C4718}"/>
              </a:ext>
            </a:extLst>
          </p:cNvPr>
          <p:cNvSpPr>
            <a:spLocks noGrp="1"/>
          </p:cNvSpPr>
          <p:nvPr/>
        </p:nvSpPr>
        <p:spPr>
          <a:xfrm rot="1440000">
            <a:off x="4495799" y="2467321"/>
            <a:ext cx="1428750" cy="190500"/>
          </a:xfrm>
          <a:prstGeom prst="rightArrow">
            <a:avLst/>
          </a:prstGeom>
          <a:solidFill>
            <a:srgbClr val="DCE8FF"/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AI convergence arrow">
            <a:extLst>
              <a:ext uri="{FF2B5EF4-FFF2-40B4-BE49-F238E27FC236}">
                <a16:creationId xmlns:a16="http://schemas.microsoft.com/office/drawing/2014/main" id="{EDE2F0F9-B3D9-4117-AFAE-8C57AD0C5AF4}"/>
              </a:ext>
            </a:extLst>
          </p:cNvPr>
          <p:cNvSpPr>
            <a:spLocks noGrp="1"/>
          </p:cNvSpPr>
          <p:nvPr/>
        </p:nvSpPr>
        <p:spPr>
          <a:xfrm rot="19700478">
            <a:off x="4594567" y="4045751"/>
            <a:ext cx="1428750" cy="190500"/>
          </a:xfrm>
          <a:prstGeom prst="rightArrow">
            <a:avLst/>
          </a:prstGeom>
          <a:solidFill>
            <a:srgbClr val="D8F4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21B506-14EA-4C28-A629-E96C15C27700}"/>
              </a:ext>
            </a:extLst>
          </p:cNvPr>
          <p:cNvSpPr>
            <a:spLocks noGrp="1"/>
          </p:cNvSpPr>
          <p:nvPr/>
        </p:nvSpPr>
        <p:spPr>
          <a:xfrm>
            <a:off x="554736" y="1667939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061F79"/>
                </a:solidFill>
                <a:latin typeface="Arial"/>
                <a:ea typeface="Arial"/>
                <a:cs typeface="Arial"/>
              </a:rPr>
              <a:t>Platform evolution</a:t>
            </a:r>
          </a:p>
        </p:txBody>
      </p:sp>
      <p:sp>
        <p:nvSpPr>
          <p:cNvPr id="8" name="Circle ">
            <a:extLst>
              <a:ext uri="{FF2B5EF4-FFF2-40B4-BE49-F238E27FC236}">
                <a16:creationId xmlns:a16="http://schemas.microsoft.com/office/drawing/2014/main" id="{65FAC924-11FD-4A6D-9DE4-95B78FFF50DE}"/>
              </a:ext>
            </a:extLst>
          </p:cNvPr>
          <p:cNvSpPr>
            <a:spLocks noGrp="1"/>
          </p:cNvSpPr>
          <p:nvPr/>
        </p:nvSpPr>
        <p:spPr>
          <a:xfrm>
            <a:off x="933450" y="2134664"/>
            <a:ext cx="266700" cy="266700"/>
          </a:xfrm>
          <a:prstGeom prst="ellipse">
            <a:avLst/>
          </a:prstGeom>
          <a:solidFill>
            <a:srgbClr val="D1D5D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ircle ">
            <a:extLst>
              <a:ext uri="{FF2B5EF4-FFF2-40B4-BE49-F238E27FC236}">
                <a16:creationId xmlns:a16="http://schemas.microsoft.com/office/drawing/2014/main" id="{B9CE081D-DFD2-4EA4-B5FC-4DA508A842F7}"/>
              </a:ext>
            </a:extLst>
          </p:cNvPr>
          <p:cNvSpPr>
            <a:spLocks noGrp="1"/>
          </p:cNvSpPr>
          <p:nvPr/>
        </p:nvSpPr>
        <p:spPr>
          <a:xfrm>
            <a:off x="2524125" y="2134664"/>
            <a:ext cx="266700" cy="266700"/>
          </a:xfrm>
          <a:prstGeom prst="ellipse">
            <a:avLst/>
          </a:prstGeom>
          <a:solidFill>
            <a:srgbClr val="D1D5D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ircle ">
            <a:extLst>
              <a:ext uri="{FF2B5EF4-FFF2-40B4-BE49-F238E27FC236}">
                <a16:creationId xmlns:a16="http://schemas.microsoft.com/office/drawing/2014/main" id="{A64ADD26-CD44-41BC-B67C-F1A7A8A593CC}"/>
              </a:ext>
            </a:extLst>
          </p:cNvPr>
          <p:cNvSpPr>
            <a:spLocks noGrp="1"/>
          </p:cNvSpPr>
          <p:nvPr/>
        </p:nvSpPr>
        <p:spPr>
          <a:xfrm>
            <a:off x="4219575" y="2134664"/>
            <a:ext cx="266700" cy="266700"/>
          </a:xfrm>
          <a:prstGeom prst="ellipse">
            <a:avLst/>
          </a:prstGeom>
          <a:solidFill>
            <a:srgbClr val="2251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2461ED-E51C-4BAA-92EF-D2380E23BE46}"/>
              </a:ext>
            </a:extLst>
          </p:cNvPr>
          <p:cNvSpPr>
            <a:spLocks noGrp="1"/>
          </p:cNvSpPr>
          <p:nvPr/>
        </p:nvSpPr>
        <p:spPr>
          <a:xfrm>
            <a:off x="666750" y="2439464"/>
            <a:ext cx="1047750" cy="430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ctr">
              <a:defRPr sz="1275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Credit bureau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0B02EF-4D42-42B0-9071-300E191543A5}"/>
              </a:ext>
            </a:extLst>
          </p:cNvPr>
          <p:cNvSpPr>
            <a:spLocks noGrp="1"/>
          </p:cNvSpPr>
          <p:nvPr/>
        </p:nvSpPr>
        <p:spPr>
          <a:xfrm>
            <a:off x="2057400" y="2439464"/>
            <a:ext cx="1285875" cy="430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ctr">
              <a:defRPr sz="1275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4B5563"/>
                </a:solidFill>
                <a:latin typeface="Arial"/>
                <a:ea typeface="Arial"/>
                <a:cs typeface="Arial"/>
              </a:rPr>
              <a:t>Product company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A5FAB9-65EF-4555-8150-40AFB5E79819}"/>
              </a:ext>
            </a:extLst>
          </p:cNvPr>
          <p:cNvSpPr>
            <a:spLocks noGrp="1"/>
          </p:cNvSpPr>
          <p:nvPr/>
        </p:nvSpPr>
        <p:spPr>
          <a:xfrm>
            <a:off x="3733800" y="2439464"/>
            <a:ext cx="1285875" cy="430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ctr">
              <a:defRPr sz="1275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61F79"/>
                </a:solidFill>
                <a:latin typeface="Arial"/>
                <a:ea typeface="Arial"/>
                <a:cs typeface="Arial"/>
              </a:rPr>
              <a:t>Platform company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9C95C8-217E-4584-9AD6-04CA8AE92890}"/>
              </a:ext>
            </a:extLst>
          </p:cNvPr>
          <p:cNvSpPr>
            <a:spLocks noGrp="1"/>
          </p:cNvSpPr>
          <p:nvPr/>
        </p:nvSpPr>
        <p:spPr>
          <a:xfrm>
            <a:off x="3762375" y="2940149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63" i="1">
                <a:solidFill>
                  <a:srgbClr val="2251FF"/>
                </a:solidFill>
                <a:latin typeface="Arial"/>
                <a:ea typeface="Arial"/>
                <a:cs typeface="Arial"/>
              </a:defRPr>
            </a:pPr>
            <a:r>
              <a:rPr sz="1163" b="1" dirty="0">
                <a:solidFill>
                  <a:srgbClr val="2251FF"/>
                </a:solidFill>
                <a:latin typeface="Arial"/>
                <a:ea typeface="Arial"/>
                <a:cs typeface="Arial"/>
              </a:rPr>
              <a:t>Thin products on</a:t>
            </a:r>
          </a:p>
          <a:p>
            <a:pPr algn="ctr">
              <a:defRPr sz="1163" i="1">
                <a:solidFill>
                  <a:srgbClr val="2251FF"/>
                </a:solidFill>
                <a:latin typeface="Arial"/>
                <a:ea typeface="Arial"/>
                <a:cs typeface="Arial"/>
              </a:defRPr>
            </a:pPr>
            <a:r>
              <a:rPr sz="1163" b="1" dirty="0">
                <a:solidFill>
                  <a:srgbClr val="2251FF"/>
                </a:solidFill>
                <a:latin typeface="Arial"/>
                <a:ea typeface="Arial"/>
                <a:cs typeface="Arial"/>
              </a:rPr>
              <a:t>thick platforms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B3EB98-74AF-4EAE-ACC9-FE71B675DADF}"/>
              </a:ext>
            </a:extLst>
          </p:cNvPr>
          <p:cNvSpPr>
            <a:spLocks noGrp="1"/>
          </p:cNvSpPr>
          <p:nvPr/>
        </p:nvSpPr>
        <p:spPr>
          <a:xfrm>
            <a:off x="554736" y="3913172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61F79"/>
                </a:solidFill>
                <a:latin typeface="Arial"/>
                <a:ea typeface="Arial"/>
                <a:cs typeface="Arial"/>
              </a:rPr>
              <a:t>AI ambition</a:t>
            </a:r>
          </a:p>
        </p:txBody>
      </p:sp>
      <p:sp>
        <p:nvSpPr>
          <p:cNvPr id="16" name="Circle ">
            <a:extLst>
              <a:ext uri="{FF2B5EF4-FFF2-40B4-BE49-F238E27FC236}">
                <a16:creationId xmlns:a16="http://schemas.microsoft.com/office/drawing/2014/main" id="{2F9B2BFD-2CE6-4E21-B844-DE12F71D4627}"/>
              </a:ext>
            </a:extLst>
          </p:cNvPr>
          <p:cNvSpPr>
            <a:spLocks noGrp="1"/>
          </p:cNvSpPr>
          <p:nvPr/>
        </p:nvSpPr>
        <p:spPr>
          <a:xfrm>
            <a:off x="933450" y="4379897"/>
            <a:ext cx="266700" cy="266700"/>
          </a:xfrm>
          <a:prstGeom prst="ellipse">
            <a:avLst/>
          </a:prstGeom>
          <a:solidFill>
            <a:srgbClr val="D1D5DB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ircle ">
            <a:extLst>
              <a:ext uri="{FF2B5EF4-FFF2-40B4-BE49-F238E27FC236}">
                <a16:creationId xmlns:a16="http://schemas.microsoft.com/office/drawing/2014/main" id="{14F4DD65-49B3-4C1B-A274-F557BB0CB043}"/>
              </a:ext>
            </a:extLst>
          </p:cNvPr>
          <p:cNvSpPr>
            <a:spLocks noGrp="1"/>
          </p:cNvSpPr>
          <p:nvPr/>
        </p:nvSpPr>
        <p:spPr>
          <a:xfrm>
            <a:off x="2524125" y="4379897"/>
            <a:ext cx="266700" cy="266700"/>
          </a:xfrm>
          <a:prstGeom prst="ellipse">
            <a:avLst/>
          </a:prstGeom>
          <a:solidFill>
            <a:srgbClr val="00A9F4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ircle ">
            <a:extLst>
              <a:ext uri="{FF2B5EF4-FFF2-40B4-BE49-F238E27FC236}">
                <a16:creationId xmlns:a16="http://schemas.microsoft.com/office/drawing/2014/main" id="{4E62547A-31FB-41C9-9509-37F287A3F9FB}"/>
              </a:ext>
            </a:extLst>
          </p:cNvPr>
          <p:cNvSpPr>
            <a:spLocks noGrp="1"/>
          </p:cNvSpPr>
          <p:nvPr/>
        </p:nvSpPr>
        <p:spPr>
          <a:xfrm>
            <a:off x="4219575" y="4379897"/>
            <a:ext cx="266700" cy="266700"/>
          </a:xfrm>
          <a:prstGeom prst="ellipse">
            <a:avLst/>
          </a:prstGeom>
          <a:solidFill>
            <a:srgbClr val="2251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4F6AA1-0E80-436E-BFA9-F0E28765501D}"/>
              </a:ext>
            </a:extLst>
          </p:cNvPr>
          <p:cNvSpPr>
            <a:spLocks noGrp="1"/>
          </p:cNvSpPr>
          <p:nvPr/>
        </p:nvSpPr>
        <p:spPr>
          <a:xfrm>
            <a:off x="666522" y="4684697"/>
            <a:ext cx="796693" cy="215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spAutoFit/>
          </a:bodyPr>
          <a:lstStyle/>
          <a:p>
            <a:pPr algn="ctr">
              <a:defRPr sz="1275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AI </a:t>
            </a:r>
            <a:r>
              <a:rPr lang="en-U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curious</a:t>
            </a:r>
            <a:endParaRPr sz="1400" dirty="0">
              <a:solidFill>
                <a:srgbClr val="4B55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14C52B-4D71-410C-B6CC-47AB2250F88E}"/>
              </a:ext>
            </a:extLst>
          </p:cNvPr>
          <p:cNvSpPr>
            <a:spLocks noGrp="1"/>
          </p:cNvSpPr>
          <p:nvPr/>
        </p:nvSpPr>
        <p:spPr>
          <a:xfrm>
            <a:off x="2057400" y="4684697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AI pilots and experiments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B5D9D-0CAD-469F-A688-D81EC5B20357}"/>
              </a:ext>
            </a:extLst>
          </p:cNvPr>
          <p:cNvSpPr>
            <a:spLocks noGrp="1"/>
          </p:cNvSpPr>
          <p:nvPr/>
        </p:nvSpPr>
        <p:spPr>
          <a:xfrm>
            <a:off x="3667125" y="4684697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lang="en-US" sz="1400" b="1" dirty="0">
                <a:solidFill>
                  <a:srgbClr val="061F79"/>
                </a:solidFill>
                <a:latin typeface="Arial"/>
                <a:ea typeface="Arial"/>
                <a:cs typeface="Arial"/>
              </a:rPr>
              <a:t>Deciding AI priority domains</a:t>
            </a:r>
            <a:endParaRPr sz="1400" b="1" dirty="0">
              <a:solidFill>
                <a:srgbClr val="061F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DD8700-C08C-425B-96CA-EB410F658144}"/>
              </a:ext>
            </a:extLst>
          </p:cNvPr>
          <p:cNvSpPr>
            <a:spLocks noGrp="1"/>
          </p:cNvSpPr>
          <p:nvPr/>
        </p:nvSpPr>
        <p:spPr>
          <a:xfrm>
            <a:off x="3876674" y="5147214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163" b="1" i="1" dirty="0">
                <a:solidFill>
                  <a:srgbClr val="2251FF"/>
                </a:solidFill>
                <a:latin typeface="Arial"/>
                <a:cs typeface="Arial"/>
              </a:rPr>
              <a:t>Early today</a:t>
            </a:r>
          </a:p>
        </p:txBody>
      </p:sp>
      <p:sp>
        <p:nvSpPr>
          <p:cNvPr id="24" name="Value agenda">
            <a:extLst>
              <a:ext uri="{FF2B5EF4-FFF2-40B4-BE49-F238E27FC236}">
                <a16:creationId xmlns:a16="http://schemas.microsoft.com/office/drawing/2014/main" id="{53593066-4110-46B1-AB6D-14D0520D6B48}"/>
              </a:ext>
            </a:extLst>
          </p:cNvPr>
          <p:cNvSpPr>
            <a:spLocks noGrp="1"/>
          </p:cNvSpPr>
          <p:nvPr/>
        </p:nvSpPr>
        <p:spPr>
          <a:xfrm>
            <a:off x="6705600" y="1238250"/>
            <a:ext cx="4924425" cy="1790700"/>
          </a:xfrm>
          <a:prstGeom prst="roundRect">
            <a:avLst>
              <a:gd name="adj" fmla="val 4255"/>
            </a:avLst>
          </a:prstGeom>
          <a:solidFill>
            <a:srgbClr val="EEF3FF"/>
          </a:solidFill>
          <a:ln w="9525">
            <a:solidFill>
              <a:srgbClr val="061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050C02-24F4-452D-AA0E-D4138AC7E531}"/>
              </a:ext>
            </a:extLst>
          </p:cNvPr>
          <p:cNvSpPr>
            <a:spLocks noGrp="1"/>
          </p:cNvSpPr>
          <p:nvPr/>
        </p:nvSpPr>
        <p:spPr>
          <a:xfrm>
            <a:off x="6705600" y="1238250"/>
            <a:ext cx="76200" cy="1790700"/>
          </a:xfrm>
          <a:prstGeom prst="rect">
            <a:avLst/>
          </a:prstGeom>
          <a:solidFill>
            <a:srgbClr val="225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Circle 1">
            <a:extLst>
              <a:ext uri="{FF2B5EF4-FFF2-40B4-BE49-F238E27FC236}">
                <a16:creationId xmlns:a16="http://schemas.microsoft.com/office/drawing/2014/main" id="{D8C8DC3A-EEB7-4562-A8B6-66BEE2F85FDD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361950" cy="361950"/>
          </a:xfrm>
          <a:prstGeom prst="ellipse">
            <a:avLst/>
          </a:prstGeom>
          <a:solidFill>
            <a:srgbClr val="2251FF"/>
          </a:solidFill>
          <a:ln w="9525">
            <a:solidFill>
              <a:srgbClr val="2251FF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58F858-7587-4E24-BE82-BFD53E588AF4}"/>
              </a:ext>
            </a:extLst>
          </p:cNvPr>
          <p:cNvSpPr>
            <a:spLocks noGrp="1"/>
          </p:cNvSpPr>
          <p:nvPr/>
        </p:nvSpPr>
        <p:spPr>
          <a:xfrm>
            <a:off x="7410450" y="1409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2251FF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>
                <a:solidFill>
                  <a:srgbClr val="2251FF"/>
                </a:solidFill>
                <a:latin typeface="Arial"/>
                <a:ea typeface="Arial"/>
                <a:cs typeface="Arial"/>
              </a:rPr>
              <a:t>AI Domain Transformation</a:t>
            </a:r>
            <a:endParaRPr sz="1125" b="1" dirty="0">
              <a:solidFill>
                <a:srgbClr val="2251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A69CB4-A10C-4968-BEBC-7F98DD8937C8}"/>
              </a:ext>
            </a:extLst>
          </p:cNvPr>
          <p:cNvSpPr>
            <a:spLocks noGrp="1"/>
          </p:cNvSpPr>
          <p:nvPr/>
        </p:nvSpPr>
        <p:spPr>
          <a:xfrm>
            <a:off x="7000875" y="1807845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Prioritize and transform the domains where AI can create outsized value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A6A6FB-9DC0-45FF-8CC7-C4946173F117}"/>
              </a:ext>
            </a:extLst>
          </p:cNvPr>
          <p:cNvSpPr>
            <a:spLocks noGrp="1"/>
          </p:cNvSpPr>
          <p:nvPr/>
        </p:nvSpPr>
        <p:spPr>
          <a:xfrm>
            <a:off x="7000875" y="2724150"/>
            <a:ext cx="4477188" cy="1905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spAutoFit/>
          </a:bodyPr>
          <a:lstStyle/>
          <a:p>
            <a:pPr algn="ctr">
              <a:defRPr sz="1238" b="1">
                <a:solidFill>
                  <a:srgbClr val="0679C3"/>
                </a:solidFill>
                <a:latin typeface="Arial"/>
                <a:ea typeface="Arial"/>
                <a:cs typeface="Arial"/>
              </a:defRPr>
            </a:pPr>
            <a:r>
              <a:rPr sz="1238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Map value pools → </a:t>
            </a:r>
            <a:r>
              <a:rPr lang="en-US" sz="1238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C</a:t>
            </a:r>
            <a:r>
              <a:rPr sz="1238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hoose the bets → </a:t>
            </a:r>
            <a:r>
              <a:rPr lang="en-US" sz="1238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S</a:t>
            </a:r>
            <a:r>
              <a:rPr sz="1238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equence execution</a:t>
            </a:r>
          </a:p>
        </p:txBody>
      </p:sp>
      <p:sp>
        <p:nvSpPr>
          <p:cNvPr id="32" name="Organization agenda">
            <a:extLst>
              <a:ext uri="{FF2B5EF4-FFF2-40B4-BE49-F238E27FC236}">
                <a16:creationId xmlns:a16="http://schemas.microsoft.com/office/drawing/2014/main" id="{F2EB8D59-0CDA-4F89-BBE2-C8FBB6F1FC6E}"/>
              </a:ext>
            </a:extLst>
          </p:cNvPr>
          <p:cNvSpPr>
            <a:spLocks noGrp="1"/>
          </p:cNvSpPr>
          <p:nvPr/>
        </p:nvSpPr>
        <p:spPr>
          <a:xfrm>
            <a:off x="6705600" y="3333750"/>
            <a:ext cx="4924425" cy="2095500"/>
          </a:xfrm>
          <a:prstGeom prst="roundRect">
            <a:avLst>
              <a:gd name="adj" fmla="val 3636"/>
            </a:avLst>
          </a:prstGeom>
          <a:solidFill>
            <a:srgbClr val="F0FBFC"/>
          </a:solidFill>
          <a:ln w="9525">
            <a:solidFill>
              <a:srgbClr val="061F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1B4BCD-A4A5-4F06-AADE-4AD2A69DC92A}"/>
              </a:ext>
            </a:extLst>
          </p:cNvPr>
          <p:cNvSpPr>
            <a:spLocks noGrp="1"/>
          </p:cNvSpPr>
          <p:nvPr/>
        </p:nvSpPr>
        <p:spPr>
          <a:xfrm>
            <a:off x="6705600" y="3333750"/>
            <a:ext cx="76200" cy="2095500"/>
          </a:xfrm>
          <a:prstGeom prst="rect">
            <a:avLst/>
          </a:prstGeom>
          <a:solidFill>
            <a:srgbClr val="0679C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Circle 2">
            <a:extLst>
              <a:ext uri="{FF2B5EF4-FFF2-40B4-BE49-F238E27FC236}">
                <a16:creationId xmlns:a16="http://schemas.microsoft.com/office/drawing/2014/main" id="{E0082328-85A1-4F15-93A7-09851791F0D6}"/>
              </a:ext>
            </a:extLst>
          </p:cNvPr>
          <p:cNvSpPr>
            <a:spLocks noGrp="1"/>
          </p:cNvSpPr>
          <p:nvPr/>
        </p:nvSpPr>
        <p:spPr>
          <a:xfrm>
            <a:off x="6915150" y="3505200"/>
            <a:ext cx="361950" cy="361950"/>
          </a:xfrm>
          <a:prstGeom prst="ellipse">
            <a:avLst/>
          </a:prstGeom>
          <a:solidFill>
            <a:srgbClr val="0679C3"/>
          </a:solidFill>
          <a:ln w="9525">
            <a:solidFill>
              <a:srgbClr val="0679C3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427058-BE3B-401A-80DB-2606533A40D0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2238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1">
                <a:solidFill>
                  <a:srgbClr val="0679C3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Organization of the future</a:t>
            </a:r>
            <a:endParaRPr sz="1125" b="1" dirty="0">
              <a:solidFill>
                <a:srgbClr val="0679C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8DC006-83FC-47DC-B142-4F68FE7FC8CB}"/>
              </a:ext>
            </a:extLst>
          </p:cNvPr>
          <p:cNvSpPr>
            <a:spLocks noGrp="1"/>
          </p:cNvSpPr>
          <p:nvPr/>
        </p:nvSpPr>
        <p:spPr>
          <a:xfrm>
            <a:off x="7000875" y="3903345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the platform- and AI-ready enterprise that can sustain the value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A14225-98C7-4A4D-9CD9-A7FF188DFBB7}"/>
              </a:ext>
            </a:extLst>
          </p:cNvPr>
          <p:cNvSpPr>
            <a:spLocks noGrp="1"/>
          </p:cNvSpPr>
          <p:nvPr/>
        </p:nvSpPr>
        <p:spPr>
          <a:xfrm>
            <a:off x="7000875" y="4528259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>
                <a:solidFill>
                  <a:srgbClr val="0679C3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Across f</a:t>
            </a:r>
            <a:r>
              <a:rPr sz="1200" b="1" dirty="0">
                <a:solidFill>
                  <a:srgbClr val="0679C3"/>
                </a:solidFill>
                <a:latin typeface="Arial"/>
                <a:ea typeface="Arial"/>
                <a:cs typeface="Arial"/>
              </a:rPr>
              <a:t>ive linked design fronts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52531E-541D-46BF-AA95-E0F3EFD69B13}"/>
              </a:ext>
            </a:extLst>
          </p:cNvPr>
          <p:cNvSpPr>
            <a:spLocks noGrp="1"/>
          </p:cNvSpPr>
          <p:nvPr/>
        </p:nvSpPr>
        <p:spPr>
          <a:xfrm>
            <a:off x="6924675" y="4856686"/>
            <a:ext cx="781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Org</a:t>
            </a:r>
          </a:p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hygiene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32A12D9A-ADD3-4988-93FD-AF95B8097E1E}"/>
              </a:ext>
            </a:extLst>
          </p:cNvPr>
          <p:cNvSpPr>
            <a:spLocks noGrp="1"/>
          </p:cNvSpPr>
          <p:nvPr/>
        </p:nvSpPr>
        <p:spPr>
          <a:xfrm>
            <a:off x="7775972" y="4837636"/>
            <a:ext cx="0" cy="47625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679C3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75AC96-C2F8-4D6F-AAF1-8E733DD35D77}"/>
              </a:ext>
            </a:extLst>
          </p:cNvPr>
          <p:cNvSpPr>
            <a:spLocks noGrp="1"/>
          </p:cNvSpPr>
          <p:nvPr/>
        </p:nvSpPr>
        <p:spPr>
          <a:xfrm>
            <a:off x="7846219" y="4856686"/>
            <a:ext cx="781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Platform</a:t>
            </a:r>
          </a:p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org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14E9437C-7814-48DB-826B-9B05320B57A6}"/>
              </a:ext>
            </a:extLst>
          </p:cNvPr>
          <p:cNvSpPr>
            <a:spLocks noGrp="1"/>
          </p:cNvSpPr>
          <p:nvPr/>
        </p:nvSpPr>
        <p:spPr>
          <a:xfrm>
            <a:off x="8697516" y="4837636"/>
            <a:ext cx="0" cy="47625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679C3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BDAA735-3B71-4837-87D3-947664879303}"/>
              </a:ext>
            </a:extLst>
          </p:cNvPr>
          <p:cNvSpPr>
            <a:spLocks noGrp="1"/>
          </p:cNvSpPr>
          <p:nvPr/>
        </p:nvSpPr>
        <p:spPr>
          <a:xfrm>
            <a:off x="8767763" y="4856686"/>
            <a:ext cx="781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Workforce</a:t>
            </a:r>
          </a:p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+ skills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25E973BC-53DD-480C-9F05-E4BAE1440EDC}"/>
              </a:ext>
            </a:extLst>
          </p:cNvPr>
          <p:cNvSpPr>
            <a:spLocks noGrp="1"/>
          </p:cNvSpPr>
          <p:nvPr/>
        </p:nvSpPr>
        <p:spPr>
          <a:xfrm>
            <a:off x="9619060" y="4837636"/>
            <a:ext cx="0" cy="47625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679C3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19B716-8529-4B30-B4E5-9E51A5B4BF94}"/>
              </a:ext>
            </a:extLst>
          </p:cNvPr>
          <p:cNvSpPr>
            <a:spLocks noGrp="1"/>
          </p:cNvSpPr>
          <p:nvPr/>
        </p:nvSpPr>
        <p:spPr>
          <a:xfrm>
            <a:off x="9689307" y="4856686"/>
            <a:ext cx="781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Global</a:t>
            </a:r>
          </a:p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footprint</a:t>
            </a:r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11967384-5281-492F-8314-92628E97A3B3}"/>
              </a:ext>
            </a:extLst>
          </p:cNvPr>
          <p:cNvSpPr>
            <a:spLocks noGrp="1"/>
          </p:cNvSpPr>
          <p:nvPr/>
        </p:nvSpPr>
        <p:spPr>
          <a:xfrm>
            <a:off x="10540604" y="4837636"/>
            <a:ext cx="0" cy="47625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679C3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A9FF21D-C490-431F-A48A-3BA9294FC4A8}"/>
              </a:ext>
            </a:extLst>
          </p:cNvPr>
          <p:cNvSpPr>
            <a:spLocks noGrp="1"/>
          </p:cNvSpPr>
          <p:nvPr/>
        </p:nvSpPr>
        <p:spPr>
          <a:xfrm>
            <a:off x="10610850" y="4856686"/>
            <a:ext cx="781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Culture</a:t>
            </a:r>
          </a:p>
          <a:p>
            <a:pPr algn="ctr">
              <a:defRPr sz="1163" b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679C3"/>
                </a:solidFill>
                <a:latin typeface="Arial"/>
                <a:ea typeface="Arial"/>
                <a:cs typeface="Arial"/>
              </a:rPr>
              <a:t>+ change</a:t>
            </a:r>
          </a:p>
        </p:txBody>
      </p:sp>
      <p:sp>
        <p:nvSpPr>
          <p:cNvPr id="47" name="Conclusion bar">
            <a:extLst>
              <a:ext uri="{FF2B5EF4-FFF2-40B4-BE49-F238E27FC236}">
                <a16:creationId xmlns:a16="http://schemas.microsoft.com/office/drawing/2014/main" id="{63F92C07-B298-4019-BB74-9B0A20DE0674}"/>
              </a:ext>
            </a:extLst>
          </p:cNvPr>
          <p:cNvSpPr>
            <a:spLocks noGrp="1"/>
          </p:cNvSpPr>
          <p:nvPr/>
        </p:nvSpPr>
        <p:spPr>
          <a:xfrm>
            <a:off x="554736" y="5886450"/>
            <a:ext cx="57150" cy="323850"/>
          </a:xfrm>
          <a:prstGeom prst="rect">
            <a:avLst/>
          </a:prstGeom>
          <a:solidFill>
            <a:srgbClr val="2251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Conclusion">
            <a:extLst>
              <a:ext uri="{FF2B5EF4-FFF2-40B4-BE49-F238E27FC236}">
                <a16:creationId xmlns:a16="http://schemas.microsoft.com/office/drawing/2014/main" id="{1107529E-5211-4348-A761-091BC5A4F805}"/>
              </a:ext>
            </a:extLst>
          </p:cNvPr>
          <p:cNvSpPr>
            <a:spLocks noGrp="1"/>
          </p:cNvSpPr>
          <p:nvPr/>
        </p:nvSpPr>
        <p:spPr>
          <a:xfrm>
            <a:off x="742950" y="5932959"/>
            <a:ext cx="10477500" cy="2308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spAutoFit/>
          </a:bodyPr>
          <a:lstStyle/>
          <a:p>
            <a:pPr algn="l">
              <a:defRPr sz="1500" b="1" i="1">
                <a:solidFill>
                  <a:srgbClr val="061F79"/>
                </a:solidFill>
                <a:latin typeface="Arial"/>
                <a:ea typeface="Arial"/>
                <a:cs typeface="Arial"/>
              </a:defRPr>
            </a:pPr>
            <a:r>
              <a:rPr lang="en-US" sz="1500" b="1" i="1" dirty="0">
                <a:solidFill>
                  <a:srgbClr val="061F79"/>
                </a:solidFill>
                <a:latin typeface="Arial"/>
                <a:ea typeface="Arial"/>
                <a:cs typeface="Arial"/>
              </a:rPr>
              <a:t>Today — align on the questions each track must answer, and the shape of a ~3-month program</a:t>
            </a:r>
            <a:endParaRPr sz="1500" b="1" i="1" dirty="0">
              <a:solidFill>
                <a:srgbClr val="061F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ooter">
            <a:extLst>
              <a:ext uri="{FF2B5EF4-FFF2-40B4-BE49-F238E27FC236}">
                <a16:creationId xmlns:a16="http://schemas.microsoft.com/office/drawing/2014/main" id="{645B2FA1-C7C2-4A26-85F8-FF19AB9B48C6}"/>
              </a:ext>
            </a:extLst>
          </p:cNvPr>
          <p:cNvSpPr>
            <a:spLocks noGrp="1"/>
          </p:cNvSpPr>
          <p:nvPr/>
        </p:nvSpPr>
        <p:spPr>
          <a:xfrm>
            <a:off x="10142220" y="6497955"/>
            <a:ext cx="1135380" cy="1390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/>
          <a:p>
            <a:pPr algn="ct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McKinsey &amp; Company</a:t>
            </a:r>
          </a:p>
        </p:txBody>
      </p:sp>
      <p:sp>
        <p:nvSpPr>
          <p:cNvPr id="50" name="Page number">
            <a:extLst>
              <a:ext uri="{FF2B5EF4-FFF2-40B4-BE49-F238E27FC236}">
                <a16:creationId xmlns:a16="http://schemas.microsoft.com/office/drawing/2014/main" id="{E0B4066A-3787-48C3-AEBF-20D52CA83E1F}"/>
              </a:ext>
            </a:extLst>
          </p:cNvPr>
          <p:cNvSpPr>
            <a:spLocks noGrp="1"/>
          </p:cNvSpPr>
          <p:nvPr/>
        </p:nvSpPr>
        <p:spPr>
          <a:xfrm>
            <a:off x="11315700" y="6497955"/>
            <a:ext cx="321945" cy="1390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b">
            <a:noAutofit/>
          </a:bodyPr>
          <a:lstStyle/>
          <a:p>
            <a:pPr algn="r">
              <a:defRPr sz="9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2" name="Sticky">
            <a:extLst>
              <a:ext uri="{FF2B5EF4-FFF2-40B4-BE49-F238E27FC236}">
                <a16:creationId xmlns:a16="http://schemas.microsoft.com/office/drawing/2014/main" id="{522FB695-FAFA-BBA3-EA04-4188429861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267950" y="0"/>
            <a:ext cx="1905000" cy="499378"/>
          </a:xfrm>
          <a:prstGeom prst="foldedCorner">
            <a:avLst/>
          </a:prstGeom>
          <a:solidFill>
            <a:srgbClr val="FFFF66"/>
          </a:solidFill>
          <a:ln w="1905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76575" rIns="63500" bIns="63500" rtlCol="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Option 1</a:t>
            </a:r>
          </a:p>
        </p:txBody>
      </p:sp>
      <p:sp>
        <p:nvSpPr>
          <p:cNvPr id="23" name="Circle ">
            <a:extLst>
              <a:ext uri="{FF2B5EF4-FFF2-40B4-BE49-F238E27FC236}">
                <a16:creationId xmlns:a16="http://schemas.microsoft.com/office/drawing/2014/main" id="{437635E0-2DAE-4027-B336-B7D615E5E058}"/>
              </a:ext>
            </a:extLst>
          </p:cNvPr>
          <p:cNvSpPr>
            <a:spLocks noGrp="1"/>
          </p:cNvSpPr>
          <p:nvPr/>
        </p:nvSpPr>
        <p:spPr>
          <a:xfrm>
            <a:off x="5570935" y="2795318"/>
            <a:ext cx="1162050" cy="1162050"/>
          </a:xfrm>
          <a:prstGeom prst="ellipse">
            <a:avLst/>
          </a:prstGeom>
          <a:solidFill>
            <a:srgbClr val="061F79"/>
          </a:solidFill>
          <a:ln w="9525">
            <a:solidFill>
              <a:srgbClr val="061F79"/>
            </a:solidFill>
            <a:prstDash val="solid"/>
          </a:ln>
        </p:spPr>
        <p:txBody>
          <a:bodyPr wrap="square" lIns="47625" tIns="219075" rIns="47625" bIns="47625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50" b="1" dirty="0">
                <a:solidFill>
                  <a:srgbClr val="FFFFFF"/>
                </a:solidFill>
              </a:rPr>
              <a:t>NOW</a:t>
            </a:r>
          </a:p>
          <a:p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</a:rPr>
              <a:t>Inflection point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" y="1133856"/>
            <a:ext cx="59893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000000"/>
                </a:solidFill>
                <a:latin typeface="Arial"/>
              </a:rPr>
              <a:t>The business has transformed</a:t>
            </a:r>
            <a:r>
              <a:rPr sz="1200" b="0">
                <a:solidFill>
                  <a:srgbClr val="000000"/>
                </a:solidFill>
                <a:latin typeface="Arial"/>
              </a:rPr>
              <a:t> — from credit bureau, to product company, to platform company: thin products on thick platforms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" y="3547872"/>
            <a:ext cx="4892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000000"/>
                </a:solidFill>
                <a:latin typeface="Arial"/>
              </a:rPr>
              <a:t>The AI journey is younger</a:t>
            </a:r>
            <a:r>
              <a:rPr sz="1200" b="0">
                <a:solidFill>
                  <a:srgbClr val="000000"/>
                </a:solidFill>
                <a:latin typeface="Arial"/>
              </a:rPr>
              <a:t> — from curiosity to pilots, and now to choosing the priority domains: still early, with the big bets ahead</a:t>
            </a:r>
          </a:p>
        </p:txBody>
      </p:sp>
    </p:spTree>
    <p:extLst>
      <p:ext uri="{BB962C8B-B14F-4D97-AF65-F5344CB8AC3E}">
        <p14:creationId xmlns:p14="http://schemas.microsoft.com/office/powerpoint/2010/main" val="47384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hink-cell data - do not delete" hidden="1">
            <a:extLst>
              <a:ext uri="{FF2B5EF4-FFF2-40B4-BE49-F238E27FC236}">
                <a16:creationId xmlns:a16="http://schemas.microsoft.com/office/drawing/2014/main" id="{CBA7B97A-B22E-7FDD-925C-E336A9AE30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6354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8" imgH="428" progId="TCLayout.ActiveDocument.1">
                  <p:embed/>
                </p:oleObj>
              </mc:Choice>
              <mc:Fallback>
                <p:oleObj name="think-cell Slide" r:id="rId5" imgW="428" imgH="42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b="1">
                <a:solidFill>
                  <a:srgbClr val="2251FF"/>
                </a:solidFill>
              </a:rPr>
              <a:t>TU is at an inflection point: </a:t>
            </a:r>
            <a:r>
              <a:rPr b="1">
                <a:solidFill>
                  <a:srgbClr val="000000"/>
                </a:solidFill>
              </a:rPr>
              <a:t>choosing where AI creates value — and building the organization to deliver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1188720"/>
            <a:ext cx="110825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000000"/>
                </a:solidFill>
                <a:latin typeface="Arial"/>
              </a:rPr>
              <a:t>TU has evolved from credit bureau, to product company, to </a:t>
            </a:r>
            <a:r>
              <a:rPr sz="1350" b="1" i="0">
                <a:solidFill>
                  <a:srgbClr val="000000"/>
                </a:solidFill>
                <a:latin typeface="Arial"/>
              </a:rPr>
              <a:t>platform organization — thin products on thick platforms</a:t>
            </a:r>
            <a:r>
              <a:rPr sz="1350" b="0" i="0">
                <a:solidFill>
                  <a:srgbClr val="000000"/>
                </a:solidFill>
                <a:latin typeface="Arial"/>
              </a:rPr>
              <a:t> — and it has embarked on its AI journey, </a:t>
            </a:r>
            <a:r>
              <a:rPr sz="1350" b="1" i="0">
                <a:solidFill>
                  <a:srgbClr val="000000"/>
                </a:solidFill>
                <a:latin typeface="Arial"/>
              </a:rPr>
              <a:t>albeit still early</a:t>
            </a:r>
            <a:r>
              <a:rPr sz="1350" b="0" i="0">
                <a:solidFill>
                  <a:srgbClr val="000000"/>
                </a:solidFill>
                <a:latin typeface="Arial"/>
              </a:rPr>
              <a:t>. Two journeys follow: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847088"/>
            <a:ext cx="11082528" cy="6563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350" b="0" i="0" dirty="0">
                <a:solidFill>
                  <a:srgbClr val="000000"/>
                </a:solidFill>
                <a:latin typeface="Arial"/>
              </a:rPr>
              <a:t>1. </a:t>
            </a:r>
            <a:r>
              <a:rPr sz="1350" b="0" i="0" dirty="0">
                <a:solidFill>
                  <a:srgbClr val="000000"/>
                </a:solidFill>
                <a:latin typeface="Arial"/>
              </a:rPr>
              <a:t>TU is embarking on a </a:t>
            </a:r>
            <a:r>
              <a:rPr sz="1350" b="1" i="0" dirty="0">
                <a:solidFill>
                  <a:srgbClr val="000000"/>
                </a:solidFill>
                <a:latin typeface="Arial"/>
              </a:rPr>
              <a:t>top-down journey to identify and prioritize 2–3 enterprise domains for AI-led reimagination</a:t>
            </a:r>
            <a:r>
              <a:rPr sz="1350" b="0" i="0" dirty="0">
                <a:solidFill>
                  <a:srgbClr val="000000"/>
                </a:solidFill>
                <a:latin typeface="Arial"/>
              </a:rPr>
              <a:t> — the few cross-functional domains that typically hold </a:t>
            </a:r>
            <a:r>
              <a:rPr sz="1350" b="1" i="0" dirty="0">
                <a:solidFill>
                  <a:srgbClr val="000000"/>
                </a:solidFill>
                <a:latin typeface="Arial"/>
              </a:rPr>
              <a:t>40–50% of the enterprise value at stake</a:t>
            </a:r>
            <a:r>
              <a:rPr sz="1350" b="0" i="0" dirty="0">
                <a:solidFill>
                  <a:srgbClr val="000000"/>
                </a:solidFill>
                <a:latin typeface="Arial"/>
              </a:rPr>
              <a:t>¹. TU leadership has begun an inventory of AI initiatives; the next step is a </a:t>
            </a:r>
            <a:r>
              <a:rPr sz="1350" b="1" i="0" dirty="0">
                <a:solidFill>
                  <a:srgbClr val="000000"/>
                </a:solidFill>
                <a:latin typeface="Arial"/>
              </a:rPr>
              <a:t>framework to assess, size, and choose where to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761488"/>
            <a:ext cx="10561320" cy="432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350" i="0" dirty="0">
                <a:solidFill>
                  <a:srgbClr val="000000"/>
                </a:solidFill>
                <a:latin typeface="Arial"/>
              </a:rPr>
              <a:t>2. </a:t>
            </a:r>
            <a:r>
              <a:rPr sz="1350" b="1" i="0" dirty="0">
                <a:solidFill>
                  <a:srgbClr val="000000"/>
                </a:solidFill>
                <a:latin typeface="Arial"/>
              </a:rPr>
              <a:t>In parallel, TU must design the organization of the future.</a:t>
            </a:r>
            <a:r>
              <a:rPr sz="1350" b="0" i="0" dirty="0">
                <a:solidFill>
                  <a:srgbClr val="000000"/>
                </a:solidFill>
                <a:latin typeface="Arial"/>
              </a:rPr>
              <a:t> Its structure has not kept pace with what it is becoming — in leadership's own framing, </a:t>
            </a:r>
            <a:r>
              <a:rPr sz="1350" b="1" i="1" dirty="0">
                <a:solidFill>
                  <a:srgbClr val="2251FF"/>
                </a:solidFill>
                <a:latin typeface="Arial"/>
              </a:rPr>
              <a:t>a global-platforms era company, in a 2012-era structure.</a:t>
            </a:r>
            <a:r>
              <a:rPr sz="1350" b="0" i="0" dirty="0">
                <a:solidFill>
                  <a:srgbClr val="000000"/>
                </a:solidFill>
                <a:latin typeface="Arial"/>
              </a:rPr>
              <a:t> The imperative spans five fronts: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493008"/>
            <a:ext cx="2020824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6072" y="3374136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675887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1F79"/>
                </a:solidFill>
                <a:latin typeface="Arial"/>
              </a:rPr>
              <a:t>Org hygiene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242816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Right-size spans, layers, and leadership density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0340" y="3493008"/>
            <a:ext cx="2020824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702052" y="3374136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8356" y="3675887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1F79"/>
                </a:solidFill>
                <a:latin typeface="Arial"/>
              </a:rPr>
              <a:t>Platform org of the 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8356" y="4242816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Structure for the platform era, not the product 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493008"/>
            <a:ext cx="2020824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28032" y="3374136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3675887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1F79"/>
                </a:solidFill>
                <a:latin typeface="Arial"/>
              </a:rPr>
              <a:t>Future-ready workforce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4242816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The AI-era workforce, with AI-ready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2300" y="3493008"/>
            <a:ext cx="2020824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54012" y="3374136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0316" y="3675887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1F79"/>
                </a:solidFill>
                <a:latin typeface="Arial"/>
              </a:rPr>
              <a:t>Global location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0316" y="4242816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The footprint for the future workforce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3493008"/>
            <a:ext cx="2020824" cy="13898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079992" y="3374136"/>
            <a:ext cx="256032" cy="256032"/>
          </a:xfrm>
          <a:prstGeom prst="ellipse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3675887"/>
            <a:ext cx="17647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61F79"/>
                </a:solidFill>
                <a:latin typeface="Arial"/>
              </a:rPr>
              <a:t>Culture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4242816"/>
            <a:ext cx="176479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The mindset and behavior shifts to make it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" y="5230368"/>
            <a:ext cx="11082528" cy="841248"/>
          </a:xfrm>
          <a:prstGeom prst="roundRect">
            <a:avLst>
              <a:gd name="adj" fmla="val 10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340096"/>
            <a:ext cx="10469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1" dirty="0">
                <a:solidFill>
                  <a:srgbClr val="FFFFFF"/>
                </a:solidFill>
                <a:latin typeface="Arial"/>
              </a:rPr>
              <a:t>Two mutually reinforcing tracks:  </a:t>
            </a:r>
            <a:r>
              <a:rPr sz="1350" b="0" i="1" dirty="0">
                <a:solidFill>
                  <a:srgbClr val="FFFFFF"/>
                </a:solidFill>
                <a:latin typeface="Arial"/>
              </a:rPr>
              <a:t>transform the highest-value AI domains, and build the organization that enables and sustains them. </a:t>
            </a:r>
            <a:r>
              <a:rPr sz="1350" b="1" i="1" dirty="0">
                <a:solidFill>
                  <a:srgbClr val="FFFFFF"/>
                </a:solidFill>
                <a:latin typeface="Arial"/>
              </a:rPr>
              <a:t>Today — align on the questions each track must answer, and the shape of a ~3-month 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6199632"/>
            <a:ext cx="110825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3666A"/>
                </a:solidFill>
                <a:latin typeface="Arial"/>
              </a:rPr>
              <a:t>1. McKinsey cross-industry experience — share of AI-addressable value typically concentrated in a small number of cross-functional domains</a:t>
            </a:r>
          </a:p>
        </p:txBody>
      </p:sp>
      <p:sp>
        <p:nvSpPr>
          <p:cNvPr id="32" name="Sticky">
            <a:extLst>
              <a:ext uri="{FF2B5EF4-FFF2-40B4-BE49-F238E27FC236}">
                <a16:creationId xmlns:a16="http://schemas.microsoft.com/office/drawing/2014/main" id="{50EEBDB1-9640-4002-756D-AD0F0C084B6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267950" y="0"/>
            <a:ext cx="1905000" cy="499378"/>
          </a:xfrm>
          <a:prstGeom prst="foldedCorner">
            <a:avLst/>
          </a:prstGeom>
          <a:solidFill>
            <a:srgbClr val="FFFF66"/>
          </a:solidFill>
          <a:ln w="19050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76575" rIns="63500" bIns="63500" rtlCol="0" anchor="t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Option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Object 2" hidden="1">
            <a:extLst>
              <a:ext uri="{FF2B5EF4-FFF2-40B4-BE49-F238E27FC236}">
                <a16:creationId xmlns:a16="http://schemas.microsoft.com/office/drawing/2014/main" id="{4C176148-2A0D-6E14-6CFF-F074BC1D813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7560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28" imgH="428" progId="TCLayout.ActiveDocument.1">
                  <p:embed/>
                </p:oleObj>
              </mc:Choice>
              <mc:Fallback>
                <p:oleObj name="think-cell Slide" r:id="rId12" imgW="428" imgH="428" progId="TCLayout.ActiveDocument.1">
                  <p:embed/>
                  <p:pic>
                    <p:nvPicPr>
                      <p:cNvPr id="7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176148-2A0D-6E14-6CFF-F074BC1D81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en-US" b="1" dirty="0">
                <a:solidFill>
                  <a:srgbClr val="2251FF"/>
                </a:solidFill>
              </a:rPr>
              <a:t>AI transformation and Org of the future</a:t>
            </a:r>
            <a:r>
              <a:rPr b="1" dirty="0">
                <a:solidFill>
                  <a:srgbClr val="2251FF"/>
                </a:solidFill>
              </a:rPr>
              <a:t>: </a:t>
            </a:r>
            <a:r>
              <a:rPr b="1" dirty="0">
                <a:solidFill>
                  <a:srgbClr val="000000"/>
                </a:solidFill>
              </a:rPr>
              <a:t>questions we would answer</a:t>
            </a:r>
          </a:p>
        </p:txBody>
      </p:sp>
      <p:sp>
        <p:nvSpPr>
          <p:cNvPr id="3" name="Rounded Rectangle 2"/>
          <p:cNvSpPr>
            <a:spLocks/>
          </p:cNvSpPr>
          <p:nvPr/>
        </p:nvSpPr>
        <p:spPr>
          <a:xfrm>
            <a:off x="557784" y="1147572"/>
            <a:ext cx="4160520" cy="479892"/>
          </a:xfrm>
          <a:prstGeom prst="roundRect">
            <a:avLst>
              <a:gd name="adj" fmla="val 5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9848" y="1283644"/>
            <a:ext cx="2106346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dirty="0">
                <a:solidFill>
                  <a:srgbClr val="FFFFFF"/>
                </a:solidFill>
                <a:latin typeface="Arial"/>
              </a:rPr>
              <a:t>AI domain transformation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601562-2638-90D4-7E02-DE0F2338DA37}"/>
              </a:ext>
            </a:extLst>
          </p:cNvPr>
          <p:cNvGrpSpPr/>
          <p:nvPr/>
        </p:nvGrpSpPr>
        <p:grpSpPr>
          <a:xfrm>
            <a:off x="557784" y="1801368"/>
            <a:ext cx="4160520" cy="646331"/>
            <a:chOff x="557784" y="1801368"/>
            <a:chExt cx="4160520" cy="646331"/>
          </a:xfrm>
        </p:grpSpPr>
        <p:sp>
          <p:nvSpPr>
            <p:cNvPr id="5" name="Oval 4"/>
            <p:cNvSpPr/>
            <p:nvPr/>
          </p:nvSpPr>
          <p:spPr>
            <a:xfrm>
              <a:off x="557784" y="1810512"/>
              <a:ext cx="256032" cy="256032"/>
            </a:xfrm>
            <a:prstGeom prst="ellipse">
              <a:avLst/>
            </a:prstGeom>
            <a:solidFill>
              <a:srgbClr val="2251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41832" y="1801368"/>
              <a:ext cx="3776472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i="0" dirty="0">
                  <a:solidFill>
                    <a:srgbClr val="000000"/>
                  </a:solidFill>
                  <a:latin typeface="Arial"/>
                </a:rPr>
                <a:t>Where is the value?</a:t>
              </a:r>
              <a:r>
                <a:rPr sz="1400" b="0" i="0" dirty="0">
                  <a:solidFill>
                    <a:srgbClr val="000000"/>
                  </a:solidFill>
                  <a:latin typeface="Arial"/>
                </a:rPr>
                <a:t> Which domains hold material value at stake, anchored in TU's strategic priorities and value pools?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14F5CA2-E174-1750-FBFE-6A7BA964226D}"/>
              </a:ext>
            </a:extLst>
          </p:cNvPr>
          <p:cNvGrpSpPr/>
          <p:nvPr/>
        </p:nvGrpSpPr>
        <p:grpSpPr>
          <a:xfrm>
            <a:off x="557784" y="2819921"/>
            <a:ext cx="4160520" cy="646331"/>
            <a:chOff x="557784" y="2711196"/>
            <a:chExt cx="4160520" cy="646331"/>
          </a:xfrm>
        </p:grpSpPr>
        <p:sp>
          <p:nvSpPr>
            <p:cNvPr id="7" name="Oval 6"/>
            <p:cNvSpPr/>
            <p:nvPr/>
          </p:nvSpPr>
          <p:spPr>
            <a:xfrm>
              <a:off x="557784" y="2711196"/>
              <a:ext cx="256032" cy="256032"/>
            </a:xfrm>
            <a:prstGeom prst="ellipse">
              <a:avLst/>
            </a:prstGeom>
            <a:solidFill>
              <a:srgbClr val="2251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41832" y="2711196"/>
              <a:ext cx="3776472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i="0">
                  <a:solidFill>
                    <a:srgbClr val="000000"/>
                  </a:solidFill>
                  <a:latin typeface="Arial"/>
                </a:rPr>
                <a:t>How does each domain operate today?</a:t>
              </a:r>
              <a:r>
                <a:rPr sz="1400" b="0" i="0">
                  <a:solidFill>
                    <a:srgbClr val="000000"/>
                  </a:solidFill>
                  <a:latin typeface="Arial"/>
                </a:rPr>
                <a:t> What operating and cost baseline is needed to size AI potential?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5685B40-9755-708E-4564-3C393E3E7ED2}"/>
              </a:ext>
            </a:extLst>
          </p:cNvPr>
          <p:cNvGrpSpPr/>
          <p:nvPr/>
        </p:nvGrpSpPr>
        <p:grpSpPr>
          <a:xfrm>
            <a:off x="557784" y="3838474"/>
            <a:ext cx="4160520" cy="646331"/>
            <a:chOff x="557784" y="3621024"/>
            <a:chExt cx="4160520" cy="646331"/>
          </a:xfrm>
        </p:grpSpPr>
        <p:sp>
          <p:nvSpPr>
            <p:cNvPr id="9" name="Oval 8"/>
            <p:cNvSpPr/>
            <p:nvPr/>
          </p:nvSpPr>
          <p:spPr>
            <a:xfrm>
              <a:off x="557784" y="3621024"/>
              <a:ext cx="256032" cy="256032"/>
            </a:xfrm>
            <a:prstGeom prst="ellipse">
              <a:avLst/>
            </a:prstGeom>
            <a:solidFill>
              <a:srgbClr val="2251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41832" y="3621024"/>
              <a:ext cx="3776472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i="0">
                  <a:solidFill>
                    <a:srgbClr val="000000"/>
                  </a:solidFill>
                  <a:latin typeface="Arial"/>
                </a:rPr>
                <a:t>What is each domain's AI impact potential</a:t>
              </a:r>
              <a:r>
                <a:rPr sz="1400" b="0" i="0">
                  <a:solidFill>
                    <a:srgbClr val="000000"/>
                  </a:solidFill>
                  <a:latin typeface="Arial"/>
                </a:rPr>
                <a:t> (e.g., revenue growth, cost reduction, cost avoidance, risk), and how does it weigh against readiness and feasibility?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5A1F2C0-E448-4608-3687-6F6D3CE60579}"/>
              </a:ext>
            </a:extLst>
          </p:cNvPr>
          <p:cNvGrpSpPr/>
          <p:nvPr/>
        </p:nvGrpSpPr>
        <p:grpSpPr>
          <a:xfrm>
            <a:off x="557784" y="4857027"/>
            <a:ext cx="4160520" cy="430887"/>
            <a:chOff x="557784" y="4530852"/>
            <a:chExt cx="4160520" cy="430887"/>
          </a:xfrm>
        </p:grpSpPr>
        <p:sp>
          <p:nvSpPr>
            <p:cNvPr id="11" name="Oval 10"/>
            <p:cNvSpPr/>
            <p:nvPr/>
          </p:nvSpPr>
          <p:spPr>
            <a:xfrm>
              <a:off x="557784" y="4530852"/>
              <a:ext cx="256032" cy="256032"/>
            </a:xfrm>
            <a:prstGeom prst="ellipse">
              <a:avLst/>
            </a:prstGeom>
            <a:solidFill>
              <a:srgbClr val="2251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41832" y="4530852"/>
              <a:ext cx="3776472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i="0">
                  <a:solidFill>
                    <a:srgbClr val="000000"/>
                  </a:solidFill>
                  <a:latin typeface="Arial"/>
                </a:rPr>
                <a:t>Which 2–3 domains are TU's big bets</a:t>
              </a:r>
              <a:r>
                <a:rPr sz="1400" b="0" i="0">
                  <a:solidFill>
                    <a:srgbClr val="000000"/>
                  </a:solidFill>
                  <a:latin typeface="Arial"/>
                </a:rPr>
                <a:t>, and which no-regret moves should start now?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823204B-C1E0-E811-7D35-1C19972D1D97}"/>
              </a:ext>
            </a:extLst>
          </p:cNvPr>
          <p:cNvGrpSpPr/>
          <p:nvPr/>
        </p:nvGrpSpPr>
        <p:grpSpPr>
          <a:xfrm>
            <a:off x="557784" y="5660136"/>
            <a:ext cx="4160520" cy="646331"/>
            <a:chOff x="557784" y="5216652"/>
            <a:chExt cx="4160520" cy="646331"/>
          </a:xfrm>
        </p:grpSpPr>
        <p:sp>
          <p:nvSpPr>
            <p:cNvPr id="13" name="Oval 12"/>
            <p:cNvSpPr/>
            <p:nvPr/>
          </p:nvSpPr>
          <p:spPr>
            <a:xfrm>
              <a:off x="557784" y="5216652"/>
              <a:ext cx="256032" cy="256032"/>
            </a:xfrm>
            <a:prstGeom prst="ellipse">
              <a:avLst/>
            </a:prstGeom>
            <a:solidFill>
              <a:srgbClr val="2251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</a:rPr>
                <a:t>5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41832" y="5216652"/>
              <a:ext cx="3776472" cy="64633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i="0">
                  <a:solidFill>
                    <a:srgbClr val="000000"/>
                  </a:solidFill>
                  <a:latin typeface="Arial"/>
                </a:rPr>
                <a:t>In what sequence should TU execute</a:t>
              </a:r>
              <a:r>
                <a:rPr sz="1400" b="0" i="0">
                  <a:solidFill>
                    <a:srgbClr val="000000"/>
                  </a:solidFill>
                  <a:latin typeface="Arial"/>
                </a:rPr>
                <a:t>, and with what owners, milestones, and enabling investments?</a:t>
              </a:r>
            </a:p>
          </p:txBody>
        </p:sp>
      </p:grpSp>
      <p:sp>
        <p:nvSpPr>
          <p:cNvPr id="15" name="Rounded Rectangle 14"/>
          <p:cNvSpPr>
            <a:spLocks/>
          </p:cNvSpPr>
          <p:nvPr/>
        </p:nvSpPr>
        <p:spPr>
          <a:xfrm>
            <a:off x="5074920" y="1147572"/>
            <a:ext cx="6565392" cy="479892"/>
          </a:xfrm>
          <a:prstGeom prst="roundRect">
            <a:avLst>
              <a:gd name="adj" fmla="val 50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84342" y="1283644"/>
            <a:ext cx="2115964" cy="2077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dirty="0">
                <a:solidFill>
                  <a:srgbClr val="FFFFFF"/>
                </a:solidFill>
                <a:latin typeface="Arial"/>
              </a:rPr>
              <a:t>Organization of the future</a:t>
            </a:r>
          </a:p>
        </p:txBody>
      </p:sp>
      <p:pic>
        <p:nvPicPr>
          <p:cNvPr id="45" name="CustomIcon">
            <a:extLst>
              <a:ext uri="{FF2B5EF4-FFF2-40B4-BE49-F238E27FC236}">
                <a16:creationId xmlns:a16="http://schemas.microsoft.com/office/drawing/2014/main" id="{BEA570F8-EDDF-A02A-A66F-1E05DBC2AB9F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84559" y="1192446"/>
            <a:ext cx="390144" cy="390144"/>
          </a:xfrm>
          <a:prstGeom prst="rect">
            <a:avLst/>
          </a:prstGeom>
        </p:spPr>
      </p:pic>
      <p:pic>
        <p:nvPicPr>
          <p:cNvPr id="47" name="CustomIcon">
            <a:extLst>
              <a:ext uri="{FF2B5EF4-FFF2-40B4-BE49-F238E27FC236}">
                <a16:creationId xmlns:a16="http://schemas.microsoft.com/office/drawing/2014/main" id="{25D8F37D-A4E6-27EE-B608-C96261B16322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8744" y="1192446"/>
            <a:ext cx="390144" cy="39014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5138928" y="1801368"/>
            <a:ext cx="10789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2251FF"/>
                </a:solidFill>
                <a:latin typeface="Arial"/>
              </a:rPr>
              <a:t>A. ORG HYGIENE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281928" y="1801368"/>
            <a:ext cx="0" cy="365760"/>
          </a:xfrm>
          <a:prstGeom prst="line">
            <a:avLst/>
          </a:prstGeom>
          <a:ln w="19050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428232" y="1801368"/>
            <a:ext cx="5202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What would a right-sized TU look like</a:t>
            </a:r>
            <a:r>
              <a:rPr sz="1100" b="0">
                <a:solidFill>
                  <a:srgbClr val="000000"/>
                </a:solidFill>
                <a:latin typeface="Arial"/>
              </a:rPr>
              <a:t> (i.e., optimal spans, layers, and leadership density), and what value would it unlock?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38928" y="2276856"/>
            <a:ext cx="107899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2251FF"/>
                </a:solidFill>
                <a:latin typeface="Arial"/>
              </a:rPr>
              <a:t>B. PLATFORM ORG OF THE FUTURE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281928" y="2276856"/>
            <a:ext cx="0" cy="1572768"/>
          </a:xfrm>
          <a:prstGeom prst="line">
            <a:avLst/>
          </a:prstGeom>
          <a:ln w="19050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428232" y="2276856"/>
            <a:ext cx="52029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Which archetypes do true platform orgs follow</a:t>
            </a:r>
            <a:r>
              <a:rPr sz="1100" b="0">
                <a:solidFill>
                  <a:srgbClr val="000000"/>
                </a:solidFill>
                <a:latin typeface="Arial"/>
              </a:rPr>
              <a:t> (e.g., one unified platform at Stripe, a central platform division at Atlassian and Salesforce, federated services at AWS), and which fits TU?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28232" y="2880360"/>
            <a:ext cx="52029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What should be the size and composition of the platform and product engineering teams?</a:t>
            </a:r>
            <a:r>
              <a:rPr sz="1100" b="0">
                <a:solidFill>
                  <a:srgbClr val="000000"/>
                </a:solidFill>
                <a:latin typeface="Arial"/>
              </a:rPr>
              <a:t> Where should key roles reside (e.g., Platform PM, Data Science / Analytics, UI/UX)?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8232" y="3483864"/>
            <a:ext cx="5202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What are the core design choices</a:t>
            </a:r>
            <a:r>
              <a:rPr sz="1100" b="0">
                <a:solidFill>
                  <a:srgbClr val="000000"/>
                </a:solidFill>
                <a:latin typeface="Arial"/>
              </a:rPr>
              <a:t> (e.g., US vs. international P&amp;L, regional vs. global layers), and what must TU believe?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38928" y="3977639"/>
            <a:ext cx="107899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2251FF"/>
                </a:solidFill>
                <a:latin typeface="Arial"/>
              </a:rPr>
              <a:t>C. FUTURE-READY WORKFORCE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281928" y="3977639"/>
            <a:ext cx="0" cy="786384"/>
          </a:xfrm>
          <a:prstGeom prst="line">
            <a:avLst/>
          </a:prstGeom>
          <a:ln w="19050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428232" y="3977639"/>
            <a:ext cx="5202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How will AI change talent demand</a:t>
            </a:r>
            <a:r>
              <a:rPr sz="1100" b="0">
                <a:solidFill>
                  <a:srgbClr val="000000"/>
                </a:solidFill>
                <a:latin typeface="Arial"/>
              </a:rPr>
              <a:t> over the next 3–5 years, function by function?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28232" y="4398264"/>
            <a:ext cx="5202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What size, shape, and skills will the workforce need?</a:t>
            </a:r>
            <a:r>
              <a:rPr sz="1100" b="0">
                <a:solidFill>
                  <a:srgbClr val="000000"/>
                </a:solidFill>
                <a:latin typeface="Arial"/>
              </a:rPr>
              <a:t> Which roles are reshaped, replaced, or net-new; built vs. bought?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38928" y="4855464"/>
            <a:ext cx="107899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2251FF"/>
                </a:solidFill>
                <a:latin typeface="Arial"/>
              </a:rPr>
              <a:t>D. GLOBAL LOCATION STRATEGY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281928" y="4855464"/>
            <a:ext cx="0" cy="612648"/>
          </a:xfrm>
          <a:prstGeom prst="line">
            <a:avLst/>
          </a:prstGeom>
          <a:ln w="19050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428232" y="4855464"/>
            <a:ext cx="520293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Which roles sit where</a:t>
            </a:r>
            <a:r>
              <a:rPr sz="1100" b="0">
                <a:solidFill>
                  <a:srgbClr val="000000"/>
                </a:solidFill>
                <a:latin typeface="Arial"/>
              </a:rPr>
              <a:t>, and what moves now vs. later?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28232" y="5102352"/>
            <a:ext cx="5202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Where will TU access AI-era talent</a:t>
            </a:r>
            <a:r>
              <a:rPr sz="1100" b="0">
                <a:solidFill>
                  <a:srgbClr val="000000"/>
                </a:solidFill>
                <a:latin typeface="Arial"/>
              </a:rPr>
              <a:t>, and what must its global hubs become?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38928" y="5559552"/>
            <a:ext cx="10789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2251FF"/>
                </a:solidFill>
                <a:latin typeface="Arial"/>
              </a:rPr>
              <a:t>E. CULTURE AND CHANGE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281928" y="5559552"/>
            <a:ext cx="0" cy="594360"/>
          </a:xfrm>
          <a:prstGeom prst="line">
            <a:avLst/>
          </a:prstGeom>
          <a:ln w="19050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428232" y="5559552"/>
            <a:ext cx="5202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What mindset and behavior shifts</a:t>
            </a:r>
            <a:r>
              <a:rPr sz="1100" b="0">
                <a:solidFill>
                  <a:srgbClr val="000000"/>
                </a:solidFill>
                <a:latin typeface="Arial"/>
              </a:rPr>
              <a:t> does the new organization demand?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28232" y="5980176"/>
            <a:ext cx="520293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Does TU have the change capacity</a:t>
            </a:r>
            <a:r>
              <a:rPr sz="1100" b="0">
                <a:solidFill>
                  <a:srgbClr val="000000"/>
                </a:solidFill>
                <a:latin typeface="Arial"/>
              </a:rPr>
              <a:t>, and how do we build it?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38928" y="6254496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2251FF"/>
                </a:solidFill>
                <a:latin typeface="Arial"/>
              </a:rPr>
              <a:t>F. VALUE CASE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281928" y="6254496"/>
            <a:ext cx="0" cy="192024"/>
          </a:xfrm>
          <a:prstGeom prst="line">
            <a:avLst/>
          </a:prstGeom>
          <a:ln w="19050">
            <a:solidFill>
              <a:srgbClr val="2251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428232" y="6254496"/>
            <a:ext cx="5202936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7160" indent="-137160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Arial"/>
              </a:rPr>
              <a:t>•  </a:t>
            </a:r>
            <a:r>
              <a:rPr sz="1100" b="1">
                <a:solidFill>
                  <a:srgbClr val="000000"/>
                </a:solidFill>
                <a:latin typeface="Arial"/>
              </a:rPr>
              <a:t>What is the complete value case</a:t>
            </a:r>
            <a:r>
              <a:rPr sz="1100" b="0">
                <a:solidFill>
                  <a:srgbClr val="000000"/>
                </a:solidFill>
                <a:latin typeface="Arial"/>
              </a:rPr>
              <a:t>, and the 90-day plan to mobilize?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8781AE29-C0AF-537A-2347-DA45C1358C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7230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8" imgH="428" progId="TCLayout.ActiveDocument.1">
                  <p:embed/>
                </p:oleObj>
              </mc:Choice>
              <mc:Fallback>
                <p:oleObj name="think-cell Slide" r:id="rId5" imgW="428" imgH="42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36" y="201168"/>
            <a:ext cx="11082528" cy="357790"/>
          </a:xfrm>
        </p:spPr>
        <p:txBody>
          <a:bodyPr vert="horz">
            <a:spAutoFit/>
          </a:bodyPr>
          <a:lstStyle/>
          <a:p>
            <a:r>
              <a:rPr b="1" dirty="0">
                <a:solidFill>
                  <a:srgbClr val="2251FF"/>
                </a:solidFill>
              </a:rPr>
              <a:t>~3-month program: </a:t>
            </a:r>
            <a:r>
              <a:rPr b="1" dirty="0">
                <a:solidFill>
                  <a:srgbClr val="000000"/>
                </a:solidFill>
              </a:rPr>
              <a:t>building blocks across the two tracks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7886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2652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7418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2184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6950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1716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6481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1248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6013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0780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45545" y="983567"/>
            <a:ext cx="79476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Wk 12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97886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92652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7418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82184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76950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71716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66481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61248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56013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50780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845545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640312" y="1221311"/>
            <a:ext cx="0" cy="3401568"/>
          </a:xfrm>
          <a:prstGeom prst="line">
            <a:avLst/>
          </a:prstGeom>
          <a:ln w="6350">
            <a:solidFill>
              <a:srgbClr val="E2E4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57784" y="1294463"/>
            <a:ext cx="141732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7784" y="1842766"/>
            <a:ext cx="141732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61F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 domain transformation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1294463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76272" y="1321895"/>
            <a:ext cx="14066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Identify high-value domains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97886" y="1806527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971038" y="1833958"/>
            <a:ext cx="22014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Establish detailed baselines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92652" y="2318591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65804" y="2346022"/>
            <a:ext cx="14066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Align prioritization framework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7418" y="1294463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60570" y="1321895"/>
            <a:ext cx="22014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Assess impact, readiness, feasibility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76950" y="1806527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50102" y="1833958"/>
            <a:ext cx="14066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Rank and decide¹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71716" y="2318591"/>
            <a:ext cx="1552956" cy="457200"/>
          </a:xfrm>
          <a:prstGeom prst="roundRect">
            <a:avLst>
              <a:gd name="adj" fmla="val 14000"/>
            </a:avLst>
          </a:prstGeom>
          <a:solidFill>
            <a:srgbClr val="061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944868" y="2346022"/>
            <a:ext cx="140665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Value-backed execution roadmap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16112" y="1806527"/>
            <a:ext cx="3105911" cy="475488"/>
          </a:xfrm>
          <a:prstGeom prst="roundRect">
            <a:avLst>
              <a:gd name="adj" fmla="val 14000"/>
            </a:avLst>
          </a:prstGeom>
          <a:noFill/>
          <a:ln w="12700">
            <a:solidFill>
              <a:srgbClr val="061F79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89264" y="1833959"/>
            <a:ext cx="295960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1" u="none" strike="noStrike" kern="1200" cap="none" spc="0" normalizeH="0" baseline="0" noProof="0">
                <a:ln>
                  <a:noFill/>
                </a:ln>
                <a:solidFill>
                  <a:srgbClr val="061F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→ Lighthouse pilots in the priority domains — start Wk 9, run 12–14 weeks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7784" y="2940383"/>
            <a:ext cx="11082527" cy="0"/>
          </a:xfrm>
          <a:prstGeom prst="line">
            <a:avLst/>
          </a:prstGeom>
          <a:ln w="9525">
            <a:solidFill>
              <a:srgbClr val="D0D3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57784" y="3068399"/>
            <a:ext cx="1417320" cy="1481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7784" y="3616702"/>
            <a:ext cx="141732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2251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Organization of the future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92652" y="3068399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65804" y="3095831"/>
            <a:ext cx="22014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Current-state blueprint + hygiene diagnostic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82184" y="3580463"/>
            <a:ext cx="3142488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55336" y="3607895"/>
            <a:ext cx="29961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Platform org design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76950" y="3068399"/>
            <a:ext cx="3937254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50102" y="3095831"/>
            <a:ext cx="379094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Strategic workforce plan in the AI era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66481" y="4092527"/>
            <a:ext cx="3142488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739633" y="4257174"/>
            <a:ext cx="2996183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Location footprint refresh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56013" y="3580463"/>
            <a:ext cx="2347722" cy="457200"/>
          </a:xfrm>
          <a:prstGeom prst="roundRect">
            <a:avLst>
              <a:gd name="adj" fmla="val 14000"/>
            </a:avLst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329165" y="3607895"/>
            <a:ext cx="22014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Culture, change, and talent roadmap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" y="4700016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Heatmap scorecard and leadership prioritization workshop — select 2–3 priority domains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7784" y="5815584"/>
            <a:ext cx="11082528" cy="621792"/>
          </a:xfrm>
          <a:prstGeom prst="roundRect">
            <a:avLst>
              <a:gd name="adj" fmla="val 10000"/>
            </a:avLst>
          </a:prstGeom>
          <a:solidFill>
            <a:srgbClr val="E8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68680" y="5888736"/>
            <a:ext cx="104698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 dirty="0">
                <a:ln>
                  <a:noFill/>
                </a:ln>
                <a:solidFill>
                  <a:srgbClr val="061F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two tracks feed each other: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enterprise picks its domains top-down; transformation then reconfigures teams bottom-up — new role mixes, team shapes, and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skills</a:t>
            </a:r>
            <a:endParaRPr kumimoji="0" sz="1250" b="1" i="0" u="none" strike="noStrike" kern="1200" cap="none" spc="0" normalizeH="0" baseline="0" noProof="0" dirty="0">
              <a:ln>
                <a:noFill/>
              </a:ln>
              <a:solidFill>
                <a:srgbClr val="061F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1" name="CustomIcon">
            <a:extLst>
              <a:ext uri="{FF2B5EF4-FFF2-40B4-BE49-F238E27FC236}">
                <a16:creationId xmlns:a16="http://schemas.microsoft.com/office/drawing/2014/main" id="{9EAFEFED-4C80-0212-7BF4-A43FE813D85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744" y="1352375"/>
            <a:ext cx="390144" cy="390144"/>
          </a:xfrm>
          <a:prstGeom prst="rect">
            <a:avLst/>
          </a:prstGeom>
        </p:spPr>
      </p:pic>
      <p:pic>
        <p:nvPicPr>
          <p:cNvPr id="72" name="CustomIcon">
            <a:extLst>
              <a:ext uri="{FF2B5EF4-FFF2-40B4-BE49-F238E27FC236}">
                <a16:creationId xmlns:a16="http://schemas.microsoft.com/office/drawing/2014/main" id="{D13D7905-DB86-B0FC-CE8E-2E44E76A472B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744" y="3095831"/>
            <a:ext cx="390144" cy="39014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57784" y="4974336"/>
            <a:ext cx="14447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61F79"/>
                </a:solidFill>
                <a:latin typeface="Arial"/>
              </a:rPr>
              <a:t>By week 12</a:t>
            </a:r>
          </a:p>
          <a:p>
            <a:pPr>
              <a:spcBef>
                <a:spcPts val="400"/>
              </a:spcBef>
            </a:pPr>
            <a:r>
              <a:rPr sz="850" b="0">
                <a:solidFill>
                  <a:srgbClr val="63666A"/>
                </a:solidFill>
                <a:latin typeface="Arial"/>
              </a:rPr>
              <a:t>Joint TU–McKinsey team; checkpoints at wk 2, 7, 12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03120" y="4974336"/>
            <a:ext cx="3072384" cy="713232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49424" y="5065776"/>
            <a:ext cx="2779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61F79"/>
                </a:solidFill>
                <a:latin typeface="Arial"/>
              </a:rPr>
              <a:t>Prioritized domain portfolio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2–3 big bets, value-backed and sequenced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330952" y="4974336"/>
            <a:ext cx="3072384" cy="713232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77256" y="5065776"/>
            <a:ext cx="2779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61F79"/>
                </a:solidFill>
                <a:latin typeface="Arial"/>
              </a:rPr>
              <a:t>Target org blueprint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Platform-era structure and strategic workforce plan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58784" y="4974336"/>
            <a:ext cx="3072384" cy="713232"/>
          </a:xfrm>
          <a:prstGeom prst="roundRect">
            <a:avLst>
              <a:gd name="adj" fmla="val 12000"/>
            </a:avLst>
          </a:prstGeom>
          <a:solidFill>
            <a:srgbClr val="F0F4FF"/>
          </a:solidFill>
          <a:ln w="12700">
            <a:solidFill>
              <a:srgbClr val="225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05088" y="5065776"/>
            <a:ext cx="277977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061F79"/>
                </a:solidFill>
                <a:latin typeface="Arial"/>
              </a:rPr>
              <a:t>Location and talent roadmap</a:t>
            </a:r>
          </a:p>
          <a:p>
            <a:pPr>
              <a:spcBef>
                <a:spcPts val="300"/>
              </a:spcBef>
            </a:pPr>
            <a:r>
              <a:rPr sz="1000" b="0">
                <a:solidFill>
                  <a:srgbClr val="000000"/>
                </a:solidFill>
                <a:latin typeface="Arial"/>
              </a:rPr>
              <a:t>GLS 2.0 disposition and 90-day mobilization plan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Impac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Impac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Impac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Impac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Impac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930A782-7855-431F-B7AE-35B9494F4F2B}" vid="{DE15729B-A53C-4F17-8E30-E89302E1D290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911</Words>
  <Application>Microsoft Office PowerPoint</Application>
  <DocSecurity>0</DocSecurity>
  <PresentationFormat>Widescreen</PresentationFormat>
  <Paragraphs>116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Georgia</vt:lpstr>
      <vt:lpstr>Segoe UI</vt:lpstr>
      <vt:lpstr>Wingdings</vt:lpstr>
      <vt:lpstr>ChatGPT</vt:lpstr>
      <vt:lpstr>White</vt:lpstr>
      <vt:lpstr>think-cell Slide</vt:lpstr>
      <vt:lpstr>PowerPoint Presentation</vt:lpstr>
      <vt:lpstr>TU is at an inflection point: choosing where AI creates value — and building the organization to deliver it</vt:lpstr>
      <vt:lpstr>AI transformation and Org of the future: questions we would answer</vt:lpstr>
      <vt:lpstr>~3-month program: building blocks across the two tracks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Parth Bahl</cp:lastModifiedBy>
  <cp:revision>4</cp:revision>
  <dcterms:created xsi:type="dcterms:W3CDTF">2026-07-22T01:21:12Z</dcterms:created>
  <dcterms:modified xsi:type="dcterms:W3CDTF">2026-07-22T02:23:34Z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2026-07-22T01:49:05Z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5c8b0095-4083-426e-a391-ac7f867ac3d9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