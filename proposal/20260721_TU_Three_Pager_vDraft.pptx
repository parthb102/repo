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7"/>
  </p:notesMasterIdLst>
  <p:sldIdLst>
    <p:sldId id="256" r:id="rId3"/>
    <p:sldId id="263" r:id="rId4"/>
    <p:sldId id="262" r:id="rId5"/>
    <p:sldId id="261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7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4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68836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4.jpeg"/><Relationship Id="rId12" Type="http://schemas.openxmlformats.org/officeDocument/2006/relationships/image" Target="../media/image5.png"/><Relationship Id="rId13" Type="http://schemas.openxmlformats.org/officeDocument/2006/relationships/oleObject" Target="../embeddings/oleObject3.bin"/><Relationship Id="rId14" Type="http://schemas.openxmlformats.org/officeDocument/2006/relationships/image" Target="../media/image6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Relationship Id="rId5" Type="http://schemas.openxmlformats.org/officeDocument/2006/relationships/tags" Target="../tags/tag37.xml"/><Relationship Id="rId6" Type="http://schemas.openxmlformats.org/officeDocument/2006/relationships/tags" Target="../tags/tag38.xml"/><Relationship Id="rId7" Type="http://schemas.openxmlformats.org/officeDocument/2006/relationships/tags" Target="../tags/tag39.xml"/><Relationship Id="rId8" Type="http://schemas.openxmlformats.org/officeDocument/2006/relationships/tags" Target="../tags/tag40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4.bin"/><Relationship Id="rId11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1.xml"/><Relationship Id="rId2" Type="http://schemas.openxmlformats.org/officeDocument/2006/relationships/tags" Target="../tags/tag42.xml"/><Relationship Id="rId3" Type="http://schemas.openxmlformats.org/officeDocument/2006/relationships/tags" Target="../tags/tag43.xml"/><Relationship Id="rId4" Type="http://schemas.openxmlformats.org/officeDocument/2006/relationships/tags" Target="../tags/tag44.xml"/><Relationship Id="rId5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5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Relationship Id="rId5" Type="http://schemas.openxmlformats.org/officeDocument/2006/relationships/tags" Target="../tags/tag53.xml"/><Relationship Id="rId6" Type="http://schemas.openxmlformats.org/officeDocument/2006/relationships/tags" Target="../tags/tag54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7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tags" Target="../tags/tag59.xml"/><Relationship Id="rId6" Type="http://schemas.openxmlformats.org/officeDocument/2006/relationships/tags" Target="../tags/tag60.xml"/><Relationship Id="rId7" Type="http://schemas.openxmlformats.org/officeDocument/2006/relationships/tags" Target="../tags/tag61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7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2.xml"/><Relationship Id="rId2" Type="http://schemas.openxmlformats.org/officeDocument/2006/relationships/tags" Target="../tags/tag63.xml"/><Relationship Id="rId3" Type="http://schemas.openxmlformats.org/officeDocument/2006/relationships/tags" Target="../tags/tag64.xml"/><Relationship Id="rId4" Type="http://schemas.openxmlformats.org/officeDocument/2006/relationships/tags" Target="../tags/tag65.xml"/><Relationship Id="rId5" Type="http://schemas.openxmlformats.org/officeDocument/2006/relationships/tags" Target="../tags/tag66.xml"/><Relationship Id="rId6" Type="http://schemas.openxmlformats.org/officeDocument/2006/relationships/tags" Target="../tags/tag67.xml"/><Relationship Id="rId7" Type="http://schemas.openxmlformats.org/officeDocument/2006/relationships/tags" Target="../tags/tag68.xml"/><Relationship Id="rId8" Type="http://schemas.openxmlformats.org/officeDocument/2006/relationships/tags" Target="../tags/tag69.xml"/><Relationship Id="rId9" Type="http://schemas.openxmlformats.org/officeDocument/2006/relationships/tags" Target="../tags/tag7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Relationship Id="rId7" Type="http://schemas.openxmlformats.org/officeDocument/2006/relationships/tags" Target="../tags/tag77.xml"/><Relationship Id="rId8" Type="http://schemas.openxmlformats.org/officeDocument/2006/relationships/tags" Target="../tags/tag78.xml"/><Relationship Id="rId9" Type="http://schemas.openxmlformats.org/officeDocument/2006/relationships/tags" Target="../tags/tag7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0.xml"/><Relationship Id="rId2" Type="http://schemas.openxmlformats.org/officeDocument/2006/relationships/tags" Target="../tags/tag81.xml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tags" Target="../tags/tag86.xml"/><Relationship Id="rId8" Type="http://schemas.openxmlformats.org/officeDocument/2006/relationships/tags" Target="../tags/tag87.xml"/><Relationship Id="rId9" Type="http://schemas.openxmlformats.org/officeDocument/2006/relationships/tags" Target="../tags/tag88.xml"/><Relationship Id="rId10" Type="http://schemas.openxmlformats.org/officeDocument/2006/relationships/tags" Target="../tags/tag89.xml"/><Relationship Id="rId11" Type="http://schemas.openxmlformats.org/officeDocument/2006/relationships/slideMaster" Target="../slideMasters/slideMaster2.xml"/><Relationship Id="rId12" Type="http://schemas.openxmlformats.org/officeDocument/2006/relationships/oleObject" Target="../embeddings/oleObject9.bin"/><Relationship Id="rId13" Type="http://schemas.openxmlformats.org/officeDocument/2006/relationships/image" Target="../media/image2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0.x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0.bin"/><Relationship Id="rId12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9.xml"/><Relationship Id="rId2" Type="http://schemas.openxmlformats.org/officeDocument/2006/relationships/tags" Target="../tags/tag100.xml"/><Relationship Id="rId3" Type="http://schemas.openxmlformats.org/officeDocument/2006/relationships/tags" Target="../tags/tag101.xml"/><Relationship Id="rId4" Type="http://schemas.openxmlformats.org/officeDocument/2006/relationships/tags" Target="../tags/tag102.xml"/><Relationship Id="rId5" Type="http://schemas.openxmlformats.org/officeDocument/2006/relationships/tags" Target="../tags/tag103.xml"/><Relationship Id="rId6" Type="http://schemas.openxmlformats.org/officeDocument/2006/relationships/tags" Target="../tags/tag104.xml"/><Relationship Id="rId7" Type="http://schemas.openxmlformats.org/officeDocument/2006/relationships/tags" Target="../tags/tag105.xml"/><Relationship Id="rId8" Type="http://schemas.openxmlformats.org/officeDocument/2006/relationships/tags" Target="../tags/tag106.xml"/><Relationship Id="rId9" Type="http://schemas.openxmlformats.org/officeDocument/2006/relationships/tags" Target="../tags/tag10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3.xml"/><Relationship Id="rId2" Type="http://schemas.openxmlformats.org/officeDocument/2006/relationships/tags" Target="../tags/tag114.xml"/><Relationship Id="rId3" Type="http://schemas.openxmlformats.org/officeDocument/2006/relationships/tags" Target="../tags/tag115.xml"/><Relationship Id="rId4" Type="http://schemas.openxmlformats.org/officeDocument/2006/relationships/tags" Target="../tags/tag116.xml"/><Relationship Id="rId5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tags" Target="../tags/tag118.xml"/><Relationship Id="rId3" Type="http://schemas.openxmlformats.org/officeDocument/2006/relationships/tags" Target="../tags/tag119.xml"/><Relationship Id="rId4" Type="http://schemas.openxmlformats.org/officeDocument/2006/relationships/tags" Target="../tags/tag12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4.jpeg"/><Relationship Id="rId7" Type="http://schemas.openxmlformats.org/officeDocument/2006/relationships/oleObject" Target="../embeddings/oleObject11.bin"/><Relationship Id="rId8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746856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03724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32854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5741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525252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60254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77867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62542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07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44026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9628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0915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276608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7758516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2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tags" Target="../tags/tag3.xml"/><Relationship Id="rId17" Type="http://schemas.openxmlformats.org/officeDocument/2006/relationships/tags" Target="../tags/tag4.xml"/><Relationship Id="rId18" Type="http://schemas.openxmlformats.org/officeDocument/2006/relationships/tags" Target="../tags/tag5.xml"/><Relationship Id="rId19" Type="http://schemas.openxmlformats.org/officeDocument/2006/relationships/tags" Target="../tags/tag6.xml"/><Relationship Id="rId20" Type="http://schemas.openxmlformats.org/officeDocument/2006/relationships/tags" Target="../tags/tag7.xml"/><Relationship Id="rId21" Type="http://schemas.openxmlformats.org/officeDocument/2006/relationships/tags" Target="../tags/tag8.xml"/><Relationship Id="rId22" Type="http://schemas.openxmlformats.org/officeDocument/2006/relationships/tags" Target="../tags/tag9.xml"/><Relationship Id="rId23" Type="http://schemas.openxmlformats.org/officeDocument/2006/relationships/tags" Target="../tags/tag10.xml"/><Relationship Id="rId24" Type="http://schemas.openxmlformats.org/officeDocument/2006/relationships/tags" Target="../tags/tag11.xml"/><Relationship Id="rId25" Type="http://schemas.openxmlformats.org/officeDocument/2006/relationships/tags" Target="../tags/tag12.xml"/><Relationship Id="rId26" Type="http://schemas.openxmlformats.org/officeDocument/2006/relationships/tags" Target="../tags/tag13.xml"/><Relationship Id="rId27" Type="http://schemas.openxmlformats.org/officeDocument/2006/relationships/tags" Target="../tags/tag14.xml"/><Relationship Id="rId28" Type="http://schemas.openxmlformats.org/officeDocument/2006/relationships/tags" Target="../tags/tag15.xml"/><Relationship Id="rId29" Type="http://schemas.openxmlformats.org/officeDocument/2006/relationships/tags" Target="../tags/tag16.xml"/><Relationship Id="rId30" Type="http://schemas.openxmlformats.org/officeDocument/2006/relationships/tags" Target="../tags/tag17.xml"/><Relationship Id="rId31" Type="http://schemas.openxmlformats.org/officeDocument/2006/relationships/tags" Target="../tags/tag18.xml"/><Relationship Id="rId32" Type="http://schemas.openxmlformats.org/officeDocument/2006/relationships/tags" Target="../tags/tag19.xml"/><Relationship Id="rId33" Type="http://schemas.openxmlformats.org/officeDocument/2006/relationships/tags" Target="../tags/tag20.xml"/><Relationship Id="rId34" Type="http://schemas.openxmlformats.org/officeDocument/2006/relationships/tags" Target="../tags/tag21.xml"/><Relationship Id="rId35" Type="http://schemas.openxmlformats.org/officeDocument/2006/relationships/tags" Target="../tags/tag22.xml"/><Relationship Id="rId36" Type="http://schemas.openxmlformats.org/officeDocument/2006/relationships/tags" Target="../tags/tag23.xml"/><Relationship Id="rId37" Type="http://schemas.openxmlformats.org/officeDocument/2006/relationships/oleObject" Target="../embeddings/oleObject2.bin"/><Relationship Id="rId38" Type="http://schemas.openxmlformats.org/officeDocument/2006/relationships/image" Target="../media/image2.emf"/><Relationship Id="rId3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4903B509-CF78-8702-6A3E-9525845958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0565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8" imgH="428" progId="TCLayout.ActiveDocument.1">
                  <p:embed/>
                </p:oleObj>
              </mc:Choice>
              <mc:Fallback>
                <p:oleObj name="think-cell Slide" r:id="rId4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412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23.xml"/><Relationship Id="rId2" Type="http://schemas.openxmlformats.org/officeDocument/2006/relationships/tags" Target="../tags/tag124.xml"/><Relationship Id="rId3" Type="http://schemas.openxmlformats.org/officeDocument/2006/relationships/tags" Target="../tags/tag125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tags" Target="../tags/tag127.xml"/><Relationship Id="rId3" Type="http://schemas.openxmlformats.org/officeDocument/2006/relationships/tags" Target="../tags/tag128.xml"/><Relationship Id="rId4" Type="http://schemas.openxmlformats.org/officeDocument/2006/relationships/tags" Target="../tags/tag129.xml"/><Relationship Id="rId5" Type="http://schemas.openxmlformats.org/officeDocument/2006/relationships/tags" Target="../tags/tag130.xml"/><Relationship Id="rId6" Type="http://schemas.openxmlformats.org/officeDocument/2006/relationships/tags" Target="../tags/tag131.xml"/><Relationship Id="rId7" Type="http://schemas.openxmlformats.org/officeDocument/2006/relationships/tags" Target="../tags/tag132.xml"/><Relationship Id="rId8" Type="http://schemas.openxmlformats.org/officeDocument/2006/relationships/tags" Target="../tags/tag133.xml"/><Relationship Id="rId9" Type="http://schemas.openxmlformats.org/officeDocument/2006/relationships/tags" Target="../tags/tag134.xm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.xml"/><Relationship Id="rId12" Type="http://schemas.openxmlformats.org/officeDocument/2006/relationships/oleObject" Target="../embeddings/oleObject14.bin"/><Relationship Id="rId13" Type="http://schemas.openxmlformats.org/officeDocument/2006/relationships/image" Target="../media/image1.emf"/><Relationship Id="rId14" Type="http://schemas.openxmlformats.org/officeDocument/2006/relationships/image" Target="../media/image9.svg"/><Relationship Id="rId15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5.xml"/><Relationship Id="rId2" Type="http://schemas.openxmlformats.org/officeDocument/2006/relationships/tags" Target="../tags/tag136.xml"/><Relationship Id="rId3" Type="http://schemas.openxmlformats.org/officeDocument/2006/relationships/tags" Target="../tags/tag137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5.bin"/><Relationship Id="rId6" Type="http://schemas.openxmlformats.org/officeDocument/2006/relationships/image" Target="../media/image1.emf"/><Relationship Id="rId7" Type="http://schemas.openxmlformats.org/officeDocument/2006/relationships/image" Target="../media/image11.svg"/><Relationship Id="rId8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think-cell data - do not delete" hidden="1">
            <a:extLst>
              <a:ext uri="{FF2B5EF4-FFF2-40B4-BE49-F238E27FC236}">
                <a16:creationId xmlns:a16="http://schemas.microsoft.com/office/drawing/2014/main" id="{35359B35-1B63-030F-DC35-356FA11510E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116727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Slide title">
            <a:extLst>
              <a:ext uri="{FF2B5EF4-FFF2-40B4-BE49-F238E27FC236}">
                <a16:creationId xmlns:a16="http://schemas.microsoft.com/office/drawing/2014/main" id="{7020821A-3E97-487C-8E1A-D132B7321E89}"/>
              </a:ext>
            </a:extLst>
          </p:cNvPr>
          <p:cNvSpPr>
            <a:spLocks noGrp="1"/>
          </p:cNvSpPr>
          <p:nvPr/>
        </p:nvSpPr>
        <p:spPr>
          <a:xfrm>
            <a:off x="554736" y="176213"/>
            <a:ext cx="11082338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/>
          <a:p>
            <a:pPr>
              <a:defRPr sz="2500" b="1">
                <a:solidFill>
                  <a:srgbClr val="111111"/>
                </a:solidFill>
                <a:latin typeface="Georgia"/>
                <a:ea typeface="Georgia"/>
                <a:cs typeface="Georgia"/>
              </a:defRPr>
            </a:pPr>
            <a:r>
              <a:rPr lang="en-US" b="1" dirty="0">
                <a:solidFill>
                  <a:srgbClr val="2251FF"/>
                </a:solidFill>
              </a:rPr>
              <a:t>TU is at an inflection point: </a:t>
            </a:r>
            <a:r>
              <a:rPr lang="en-US" b="1" dirty="0">
                <a:solidFill>
                  <a:srgbClr val="000000"/>
                </a:solidFill>
              </a:rPr>
              <a:t>choosing where AI creates value — and building the organization to deliver it</a:t>
            </a:r>
            <a:endParaRPr sz="2500" b="1" dirty="0">
              <a:solidFill>
                <a:srgbClr val="111111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" name="Platform evolution arrow">
            <a:extLst>
              <a:ext uri="{FF2B5EF4-FFF2-40B4-BE49-F238E27FC236}">
                <a16:creationId xmlns:a16="http://schemas.microsoft.com/office/drawing/2014/main" id="{3939108F-0A7E-44A9-95B2-0B04E439E07F}"/>
              </a:ext>
            </a:extLst>
          </p:cNvPr>
          <p:cNvSpPr>
            <a:spLocks noGrp="1"/>
          </p:cNvSpPr>
          <p:nvPr/>
        </p:nvSpPr>
        <p:spPr>
          <a:xfrm>
            <a:off x="904875" y="2191814"/>
            <a:ext cx="3755011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AI ambition arrow">
            <a:extLst>
              <a:ext uri="{FF2B5EF4-FFF2-40B4-BE49-F238E27FC236}">
                <a16:creationId xmlns:a16="http://schemas.microsoft.com/office/drawing/2014/main" id="{441A4497-081E-425E-9AB9-370102B15AA8}"/>
              </a:ext>
            </a:extLst>
          </p:cNvPr>
          <p:cNvSpPr>
            <a:spLocks noGrp="1"/>
          </p:cNvSpPr>
          <p:nvPr/>
        </p:nvSpPr>
        <p:spPr>
          <a:xfrm>
            <a:off x="904875" y="4138283"/>
            <a:ext cx="3857625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4" name="Platform convergence arrow">
            <a:extLst>
              <a:ext uri="{FF2B5EF4-FFF2-40B4-BE49-F238E27FC236}">
                <a16:creationId xmlns:a16="http://schemas.microsoft.com/office/drawing/2014/main" id="{BFCCA48E-84DF-4A2E-82A3-45AB7F1C4718}"/>
              </a:ext>
            </a:extLst>
          </p:cNvPr>
          <p:cNvSpPr>
            <a:spLocks noGrp="1"/>
          </p:cNvSpPr>
          <p:nvPr/>
        </p:nvSpPr>
        <p:spPr>
          <a:xfrm rot="1440000">
            <a:off x="4495799" y="2467321"/>
            <a:ext cx="1428750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5" name="AI convergence arrow">
            <a:extLst>
              <a:ext uri="{FF2B5EF4-FFF2-40B4-BE49-F238E27FC236}">
                <a16:creationId xmlns:a16="http://schemas.microsoft.com/office/drawing/2014/main" id="{EDE2F0F9-B3D9-4117-AFAE-8C57AD0C5AF4}"/>
              </a:ext>
            </a:extLst>
          </p:cNvPr>
          <p:cNvSpPr>
            <a:spLocks noGrp="1"/>
          </p:cNvSpPr>
          <p:nvPr/>
        </p:nvSpPr>
        <p:spPr>
          <a:xfrm rot="19700478">
            <a:off x="4594567" y="3753143"/>
            <a:ext cx="1428750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21B506-14EA-4C28-A629-E96C15C27700}"/>
              </a:ext>
            </a:extLst>
          </p:cNvPr>
          <p:cNvSpPr>
            <a:spLocks noGrp="1"/>
          </p:cNvSpPr>
          <p:nvPr/>
        </p:nvSpPr>
        <p:spPr>
          <a:xfrm>
            <a:off x="554736" y="1667939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evolution</a:t>
            </a:r>
          </a:p>
        </p:txBody>
      </p:sp>
      <p:sp>
        <p:nvSpPr>
          <p:cNvPr id="8" name="Circle ">
            <a:extLst>
              <a:ext uri="{FF2B5EF4-FFF2-40B4-BE49-F238E27FC236}">
                <a16:creationId xmlns:a16="http://schemas.microsoft.com/office/drawing/2014/main" id="{65FAC924-11FD-4A6D-9DE4-95B78FFF50DE}"/>
              </a:ext>
            </a:extLst>
          </p:cNvPr>
          <p:cNvSpPr>
            <a:spLocks noGrp="1"/>
          </p:cNvSpPr>
          <p:nvPr/>
        </p:nvSpPr>
        <p:spPr>
          <a:xfrm>
            <a:off x="933450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ircle ">
            <a:extLst>
              <a:ext uri="{FF2B5EF4-FFF2-40B4-BE49-F238E27FC236}">
                <a16:creationId xmlns:a16="http://schemas.microsoft.com/office/drawing/2014/main" id="{B9CE081D-DFD2-4EA4-B5FC-4DA508A842F7}"/>
              </a:ext>
            </a:extLst>
          </p:cNvPr>
          <p:cNvSpPr>
            <a:spLocks noGrp="1"/>
          </p:cNvSpPr>
          <p:nvPr/>
        </p:nvSpPr>
        <p:spPr>
          <a:xfrm>
            <a:off x="2524125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ircle ">
            <a:extLst>
              <a:ext uri="{FF2B5EF4-FFF2-40B4-BE49-F238E27FC236}">
                <a16:creationId xmlns:a16="http://schemas.microsoft.com/office/drawing/2014/main" id="{A64ADD26-CD44-41BC-B67C-F1A7A8A593CC}"/>
              </a:ext>
            </a:extLst>
          </p:cNvPr>
          <p:cNvSpPr>
            <a:spLocks noGrp="1"/>
          </p:cNvSpPr>
          <p:nvPr/>
        </p:nvSpPr>
        <p:spPr>
          <a:xfrm>
            <a:off x="4219575" y="2134664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2461ED-E51C-4BAA-92EF-D2380E23BE46}"/>
              </a:ext>
            </a:extLst>
          </p:cNvPr>
          <p:cNvSpPr>
            <a:spLocks noGrp="1"/>
          </p:cNvSpPr>
          <p:nvPr/>
        </p:nvSpPr>
        <p:spPr>
          <a:xfrm>
            <a:off x="666750" y="2439464"/>
            <a:ext cx="1047750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Credit bureau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0B02EF-4D42-42B0-9071-300E191543A5}"/>
              </a:ext>
            </a:extLst>
          </p:cNvPr>
          <p:cNvSpPr>
            <a:spLocks noGrp="1"/>
          </p:cNvSpPr>
          <p:nvPr/>
        </p:nvSpPr>
        <p:spPr>
          <a:xfrm>
            <a:off x="20574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Product company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A5FAB9-65EF-4555-8150-40AFB5E79819}"/>
              </a:ext>
            </a:extLst>
          </p:cNvPr>
          <p:cNvSpPr>
            <a:spLocks noGrp="1"/>
          </p:cNvSpPr>
          <p:nvPr/>
        </p:nvSpPr>
        <p:spPr>
          <a:xfrm>
            <a:off x="37338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company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9C95C8-217E-4584-9AD6-04CA8AE92890}"/>
              </a:ext>
            </a:extLst>
          </p:cNvPr>
          <p:cNvSpPr>
            <a:spLocks noGrp="1"/>
          </p:cNvSpPr>
          <p:nvPr/>
        </p:nvSpPr>
        <p:spPr>
          <a:xfrm>
            <a:off x="3762375" y="2940149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Thin products on</a:t>
            </a:r>
          </a:p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thick platforms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3EB98-74AF-4EAE-ACC9-FE71B675DADF}"/>
              </a:ext>
            </a:extLst>
          </p:cNvPr>
          <p:cNvSpPr>
            <a:spLocks noGrp="1"/>
          </p:cNvSpPr>
          <p:nvPr/>
        </p:nvSpPr>
        <p:spPr>
          <a:xfrm>
            <a:off x="554736" y="3620564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AI ambition</a:t>
            </a:r>
          </a:p>
        </p:txBody>
      </p:sp>
      <p:sp>
        <p:nvSpPr>
          <p:cNvPr id="16" name="Circle ">
            <a:extLst>
              <a:ext uri="{FF2B5EF4-FFF2-40B4-BE49-F238E27FC236}">
                <a16:creationId xmlns:a16="http://schemas.microsoft.com/office/drawing/2014/main" id="{2F9B2BFD-2CE6-4E21-B844-DE12F71D4627}"/>
              </a:ext>
            </a:extLst>
          </p:cNvPr>
          <p:cNvSpPr>
            <a:spLocks noGrp="1"/>
          </p:cNvSpPr>
          <p:nvPr/>
        </p:nvSpPr>
        <p:spPr>
          <a:xfrm>
            <a:off x="933450" y="4087289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ircle ">
            <a:extLst>
              <a:ext uri="{FF2B5EF4-FFF2-40B4-BE49-F238E27FC236}">
                <a16:creationId xmlns:a16="http://schemas.microsoft.com/office/drawing/2014/main" id="{14F4DD65-49B3-4C1B-A274-F557BB0CB043}"/>
              </a:ext>
            </a:extLst>
          </p:cNvPr>
          <p:cNvSpPr>
            <a:spLocks noGrp="1"/>
          </p:cNvSpPr>
          <p:nvPr/>
        </p:nvSpPr>
        <p:spPr>
          <a:xfrm>
            <a:off x="2524125" y="4087289"/>
            <a:ext cx="266700" cy="266700"/>
          </a:xfrm>
          <a:prstGeom prst="ellipse">
            <a:avLst/>
          </a:prstGeom>
          <a:solidFill>
            <a:srgbClr val="00A9F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Circle ">
            <a:extLst>
              <a:ext uri="{FF2B5EF4-FFF2-40B4-BE49-F238E27FC236}">
                <a16:creationId xmlns:a16="http://schemas.microsoft.com/office/drawing/2014/main" id="{4E62547A-31FB-41C9-9509-37F287A3F9FB}"/>
              </a:ext>
            </a:extLst>
          </p:cNvPr>
          <p:cNvSpPr>
            <a:spLocks noGrp="1"/>
          </p:cNvSpPr>
          <p:nvPr/>
        </p:nvSpPr>
        <p:spPr>
          <a:xfrm>
            <a:off x="4219575" y="4087289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F6AA1-0E80-436E-BFA9-F0E28765501D}"/>
              </a:ext>
            </a:extLst>
          </p:cNvPr>
          <p:cNvSpPr>
            <a:spLocks noGrp="1"/>
          </p:cNvSpPr>
          <p:nvPr/>
        </p:nvSpPr>
        <p:spPr>
          <a:xfrm>
            <a:off x="666522" y="4392089"/>
            <a:ext cx="796693" cy="2154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</a:t>
            </a: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curious</a:t>
            </a:r>
            <a:endParaRPr sz="140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14C52B-4D71-410C-B6CC-47AB2250F88E}"/>
              </a:ext>
            </a:extLst>
          </p:cNvPr>
          <p:cNvSpPr>
            <a:spLocks noGrp="1"/>
          </p:cNvSpPr>
          <p:nvPr/>
        </p:nvSpPr>
        <p:spPr>
          <a:xfrm>
            <a:off x="2057400" y="4392089"/>
            <a:ext cx="1285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pilots and experiments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B5D9D-0CAD-469F-A688-D81EC5B20357}"/>
              </a:ext>
            </a:extLst>
          </p:cNvPr>
          <p:cNvSpPr>
            <a:spLocks noGrp="1"/>
          </p:cNvSpPr>
          <p:nvPr/>
        </p:nvSpPr>
        <p:spPr>
          <a:xfrm>
            <a:off x="3667125" y="4392089"/>
            <a:ext cx="1428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Deciding AI priority domains</a:t>
            </a:r>
            <a:endParaRPr sz="1400" b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DD8700-C08C-425B-96CA-EB410F658144}"/>
              </a:ext>
            </a:extLst>
          </p:cNvPr>
          <p:cNvSpPr>
            <a:spLocks noGrp="1"/>
          </p:cNvSpPr>
          <p:nvPr/>
        </p:nvSpPr>
        <p:spPr>
          <a:xfrm>
            <a:off x="3876674" y="4854606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163" b="1" i="1" dirty="0">
                <a:solidFill>
                  <a:srgbClr val="2251FF"/>
                </a:solidFill>
                <a:latin typeface="Arial"/>
                <a:cs typeface="Arial"/>
              </a:rPr>
              <a:t>Early today</a:t>
            </a:r>
          </a:p>
        </p:txBody>
      </p:sp>
      <p:sp>
        <p:nvSpPr>
          <p:cNvPr id="24" name="Value agenda">
            <a:extLst>
              <a:ext uri="{FF2B5EF4-FFF2-40B4-BE49-F238E27FC236}">
                <a16:creationId xmlns:a16="http://schemas.microsoft.com/office/drawing/2014/main" id="{53593066-4110-46B1-AB6D-14D0520D6B48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4924425" cy="1790700"/>
          </a:xfrm>
          <a:prstGeom prst="roundRect">
            <a:avLst>
              <a:gd name="adj" fmla="val 4255"/>
            </a:avLst>
          </a:prstGeom>
          <a:solidFill>
            <a:srgbClr val="EEF3FF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050C02-24F4-452D-AA0E-D4138AC7E531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76200" cy="179070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Circle 1">
            <a:extLst>
              <a:ext uri="{FF2B5EF4-FFF2-40B4-BE49-F238E27FC236}">
                <a16:creationId xmlns:a16="http://schemas.microsoft.com/office/drawing/2014/main" id="{D8C8DC3A-EEB7-4562-A8B6-66BEE2F85FDD}"/>
              </a:ext>
            </a:extLst>
          </p:cNvPr>
          <p:cNvSpPr>
            <a:spLocks noGrp="1"/>
          </p:cNvSpPr>
          <p:nvPr/>
        </p:nvSpPr>
        <p:spPr>
          <a:xfrm>
            <a:off x="6915150" y="1409700"/>
            <a:ext cx="361950" cy="361950"/>
          </a:xfrm>
          <a:prstGeom prst="ellipse">
            <a:avLst/>
          </a:prstGeom>
          <a:solidFill>
            <a:srgbClr val="2251FF"/>
          </a:solidFill>
          <a:ln w="9525">
            <a:solidFill>
              <a:srgbClr val="2251FF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58F858-7587-4E24-BE82-BFD53E588AF4}"/>
              </a:ext>
            </a:extLst>
          </p:cNvPr>
          <p:cNvSpPr>
            <a:spLocks noGrp="1"/>
          </p:cNvSpPr>
          <p:nvPr/>
        </p:nvSpPr>
        <p:spPr>
          <a:xfrm>
            <a:off x="7410450" y="1409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AI Domain Transformation</a:t>
            </a:r>
            <a:endParaRPr sz="1125" b="1" dirty="0">
              <a:solidFill>
                <a:srgbClr val="2251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A69CB4-A10C-4968-BEBC-7F98DD8937C8}"/>
              </a:ext>
            </a:extLst>
          </p:cNvPr>
          <p:cNvSpPr>
            <a:spLocks noGrp="1"/>
          </p:cNvSpPr>
          <p:nvPr/>
        </p:nvSpPr>
        <p:spPr>
          <a:xfrm>
            <a:off x="7000875" y="18078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Prioritize and transform the domains where AI can create outsized value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A6A6FB-9DC0-45FF-8CC7-C4946173F117}"/>
              </a:ext>
            </a:extLst>
          </p:cNvPr>
          <p:cNvSpPr>
            <a:spLocks noGrp="1"/>
          </p:cNvSpPr>
          <p:nvPr/>
        </p:nvSpPr>
        <p:spPr>
          <a:xfrm>
            <a:off x="7000875" y="2724150"/>
            <a:ext cx="4477188" cy="1905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38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Map value pools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C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hoose the bets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S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equence execution</a:t>
            </a:r>
          </a:p>
        </p:txBody>
      </p:sp>
      <p:sp>
        <p:nvSpPr>
          <p:cNvPr id="32" name="Organization agenda">
            <a:extLst>
              <a:ext uri="{FF2B5EF4-FFF2-40B4-BE49-F238E27FC236}">
                <a16:creationId xmlns:a16="http://schemas.microsoft.com/office/drawing/2014/main" id="{F2EB8D59-0CDA-4F89-BBE2-C8FBB6F1FC6E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4924425" cy="2095500"/>
          </a:xfrm>
          <a:prstGeom prst="roundRect">
            <a:avLst>
              <a:gd name="adj" fmla="val 3636"/>
            </a:avLst>
          </a:prstGeom>
          <a:solidFill>
            <a:srgbClr val="F0FBFC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1B4BCD-A4A5-4F06-AADE-4AD2A69DC92A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76200" cy="2095500"/>
          </a:xfrm>
          <a:prstGeom prst="rect">
            <a:avLst/>
          </a:prstGeom>
          <a:solidFill>
            <a:srgbClr val="0679C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Circle 2">
            <a:extLst>
              <a:ext uri="{FF2B5EF4-FFF2-40B4-BE49-F238E27FC236}">
                <a16:creationId xmlns:a16="http://schemas.microsoft.com/office/drawing/2014/main" id="{E0082328-85A1-4F15-93A7-09851791F0D6}"/>
              </a:ext>
            </a:extLst>
          </p:cNvPr>
          <p:cNvSpPr>
            <a:spLocks noGrp="1"/>
          </p:cNvSpPr>
          <p:nvPr/>
        </p:nvSpPr>
        <p:spPr>
          <a:xfrm>
            <a:off x="6915150" y="3505200"/>
            <a:ext cx="361950" cy="361950"/>
          </a:xfrm>
          <a:prstGeom prst="ellipse">
            <a:avLst/>
          </a:prstGeom>
          <a:solidFill>
            <a:srgbClr val="0679C3"/>
          </a:solidFill>
          <a:ln w="9525">
            <a:solidFill>
              <a:srgbClr val="0679C3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427058-BE3B-401A-80DB-2606533A40D0}"/>
              </a:ext>
            </a:extLst>
          </p:cNvPr>
          <p:cNvSpPr>
            <a:spLocks noGrp="1"/>
          </p:cNvSpPr>
          <p:nvPr/>
        </p:nvSpPr>
        <p:spPr>
          <a:xfrm>
            <a:off x="7410450" y="3505200"/>
            <a:ext cx="2238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Organization of the future</a:t>
            </a:r>
            <a:endParaRPr sz="1125" b="1" dirty="0">
              <a:solidFill>
                <a:srgbClr val="0679C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48DC006-83FC-47DC-B142-4F68FE7FC8CB}"/>
              </a:ext>
            </a:extLst>
          </p:cNvPr>
          <p:cNvSpPr>
            <a:spLocks noGrp="1"/>
          </p:cNvSpPr>
          <p:nvPr/>
        </p:nvSpPr>
        <p:spPr>
          <a:xfrm>
            <a:off x="7000875" y="39033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Build the platform- and AI-ready enterprise that can sustain the value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6A14225-98C7-4A4D-9CD9-A7FF188DFBB7}"/>
              </a:ext>
            </a:extLst>
          </p:cNvPr>
          <p:cNvSpPr>
            <a:spLocks noGrp="1"/>
          </p:cNvSpPr>
          <p:nvPr/>
        </p:nvSpPr>
        <p:spPr>
          <a:xfrm>
            <a:off x="7000875" y="4528259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Across f</a:t>
            </a:r>
            <a:r>
              <a:rPr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ive linked design fronts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52531E-541D-46BF-AA95-E0F3EFD69B13}"/>
              </a:ext>
            </a:extLst>
          </p:cNvPr>
          <p:cNvSpPr>
            <a:spLocks noGrp="1"/>
          </p:cNvSpPr>
          <p:nvPr/>
        </p:nvSpPr>
        <p:spPr>
          <a:xfrm>
            <a:off x="6924675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hygiene</a:t>
            </a:r>
          </a:p>
        </p:txBody>
      </p:sp>
      <p:sp>
        <p:nvSpPr>
          <p:cNvPr id="39" name="Straight Connector 38">
            <a:extLst>
              <a:ext uri="{FF2B5EF4-FFF2-40B4-BE49-F238E27FC236}">
                <a16:creationId xmlns:a16="http://schemas.microsoft.com/office/drawing/2014/main" id="{32A12D9A-ADD3-4988-93FD-AF95B8097E1E}"/>
              </a:ext>
            </a:extLst>
          </p:cNvPr>
          <p:cNvSpPr>
            <a:spLocks noGrp="1"/>
          </p:cNvSpPr>
          <p:nvPr/>
        </p:nvSpPr>
        <p:spPr>
          <a:xfrm>
            <a:off x="7775972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75AC96-C2F8-4D6F-AAF1-8E733DD35D77}"/>
              </a:ext>
            </a:extLst>
          </p:cNvPr>
          <p:cNvSpPr>
            <a:spLocks noGrp="1"/>
          </p:cNvSpPr>
          <p:nvPr/>
        </p:nvSpPr>
        <p:spPr>
          <a:xfrm>
            <a:off x="7846219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Platform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14E9437C-7814-48DB-826B-9B05320B57A6}"/>
              </a:ext>
            </a:extLst>
          </p:cNvPr>
          <p:cNvSpPr>
            <a:spLocks noGrp="1"/>
          </p:cNvSpPr>
          <p:nvPr/>
        </p:nvSpPr>
        <p:spPr>
          <a:xfrm>
            <a:off x="8697516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BDAA735-3B71-4837-87D3-947664879303}"/>
              </a:ext>
            </a:extLst>
          </p:cNvPr>
          <p:cNvSpPr>
            <a:spLocks noGrp="1"/>
          </p:cNvSpPr>
          <p:nvPr/>
        </p:nvSpPr>
        <p:spPr>
          <a:xfrm>
            <a:off x="8767763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Workforce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skills</a:t>
            </a: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25E973BC-53DD-480C-9F05-E4BAE1440EDC}"/>
              </a:ext>
            </a:extLst>
          </p:cNvPr>
          <p:cNvSpPr>
            <a:spLocks noGrp="1"/>
          </p:cNvSpPr>
          <p:nvPr/>
        </p:nvSpPr>
        <p:spPr>
          <a:xfrm>
            <a:off x="9619060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19B716-8529-4B30-B4E5-9E51A5B4BF94}"/>
              </a:ext>
            </a:extLst>
          </p:cNvPr>
          <p:cNvSpPr>
            <a:spLocks noGrp="1"/>
          </p:cNvSpPr>
          <p:nvPr/>
        </p:nvSpPr>
        <p:spPr>
          <a:xfrm>
            <a:off x="9689307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Global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footprint</a:t>
            </a:r>
          </a:p>
        </p:txBody>
      </p:sp>
      <p:sp>
        <p:nvSpPr>
          <p:cNvPr id="45" name="Straight Connector 44">
            <a:extLst>
              <a:ext uri="{FF2B5EF4-FFF2-40B4-BE49-F238E27FC236}">
                <a16:creationId xmlns:a16="http://schemas.microsoft.com/office/drawing/2014/main" id="{11967384-5281-492F-8314-92628E97A3B3}"/>
              </a:ext>
            </a:extLst>
          </p:cNvPr>
          <p:cNvSpPr>
            <a:spLocks noGrp="1"/>
          </p:cNvSpPr>
          <p:nvPr/>
        </p:nvSpPr>
        <p:spPr>
          <a:xfrm>
            <a:off x="10540604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9FF21D-C490-431F-A48A-3BA9294FC4A8}"/>
              </a:ext>
            </a:extLst>
          </p:cNvPr>
          <p:cNvSpPr>
            <a:spLocks noGrp="1"/>
          </p:cNvSpPr>
          <p:nvPr/>
        </p:nvSpPr>
        <p:spPr>
          <a:xfrm>
            <a:off x="10610850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Culture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change</a:t>
            </a:r>
          </a:p>
        </p:txBody>
      </p:sp>
      <p:sp>
        <p:nvSpPr>
          <p:cNvPr id="47" name="Conclusion bar">
            <a:extLst>
              <a:ext uri="{FF2B5EF4-FFF2-40B4-BE49-F238E27FC236}">
                <a16:creationId xmlns:a16="http://schemas.microsoft.com/office/drawing/2014/main" id="{63F92C07-B298-4019-BB74-9B0A20DE0674}"/>
              </a:ext>
            </a:extLst>
          </p:cNvPr>
          <p:cNvSpPr>
            <a:spLocks noGrp="1"/>
          </p:cNvSpPr>
          <p:nvPr/>
        </p:nvSpPr>
        <p:spPr>
          <a:xfrm>
            <a:off x="554736" y="5886450"/>
            <a:ext cx="57150" cy="32385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Conclusion">
            <a:extLst>
              <a:ext uri="{FF2B5EF4-FFF2-40B4-BE49-F238E27FC236}">
                <a16:creationId xmlns:a16="http://schemas.microsoft.com/office/drawing/2014/main" id="{1107529E-5211-4348-A761-091BC5A4F805}"/>
              </a:ext>
            </a:extLst>
          </p:cNvPr>
          <p:cNvSpPr>
            <a:spLocks noGrp="1"/>
          </p:cNvSpPr>
          <p:nvPr/>
        </p:nvSpPr>
        <p:spPr>
          <a:xfrm>
            <a:off x="742950" y="5932959"/>
            <a:ext cx="10477500" cy="2308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 i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500" b="1" i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Today — align on the questions each track must answer, and the shape of a ~3-month program</a:t>
            </a:r>
            <a:endParaRPr sz="1500" b="1" i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ooter">
            <a:extLst>
              <a:ext uri="{FF2B5EF4-FFF2-40B4-BE49-F238E27FC236}">
                <a16:creationId xmlns:a16="http://schemas.microsoft.com/office/drawing/2014/main" id="{645B2FA1-C7C2-4A26-85F8-FF19AB9B48C6}"/>
              </a:ext>
            </a:extLst>
          </p:cNvPr>
          <p:cNvSpPr>
            <a:spLocks noGrp="1"/>
          </p:cNvSpPr>
          <p:nvPr/>
        </p:nvSpPr>
        <p:spPr>
          <a:xfrm>
            <a:off x="10142220" y="6497955"/>
            <a:ext cx="1135380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ct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McKinsey &amp; Company</a:t>
            </a:r>
          </a:p>
        </p:txBody>
      </p:sp>
      <p:sp>
        <p:nvSpPr>
          <p:cNvPr id="50" name="Page number">
            <a:extLst>
              <a:ext uri="{FF2B5EF4-FFF2-40B4-BE49-F238E27FC236}">
                <a16:creationId xmlns:a16="http://schemas.microsoft.com/office/drawing/2014/main" id="{E0B4066A-3787-48C3-AEBF-20D52CA83E1F}"/>
              </a:ext>
            </a:extLst>
          </p:cNvPr>
          <p:cNvSpPr>
            <a:spLocks noGrp="1"/>
          </p:cNvSpPr>
          <p:nvPr/>
        </p:nvSpPr>
        <p:spPr>
          <a:xfrm>
            <a:off x="11315700" y="6497955"/>
            <a:ext cx="321945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2" name="Sticky">
            <a:extLst>
              <a:ext uri="{FF2B5EF4-FFF2-40B4-BE49-F238E27FC236}">
                <a16:creationId xmlns:a16="http://schemas.microsoft.com/office/drawing/2014/main" id="{522FB695-FAFA-BBA3-EA04-4188429861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1</a:t>
            </a:r>
          </a:p>
        </p:txBody>
      </p:sp>
      <p:sp>
        <p:nvSpPr>
          <p:cNvPr id="23" name="Circle ">
            <a:extLst>
              <a:ext uri="{FF2B5EF4-FFF2-40B4-BE49-F238E27FC236}">
                <a16:creationId xmlns:a16="http://schemas.microsoft.com/office/drawing/2014/main" id="{437635E0-2DAE-4027-B336-B7D615E5E058}"/>
              </a:ext>
            </a:extLst>
          </p:cNvPr>
          <p:cNvSpPr>
            <a:spLocks noGrp="1"/>
          </p:cNvSpPr>
          <p:nvPr/>
        </p:nvSpPr>
        <p:spPr>
          <a:xfrm>
            <a:off x="5570935" y="2649014"/>
            <a:ext cx="1162050" cy="1162050"/>
          </a:xfrm>
          <a:prstGeom prst="ellipse">
            <a:avLst/>
          </a:prstGeom>
          <a:solidFill>
            <a:srgbClr val="061F79"/>
          </a:solidFill>
          <a:ln w="9525">
            <a:solidFill>
              <a:srgbClr val="061F79"/>
            </a:solidFill>
            <a:prstDash val="solid"/>
          </a:ln>
        </p:spPr>
        <p:txBody>
          <a:bodyPr wrap="square" lIns="47625" tIns="219075" rIns="47625" bIns="47625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650" b="1" dirty="0">
                <a:solidFill>
                  <a:srgbClr val="FFFFFF"/>
                </a:solidFill>
              </a:rPr>
              <a:t>NOW</a:t>
            </a:r>
          </a:p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</a:rPr>
              <a:t>Inflection 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" y="1133856"/>
            <a:ext cx="5989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200" b="1">
                <a:solidFill>
                  <a:srgbClr val="000000"/>
                </a:solidFill>
                <a:latin typeface="Arial"/>
              </a:rPr>
              <a:t>platform organization</a:t>
            </a:r>
            <a:r>
              <a:rPr sz="1200" b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200" b="1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20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7384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hink-cell data - do not delete" hidden="1">
            <a:extLst>
              <a:ext uri="{FF2B5EF4-FFF2-40B4-BE49-F238E27FC236}">
                <a16:creationId xmlns:a16="http://schemas.microsoft.com/office/drawing/2014/main" id="{CBA7B97A-B22E-7FDD-925C-E336A9AE308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63546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platform organization — 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350" b="0" i="0">
                <a:solidFill>
                  <a:srgbClr val="000000"/>
                </a:solidFill>
                <a:latin typeface="Arial"/>
              </a:rPr>
              <a:t>. Two journeys follow: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847088"/>
            <a:ext cx="11082528" cy="656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b="0" i="0" dirty="0">
                <a:solidFill>
                  <a:srgbClr val="000000"/>
                </a:solidFill>
                <a:latin typeface="Arial"/>
              </a:rPr>
              <a:t>1. 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761488"/>
            <a:ext cx="10561320" cy="432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i="0" dirty="0">
                <a:solidFill>
                  <a:srgbClr val="000000"/>
                </a:solidFill>
                <a:latin typeface="Arial"/>
              </a:rPr>
              <a:t>2.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Its structure has not kept pace with what it is becoming — in leadership's own framing, </a:t>
            </a:r>
            <a:r>
              <a:rPr sz="1350" b="1" i="1" dirty="0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607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034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70205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835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835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82803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33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33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7230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5401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031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031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7999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" y="5230368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698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 dirty="0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 dirty="0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 dirty="0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" y="6199632"/>
            <a:ext cx="110825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  <p:sp>
        <p:nvSpPr>
          <p:cNvPr id="32" name="Sticky">
            <a:extLst>
              <a:ext uri="{FF2B5EF4-FFF2-40B4-BE49-F238E27FC236}">
                <a16:creationId xmlns:a16="http://schemas.microsoft.com/office/drawing/2014/main" id="{50EEBDB1-9640-4002-756D-AD0F0C084B6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" name="Object 2" hidden="1">
            <a:extLst>
              <a:ext uri="{FF2B5EF4-FFF2-40B4-BE49-F238E27FC236}">
                <a16:creationId xmlns:a16="http://schemas.microsoft.com/office/drawing/2014/main" id="{4C176148-2A0D-6E14-6CFF-F074BC1D813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75606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8" imgH="428" progId="TCLayout.ActiveDocument.1">
                  <p:embed/>
                </p:oleObj>
              </mc:Choice>
              <mc:Fallback>
                <p:oleObj name="think-cell Slide" r:id="rId12" imgW="428" imgH="428" progId="TCLayout.ActiveDocument.1">
                  <p:embed/>
                  <p:pic>
                    <p:nvPicPr>
                      <p:cNvPr id="7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C176148-2A0D-6E14-6CFF-F074BC1D81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b="1" dirty="0">
                <a:solidFill>
                  <a:srgbClr val="2251FF"/>
                </a:solidFill>
              </a:rPr>
              <a:t>AI transformation and Org of the future</a:t>
            </a:r>
            <a:r>
              <a:rPr b="1" dirty="0">
                <a:solidFill>
                  <a:srgbClr val="2251FF"/>
                </a:solidFill>
              </a:rPr>
              <a:t>: </a:t>
            </a:r>
            <a:r>
              <a:rPr b="1" dirty="0">
                <a:solidFill>
                  <a:srgbClr val="000000"/>
                </a:solidFill>
              </a:rPr>
              <a:t>questions we would answer</a:t>
            </a:r>
          </a:p>
        </p:txBody>
      </p:sp>
      <p:sp>
        <p:nvSpPr>
          <p:cNvPr id="3" name="Rounded Rectangle 2"/>
          <p:cNvSpPr>
            <a:spLocks/>
          </p:cNvSpPr>
          <p:nvPr/>
        </p:nvSpPr>
        <p:spPr>
          <a:xfrm>
            <a:off x="557784" y="1147572"/>
            <a:ext cx="4160520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69848" y="1283644"/>
            <a:ext cx="2106346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AI domain transformation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8601562-2638-90D4-7E02-DE0F2338DA37}"/>
              </a:ext>
            </a:extLst>
          </p:cNvPr>
          <p:cNvGrpSpPr/>
          <p:nvPr/>
        </p:nvGrpSpPr>
        <p:grpSpPr>
          <a:xfrm>
            <a:off x="557784" y="1801368"/>
            <a:ext cx="4160520" cy="646331"/>
            <a:chOff x="557784" y="1801368"/>
            <a:chExt cx="4160520" cy="646331"/>
          </a:xfrm>
        </p:grpSpPr>
        <p:sp>
          <p:nvSpPr>
            <p:cNvPr id="5" name="Oval 4"/>
            <p:cNvSpPr/>
            <p:nvPr/>
          </p:nvSpPr>
          <p:spPr>
            <a:xfrm>
              <a:off x="557784" y="181051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41832" y="1801368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 dirty="0">
                  <a:solidFill>
                    <a:srgbClr val="000000"/>
                  </a:solidFill>
                  <a:latin typeface="Arial"/>
                </a:rPr>
                <a:t>Where is the value?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 Which domains hold material value at stake — anchored in TU's strategic priorities and value pools?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14F5CA2-E174-1750-FBFE-6A7BA964226D}"/>
              </a:ext>
            </a:extLst>
          </p:cNvPr>
          <p:cNvGrpSpPr/>
          <p:nvPr/>
        </p:nvGrpSpPr>
        <p:grpSpPr>
          <a:xfrm>
            <a:off x="557784" y="2819921"/>
            <a:ext cx="4160520" cy="646331"/>
            <a:chOff x="557784" y="2711196"/>
            <a:chExt cx="4160520" cy="646331"/>
          </a:xfrm>
        </p:grpSpPr>
        <p:sp>
          <p:nvSpPr>
            <p:cNvPr id="7" name="Oval 6"/>
            <p:cNvSpPr/>
            <p:nvPr/>
          </p:nvSpPr>
          <p:spPr>
            <a:xfrm>
              <a:off x="557784" y="2711196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41832" y="2711196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How does each domain operate today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the operating and cost baseline, deep enough to size AI potential?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5685B40-9755-708E-4564-3C393E3E7ED2}"/>
              </a:ext>
            </a:extLst>
          </p:cNvPr>
          <p:cNvGrpSpPr/>
          <p:nvPr/>
        </p:nvGrpSpPr>
        <p:grpSpPr>
          <a:xfrm>
            <a:off x="557784" y="3838474"/>
            <a:ext cx="4160520" cy="646331"/>
            <a:chOff x="557784" y="3621024"/>
            <a:chExt cx="4160520" cy="646331"/>
          </a:xfrm>
        </p:grpSpPr>
        <p:sp>
          <p:nvSpPr>
            <p:cNvPr id="9" name="Oval 8"/>
            <p:cNvSpPr/>
            <p:nvPr/>
          </p:nvSpPr>
          <p:spPr>
            <a:xfrm>
              <a:off x="557784" y="3621024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3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41832" y="3621024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What is each domain's AI impact potential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revenue, cost, cost avoidance, risk — weighed against readiness and feasibility?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A1F2C0-E448-4608-3687-6F6D3CE60579}"/>
              </a:ext>
            </a:extLst>
          </p:cNvPr>
          <p:cNvGrpSpPr/>
          <p:nvPr/>
        </p:nvGrpSpPr>
        <p:grpSpPr>
          <a:xfrm>
            <a:off x="557784" y="4857027"/>
            <a:ext cx="4160520" cy="430887"/>
            <a:chOff x="557784" y="4530852"/>
            <a:chExt cx="4160520" cy="430887"/>
          </a:xfrm>
        </p:grpSpPr>
        <p:sp>
          <p:nvSpPr>
            <p:cNvPr id="11" name="Oval 10"/>
            <p:cNvSpPr/>
            <p:nvPr/>
          </p:nvSpPr>
          <p:spPr>
            <a:xfrm>
              <a:off x="557784" y="45308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4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41832" y="4530852"/>
              <a:ext cx="3776472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Which 2–3 domains are TU's big bets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and which no-regret moves start now?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823204B-C1E0-E811-7D35-1C19972D1D97}"/>
              </a:ext>
            </a:extLst>
          </p:cNvPr>
          <p:cNvGrpSpPr/>
          <p:nvPr/>
        </p:nvGrpSpPr>
        <p:grpSpPr>
          <a:xfrm>
            <a:off x="557784" y="5660136"/>
            <a:ext cx="4160520" cy="646331"/>
            <a:chOff x="557784" y="5216652"/>
            <a:chExt cx="4160520" cy="646331"/>
          </a:xfrm>
        </p:grpSpPr>
        <p:sp>
          <p:nvSpPr>
            <p:cNvPr id="13" name="Oval 12"/>
            <p:cNvSpPr/>
            <p:nvPr/>
          </p:nvSpPr>
          <p:spPr>
            <a:xfrm>
              <a:off x="557784" y="52166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41832" y="5216652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In what sequence should TU execute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with what owners, milestones, and enabling investments?</a:t>
              </a:r>
            </a:p>
          </p:txBody>
        </p:sp>
      </p:grpSp>
      <p:sp>
        <p:nvSpPr>
          <p:cNvPr id="15" name="Rounded Rectangle 14"/>
          <p:cNvSpPr>
            <a:spLocks/>
          </p:cNvSpPr>
          <p:nvPr/>
        </p:nvSpPr>
        <p:spPr>
          <a:xfrm>
            <a:off x="5074920" y="1147572"/>
            <a:ext cx="6565392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84342" y="1283644"/>
            <a:ext cx="2115964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Organization of the future</a:t>
            </a:r>
          </a:p>
        </p:txBody>
      </p:sp>
      <p:pic>
        <p:nvPicPr>
          <p:cNvPr id="45" name="CustomIcon">
            <a:extLst>
              <a:ext uri="{FF2B5EF4-FFF2-40B4-BE49-F238E27FC236}">
                <a16:creationId xmlns:a16="http://schemas.microsoft.com/office/drawing/2014/main" id="{BEA570F8-EDDF-A02A-A66F-1E05DBC2AB9F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84559" y="1192446"/>
            <a:ext cx="390144" cy="390144"/>
          </a:xfrm>
          <a:prstGeom prst="rect">
            <a:avLst/>
          </a:prstGeom>
        </p:spPr>
      </p:pic>
      <p:pic>
        <p:nvPicPr>
          <p:cNvPr id="47" name="CustomIcon">
            <a:extLst>
              <a:ext uri="{FF2B5EF4-FFF2-40B4-BE49-F238E27FC236}">
                <a16:creationId xmlns:a16="http://schemas.microsoft.com/office/drawing/2014/main" id="{25D8F37D-A4E6-27EE-B608-C96261B1632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744" y="1192446"/>
            <a:ext cx="390144" cy="390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84980" y="1802704"/>
            <a:ext cx="78407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ORG HYGIENE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430956" y="1802704"/>
            <a:ext cx="5203257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000000"/>
                </a:solidFill>
                <a:latin typeface="Arial"/>
              </a:rPr>
              <a:t>What does a right-sized TU look like — optimal spans, layers, leadership density — and the value at stake?</a:t>
            </a:r>
          </a:p>
        </p:txBody>
      </p:sp>
      <p:cxnSp>
        <p:nvCxnSpPr>
          <p:cNvPr id="54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1802704"/>
            <a:ext cx="0" cy="429768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84980" y="2286000"/>
            <a:ext cx="1016064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FUTURE-READY WORKFORCE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B27236C-7421-1ED7-6993-7A2330EA10F4}"/>
              </a:ext>
            </a:extLst>
          </p:cNvPr>
          <p:cNvGrpSpPr>
            <a:grpSpLocks/>
          </p:cNvGrpSpPr>
          <p:nvPr/>
        </p:nvGrpSpPr>
        <p:grpSpPr>
          <a:xfrm>
            <a:off x="6430956" y="2286000"/>
            <a:ext cx="5203257" cy="1354566"/>
            <a:chOff x="6430956" y="2941826"/>
            <a:chExt cx="5203257" cy="1354566"/>
          </a:xfrm>
        </p:grpSpPr>
        <p:sp>
          <p:nvSpPr>
            <p:cNvPr id="27" name="TextBox 26"/>
            <p:cNvSpPr txBox="1">
              <a:spLocks/>
            </p:cNvSpPr>
            <p:nvPr/>
          </p:nvSpPr>
          <p:spPr>
            <a:xfrm>
              <a:off x="6430956" y="2941826"/>
              <a:ext cx="5203257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171450" indent="-171450" algn="l">
                <a:lnSpc>
                  <a:spcPct val="100000"/>
                </a:lnSpc>
                <a:buFont typeface="Arial" panose="020B0604020202020204" pitchFamily="34" charset="0"/>
                <a:buChar char="•"/>
              </a:pP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How will AI and automation change talent demand over the next 3–5 years?</a:t>
              </a:r>
            </a:p>
          </p:txBody>
        </p:sp>
        <p:sp>
          <p:nvSpPr>
            <p:cNvPr id="28" name="TextBox 27"/>
            <p:cNvSpPr txBox="1">
              <a:spLocks/>
            </p:cNvSpPr>
            <p:nvPr/>
          </p:nvSpPr>
          <p:spPr>
            <a:xfrm>
              <a:off x="6430956" y="3511387"/>
              <a:ext cx="5203257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171450" indent="-171450" algn="l">
                <a:lnSpc>
                  <a:spcPct val="100000"/>
                </a:lnSpc>
                <a:buFont typeface="Arial" panose="020B0604020202020204" pitchFamily="34" charset="0"/>
                <a:buChar char="•"/>
              </a:pP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What size, shape, and skills</a:t>
              </a:r>
              <a:r>
                <a:rPr lang="en-US" sz="1400" dirty="0">
                  <a:solidFill>
                    <a:srgbClr val="000000"/>
                  </a:solidFill>
                  <a:latin typeface="Arial"/>
                </a:rPr>
                <a:t>? W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hich roles are reshaped, replaced, or net-new</a:t>
              </a:r>
              <a:r>
                <a:rPr lang="en-US" sz="1400" dirty="0">
                  <a:solidFill>
                    <a:srgbClr val="000000"/>
                  </a:solidFill>
                  <a:latin typeface="Arial"/>
                </a:rPr>
                <a:t>? B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uilt vs. bought?</a:t>
              </a:r>
            </a:p>
          </p:txBody>
        </p:sp>
        <p:sp>
          <p:nvSpPr>
            <p:cNvPr id="29" name="TextBox 28"/>
            <p:cNvSpPr txBox="1">
              <a:spLocks/>
            </p:cNvSpPr>
            <p:nvPr/>
          </p:nvSpPr>
          <p:spPr>
            <a:xfrm>
              <a:off x="6430956" y="4080948"/>
              <a:ext cx="5203257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171450" indent="-171450" algn="l">
                <a:lnSpc>
                  <a:spcPct val="100000"/>
                </a:lnSpc>
                <a:buFont typeface="Arial" panose="020B0604020202020204" pitchFamily="34" charset="0"/>
                <a:buChar char="•"/>
              </a:pPr>
              <a:r>
                <a:rPr lang="en-US" sz="1400" b="0" i="0" dirty="0">
                  <a:solidFill>
                    <a:srgbClr val="000000"/>
                  </a:solidFill>
                  <a:latin typeface="Arial"/>
                </a:rPr>
                <a:t>W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hat is the value case and the mobilization plan to capture it?</a:t>
              </a:r>
            </a:p>
          </p:txBody>
        </p:sp>
      </p:grpSp>
      <p:cxnSp>
        <p:nvCxnSpPr>
          <p:cNvPr id="59" name="LineBasicImpact 54">
            <a:extLst>
              <a:ext uri="{FF2B5EF4-FFF2-40B4-BE49-F238E27FC236}">
                <a16:creationId xmlns:a16="http://schemas.microsoft.com/office/drawing/2014/main" id="{F281C4E1-204F-CC4C-4676-3847379EF709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282545" y="2286000"/>
            <a:ext cx="0" cy="1354566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184980" y="3694176"/>
            <a:ext cx="120319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251FF"/>
                </a:solidFill>
                <a:latin typeface="Arial"/>
              </a:rPr>
              <a:t>PLATFORM ORG OF THE FUTURE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430956" y="3694176"/>
            <a:ext cx="520325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000000"/>
                </a:solidFill>
                <a:latin typeface="Arial"/>
              </a:rPr>
              <a:t>Which archetypes do true platform orgs follow — a central platform division (e.g., Atlassian, Salesforce) or federated services (e.g., AWS) — and which fits TU?</a:t>
            </a:r>
            <a:endParaRPr sz="14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6430956" y="4443984"/>
            <a:ext cx="520325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000000"/>
                </a:solidFill>
                <a:latin typeface="Arial"/>
              </a:rPr>
              <a:t>What should be the size and composition of the platform and product engineering teams — and where should key roles reside (e.g., Platform PM, Data Science / Analytics, UI/UX)?</a:t>
            </a:r>
            <a:endParaRPr sz="1400" b="0" i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3" name="LineBasicImpact 54">
            <a:extLst>
              <a:ext uri="{FF2B5EF4-FFF2-40B4-BE49-F238E27FC236}">
                <a16:creationId xmlns:a16="http://schemas.microsoft.com/office/drawing/2014/main" id="{C9B1AFEC-01F4-7664-D18C-CA2379218227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6282545" y="3694176"/>
            <a:ext cx="0" cy="1929384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184980" y="6143751"/>
            <a:ext cx="7227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251FF"/>
                </a:solidFill>
                <a:latin typeface="Arial"/>
              </a:rPr>
              <a:t>CULTURE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430956" y="6143751"/>
            <a:ext cx="5203257" cy="3539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i="0" dirty="0">
                <a:solidFill>
                  <a:srgbClr val="000000"/>
                </a:solidFill>
                <a:latin typeface="Arial"/>
              </a:rPr>
              <a:t>What </a:t>
            </a:r>
            <a:r>
              <a:rPr sz="1400" b="0" i="0" dirty="0">
                <a:solidFill>
                  <a:srgbClr val="000000"/>
                </a:solidFill>
                <a:latin typeface="Arial"/>
              </a:rPr>
              <a:t>mindset and behavior shifts are needed — and is there change capacity to absorb them?</a:t>
            </a:r>
          </a:p>
        </p:txBody>
      </p:sp>
      <p:cxnSp>
        <p:nvCxnSpPr>
          <p:cNvPr id="64" name="LineBasicImpact 54">
            <a:extLst>
              <a:ext uri="{FF2B5EF4-FFF2-40B4-BE49-F238E27FC236}">
                <a16:creationId xmlns:a16="http://schemas.microsoft.com/office/drawing/2014/main" id="{3187CA57-4EC7-AB71-D0E7-EE9C232EF910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282545" y="6143751"/>
            <a:ext cx="0" cy="353943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184980" y="5733288"/>
            <a:ext cx="109033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LOCATION STRATEGY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6430956" y="5733288"/>
            <a:ext cx="520325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000000"/>
                </a:solidFill>
                <a:latin typeface="Arial"/>
              </a:rPr>
              <a:t>Which roles sit where and what moves now vs. later?</a:t>
            </a:r>
          </a:p>
        </p:txBody>
      </p:sp>
      <p:cxnSp>
        <p:nvCxnSpPr>
          <p:cNvPr id="65" name="LineBasicImpact 54">
            <a:extLst>
              <a:ext uri="{FF2B5EF4-FFF2-40B4-BE49-F238E27FC236}">
                <a16:creationId xmlns:a16="http://schemas.microsoft.com/office/drawing/2014/main" id="{EAC89B31-6FA4-C276-1F5C-77E86143B3B1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6282545" y="5733288"/>
            <a:ext cx="0" cy="219456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>
            <a:spLocks/>
          </p:cNvSpPr>
          <p:nvPr/>
        </p:nvSpPr>
        <p:spPr>
          <a:xfrm>
            <a:off x="6430956" y="5193792"/>
            <a:ext cx="5203257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000000"/>
                </a:solidFill>
                <a:latin typeface="Arial"/>
              </a:rPr>
              <a:t>What are the core design choices — US vs. international P&amp;L, regional vs. global layers — and what must TU believe?</a:t>
            </a:r>
            <a:endParaRPr sz="1400" b="0" i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72309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b="1" dirty="0">
                <a:solidFill>
                  <a:srgbClr val="2251FF"/>
                </a:solidFill>
              </a:rPr>
              <a:t>~3-month program: </a:t>
            </a:r>
            <a:r>
              <a:rPr b="1" dirty="0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294463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7784" y="1842766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294463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176272" y="1321895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1806527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71038" y="1833958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765804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294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60570" y="1321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1806527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50102" y="1833958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44868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1806527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589264" y="1833959"/>
            <a:ext cx="2959607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1" u="none" strike="noStrike" kern="1200" cap="none" spc="0" normalizeH="0" baseline="0" noProof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2940383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068399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3616702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068399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65804" y="3095831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580463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55336" y="3607895"/>
            <a:ext cx="29961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068399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50102" y="3095831"/>
            <a:ext cx="379094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092527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739633" y="4257174"/>
            <a:ext cx="2996183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Location footprint refresh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580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329165" y="3607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798588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Heatmap scorecard and leadership prioritization workshop — select 2–3 priority domains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7784" y="4999756"/>
            <a:ext cx="11076431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By week 12:  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prioritized domain portfolio and value-backed roadmap  ·  target org blueprint and strategic workforce plan  ·  location and talent roadmap, with a 90-day mobilization plan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Joint TU–McKinsey team; leadership checkpoints at weeks 2, 7, and 12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596128"/>
            <a:ext cx="11082528" cy="777240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68680" y="5799396"/>
            <a:ext cx="10469880" cy="3798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two tracks feed each other:  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enterprise picks its domains top-down; transformation then reconfigures teams bottom-up — new role mixes, team shapes, and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skills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061F7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8744" y="1352375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8744" y="3095831"/>
            <a:ext cx="390144" cy="390144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911</Words>
  <Application>Microsoft Office PowerPoint</Application>
  <DocSecurity>0</DocSecurity>
  <PresentationFormat>Widescreen</PresentationFormat>
  <Paragraphs>116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Calibri</vt:lpstr>
      <vt:lpstr>Georgia</vt:lpstr>
      <vt:lpstr>Segoe UI</vt:lpstr>
      <vt:lpstr>Wingdings</vt:lpstr>
      <vt:lpstr>ChatGPT</vt:lpstr>
      <vt:lpstr>White</vt:lpstr>
      <vt:lpstr>think-cell Slide</vt:lpstr>
      <vt:lpstr>PowerPoint Presentation</vt:lpstr>
      <vt:lpstr>TU is at an inflection point: choosing where AI creates value — and building the organization to deliver it</vt:lpstr>
      <vt:lpstr>AI transformation and Org of the future: questions we would answer</vt:lpstr>
      <vt:lpstr>~3-month program: building blocks across the two tracks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Parth Bahl</cp:lastModifiedBy>
  <cp:revision>4</cp:revision>
  <dcterms:created xsi:type="dcterms:W3CDTF">2026-07-22T01:21:12Z</dcterms:created>
  <dcterms:modified xsi:type="dcterms:W3CDTF">2026-07-22T02:23:34Z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3303d7c-e5a3-4cc8-90eb-69bfd7570ac4_Enabled">
    <vt:lpwstr>true</vt:lpwstr>
  </property>
  <property fmtid="{D5CDD505-2E9C-101B-9397-08002B2CF9AE}" pid="3" name="MSIP_Label_83303d7c-e5a3-4cc8-90eb-69bfd7570ac4_SetDate">
    <vt:lpwstr>2026-07-22T01:49:05Z</vt:lpwstr>
  </property>
  <property fmtid="{D5CDD505-2E9C-101B-9397-08002B2CF9AE}" pid="4" name="MSIP_Label_83303d7c-e5a3-4cc8-90eb-69bfd7570ac4_Method">
    <vt:lpwstr>Standard</vt:lpwstr>
  </property>
  <property fmtid="{D5CDD505-2E9C-101B-9397-08002B2CF9AE}" pid="5" name="MSIP_Label_83303d7c-e5a3-4cc8-90eb-69bfd7570ac4_Name">
    <vt:lpwstr>Client Confidential Information-SLV1</vt:lpwstr>
  </property>
  <property fmtid="{D5CDD505-2E9C-101B-9397-08002B2CF9AE}" pid="6" name="MSIP_Label_83303d7c-e5a3-4cc8-90eb-69bfd7570ac4_SiteId">
    <vt:lpwstr>cc8936bc-9382-4fff-87cb-6f55999549e7</vt:lpwstr>
  </property>
  <property fmtid="{D5CDD505-2E9C-101B-9397-08002B2CF9AE}" pid="7" name="MSIP_Label_83303d7c-e5a3-4cc8-90eb-69bfd7570ac4_ActionId">
    <vt:lpwstr>5c8b0095-4083-426e-a391-ac7f867ac3d9</vt:lpwstr>
  </property>
  <property fmtid="{D5CDD505-2E9C-101B-9397-08002B2CF9AE}" pid="8" name="MSIP_Label_83303d7c-e5a3-4cc8-90eb-69bfd7570ac4_ContentBits">
    <vt:lpwstr>0</vt:lpwstr>
  </property>
  <property fmtid="{D5CDD505-2E9C-101B-9397-08002B2CF9AE}" pid="9" name="MSIP_Label_83303d7c-e5a3-4cc8-90eb-69bfd7570ac4_Tag">
    <vt:lpwstr>10, 3, 0, 1</vt:lpwstr>
  </property>
</Properties>
</file>