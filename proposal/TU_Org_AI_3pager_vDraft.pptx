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19"/>
  </p:notesMasterIdLst>
  <p:handoutMasterIdLst>
    <p:handoutMasterId r:id="rId20"/>
  </p:handoutMasterIdLst>
  <p:sldIdLst>
    <p:sldId id="256" r:id="rId16"/>
    <p:sldId id="257" r:id="rId17"/>
    <p:sldId id="258" r:id="rId18"/>
    <p:sldId id="259" r:id="rId15"/>
  </p:sldIdLst>
  <p:sldSz cx="12192000" cy="6858000"/>
  <p:notesSz cx="7102475" cy="938847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1FF"/>
    <a:srgbClr val="EAF9FF"/>
    <a:srgbClr val="75EFE6"/>
    <a:srgbClr val="CAEFFF"/>
    <a:srgbClr val="B6C5FB"/>
    <a:srgbClr val="BFBFBF"/>
    <a:srgbClr val="00A9F4"/>
    <a:srgbClr val="061F79"/>
    <a:srgbClr val="C5E3F2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BE976-D4AB-46BC-A92E-B1CC2CB48ACD}" v="1285" dt="2026-07-17T13:58:57.907"/>
    <p1510:client id="{F768EBEB-CBBE-4549-96E3-27A496BA1D56}" v="3088" dt="2026-07-17T14:00:36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8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tags" Target="tags/tag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21 July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3.jpe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2.bin"/><Relationship Id="rId1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3.bin"/><Relationship Id="rId11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Relationship Id="rId7" Type="http://schemas.openxmlformats.org/officeDocument/2006/relationships/tags" Target="../tags/tag76.xml"/><Relationship Id="rId8" Type="http://schemas.openxmlformats.org/officeDocument/2006/relationships/tags" Target="../tags/tag77.xml"/><Relationship Id="rId9" Type="http://schemas.openxmlformats.org/officeDocument/2006/relationships/tags" Target="../tags/tag7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tags" Target="../tags/tag82.xml"/><Relationship Id="rId5" Type="http://schemas.openxmlformats.org/officeDocument/2006/relationships/tags" Target="../tags/tag83.xml"/><Relationship Id="rId6" Type="http://schemas.openxmlformats.org/officeDocument/2006/relationships/tags" Target="../tags/tag84.xml"/><Relationship Id="rId7" Type="http://schemas.openxmlformats.org/officeDocument/2006/relationships/tags" Target="../tags/tag85.xml"/><Relationship Id="rId8" Type="http://schemas.openxmlformats.org/officeDocument/2006/relationships/tags" Target="../tags/tag86.xml"/><Relationship Id="rId9" Type="http://schemas.openxmlformats.org/officeDocument/2006/relationships/tags" Target="../tags/tag87.xml"/><Relationship Id="rId10" Type="http://schemas.openxmlformats.org/officeDocument/2006/relationships/tags" Target="../tags/tag88.xml"/><Relationship Id="rId11" Type="http://schemas.openxmlformats.org/officeDocument/2006/relationships/slideMaster" Target="../slideMasters/slideMaster1.xml"/><Relationship Id="rId12" Type="http://schemas.openxmlformats.org/officeDocument/2006/relationships/oleObject" Target="../embeddings/oleObject8.bin"/><Relationship Id="rId13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tags" Target="../tags/tag91.xml"/><Relationship Id="rId4" Type="http://schemas.openxmlformats.org/officeDocument/2006/relationships/tags" Target="../tags/tag92.xml"/><Relationship Id="rId5" Type="http://schemas.openxmlformats.org/officeDocument/2006/relationships/tags" Target="../tags/tag93.xml"/><Relationship Id="rId6" Type="http://schemas.openxmlformats.org/officeDocument/2006/relationships/tags" Target="../tags/tag94.xml"/><Relationship Id="rId7" Type="http://schemas.openxmlformats.org/officeDocument/2006/relationships/tags" Target="../tags/tag95.xml"/><Relationship Id="rId8" Type="http://schemas.openxmlformats.org/officeDocument/2006/relationships/tags" Target="../tags/tag96.xml"/><Relationship Id="rId9" Type="http://schemas.openxmlformats.org/officeDocument/2006/relationships/tags" Target="../tags/tag9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7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8.xml"/><Relationship Id="rId2" Type="http://schemas.openxmlformats.org/officeDocument/2006/relationships/tags" Target="../tags/tag99.xml"/><Relationship Id="rId3" Type="http://schemas.openxmlformats.org/officeDocument/2006/relationships/tags" Target="../tags/tag100.xml"/><Relationship Id="rId4" Type="http://schemas.openxmlformats.org/officeDocument/2006/relationships/tags" Target="../tags/tag101.xml"/><Relationship Id="rId5" Type="http://schemas.openxmlformats.org/officeDocument/2006/relationships/tags" Target="../tags/tag102.xml"/><Relationship Id="rId6" Type="http://schemas.openxmlformats.org/officeDocument/2006/relationships/tags" Target="../tags/tag103.xml"/><Relationship Id="rId7" Type="http://schemas.openxmlformats.org/officeDocument/2006/relationships/tags" Target="../tags/tag104.xml"/><Relationship Id="rId8" Type="http://schemas.openxmlformats.org/officeDocument/2006/relationships/tags" Target="../tags/tag105.xml"/><Relationship Id="rId9" Type="http://schemas.openxmlformats.org/officeDocument/2006/relationships/tags" Target="../tags/tag10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tags" Target="../tags/tag108.xml"/><Relationship Id="rId3" Type="http://schemas.openxmlformats.org/officeDocument/2006/relationships/tags" Target="../tags/tag109.xml"/><Relationship Id="rId4" Type="http://schemas.openxmlformats.org/officeDocument/2006/relationships/tags" Target="../tags/tag110.xml"/><Relationship Id="rId5" Type="http://schemas.openxmlformats.org/officeDocument/2006/relationships/tags" Target="../tags/tag111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tags" Target="../tags/tag114.xml"/><Relationship Id="rId4" Type="http://schemas.openxmlformats.org/officeDocument/2006/relationships/tags" Target="../tags/tag115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3.jpeg"/><Relationship Id="rId7" Type="http://schemas.openxmlformats.org/officeDocument/2006/relationships/oleObject" Target="../embeddings/oleObject10.bin"/><Relationship Id="rId8" Type="http://schemas.openxmlformats.org/officeDocument/2006/relationships/image" Target="../media/image5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41.xml"/><Relationship Id="rId2" Type="http://schemas.openxmlformats.org/officeDocument/2006/relationships/tags" Target="../tags/tag142.xml"/><Relationship Id="rId3" Type="http://schemas.openxmlformats.org/officeDocument/2006/relationships/tags" Target="../tags/tag143.xml"/><Relationship Id="rId4" Type="http://schemas.openxmlformats.org/officeDocument/2006/relationships/tags" Target="../tags/tag144.xml"/><Relationship Id="rId5" Type="http://schemas.openxmlformats.org/officeDocument/2006/relationships/tags" Target="../tags/tag145.xml"/><Relationship Id="rId6" Type="http://schemas.openxmlformats.org/officeDocument/2006/relationships/tags" Target="../tags/tag146.xml"/><Relationship Id="rId7" Type="http://schemas.openxmlformats.org/officeDocument/2006/relationships/tags" Target="../tags/tag147.xml"/><Relationship Id="rId8" Type="http://schemas.openxmlformats.org/officeDocument/2006/relationships/tags" Target="../tags/tag148.xml"/><Relationship Id="rId9" Type="http://schemas.openxmlformats.org/officeDocument/2006/relationships/tags" Target="../tags/tag149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3.jpe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12.bin"/><Relationship Id="rId14" Type="http://schemas.openxmlformats.org/officeDocument/2006/relationships/image" Target="../media/image5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tags" Target="../tags/tag152.xml"/><Relationship Id="rId4" Type="http://schemas.openxmlformats.org/officeDocument/2006/relationships/tags" Target="../tags/tag153.xml"/><Relationship Id="rId5" Type="http://schemas.openxmlformats.org/officeDocument/2006/relationships/tags" Target="../tags/tag154.xml"/><Relationship Id="rId6" Type="http://schemas.openxmlformats.org/officeDocument/2006/relationships/tags" Target="../tags/tag155.xml"/><Relationship Id="rId7" Type="http://schemas.openxmlformats.org/officeDocument/2006/relationships/tags" Target="../tags/tag156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57.xml"/><Relationship Id="rId2" Type="http://schemas.openxmlformats.org/officeDocument/2006/relationships/tags" Target="../tags/tag158.xml"/><Relationship Id="rId3" Type="http://schemas.openxmlformats.org/officeDocument/2006/relationships/tags" Target="../tags/tag159.xml"/><Relationship Id="rId4" Type="http://schemas.openxmlformats.org/officeDocument/2006/relationships/tags" Target="../tags/tag160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61.xml"/><Relationship Id="rId2" Type="http://schemas.openxmlformats.org/officeDocument/2006/relationships/tags" Target="../tags/tag162.xml"/><Relationship Id="rId3" Type="http://schemas.openxmlformats.org/officeDocument/2006/relationships/tags" Target="../tags/tag163.xml"/><Relationship Id="rId4" Type="http://schemas.openxmlformats.org/officeDocument/2006/relationships/tags" Target="../tags/tag164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5.xml"/><Relationship Id="rId2" Type="http://schemas.openxmlformats.org/officeDocument/2006/relationships/tags" Target="../tags/tag166.xml"/><Relationship Id="rId3" Type="http://schemas.openxmlformats.org/officeDocument/2006/relationships/tags" Target="../tags/tag167.xml"/><Relationship Id="rId4" Type="http://schemas.openxmlformats.org/officeDocument/2006/relationships/tags" Target="../tags/tag168.xml"/><Relationship Id="rId5" Type="http://schemas.openxmlformats.org/officeDocument/2006/relationships/tags" Target="../tags/tag169.xml"/><Relationship Id="rId6" Type="http://schemas.openxmlformats.org/officeDocument/2006/relationships/tags" Target="../tags/tag170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4.bin"/><Relationship Id="rId9" Type="http://schemas.openxmlformats.org/officeDocument/2006/relationships/image" Target="../media/image6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71.xml"/><Relationship Id="rId2" Type="http://schemas.openxmlformats.org/officeDocument/2006/relationships/tags" Target="../tags/tag172.xml"/><Relationship Id="rId3" Type="http://schemas.openxmlformats.org/officeDocument/2006/relationships/tags" Target="../tags/tag173.xml"/><Relationship Id="rId4" Type="http://schemas.openxmlformats.org/officeDocument/2006/relationships/tags" Target="../tags/tag174.xml"/><Relationship Id="rId5" Type="http://schemas.openxmlformats.org/officeDocument/2006/relationships/tags" Target="../tags/tag175.xml"/><Relationship Id="rId6" Type="http://schemas.openxmlformats.org/officeDocument/2006/relationships/tags" Target="../tags/tag176.xml"/><Relationship Id="rId7" Type="http://schemas.openxmlformats.org/officeDocument/2006/relationships/tags" Target="../tags/tag17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6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tags" Target="../tags/tag179.xml"/><Relationship Id="rId3" Type="http://schemas.openxmlformats.org/officeDocument/2006/relationships/tags" Target="../tags/tag180.xml"/><Relationship Id="rId4" Type="http://schemas.openxmlformats.org/officeDocument/2006/relationships/tags" Target="../tags/tag181.xml"/><Relationship Id="rId5" Type="http://schemas.openxmlformats.org/officeDocument/2006/relationships/tags" Target="../tags/tag182.xml"/><Relationship Id="rId6" Type="http://schemas.openxmlformats.org/officeDocument/2006/relationships/tags" Target="../tags/tag183.xml"/><Relationship Id="rId7" Type="http://schemas.openxmlformats.org/officeDocument/2006/relationships/tags" Target="../tags/tag184.xml"/><Relationship Id="rId8" Type="http://schemas.openxmlformats.org/officeDocument/2006/relationships/tags" Target="../tags/tag185.xml"/><Relationship Id="rId9" Type="http://schemas.openxmlformats.org/officeDocument/2006/relationships/tags" Target="../tags/tag186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tags" Target="../tags/tag190.xml"/><Relationship Id="rId5" Type="http://schemas.openxmlformats.org/officeDocument/2006/relationships/tags" Target="../tags/tag191.xml"/><Relationship Id="rId6" Type="http://schemas.openxmlformats.org/officeDocument/2006/relationships/tags" Target="../tags/tag192.xml"/><Relationship Id="rId7" Type="http://schemas.openxmlformats.org/officeDocument/2006/relationships/tags" Target="../tags/tag193.xml"/><Relationship Id="rId8" Type="http://schemas.openxmlformats.org/officeDocument/2006/relationships/tags" Target="../tags/tag194.xml"/><Relationship Id="rId9" Type="http://schemas.openxmlformats.org/officeDocument/2006/relationships/tags" Target="../tags/tag19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6.xml"/><Relationship Id="rId2" Type="http://schemas.openxmlformats.org/officeDocument/2006/relationships/tags" Target="../tags/tag197.xml"/><Relationship Id="rId3" Type="http://schemas.openxmlformats.org/officeDocument/2006/relationships/tags" Target="../tags/tag198.xml"/><Relationship Id="rId4" Type="http://schemas.openxmlformats.org/officeDocument/2006/relationships/tags" Target="../tags/tag199.xml"/><Relationship Id="rId5" Type="http://schemas.openxmlformats.org/officeDocument/2006/relationships/tags" Target="../tags/tag200.xml"/><Relationship Id="rId6" Type="http://schemas.openxmlformats.org/officeDocument/2006/relationships/tags" Target="../tags/tag201.xml"/><Relationship Id="rId7" Type="http://schemas.openxmlformats.org/officeDocument/2006/relationships/tags" Target="../tags/tag202.xml"/><Relationship Id="rId8" Type="http://schemas.openxmlformats.org/officeDocument/2006/relationships/tags" Target="../tags/tag203.xml"/><Relationship Id="rId9" Type="http://schemas.openxmlformats.org/officeDocument/2006/relationships/tags" Target="../tags/tag20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9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5.xml"/><Relationship Id="rId2" Type="http://schemas.openxmlformats.org/officeDocument/2006/relationships/tags" Target="../tags/tag206.xml"/><Relationship Id="rId3" Type="http://schemas.openxmlformats.org/officeDocument/2006/relationships/tags" Target="../tags/tag207.xml"/><Relationship Id="rId4" Type="http://schemas.openxmlformats.org/officeDocument/2006/relationships/tags" Target="../tags/tag208.xml"/><Relationship Id="rId5" Type="http://schemas.openxmlformats.org/officeDocument/2006/relationships/tags" Target="../tags/tag209.xml"/><Relationship Id="rId6" Type="http://schemas.openxmlformats.org/officeDocument/2006/relationships/tags" Target="../tags/tag210.xml"/><Relationship Id="rId7" Type="http://schemas.openxmlformats.org/officeDocument/2006/relationships/tags" Target="../tags/tag211.xml"/><Relationship Id="rId8" Type="http://schemas.openxmlformats.org/officeDocument/2006/relationships/tags" Target="../tags/tag212.xml"/><Relationship Id="rId9" Type="http://schemas.openxmlformats.org/officeDocument/2006/relationships/tags" Target="../tags/tag21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4.x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tags" Target="../tags/tag220.xml"/><Relationship Id="rId8" Type="http://schemas.openxmlformats.org/officeDocument/2006/relationships/tags" Target="../tags/tag221.xml"/><Relationship Id="rId9" Type="http://schemas.openxmlformats.org/officeDocument/2006/relationships/tags" Target="../tags/tag22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9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3.xml"/><Relationship Id="rId2" Type="http://schemas.openxmlformats.org/officeDocument/2006/relationships/tags" Target="../tags/tag224.xml"/><Relationship Id="rId3" Type="http://schemas.openxmlformats.org/officeDocument/2006/relationships/tags" Target="../tags/tag225.xml"/><Relationship Id="rId4" Type="http://schemas.openxmlformats.org/officeDocument/2006/relationships/tags" Target="../tags/tag226.xml"/><Relationship Id="rId5" Type="http://schemas.openxmlformats.org/officeDocument/2006/relationships/tags" Target="../tags/tag227.xml"/><Relationship Id="rId6" Type="http://schemas.openxmlformats.org/officeDocument/2006/relationships/tags" Target="../tags/tag228.xml"/><Relationship Id="rId7" Type="http://schemas.openxmlformats.org/officeDocument/2006/relationships/tags" Target="../tags/tag229.xml"/><Relationship Id="rId8" Type="http://schemas.openxmlformats.org/officeDocument/2006/relationships/tags" Target="../tags/tag230.xml"/><Relationship Id="rId9" Type="http://schemas.openxmlformats.org/officeDocument/2006/relationships/tags" Target="../tags/tag23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9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32.xml"/><Relationship Id="rId2" Type="http://schemas.openxmlformats.org/officeDocument/2006/relationships/tags" Target="../tags/tag233.xml"/><Relationship Id="rId3" Type="http://schemas.openxmlformats.org/officeDocument/2006/relationships/tags" Target="../tags/tag234.xml"/><Relationship Id="rId4" Type="http://schemas.openxmlformats.org/officeDocument/2006/relationships/tags" Target="../tags/tag235.xml"/><Relationship Id="rId5" Type="http://schemas.openxmlformats.org/officeDocument/2006/relationships/tags" Target="../tags/tag236.xml"/><Relationship Id="rId6" Type="http://schemas.openxmlformats.org/officeDocument/2006/relationships/tags" Target="../tags/tag237.xml"/><Relationship Id="rId7" Type="http://schemas.openxmlformats.org/officeDocument/2006/relationships/tags" Target="../tags/tag238.xml"/><Relationship Id="rId8" Type="http://schemas.openxmlformats.org/officeDocument/2006/relationships/tags" Target="../tags/tag239.xml"/><Relationship Id="rId9" Type="http://schemas.openxmlformats.org/officeDocument/2006/relationships/tags" Target="../tags/tag24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50.xml"/><Relationship Id="rId2" Type="http://schemas.openxmlformats.org/officeDocument/2006/relationships/tags" Target="../tags/tag251.xml"/><Relationship Id="rId3" Type="http://schemas.openxmlformats.org/officeDocument/2006/relationships/tags" Target="../tags/tag252.xml"/><Relationship Id="rId4" Type="http://schemas.openxmlformats.org/officeDocument/2006/relationships/tags" Target="../tags/tag253.xml"/><Relationship Id="rId5" Type="http://schemas.openxmlformats.org/officeDocument/2006/relationships/tags" Target="../tags/tag254.xml"/><Relationship Id="rId6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5.x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9.xml"/><Relationship Id="rId2" Type="http://schemas.openxmlformats.org/officeDocument/2006/relationships/tags" Target="../tags/tag260.xml"/><Relationship Id="rId3" Type="http://schemas.openxmlformats.org/officeDocument/2006/relationships/tags" Target="../tags/tag261.xml"/><Relationship Id="rId4" Type="http://schemas.openxmlformats.org/officeDocument/2006/relationships/tags" Target="../tags/tag262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3.jpe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artnership">
            <a:extLst>
              <a:ext uri="{FF2B5EF4-FFF2-40B4-BE49-F238E27FC236}">
                <a16:creationId xmlns:a16="http://schemas.microsoft.com/office/drawing/2014/main" id="{52B89695-D141-85AB-BEF2-DAF58FD754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[#]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280F489B-6EA9-4D60-AD2D-A049B26FC92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err="1">
              <a:solidFill>
                <a:schemeClr val="bg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D9F2524B-0DC2-60F0-5C4E-8FA71D9DB6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CBBFD578-F950-EA3D-3920-76D96A09AA5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[#]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Relationship Id="rId21" Type="http://schemas.openxmlformats.org/officeDocument/2006/relationships/tags" Target="../tags/tag7.xml"/><Relationship Id="rId22" Type="http://schemas.openxmlformats.org/officeDocument/2006/relationships/tags" Target="../tags/tag8.xml"/><Relationship Id="rId23" Type="http://schemas.openxmlformats.org/officeDocument/2006/relationships/tags" Target="../tags/tag9.xml"/><Relationship Id="rId24" Type="http://schemas.openxmlformats.org/officeDocument/2006/relationships/tags" Target="../tags/tag10.xml"/><Relationship Id="rId25" Type="http://schemas.openxmlformats.org/officeDocument/2006/relationships/tags" Target="../tags/tag11.xml"/><Relationship Id="rId26" Type="http://schemas.openxmlformats.org/officeDocument/2006/relationships/tags" Target="../tags/tag12.xml"/><Relationship Id="rId27" Type="http://schemas.openxmlformats.org/officeDocument/2006/relationships/tags" Target="../tags/tag13.xml"/><Relationship Id="rId28" Type="http://schemas.openxmlformats.org/officeDocument/2006/relationships/tags" Target="../tags/tag14.xml"/><Relationship Id="rId29" Type="http://schemas.openxmlformats.org/officeDocument/2006/relationships/tags" Target="../tags/tag15.xml"/><Relationship Id="rId30" Type="http://schemas.openxmlformats.org/officeDocument/2006/relationships/tags" Target="../tags/tag16.xml"/><Relationship Id="rId31" Type="http://schemas.openxmlformats.org/officeDocument/2006/relationships/tags" Target="../tags/tag17.xml"/><Relationship Id="rId32" Type="http://schemas.openxmlformats.org/officeDocument/2006/relationships/tags" Target="../tags/tag18.xml"/><Relationship Id="rId33" Type="http://schemas.openxmlformats.org/officeDocument/2006/relationships/tags" Target="../tags/tag19.xml"/><Relationship Id="rId34" Type="http://schemas.openxmlformats.org/officeDocument/2006/relationships/tags" Target="../tags/tag20.xml"/><Relationship Id="rId35" Type="http://schemas.openxmlformats.org/officeDocument/2006/relationships/tags" Target="../tags/tag21.xml"/><Relationship Id="rId36" Type="http://schemas.openxmlformats.org/officeDocument/2006/relationships/tags" Target="../tags/tag2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19" Type="http://schemas.openxmlformats.org/officeDocument/2006/relationships/tags" Target="../tags/tag120.xml"/><Relationship Id="rId20" Type="http://schemas.openxmlformats.org/officeDocument/2006/relationships/tags" Target="../tags/tag121.xml"/><Relationship Id="rId21" Type="http://schemas.openxmlformats.org/officeDocument/2006/relationships/tags" Target="../tags/tag122.xml"/><Relationship Id="rId22" Type="http://schemas.openxmlformats.org/officeDocument/2006/relationships/tags" Target="../tags/tag123.xml"/><Relationship Id="rId23" Type="http://schemas.openxmlformats.org/officeDocument/2006/relationships/tags" Target="../tags/tag124.xml"/><Relationship Id="rId24" Type="http://schemas.openxmlformats.org/officeDocument/2006/relationships/tags" Target="../tags/tag125.xml"/><Relationship Id="rId25" Type="http://schemas.openxmlformats.org/officeDocument/2006/relationships/tags" Target="../tags/tag126.xml"/><Relationship Id="rId26" Type="http://schemas.openxmlformats.org/officeDocument/2006/relationships/tags" Target="../tags/tag127.xml"/><Relationship Id="rId27" Type="http://schemas.openxmlformats.org/officeDocument/2006/relationships/tags" Target="../tags/tag128.xml"/><Relationship Id="rId28" Type="http://schemas.openxmlformats.org/officeDocument/2006/relationships/tags" Target="../tags/tag129.xml"/><Relationship Id="rId29" Type="http://schemas.openxmlformats.org/officeDocument/2006/relationships/tags" Target="../tags/tag130.xml"/><Relationship Id="rId30" Type="http://schemas.openxmlformats.org/officeDocument/2006/relationships/tags" Target="../tags/tag131.xml"/><Relationship Id="rId31" Type="http://schemas.openxmlformats.org/officeDocument/2006/relationships/tags" Target="../tags/tag132.xml"/><Relationship Id="rId32" Type="http://schemas.openxmlformats.org/officeDocument/2006/relationships/tags" Target="../tags/tag133.xml"/><Relationship Id="rId33" Type="http://schemas.openxmlformats.org/officeDocument/2006/relationships/tags" Target="../tags/tag134.xml"/><Relationship Id="rId34" Type="http://schemas.openxmlformats.org/officeDocument/2006/relationships/tags" Target="../tags/tag135.xml"/><Relationship Id="rId35" Type="http://schemas.openxmlformats.org/officeDocument/2006/relationships/tags" Target="../tags/tag136.xml"/><Relationship Id="rId36" Type="http://schemas.openxmlformats.org/officeDocument/2006/relationships/tags" Target="../tags/tag137.xml"/><Relationship Id="rId37" Type="http://schemas.openxmlformats.org/officeDocument/2006/relationships/tags" Target="../tags/tag138.xml"/><Relationship Id="rId38" Type="http://schemas.openxmlformats.org/officeDocument/2006/relationships/tags" Target="../tags/tag139.xml"/><Relationship Id="rId39" Type="http://schemas.openxmlformats.org/officeDocument/2006/relationships/tags" Target="../tags/tag140.xml"/><Relationship Id="rId40" Type="http://schemas.openxmlformats.org/officeDocument/2006/relationships/oleObject" Target="../embeddings/oleObject11.bin"/><Relationship Id="rId41" Type="http://schemas.openxmlformats.org/officeDocument/2006/relationships/image" Target="../media/image5.emf"/><Relationship Id="rId4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July 22, 2026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Discussion document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domain prioritization and the organization of the future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1864405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2251FF"/>
                </a:solidFill>
              </a:rPr>
              <a:t>TU is at an inflection point: </a:t>
            </a:r>
            <a:r>
              <a:rPr b="1">
                <a:solidFill>
                  <a:srgbClr val="000000"/>
                </a:solidFill>
              </a:rPr>
              <a:t>choosing where AI creates value — and building the organization to deliver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645920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A journey to prioritize where AI creates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975104"/>
            <a:ext cx="5440680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7784" y="2103120"/>
            <a:ext cx="5440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TU is embarking on a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top-down journey to identify and prioritize 2–3 enterprise domains</a:t>
            </a:r>
            <a:r>
              <a:rPr sz="1300" b="0" i="0">
                <a:solidFill>
                  <a:srgbClr val="000000"/>
                </a:solidFill>
                <a:latin typeface="Arial"/>
              </a:rPr>
              <a:t> where AI-led reimagination can drive outsized value — the few cross-functional domains that typically hold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40–50% of the enterprise value at stake¹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300" b="0" i="0">
                <a:solidFill>
                  <a:srgbClr val="000000"/>
                </a:solidFill>
                <a:latin typeface="Arial"/>
              </a:rPr>
              <a:t>An inventory of AI initiatives is underway; the next step is a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framework to assess, size, and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0488" y="1645920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An organization built for a different era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90488" y="1975104"/>
            <a:ext cx="5440680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90488" y="2103120"/>
            <a:ext cx="5440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In parallel, TU must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design the organization of the future</a:t>
            </a:r>
            <a:r>
              <a:rPr sz="1300" b="0" i="0">
                <a:solidFill>
                  <a:srgbClr val="000000"/>
                </a:solidFill>
                <a:latin typeface="Arial"/>
              </a:rPr>
              <a:t> — its structure has not kept pace with what it is becoming</a:t>
            </a:r>
          </a:p>
          <a:p>
            <a:pPr>
              <a:lnSpc>
                <a:spcPct val="108000"/>
              </a:lnSpc>
              <a:spcBef>
                <a:spcPts val="700"/>
              </a:spcBef>
            </a:pPr>
            <a:r>
              <a:rPr sz="1300" b="0" i="0">
                <a:solidFill>
                  <a:srgbClr val="000000"/>
                </a:solidFill>
                <a:latin typeface="Arial"/>
              </a:rPr>
              <a:t>In leadership's own framing: </a:t>
            </a:r>
            <a:r>
              <a:rPr sz="1300" b="1" i="1">
                <a:solidFill>
                  <a:srgbClr val="2251FF"/>
                </a:solidFill>
                <a:latin typeface="Arial"/>
              </a:rPr>
              <a:t>a global-platforms era company, in a 2012-era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3438144"/>
            <a:ext cx="11082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0000"/>
                </a:solidFill>
                <a:latin typeface="Arial"/>
              </a:rPr>
              <a:t>The organizational imperative spans five fronts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3785616"/>
            <a:ext cx="21396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496" y="3666744"/>
            <a:ext cx="274320" cy="27432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05071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1F79"/>
                </a:solidFill>
                <a:latin typeface="Arial"/>
              </a:rPr>
              <a:t>Org hygiene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59028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Right-size spans, layers, and leadership density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3491" y="3785616"/>
            <a:ext cx="21396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75203" y="3666744"/>
            <a:ext cx="274320" cy="27432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796" y="4005071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1F79"/>
                </a:solidFill>
                <a:latin typeface="Arial"/>
              </a:rPr>
              <a:t>Platform org of the 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9796" y="459028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Structure for the platform era, not the product 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785616"/>
            <a:ext cx="21396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10912" y="3666744"/>
            <a:ext cx="274320" cy="27432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4005071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1F79"/>
                </a:solidFill>
                <a:latin typeface="Arial"/>
              </a:rPr>
              <a:t>Future-ready workforce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459028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The AI-era workforce, with AI-ready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4907" y="3785616"/>
            <a:ext cx="21396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46620" y="3666744"/>
            <a:ext cx="274320" cy="27432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1211" y="4005071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1F79"/>
                </a:solidFill>
                <a:latin typeface="Arial"/>
              </a:rPr>
              <a:t>Global location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1211" y="459028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The footprint for the future workforce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0615" y="3785616"/>
            <a:ext cx="21396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82328" y="3666744"/>
            <a:ext cx="274320" cy="27432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4005071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1F79"/>
                </a:solidFill>
                <a:latin typeface="Arial"/>
              </a:rPr>
              <a:t>Culture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459028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Arial"/>
              </a:rPr>
              <a:t>The mindset and behavior shifts to make it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" y="5532120"/>
            <a:ext cx="11082528" cy="841248"/>
          </a:xfrm>
          <a:prstGeom prst="roundRect">
            <a:avLst>
              <a:gd name="adj" fmla="val 1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41848"/>
            <a:ext cx="104698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1">
                <a:solidFill>
                  <a:srgbClr val="FFFFFF"/>
                </a:solidFill>
                <a:latin typeface="Arial"/>
              </a:rPr>
              <a:t>Two mutually reinforcing tracks:  </a:t>
            </a:r>
            <a:r>
              <a:rPr sz="1350" b="0" i="1">
                <a:solidFill>
                  <a:srgbClr val="FFFFFF"/>
                </a:solidFill>
                <a:latin typeface="Arial"/>
              </a:rPr>
              <a:t>transform the highest-value AI domains, and build the organization that enables and sustains them. </a:t>
            </a:r>
            <a:r>
              <a:rPr sz="1350" b="1" i="1">
                <a:solidFill>
                  <a:srgbClr val="FFFFFF"/>
                </a:solidFill>
                <a:latin typeface="Arial"/>
              </a:rPr>
              <a:t>Today — align on the questions each track must answer, and the shape of a ~3-month program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1115568"/>
            <a:ext cx="110825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TU has evolved from credit bureau, to product company, to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platform organization — thin products on thick platforms</a:t>
            </a:r>
            <a:r>
              <a:rPr sz="1300" b="0" i="0">
                <a:solidFill>
                  <a:srgbClr val="000000"/>
                </a:solidFill>
                <a:latin typeface="Arial"/>
              </a:rPr>
              <a:t> — and it has embarked on its AI journey, </a:t>
            </a:r>
            <a:r>
              <a:rPr sz="1300" b="1" i="0">
                <a:solidFill>
                  <a:srgbClr val="000000"/>
                </a:solidFill>
                <a:latin typeface="Arial"/>
              </a:rPr>
              <a:t>albeit still early</a:t>
            </a:r>
            <a:r>
              <a:rPr sz="1300" b="0" i="0">
                <a:solidFill>
                  <a:srgbClr val="000000"/>
                </a:solidFill>
                <a:latin typeface="Arial"/>
              </a:rPr>
              <a:t>. Two journeys follow: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6428232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 b="0" i="0">
                <a:solidFill>
                  <a:srgbClr val="63666A"/>
                </a:solidFill>
                <a:latin typeface="Arial"/>
              </a:rPr>
              <a:t>1. McKinsey cross-industry experience — share of AI-addressable value typically concentrated in a small number of cross-functional 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2251FF"/>
                </a:solidFill>
              </a:rPr>
              <a:t>Two tracks, one program: </a:t>
            </a:r>
            <a:r>
              <a:rPr b="1">
                <a:solidFill>
                  <a:srgbClr val="000000"/>
                </a:solidFill>
              </a:rPr>
              <a:t>the questions we would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" y="1188720"/>
            <a:ext cx="4160520" cy="384048"/>
          </a:xfrm>
          <a:prstGeom prst="roundRect">
            <a:avLst>
              <a:gd name="adj" fmla="val 5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243584"/>
            <a:ext cx="3703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Track 1 — AI domain transformation</a:t>
            </a:r>
          </a:p>
        </p:txBody>
      </p:sp>
      <p:sp>
        <p:nvSpPr>
          <p:cNvPr id="5" name="Oval 4"/>
          <p:cNvSpPr/>
          <p:nvPr/>
        </p:nvSpPr>
        <p:spPr>
          <a:xfrm>
            <a:off x="557784" y="1810512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01368"/>
            <a:ext cx="3776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Arial"/>
              </a:rPr>
              <a:t>Where is the value?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Which domains hold material value at stake — anchored in TU's strategic priorities and value pools?</a:t>
            </a:r>
          </a:p>
        </p:txBody>
      </p:sp>
      <p:sp>
        <p:nvSpPr>
          <p:cNvPr id="7" name="Oval 6"/>
          <p:cNvSpPr/>
          <p:nvPr/>
        </p:nvSpPr>
        <p:spPr>
          <a:xfrm>
            <a:off x="557784" y="2720340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11196"/>
            <a:ext cx="3776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Arial"/>
              </a:rPr>
              <a:t>How does each domain operate today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the operating and cost baseline, deep enough to size AI potential?</a:t>
            </a:r>
          </a:p>
        </p:txBody>
      </p:sp>
      <p:sp>
        <p:nvSpPr>
          <p:cNvPr id="9" name="Oval 8"/>
          <p:cNvSpPr/>
          <p:nvPr/>
        </p:nvSpPr>
        <p:spPr>
          <a:xfrm>
            <a:off x="557784" y="3630168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621024"/>
            <a:ext cx="3776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Arial"/>
              </a:rPr>
              <a:t>What is each domain's AI impact potential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revenue, cost, cost avoidance, risk — weighed against readiness and feasibility?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" y="453999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530852"/>
            <a:ext cx="3776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Arial"/>
              </a:rPr>
              <a:t>Which 2–3 domains are TU's big bets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and which no-regret moves start now?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" y="522579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216652"/>
            <a:ext cx="3776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Arial"/>
              </a:rPr>
              <a:t>In what sequence should TU execute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— with what owners, milestones, and enabling investments?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88720"/>
            <a:ext cx="6565392" cy="384048"/>
          </a:xfrm>
          <a:prstGeom prst="roundRect">
            <a:avLst>
              <a:gd name="adj" fmla="val 5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243584"/>
            <a:ext cx="61081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Track 2 — Organization of the future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10512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Arial"/>
              </a:rPr>
              <a:t>ORG HYGIENE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" y="2084831"/>
            <a:ext cx="3145536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74920" y="2194560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What does a right-sized TU look like — optimal spans, layers, and leadership density — and what value is at stake vs. benchmark?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44952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Arial"/>
              </a:rPr>
              <a:t>PLATFORM ORG OF THE FUTURE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319272"/>
            <a:ext cx="3145536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74920" y="3429000"/>
            <a:ext cx="31455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Which archetypes do true platform orgs follow — a central platform division (e.g., Atlassian, Salesforce) or federated services (e.g., AWS) — and which fits TU?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416552"/>
            <a:ext cx="31455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What should be the size and composition of the platform and product engineering teams — and where should key roles reside (e.g., Platform PM, Data Science / Analytics, UI/UX)?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1810512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Arial"/>
              </a:rPr>
              <a:t>FUTURE-READY WORKFORCE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94776" y="2084831"/>
            <a:ext cx="3145535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94776" y="2194560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–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How will AI and automation change talent demand over the next 3–5 years?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752344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–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What size, shape, and skills — which roles are reshaped, replaced, or net-new; built vs. bought?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3525011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–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What is the value case — and the 90-day mobilization plan to capture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4265676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51FF"/>
                </a:solidFill>
                <a:latin typeface="Arial"/>
              </a:rPr>
              <a:t>GLOBAL LOCATION STRATEGY (GLS 2.0)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94776" y="4539996"/>
            <a:ext cx="3145535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94776" y="4649724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Which roles sit where under a refreshed GLS 2.0, and what moves now vs. later?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5390388"/>
            <a:ext cx="3145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51FF"/>
                </a:solidFill>
                <a:latin typeface="Arial"/>
              </a:rPr>
              <a:t>CULTURE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94776" y="5664708"/>
            <a:ext cx="3145535" cy="0"/>
          </a:xfrm>
          <a:prstGeom prst="line">
            <a:avLst/>
          </a:prstGeom>
          <a:ln w="9525">
            <a:solidFill>
              <a:srgbClr val="B0B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94776" y="5774436"/>
            <a:ext cx="3145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What mindset and behavior shifts are needed — and can TU absorb the change?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623560"/>
            <a:ext cx="31455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– What are the core design choices — US vs. international P&amp;L, regional vs. global layers, platform as P&amp;L or cost center — and what must TU believe?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2251FF"/>
                </a:solidFill>
              </a:rPr>
              <a:t>A ~3-month program: </a:t>
            </a:r>
            <a:r>
              <a:rPr b="1">
                <a:solidFill>
                  <a:srgbClr val="000000"/>
                </a:solidFill>
              </a:rPr>
              <a:t>building blocks across the two tracks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i="1"/>
              <a:t>Indicative — tracks can run staggered (shown) or fully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86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2652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7418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2184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6950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716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6481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1248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6013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0780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5545" y="1298448"/>
            <a:ext cx="794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3666A"/>
                </a:solidFill>
                <a:latin typeface="Arial"/>
              </a:rPr>
              <a:t>Wk 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7886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92652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7418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82184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76950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71716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66481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61248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56013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0780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845545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640312" y="1536192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57784" y="1609344"/>
            <a:ext cx="141732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1609344"/>
            <a:ext cx="141732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Track 1 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63666A"/>
                </a:solidFill>
                <a:latin typeface="Arial"/>
              </a:rPr>
              <a:t>AI domain transformation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1609344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1636776"/>
            <a:ext cx="1406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Identify high-value domains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97886" y="2121408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038" y="2148839"/>
            <a:ext cx="220141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Establish detailed baselines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92652" y="2633472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5804" y="2660903"/>
            <a:ext cx="1406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Align prioritization framework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7418" y="1609344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0570" y="1636776"/>
            <a:ext cx="220141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Assess impact, readiness, feasibility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76950" y="2121408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0102" y="2148839"/>
            <a:ext cx="1406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Rank and decide¹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71716" y="2633472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4868" y="2660903"/>
            <a:ext cx="1406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Value-backed execution roadmap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16112" y="2121408"/>
            <a:ext cx="3105911" cy="47548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061F79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9264" y="2148840"/>
            <a:ext cx="295960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1">
                <a:solidFill>
                  <a:srgbClr val="061F79"/>
                </a:solidFill>
                <a:latin typeface="Arial"/>
              </a:rPr>
              <a:t>→ Lighthouse pilots in the priority domains — start Wk 9, run 12–14 weeks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7784" y="3255264"/>
            <a:ext cx="11082527" cy="0"/>
          </a:xfrm>
          <a:prstGeom prst="line">
            <a:avLst/>
          </a:prstGeom>
          <a:ln w="9525">
            <a:solidFill>
              <a:srgbClr val="D0D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57784" y="3383280"/>
            <a:ext cx="141732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3383280"/>
            <a:ext cx="141732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51FF"/>
                </a:solidFill>
                <a:latin typeface="Arial"/>
              </a:rPr>
              <a:t>Track 2 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63666A"/>
                </a:solidFill>
                <a:latin typeface="Arial"/>
              </a:rPr>
              <a:t>Organization of the future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92652" y="3383280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65804" y="3410712"/>
            <a:ext cx="220141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Current-state blueprint + hygiene diagnostic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82184" y="3895344"/>
            <a:ext cx="3142488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55336" y="3922776"/>
            <a:ext cx="299618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Platform org design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76950" y="3383280"/>
            <a:ext cx="3937254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50102" y="3410712"/>
            <a:ext cx="379094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Strategic workforce plan in the AI era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66481" y="4407408"/>
            <a:ext cx="3142488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39633" y="4434840"/>
            <a:ext cx="299618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Location footprint (GLS 2.0 refresh)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56013" y="3895344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9165" y="3922776"/>
            <a:ext cx="220141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Culture, change, and talent roadmap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" y="493776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3666A"/>
                </a:solidFill>
                <a:latin typeface="Arial"/>
              </a:rPr>
              <a:t>1. Heatmap scorecard and leadership prioritization workshop — select 2–3 priority domains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7784" y="5522976"/>
            <a:ext cx="11082528" cy="77724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5605272"/>
            <a:ext cx="104698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061F79"/>
                </a:solidFill>
                <a:latin typeface="Arial"/>
              </a:rPr>
              <a:t>The two tracks feed each other: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the enterprise picks its domains top-down; transformation then reconfigures teams bottom-up — new role mixes, team shapes, and skills — and </a:t>
            </a:r>
            <a:r>
              <a:rPr sz="1250" b="1" i="0">
                <a:solidFill>
                  <a:srgbClr val="061F79"/>
                </a:solidFill>
                <a:latin typeface="Arial"/>
              </a:rPr>
              <a:t>those learnings reset the top-down workforce plan on a regular cadence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" y="5120640"/>
            <a:ext cx="110825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061F79"/>
                </a:solidFill>
                <a:latin typeface="Arial"/>
              </a:rPr>
              <a:t>By week 12: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prioritized domain portfolio and value-backed roadmap  ·  target org blueprint and strategic workforce plan  ·  location and talent roadmap, with a 90-day mobilization plan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63666A"/>
                </a:solidFill>
                <a:latin typeface="Arial"/>
              </a:rPr>
              <a:t>Joint TU–McKinsey team; leadership checkpoints at weeks 2, 7, and 12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  <p:tag name="LINKEDPICTURESLINKREMOVED" val="True"/>
  <p:tag name="ICONFILLBACKGROUND" val="Color [A=255, R=255, G=255, B=255]"/>
  <p:tag name="ICONFILLBACKGROUNDTHEME" val="Background 1"/>
  <p:tag name="ICONENCLOSURE" val="True"/>
  <p:tag name="ICONLINEFILL" val="Color [A=255, R=34, G=81, B=255]"/>
  <p:tag name="ICONLINEFILLTHEME" val="Accent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DE15729B-A53C-4F17-8E30-E89302E1D290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B1915C88-7403-4DE5-8BD1-7CFB569789DE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  <wetp:taskpane dockstate="right" visibility="0" width="525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44977DE-BE65-4BA0-B00C-9C6F0CE99EBA}">
  <we:reference id="e74ca2a7-5e50-4ebf-bfa5-bb75c7950374" version="4.0.0.0" store="EXCatalog" storeType="EXCatalog"/>
  <we:alternateReferences/>
  <we:properties>
    <we:property name="srChargeCodeData" value="{&quot;selectedSupportOption&quot;:&quot;PROPOSAL&quot;,&quot;language&quot;:&quot;English&quot;,&quot;chargeCode&quot;:{&quot;activityCode&quot;:&quot;CE&quot;,&quot;anchorTag&quot;:&quot;&quot;,&quot;announcements&quot;:{&quot;createdAt&quot;:null,&quot;id&quot;:4,&quot;link&quot;:&quot;https://mckinseylearning.csod.com/ui/lms-learning-details/app/course/8a4d2664-8692-4178-83e9-b0d8d1ee2dfc?isCompletionRedirect=true&amp;loStatus=16&amp;regnum=1&amp;loId=8a4d2664-8692-4178-83e9-b0d8d1ee2dfc&quot;,&quot;linkText&quot;:&quot;Get started&quot;,&quot;longDescription&quot;:&quot;Alert: VG&amp;Media closed Dec 25 &amp; Jan 1. Tokens unavailable, standard delivery only Dec 23-Jan 3&quot;,&quot;shortDescription&quot;:&quot;Complete a three-minute module to learn about the key features.&quot;,&quot;showOnAddin&quot;:1,&quot;source&quot;:&quot;cs-web-addin&quot;,&quot;updatedAt&quot;:{},&quot;webAddinAnnouncementText&quot;:{&quot;body&quot;:&quot;Complete a three-minute module to learn about the key features.&quot;,&quot;heading&quot;:&quot;Become a SlideRequest+ pro!&quot;,&quot;primaryAction&quot;:{&quot;label&quot;:&quot;Get started&quot;,&quot;url&quot;:&quot;https://mckinseylearning.csod.com/ui/lms-learning-details/app/course/8a4d2664-8692-4178-83e9-b0d8d1ee2dfc?isCompletionRedirect=true&amp;loStatus=16&amp;regnum=1&amp;loId=8a4d2664-8692-4178-83e9-b0d8d1ee2dfc&quot;},&quot;secondaryAction&quot;:{&quot;label&quot;:&quot;&quot;,&quot;url&quot;:&quot;&quot;},&quot;style&quot;:&quot;info&quot;}},&quot;chargeCode&quot;:&quot;valid&quot;,&quot;chargeCodeRegistered&quot;:false,&quot;coreServicesLimit&quot;:15,&quot;critical&quot;:0,&quot;description&quot;:&quot;&quot;,&quot;eligibleForPlus&quot;:false,&quot;enableFPS&quot;:&quot;true&quot;,&quot;featureFlag&quot;:{&quot;blockRequestsEnabled&quot;:false,&quot;overnightDeliveryEnabled&quot;:false,&quot;searchOfferingEnabled&quot;:false},&quot;formType&quot;:&quot;&quot;,&quot;inScope&quot;:true,&quot;isBoxDisabled&quot;:false,&quot;isCTEEnabled&quot;:false,&quot;lane&quot;:&quot;Global&quot;,&quot;maxStartTime&quot;:480,&quot;message&quot;:&quot;&quot;,&quot;outSourced&quot;:true,&quot;platform&quot;:&quot;GW&quot;,&quot;projectType&quot;:&quot;Client&quot;,&quot;showInternal&quot;:false,&quot;subLane&quot;:&quot;&quot;,&quot;userRegistered&quot;:false,&quot;code&quot;:&quot;6700CG01&quot;,&quot;updatedAt&quot;:&quot;2026-07-14T04:23:36.438Z&quot;}}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080A3D8-58A1-450F-847B-98B1AFA1246D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d2305a42-5ade-4b04-9abd-fd2125a0cc26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4efe5c-c5bb-4d12-aac8-56232a7ba9f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DDB076AD737848ADD9275B118E145E" ma:contentTypeVersion="17" ma:contentTypeDescription="Create a new document." ma:contentTypeScope="" ma:versionID="353678ae531d9f87167c279b19ce7336">
  <xsd:schema xmlns:xsd="http://www.w3.org/2001/XMLSchema" xmlns:xs="http://www.w3.org/2001/XMLSchema" xmlns:p="http://schemas.microsoft.com/office/2006/metadata/properties" xmlns:ns3="b84efe5c-c5bb-4d12-aac8-56232a7ba9fd" xmlns:ns4="ed62d1b0-ecd2-400f-92bb-73a52d582d97" targetNamespace="http://schemas.microsoft.com/office/2006/metadata/properties" ma:root="true" ma:fieldsID="ff8fa12cec9685582e89ce0eb23831dd" ns3:_="" ns4:_="">
    <xsd:import namespace="b84efe5c-c5bb-4d12-aac8-56232a7ba9fd"/>
    <xsd:import namespace="ed62d1b0-ecd2-400f-92bb-73a52d582d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efe5c-c5bb-4d12-aac8-56232a7ba9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d1b0-ecd2-400f-92bb-73a52d582d9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DF283F-4B82-4892-8EF9-70B9B3E3286B}">
  <ds:schemaRefs>
    <ds:schemaRef ds:uri="b84efe5c-c5bb-4d12-aac8-56232a7ba9fd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ed62d1b0-ecd2-400f-92bb-73a52d582d9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B947D34-C78E-443E-A610-5E0769764B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efe5c-c5bb-4d12-aac8-56232a7ba9fd"/>
    <ds:schemaRef ds:uri="ed62d1b0-ecd2-400f-92bb-73a52d582d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797</TotalTime>
  <Words>2138</Words>
  <Application>Microsoft Office PowerPoint</Application>
  <PresentationFormat>Widescreen</PresentationFormat>
  <Paragraphs>287</Paragraphs>
  <Slides>13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EMprint</vt:lpstr>
      <vt:lpstr>Georgia</vt:lpstr>
      <vt:lpstr>Segoe UI</vt:lpstr>
      <vt:lpstr>Wingdings</vt:lpstr>
      <vt:lpstr>White</vt:lpstr>
      <vt:lpstr>Contrast</vt:lpstr>
      <vt:lpstr>think-cell Slide</vt:lpstr>
      <vt:lpstr>AI Strategy: Domain prioritization and value roadmap </vt:lpstr>
      <vt:lpstr>Background</vt:lpstr>
      <vt:lpstr>A three-part approach to AI transformation: prioritize the value, prove it, then scale it</vt:lpstr>
      <vt:lpstr>Six building blocks translate scattered AI ideas into a value-backed roadmap of priority domains</vt:lpstr>
      <vt:lpstr>Identify high-value domains: End-to-end workflows with clear potential to demonstrate impact</vt:lpstr>
      <vt:lpstr>Establish a detailed baseline: Map how each domain runs today</vt:lpstr>
      <vt:lpstr>Develop prioritization framework: Focus first on domains where AI reimagination is high on feasibility and value</vt:lpstr>
      <vt:lpstr>Assess impact by selected prioritization criteria…</vt:lpstr>
      <vt:lpstr>Build execution roadmap: Synthesize findings into a value-backed roadmap, including use cases and enabling capabilities</vt:lpstr>
      <vt:lpstr>How we will partner with you to drive creation of TU’s AI roadmap</vt:lpstr>
      <vt:lpstr>Appendix</vt:lpstr>
      <vt:lpstr>Idea prioritization: During AI Immersion, we outlined the key opportunities for TU to accelerate impact from AI</vt:lpstr>
      <vt:lpstr>Enterprise-Level Big Bets / Focus Areas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Shilpa Khatana</dc:creator>
  <cp:keywords/>
  <dc:description/>
  <cp:lastModifiedBy>Parth Bahl</cp:lastModifiedBy>
  <cp:revision>3</cp:revision>
  <cp:lastPrinted>2018-10-30T20:37:12Z</cp:lastPrinted>
  <dcterms:created xsi:type="dcterms:W3CDTF">2026-07-13T14:20:06Z</dcterms:created>
  <dcterms:modified xsi:type="dcterms:W3CDTF">2026-07-22T00:50:36Z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0x01010066DDB076AD737848ADD9275B118E145E</vt:lpwstr>
  </property>
  <property fmtid="{D5CDD505-2E9C-101B-9397-08002B2CF9AE}" pid="10" name="MSIP_Label_83303d7c-e5a3-4cc8-90eb-69bfd7570ac4_Removed">
    <vt:lpwstr>False</vt:lpwstr>
  </property>
  <property fmtid="{D5CDD505-2E9C-101B-9397-08002B2CF9AE}" pid="11" name="MSIP_Label_83303d7c-e5a3-4cc8-90eb-69bfd7570ac4_ActionId">
    <vt:lpwstr>95bfa38c-10a0-4835-ae33-d7ce36efc609</vt:lpwstr>
  </property>
  <property fmtid="{D5CDD505-2E9C-101B-9397-08002B2CF9AE}" pid="12" name="MSIP_Label_83303d7c-e5a3-4cc8-90eb-69bfd7570ac4_Name">
    <vt:lpwstr>Client \ Client Confidential</vt:lpwstr>
  </property>
  <property fmtid="{D5CDD505-2E9C-101B-9397-08002B2CF9AE}" pid="13" name="MSIP_Label_83303d7c-e5a3-4cc8-90eb-69bfd7570ac4_SetDate">
    <vt:lpwstr>2026-07-15T23:00:38Z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Enabled">
    <vt:lpwstr>True</vt:lpwstr>
  </property>
  <property fmtid="{D5CDD505-2E9C-101B-9397-08002B2CF9AE}" pid="16" name="MediaServiceImageTags">
    <vt:lpwstr/>
  </property>
  <property fmtid="{D5CDD505-2E9C-101B-9397-08002B2CF9AE}" pid="17" name="MSIP_Label_83303d7c-e5a3-4cc8-90eb-69bfd7570ac4_Parent">
    <vt:lpwstr>41a75552-f860-45e1-90d5-c0b4fc08c5e4</vt:lpwstr>
  </property>
  <property fmtid="{D5CDD505-2E9C-101B-9397-08002B2CF9AE}" pid="18" name="MSIP_Label_83303d7c-e5a3-4cc8-90eb-69bfd7570ac4_Extended_MSFT_Method">
    <vt:lpwstr>Standard</vt:lpwstr>
  </property>
  <property fmtid="{D5CDD505-2E9C-101B-9397-08002B2CF9AE}" pid="19" name="MSIP_Label_41a75552-f860-45e1-90d5-c0b4fc08c5e4_Enabled">
    <vt:lpwstr>True</vt:lpwstr>
  </property>
  <property fmtid="{D5CDD505-2E9C-101B-9397-08002B2CF9AE}" pid="20" name="MSIP_Label_41a75552-f860-45e1-90d5-c0b4fc08c5e4_SiteId">
    <vt:lpwstr>cc8936bc-9382-4fff-87cb-6f55999549e7</vt:lpwstr>
  </property>
  <property fmtid="{D5CDD505-2E9C-101B-9397-08002B2CF9AE}" pid="21" name="MSIP_Label_41a75552-f860-45e1-90d5-c0b4fc08c5e4_SetDate">
    <vt:lpwstr>2026-07-15T23:00:38Z</vt:lpwstr>
  </property>
  <property fmtid="{D5CDD505-2E9C-101B-9397-08002B2CF9AE}" pid="22" name="MSIP_Label_41a75552-f860-45e1-90d5-c0b4fc08c5e4_Name">
    <vt:lpwstr>Client</vt:lpwstr>
  </property>
  <property fmtid="{D5CDD505-2E9C-101B-9397-08002B2CF9AE}" pid="23" name="MSIP_Label_41a75552-f860-45e1-90d5-c0b4fc08c5e4_ActionId">
    <vt:lpwstr>344fd020-e4b6-4dc1-997c-efd6d0f2336b</vt:lpwstr>
  </property>
  <property fmtid="{D5CDD505-2E9C-101B-9397-08002B2CF9AE}" pid="24" name="MSIP_Label_41a75552-f860-45e1-90d5-c0b4fc08c5e4_Extended_MSFT_Method">
    <vt:lpwstr>Standard</vt:lpwstr>
  </property>
  <property fmtid="{D5CDD505-2E9C-101B-9397-08002B2CF9AE}" pid="25" name="Sensitivity">
    <vt:lpwstr>Client \ Client Confidential Client</vt:lpwstr>
  </property>
  <property fmtid="{D5CDD505-2E9C-101B-9397-08002B2CF9AE}" pid="26" name="_dlc_DocIdItemGuid">
    <vt:lpwstr>d9b41913-bad1-493e-8df6-0ac67e311dbd</vt:lpwstr>
  </property>
</Properties>
</file>